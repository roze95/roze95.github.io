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4cb80aa-6151-9434-a80d-70ad9a0aad9e}">
          <p14:sldIdLst>
            <p14:sldId id="256"/>
            <p14:sldId id="257"/>
          </p14:sldIdLst>
        </p14:section>
        <p14:section name="Positive definite and the Hessian" id="{3438c39c-243d-972b-ff47-96174148d750}">
          <p14:sldIdLst>
            <p14:sldId id="258"/>
            <p14:sldId id="259"/>
            <p14:sldId id="260"/>
            <p14:sldId id="261"/>
            <p14:sldId id="262"/>
            <p14:sldId id="263"/>
          </p14:sldIdLst>
        </p14:section>
        <p14:section name="The Hessian on the computer" id="{a7cb0abf-1c3f-981e-21f4-3b7ee8ddadd8}">
          <p14:sldIdLst>
            <p14:sldId id="264"/>
            <p14:sldId id="265"/>
            <p14:sldId id="266"/>
            <p14:sldId id="267"/>
          </p14:sldIdLst>
        </p14:section>
        <p14:section name="Where the Hessian is used" id="{5b9c1833-b9f4-9cbc-3ab3-1a7e4b6efcf6}">
          <p14:sldIdLst>
            <p14:sldId id="268"/>
            <p14:sldId id="269"/>
            <p14:sldId id="270"/>
            <p14:sldId id="271"/>
            <p14:sldId id="272"/>
            <p14:sldId id="273"/>
            <p14:sldId id="274"/>
            <p14:sldId id="275"/>
            <p14:sldId id="276"/>
          </p14:sldIdLst>
        </p14:section>
        <p14:section name="Summary" id="{46a30a02-2311-5c13-5c04-60f10384b59a}">
          <p14:sldIdLst>
            <p14:sldId id="277"/>
            <p14:sldId id="278"/>
          </p14:sldIdLst>
        </p14:section>
        <p14:section name="Python appendix" id="{8fd6007e-53a9-2e73-6e05-e7caa2282573}">
          <p14:sldIdLst>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2D42"/>
                </a:solidFill>
                <a:latin typeface="+mn-lt"/>
              </a:defRPr>
            </a:pPr>
            <a:r>
              <a:rPr sz="1200" b="0" i="0" u="none" strike="noStrike">
                <a:solidFill>
                  <a:srgbClr val="152D42"/>
                </a:solidFill>
                <a:latin typeface="+mn-lt"/>
              </a:rPr>
              <a:t>Largest error in any entry of H</a:t>
            </a:r>
          </a:p>
        </c:rich>
      </c:tx>
      <c:layout/>
      <c:overlay val="0"/>
    </c:title>
    <c:autoTitleDeleted val="0"/>
    <c:plotArea>
      <c:layout/>
      <c:lineChart>
        <c:varyColors val="0"/>
        <c:ser>
          <c:idx val="0"/>
          <c:order val="0"/>
          <c:tx>
            <c:strRef>
              <c:f>Sheet1!$B$1</c:f>
              <c:strCache>
                <c:ptCount val="1"/>
                <c:pt idx="0">
                  <c:v>largest error in any entry</c:v>
                </c:pt>
              </c:strCache>
            </c:strRef>
          </c:tx>
          <c:spPr>
            <a:solidFill>
              <a:srgbClr val="152D42"/>
            </a:solidFill>
            <a:ln w="25400" cap="flat">
              <a:solidFill>
                <a:srgbClr val="152D42"/>
              </a:solidFill>
              <a:prstDash val="solid"/>
              <a:round/>
            </a:ln>
            <a:effectLst/>
          </c:spPr>
          <c:invertIfNegative val="0"/>
          <c:dLbls>
            <c:numFmt formatCode="#,##0" sourceLinked="0"/>
            <c:txPr>
              <a:bodyPr/>
              <a:lstStyle/>
              <a:p>
                <a:pPr>
                  <a:defRPr b="0" i="0" strike="noStrike" sz="1000" u="none">
                    <a:solidFill>
                      <a:srgbClr val="152D42"/>
                    </a:solidFill>
                    <a:latin typeface="+mn-lt"/>
                  </a:defRPr>
                </a:pPr>
              </a:p>
            </c:txPr>
            <c:showLegendKey val="0"/>
            <c:showVal val="0"/>
            <c:showCatName val="0"/>
            <c:showSerName val="0"/>
            <c:showPercent val="0"/>
            <c:showBubbleSize val="0"/>
            <c:showLeaderLines val="0"/>
          </c:dLbls>
          <c:marker>
            <c:symbol val="circle"/>
            <c:size val="7"/>
            <c:spPr>
              <a:solidFill>
                <a:srgbClr val="152D42"/>
              </a:solidFill>
              <a:ln w="9525" cap="flat">
                <a:solidFill>
                  <a:srgbClr val="152D42"/>
                </a:solidFill>
                <a:prstDash val="solid"/>
                <a:round/>
              </a:ln>
              <a:effectLst/>
            </c:spPr>
          </c:marker>
          <c:cat>
            <c:multiLvlStrRef>
              <c:f>Sheet1!$A$2:$A$9</c:f>
              <c:multiLvlStrCache>
                <c:ptCount val="8"/>
                <c:lvl>
                  <c:pt idx="0">
                    <c:v>1e-1</c:v>
                  </c:pt>
                  <c:pt idx="1">
                    <c:v>1e-2</c:v>
                  </c:pt>
                  <c:pt idx="2">
                    <c:v>1e-3</c:v>
                  </c:pt>
                  <c:pt idx="3">
                    <c:v>1e-4</c:v>
                  </c:pt>
                  <c:pt idx="4">
                    <c:v>1e-5</c:v>
                  </c:pt>
                  <c:pt idx="5">
                    <c:v>1e-6</c:v>
                  </c:pt>
                  <c:pt idx="6">
                    <c:v>1e-7</c:v>
                  </c:pt>
                  <c:pt idx="7">
                    <c:v>1e-8</c:v>
                  </c:pt>
                </c:lvl>
              </c:multiLvlStrCache>
            </c:multiLvlStrRef>
          </c:cat>
          <c:val>
            <c:numRef>
              <c:f>Sheet1!$B$2:$B$9</c:f>
              <c:numCache>
                <c:formatCode>General</c:formatCode>
                <c:ptCount val="8"/>
                <c:pt idx="0">
                  <c:v>0.00333778095379178</c:v>
                </c:pt>
                <c:pt idx="1">
                  <c:v>0.00003333377757241962</c:v>
                </c:pt>
                <c:pt idx="2">
                  <c:v>3.3337421889712004e-7</c:v>
                </c:pt>
                <c:pt idx="3">
                  <c:v>5.024759275329416e-9</c:v>
                </c:pt>
                <c:pt idx="4">
                  <c:v>0.000001275703766179248</c:v>
                </c:pt>
                <c:pt idx="5">
                  <c:v>0.000071999015858637</c:v>
                </c:pt>
                <c:pt idx="6">
                  <c:v>0.009503674571533782</c:v>
                </c:pt>
                <c:pt idx="7">
                  <c:v>0.3346654630622654</c:v>
                </c:pt>
              </c:numCache>
            </c:numRef>
          </c:val>
          <c:smooth val="0"/>
        </c:ser>
        <c:dLbls>
          <c:numFmt formatCode="#,##0" sourceLinked="0"/>
          <c:txPr>
            <a:bodyPr/>
            <a:lstStyle/>
            <a:p>
              <a:pPr>
                <a:defRPr b="0" i="0" strike="noStrike" sz="1000" u="none">
                  <a:solidFill>
                    <a:srgbClr val="152D42"/>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06476"/>
                    </a:solidFill>
                    <a:latin typeface="+mn-lt"/>
                  </a:defRPr>
                </a:pPr>
                <a:r>
                  <a:rPr sz="1000" b="0" i="0" u="none" strike="noStrike">
                    <a:solidFill>
                      <a:srgbClr val="506476"/>
                    </a:solidFill>
                    <a:latin typeface="+mn-lt"/>
                  </a:rPr>
                  <a:t>step 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06476"/>
                </a:solidFill>
                <a:latin typeface="+mn-lt"/>
              </a:defRPr>
            </a:pPr>
            <a:endParaRPr lang="en-US"/>
          </a:p>
        </c:txPr>
        <c:crossAx val="2094734552"/>
        <c:crossesAt val="1e-9"/>
        <c:auto val="1"/>
        <c:lblAlgn val="ctr"/>
        <c:noMultiLvlLbl val="1"/>
      </c:catAx>
      <c:valAx>
        <c:axId val="2094734552"/>
        <c:scaling>
          <c:logBase val="10"/>
          <c:orientation val="minMax"/>
          <c:max val="1"/>
          <c:min val="1e-9"/>
        </c:scaling>
        <c:delete val="0"/>
        <c:axPos val="l"/>
        <c:majorGridlines>
          <c:spPr>
            <a:ln w="6350" cap="flat">
              <a:solidFill>
                <a:srgbClr val="DCE4EB"/>
              </a:solidFill>
              <a:prstDash val="solid"/>
              <a:round/>
            </a:ln>
          </c:spPr>
        </c:majorGridlines>
        <c:title>
          <c:tx>
            <c:rich>
              <a:bodyPr/>
              <a:lstStyle/>
              <a:p>
                <a:pPr>
                  <a:defRPr sz="1000" b="0" i="0" u="none" strike="noStrike">
                    <a:solidFill>
                      <a:srgbClr val="506476"/>
                    </a:solidFill>
                    <a:latin typeface="+mn-lt"/>
                  </a:defRPr>
                </a:pPr>
                <a:r>
                  <a:rPr sz="1000" b="0" i="0" u="none" strike="noStrike">
                    <a:solidFill>
                      <a:srgbClr val="506476"/>
                    </a:solidFill>
                    <a:latin typeface="+mn-lt"/>
                  </a:rPr>
                  <a:t>error</a:t>
                </a:r>
              </a:p>
            </c:rich>
          </c:tx>
          <c:layout/>
          <c:overlay val="0"/>
        </c:title>
        <c:numFmt formatCode="0E+00" sourceLinked="0"/>
        <c:majorTickMark val="out"/>
        <c:minorTickMark val="none"/>
        <c:tickLblPos val="nextTo"/>
        <c:spPr>
          <a:ln w="12700" cap="flat">
            <a:noFill/>
            <a:prstDash val="solid"/>
            <a:round/>
          </a:ln>
        </c:spPr>
        <c:txPr>
          <a:bodyPr/>
          <a:lstStyle/>
          <a:p>
            <a:pPr>
              <a:defRPr sz="1000" b="0" i="0" u="none" strike="noStrike">
                <a:solidFill>
                  <a:srgbClr val="506476"/>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2D42"/>
                </a:solidFill>
                <a:latin typeface="+mn-lt"/>
              </a:defRPr>
            </a:pPr>
            <a:r>
              <a:rPr sz="1200" b="0" i="0" u="none" strike="noStrike">
                <a:solidFill>
                  <a:srgbClr val="152D42"/>
                </a:solidFill>
                <a:latin typeface="+mn-lt"/>
              </a:rPr>
              <a:t>Distance to the local minimum (1, 0)</a:t>
            </a:r>
          </a:p>
        </c:rich>
      </c:tx>
      <c:layout/>
      <c:overlay val="0"/>
    </c:title>
    <c:autoTitleDeleted val="0"/>
    <c:plotArea>
      <c:layout/>
      <c:lineChart>
        <c:varyColors val="0"/>
        <c:ser>
          <c:idx val="0"/>
          <c:order val="0"/>
          <c:tx>
            <c:strRef>
              <c:f>Sheet1!$B$1</c:f>
              <c:strCache>
                <c:ptCount val="1"/>
                <c:pt idx="0">
                  <c:v>gradient descent, step 0.1</c:v>
                </c:pt>
              </c:strCache>
            </c:strRef>
          </c:tx>
          <c:spPr>
            <a:solidFill>
              <a:srgbClr val="8A99A8"/>
            </a:solidFill>
            <a:ln w="25400" cap="flat">
              <a:solidFill>
                <a:srgbClr val="8A99A8"/>
              </a:solidFill>
              <a:prstDash val="solid"/>
              <a:round/>
            </a:ln>
            <a:effectLst/>
          </c:spPr>
          <c:invertIfNegative val="0"/>
          <c:dLbls>
            <c:numFmt formatCode="#,##0" sourceLinked="0"/>
            <c:txPr>
              <a:bodyPr/>
              <a:lstStyle/>
              <a:p>
                <a:pPr>
                  <a:defRPr b="0" i="0" strike="noStrike" sz="1000" u="none">
                    <a:solidFill>
                      <a:srgbClr val="152D42"/>
                    </a:solidFill>
                    <a:latin typeface="+mn-lt"/>
                  </a:defRPr>
                </a:pPr>
              </a:p>
            </c:txPr>
            <c:showLegendKey val="0"/>
            <c:showVal val="0"/>
            <c:showCatName val="0"/>
            <c:showSerName val="0"/>
            <c:showPercent val="0"/>
            <c:showBubbleSize val="0"/>
            <c:showLeaderLines val="0"/>
          </c:dLbls>
          <c:marker>
            <c:symbol val="circle"/>
            <c:size val="5"/>
            <c:spPr>
              <a:solidFill>
                <a:srgbClr val="8A99A8"/>
              </a:solidFill>
              <a:ln w="9525" cap="flat">
                <a:solidFill>
                  <a:srgbClr val="8A99A8"/>
                </a:solidFill>
                <a:prstDash val="solid"/>
                <a:round/>
              </a:ln>
              <a:effectLst/>
            </c:spPr>
          </c:marker>
          <c:cat>
            <c:multiLvlStrRef>
              <c:f>Sheet1!$A$2:$A$42</c:f>
              <c:multiLvlStrCache>
                <c:ptCount val="41"/>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pt idx="36">
                    <c:v/>
                  </c:pt>
                  <c:pt idx="37">
                    <c:v/>
                  </c:pt>
                  <c:pt idx="38">
                    <c:v/>
                  </c:pt>
                  <c:pt idx="39">
                    <c:v/>
                  </c:pt>
                  <c:pt idx="40">
                    <c:v>40</c:v>
                  </c:pt>
                </c:lvl>
              </c:multiLvlStrCache>
            </c:multiLvlStrRef>
          </c:cat>
          <c:val>
            <c:numRef>
              <c:f>Sheet1!$B$2:$B$42</c:f>
              <c:numCache>
                <c:formatCode>General</c:formatCode>
                <c:ptCount val="41"/>
                <c:pt idx="0">
                  <c:v>1.4142135623730951</c:v>
                </c:pt>
                <c:pt idx="1">
                  <c:v>0.806225774829855</c:v>
                </c:pt>
                <c:pt idx="2">
                  <c:v>0.6410686390707316</c:v>
                </c:pt>
                <c:pt idx="3">
                  <c:v>0.5122021592637911</c:v>
                </c:pt>
                <c:pt idx="4">
                  <c:v>0.40963956978204535</c:v>
                </c:pt>
                <c:pt idx="5">
                  <c:v>0.32768784679736945</c:v>
                </c:pt>
                <c:pt idx="6">
                  <c:v>0.2621455640397804</c:v>
                </c:pt>
                <c:pt idx="7">
                  <c:v>0.20971551238390765</c:v>
                </c:pt>
                <c:pt idx="8">
                  <c:v>0.1677722224428988</c:v>
                </c:pt>
                <c:pt idx="9">
                  <c:v>0.13421774048587012</c:v>
                </c:pt>
                <c:pt idx="10">
                  <c:v>0.10737418489695728</c:v>
                </c:pt>
                <c:pt idx="11">
                  <c:v>0.08589934641937413</c:v>
                </c:pt>
                <c:pt idx="12">
                  <c:v>0.06871947683587344</c:v>
                </c:pt>
                <c:pt idx="13">
                  <c:v>0.054975581408774586</c:v>
                </c:pt>
                <c:pt idx="14">
                  <c:v>0.043980465115034915</c:v>
                </c:pt>
                <c:pt idx="15">
                  <c:v>0.03518437208963098</c:v>
                </c:pt>
                <c:pt idx="16">
                  <c:v>0.0281474976712254</c:v>
                </c:pt>
                <c:pt idx="17">
                  <c:v>0.02251799813688444</c:v>
                </c:pt>
                <c:pt idx="18">
                  <c:v>0.018014398509488376</c:v>
                </c:pt>
                <c:pt idx="19">
                  <c:v>0.014411518807586867</c:v>
                </c:pt>
                <c:pt idx="20">
                  <c:v>0.011529215046068728</c:v>
                </c:pt>
                <c:pt idx="21">
                  <c:v>0.009223372036854829</c:v>
                </c:pt>
                <c:pt idx="22">
                  <c:v>0.007378697629483831</c:v>
                </c:pt>
                <c:pt idx="23">
                  <c:v>0.00590295810358706</c:v>
                </c:pt>
                <c:pt idx="24">
                  <c:v>0.004722366482869647</c:v>
                </c:pt>
                <c:pt idx="25">
                  <c:v>0.0037778931862957168</c:v>
                </c:pt>
                <c:pt idx="26">
                  <c:v>0.0030223145490365735</c:v>
                </c:pt>
                <c:pt idx="27">
                  <c:v>0.002417851639229259</c:v>
                </c:pt>
                <c:pt idx="28">
                  <c:v>0.001934281311383407</c:v>
                </c:pt>
                <c:pt idx="29">
                  <c:v>0.0015474250491067257</c:v>
                </c:pt>
                <c:pt idx="30">
                  <c:v>0.0012379400392853806</c:v>
                </c:pt>
                <c:pt idx="31">
                  <c:v>0.0009903520314283045</c:v>
                </c:pt>
                <c:pt idx="32">
                  <c:v>0.0007922816251426436</c:v>
                </c:pt>
                <c:pt idx="33">
                  <c:v>0.000633825300114115</c:v>
                </c:pt>
                <c:pt idx="34">
                  <c:v>0.0005070602400912919</c:v>
                </c:pt>
                <c:pt idx="35">
                  <c:v>0.0004056481920730336</c:v>
                </c:pt>
                <c:pt idx="36">
                  <c:v>0.00032451855365842687</c:v>
                </c:pt>
                <c:pt idx="37">
                  <c:v>0.0002596148429267415</c:v>
                </c:pt>
                <c:pt idx="38">
                  <c:v>0.0002076918743413932</c:v>
                </c:pt>
                <c:pt idx="39">
                  <c:v>0.00016615349947311455</c:v>
                </c:pt>
                <c:pt idx="40">
                  <c:v>0.00013292279957849163</c:v>
                </c:pt>
              </c:numCache>
            </c:numRef>
          </c:val>
          <c:smooth val="0"/>
        </c:ser>
        <c:ser>
          <c:idx val="1"/>
          <c:order val="1"/>
          <c:tx>
            <c:strRef>
              <c:f>Sheet1!$C$1</c:f>
              <c:strCache>
                <c:ptCount val="1"/>
                <c:pt idx="0">
                  <c:v>Newton</c:v>
                </c:pt>
              </c:strCache>
            </c:strRef>
          </c:tx>
          <c:spPr>
            <a:solidFill>
              <a:srgbClr val="152D42"/>
            </a:solidFill>
            <a:ln w="25400" cap="flat">
              <a:solidFill>
                <a:srgbClr val="152D42"/>
              </a:solidFill>
              <a:prstDash val="solid"/>
              <a:round/>
            </a:ln>
            <a:effectLst/>
          </c:spPr>
          <c:invertIfNegative val="0"/>
          <c:dLbls>
            <c:numFmt formatCode="#,##0" sourceLinked="0"/>
            <c:txPr>
              <a:bodyPr/>
              <a:lstStyle/>
              <a:p>
                <a:pPr>
                  <a:defRPr b="0" i="0" strike="noStrike" sz="1000" u="none">
                    <a:solidFill>
                      <a:srgbClr val="152D42"/>
                    </a:solidFill>
                    <a:latin typeface="+mn-lt"/>
                  </a:defRPr>
                </a:pPr>
              </a:p>
            </c:txPr>
            <c:showLegendKey val="0"/>
            <c:showVal val="0"/>
            <c:showCatName val="0"/>
            <c:showSerName val="0"/>
            <c:showPercent val="0"/>
            <c:showBubbleSize val="0"/>
            <c:showLeaderLines val="0"/>
          </c:dLbls>
          <c:marker>
            <c:symbol val="circle"/>
            <c:size val="5"/>
            <c:spPr>
              <a:solidFill>
                <a:srgbClr val="152D42"/>
              </a:solidFill>
              <a:ln w="9525" cap="flat">
                <a:solidFill>
                  <a:srgbClr val="152D42"/>
                </a:solidFill>
                <a:prstDash val="solid"/>
                <a:round/>
              </a:ln>
              <a:effectLst/>
            </c:spPr>
          </c:marker>
          <c:cat>
            <c:multiLvlStrRef>
              <c:f>Sheet1!$A$2:$A$42</c:f>
              <c:multiLvlStrCache>
                <c:ptCount val="41"/>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pt idx="36">
                    <c:v/>
                  </c:pt>
                  <c:pt idx="37">
                    <c:v/>
                  </c:pt>
                  <c:pt idx="38">
                    <c:v/>
                  </c:pt>
                  <c:pt idx="39">
                    <c:v/>
                  </c:pt>
                  <c:pt idx="40">
                    <c:v>40</c:v>
                  </c:pt>
                </c:lvl>
              </c:multiLvlStrCache>
            </c:multiLvlStrRef>
          </c:cat>
          <c:val>
            <c:numRef>
              <c:f>Sheet1!$C$2:$C$42</c:f>
              <c:numCache>
                <c:formatCode>General</c:formatCode>
                <c:ptCount val="41"/>
                <c:pt idx="0">
                  <c:v>1.4142135623730951</c:v>
                </c:pt>
                <c:pt idx="1">
                  <c:v>0.25</c:v>
                </c:pt>
                <c:pt idx="2">
                  <c:v>0.02499999999999991</c:v>
                </c:pt>
                <c:pt idx="3">
                  <c:v>0.00030487804878043256</c:v>
                </c:pt>
                <c:pt idx="4">
                  <c:v>4.6461147373833e-8</c:v>
                </c:pt>
                <c:pt idx="5">
                  <c:v>1.1102230246251565e-15</c:v>
                </c:pt>
              </c:numCache>
            </c:numRef>
          </c:val>
          <c:smooth val="0"/>
        </c:ser>
        <c:dLbls>
          <c:numFmt formatCode="#,##0" sourceLinked="0"/>
          <c:txPr>
            <a:bodyPr/>
            <a:lstStyle/>
            <a:p>
              <a:pPr>
                <a:defRPr b="0" i="0" strike="noStrike" sz="1000" u="none">
                  <a:solidFill>
                    <a:srgbClr val="152D42"/>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06476"/>
                    </a:solidFill>
                    <a:latin typeface="+mn-lt"/>
                  </a:defRPr>
                </a:pPr>
                <a:r>
                  <a:rPr sz="1000" b="0" i="0" u="none" strike="noStrike">
                    <a:solidFill>
                      <a:srgbClr val="506476"/>
                    </a:solidFill>
                    <a:latin typeface="+mn-lt"/>
                  </a:rPr>
                  <a:t>step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06476"/>
                </a:solidFill>
                <a:latin typeface="+mn-lt"/>
              </a:defRPr>
            </a:pPr>
            <a:endParaRPr lang="en-US"/>
          </a:p>
        </c:txPr>
        <c:crossAx val="2094734552"/>
        <c:crossesAt val="1e-16"/>
        <c:auto val="1"/>
        <c:lblAlgn val="ctr"/>
        <c:noMultiLvlLbl val="1"/>
        <c:tickLblSkip val="1"/>
      </c:catAx>
      <c:valAx>
        <c:axId val="2094734552"/>
        <c:scaling>
          <c:logBase val="10"/>
          <c:orientation val="minMax"/>
          <c:max val="100"/>
          <c:min val="1e-16"/>
        </c:scaling>
        <c:delete val="0"/>
        <c:axPos val="l"/>
        <c:majorGridlines>
          <c:spPr>
            <a:ln w="6350" cap="flat">
              <a:solidFill>
                <a:srgbClr val="DCE4EB"/>
              </a:solidFill>
              <a:prstDash val="solid"/>
              <a:round/>
            </a:ln>
          </c:spPr>
        </c:majorGridlines>
        <c:numFmt formatCode="0E+00" sourceLinked="0"/>
        <c:majorTickMark val="out"/>
        <c:minorTickMark val="none"/>
        <c:tickLblPos val="nextTo"/>
        <c:spPr>
          <a:ln w="12700" cap="flat">
            <a:noFill/>
            <a:prstDash val="solid"/>
            <a:round/>
          </a:ln>
        </c:spPr>
        <c:txPr>
          <a:bodyPr/>
          <a:lstStyle/>
          <a:p>
            <a:pPr>
              <a:defRPr sz="1000" b="0" i="0" u="none" strike="noStrike">
                <a:solidFill>
                  <a:srgbClr val="506476"/>
                </a:solidFill>
                <a:latin typeface="+mn-lt"/>
              </a:defRPr>
            </a:pPr>
            <a:endParaRPr lang="en-US"/>
          </a:p>
        </c:txPr>
        <c:crossAx val="2094734554"/>
        <c:crosses val="autoZero"/>
        <c:crossBetween val="between"/>
        <c:majorUnit val="100"/>
      </c:valAx>
      <c:spPr>
        <a:noFill/>
        <a:ln>
          <a:noFill/>
        </a:ln>
        <a:effectLst/>
      </c:spPr>
    </c:plotArea>
    <c:legend>
      <c:legendPos val="b"/>
      <c:overlay val="0"/>
      <c:txPr>
        <a:bodyPr/>
        <a:lstStyle/>
        <a:p>
          <a:pPr>
            <a:defRPr sz="1000">
              <a:solidFill>
                <a:srgbClr val="50647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2D42"/>
                </a:solidFill>
                <a:latin typeface="+mn-lt"/>
              </a:defRPr>
            </a:pPr>
            <a:r>
              <a:rPr sz="1200" b="0" i="0" u="none" strike="noStrike">
                <a:solidFill>
                  <a:srgbClr val="152D42"/>
                </a:solidFill>
                <a:latin typeface="+mn-lt"/>
              </a:rPr>
              <a:t>Position u(τ) of the charge</a:t>
            </a:r>
          </a:p>
        </c:rich>
      </c:tx>
      <c:layout/>
      <c:overlay val="0"/>
    </c:title>
    <c:autoTitleDeleted val="0"/>
    <c:plotArea>
      <c:layout/>
      <c:scatterChart>
        <c:scatterStyle val="lineMarker"/>
        <c:varyColors val="0"/>
        <c:ser>
          <c:idx val="0"/>
          <c:order val="0"/>
          <c:tx>
            <c:strRef>
              <c:f>Sheet1!$B$1</c:f>
              <c:strCache>
                <c:ptCount val="1"/>
                <c:pt idx="0">
                  <c:v>oscillating saddle, q = 0.4</c:v>
                </c:pt>
              </c:strCache>
            </c:strRef>
          </c:tx>
          <c:spPr>
            <a:solidFill>
              <a:srgbClr val="152D42"/>
            </a:solidFill>
            <a:ln w="22225" cap="flat">
              <a:solidFill>
                <a:srgbClr val="152D42"/>
              </a:solidFill>
              <a:prstDash val="solid"/>
              <a:round/>
            </a:ln>
            <a:effectLst/>
          </c:spPr>
          <c:marker>
            <c:symbol val="none"/>
            <c:size val="6"/>
            <c:spPr>
              <a:solidFill>
                <a:srgbClr val="152D42"/>
              </a:solidFill>
              <a:ln w="9525" cap="flat">
                <a:solidFill>
                  <a:srgbClr val="152D42"/>
                </a:solidFill>
                <a:prstDash val="solid"/>
                <a:round/>
              </a:ln>
              <a:effectLst/>
            </c:spPr>
          </c:marker>
          <c:xVal>
            <c:numRef>
              <c:f>Sheet1!$A$2:$A$302</c:f>
              <c:numCache>
                <c:formatCode>General</c:formatCode>
                <c:ptCount val="301"/>
                <c:pt idx="0">
                  <c:v>0</c:v>
                </c:pt>
                <c:pt idx="1">
                  <c:v>0.2</c:v>
                </c:pt>
                <c:pt idx="2">
                  <c:v>0.4</c:v>
                </c:pt>
                <c:pt idx="3">
                  <c:v>0.6</c:v>
                </c:pt>
                <c:pt idx="4">
                  <c:v>0.8</c:v>
                </c:pt>
                <c:pt idx="5">
                  <c:v>1</c:v>
                </c:pt>
                <c:pt idx="6">
                  <c:v>1.2</c:v>
                </c:pt>
                <c:pt idx="7">
                  <c:v>1.4000000000000001</c:v>
                </c:pt>
                <c:pt idx="8">
                  <c:v>1.6</c:v>
                </c:pt>
                <c:pt idx="9">
                  <c:v>1.8</c:v>
                </c:pt>
                <c:pt idx="10">
                  <c:v>2</c:v>
                </c:pt>
                <c:pt idx="11">
                  <c:v>2.2</c:v>
                </c:pt>
                <c:pt idx="12">
                  <c:v>2.4</c:v>
                </c:pt>
                <c:pt idx="13">
                  <c:v>2.6</c:v>
                </c:pt>
                <c:pt idx="14">
                  <c:v>2.8000000000000003</c:v>
                </c:pt>
                <c:pt idx="15">
                  <c:v>3</c:v>
                </c:pt>
                <c:pt idx="16">
                  <c:v>3.2</c:v>
                </c:pt>
                <c:pt idx="17">
                  <c:v>3.4</c:v>
                </c:pt>
                <c:pt idx="18">
                  <c:v>3.6</c:v>
                </c:pt>
                <c:pt idx="19">
                  <c:v>3.8000000000000003</c:v>
                </c:pt>
                <c:pt idx="20">
                  <c:v>4</c:v>
                </c:pt>
                <c:pt idx="21">
                  <c:v>4.2</c:v>
                </c:pt>
                <c:pt idx="22">
                  <c:v>4.4</c:v>
                </c:pt>
                <c:pt idx="23">
                  <c:v>4.6000000000000005</c:v>
                </c:pt>
                <c:pt idx="24">
                  <c:v>4.8</c:v>
                </c:pt>
                <c:pt idx="25">
                  <c:v>5</c:v>
                </c:pt>
                <c:pt idx="26">
                  <c:v>5.2</c:v>
                </c:pt>
                <c:pt idx="27">
                  <c:v>5.4</c:v>
                </c:pt>
                <c:pt idx="28">
                  <c:v>5.6000000000000005</c:v>
                </c:pt>
                <c:pt idx="29">
                  <c:v>5.8</c:v>
                </c:pt>
                <c:pt idx="30">
                  <c:v>6</c:v>
                </c:pt>
                <c:pt idx="31">
                  <c:v>6.2</c:v>
                </c:pt>
                <c:pt idx="32">
                  <c:v>6.4</c:v>
                </c:pt>
                <c:pt idx="33">
                  <c:v>6.6000000000000005</c:v>
                </c:pt>
                <c:pt idx="34">
                  <c:v>6.8</c:v>
                </c:pt>
                <c:pt idx="35">
                  <c:v>7</c:v>
                </c:pt>
                <c:pt idx="36">
                  <c:v>7.2</c:v>
                </c:pt>
                <c:pt idx="37">
                  <c:v>7.4</c:v>
                </c:pt>
                <c:pt idx="38">
                  <c:v>7.6000000000000005</c:v>
                </c:pt>
                <c:pt idx="39">
                  <c:v>7.8</c:v>
                </c:pt>
                <c:pt idx="40">
                  <c:v>8</c:v>
                </c:pt>
                <c:pt idx="41">
                  <c:v>8.2</c:v>
                </c:pt>
                <c:pt idx="42">
                  <c:v>8.4</c:v>
                </c:pt>
                <c:pt idx="43">
                  <c:v>8.6</c:v>
                </c:pt>
                <c:pt idx="44">
                  <c:v>8.8</c:v>
                </c:pt>
                <c:pt idx="45">
                  <c:v>9</c:v>
                </c:pt>
                <c:pt idx="46">
                  <c:v>9.200000000000001</c:v>
                </c:pt>
                <c:pt idx="47">
                  <c:v>9.4</c:v>
                </c:pt>
                <c:pt idx="48">
                  <c:v>9.6</c:v>
                </c:pt>
                <c:pt idx="49">
                  <c:v>9.8</c:v>
                </c:pt>
                <c:pt idx="50">
                  <c:v>10</c:v>
                </c:pt>
                <c:pt idx="51">
                  <c:v>10.200000000000001</c:v>
                </c:pt>
                <c:pt idx="52">
                  <c:v>10.4</c:v>
                </c:pt>
                <c:pt idx="53">
                  <c:v>10.6</c:v>
                </c:pt>
                <c:pt idx="54">
                  <c:v>10.8</c:v>
                </c:pt>
                <c:pt idx="55">
                  <c:v>11</c:v>
                </c:pt>
                <c:pt idx="56">
                  <c:v>11.200000000000001</c:v>
                </c:pt>
                <c:pt idx="57">
                  <c:v>11.4</c:v>
                </c:pt>
                <c:pt idx="58">
                  <c:v>11.6</c:v>
                </c:pt>
                <c:pt idx="59">
                  <c:v>11.8</c:v>
                </c:pt>
                <c:pt idx="60">
                  <c:v>12</c:v>
                </c:pt>
                <c:pt idx="61">
                  <c:v>12.200000000000001</c:v>
                </c:pt>
                <c:pt idx="62">
                  <c:v>12.4</c:v>
                </c:pt>
                <c:pt idx="63">
                  <c:v>12.6</c:v>
                </c:pt>
                <c:pt idx="64">
                  <c:v>12.8</c:v>
                </c:pt>
                <c:pt idx="65">
                  <c:v>13</c:v>
                </c:pt>
                <c:pt idx="66">
                  <c:v>13.200000000000001</c:v>
                </c:pt>
                <c:pt idx="67">
                  <c:v>13.4</c:v>
                </c:pt>
                <c:pt idx="68">
                  <c:v>13.6</c:v>
                </c:pt>
                <c:pt idx="69">
                  <c:v>13.8</c:v>
                </c:pt>
                <c:pt idx="70">
                  <c:v>14</c:v>
                </c:pt>
                <c:pt idx="71">
                  <c:v>14.200000000000001</c:v>
                </c:pt>
                <c:pt idx="72">
                  <c:v>14.4</c:v>
                </c:pt>
                <c:pt idx="73">
                  <c:v>14.6</c:v>
                </c:pt>
                <c:pt idx="74">
                  <c:v>14.8</c:v>
                </c:pt>
                <c:pt idx="75">
                  <c:v>15</c:v>
                </c:pt>
                <c:pt idx="76">
                  <c:v>15.200000000000001</c:v>
                </c:pt>
                <c:pt idx="77">
                  <c:v>15.4</c:v>
                </c:pt>
                <c:pt idx="78">
                  <c:v>15.6</c:v>
                </c:pt>
                <c:pt idx="79">
                  <c:v>15.8</c:v>
                </c:pt>
                <c:pt idx="80">
                  <c:v>16</c:v>
                </c:pt>
                <c:pt idx="81">
                  <c:v>16.2</c:v>
                </c:pt>
                <c:pt idx="82">
                  <c:v>16.4</c:v>
                </c:pt>
                <c:pt idx="83">
                  <c:v>16.6</c:v>
                </c:pt>
                <c:pt idx="84">
                  <c:v>16.8</c:v>
                </c:pt>
                <c:pt idx="85">
                  <c:v>17</c:v>
                </c:pt>
                <c:pt idx="86">
                  <c:v>17.2</c:v>
                </c:pt>
                <c:pt idx="87">
                  <c:v>17.400000000000002</c:v>
                </c:pt>
                <c:pt idx="88">
                  <c:v>17.6</c:v>
                </c:pt>
                <c:pt idx="89">
                  <c:v>17.8</c:v>
                </c:pt>
                <c:pt idx="90">
                  <c:v>18</c:v>
                </c:pt>
                <c:pt idx="91">
                  <c:v>18.2</c:v>
                </c:pt>
                <c:pt idx="92">
                  <c:v>18.400000000000002</c:v>
                </c:pt>
                <c:pt idx="93">
                  <c:v>18.6</c:v>
                </c:pt>
                <c:pt idx="94">
                  <c:v>18.8</c:v>
                </c:pt>
                <c:pt idx="95">
                  <c:v>19</c:v>
                </c:pt>
                <c:pt idx="96">
                  <c:v>19.2</c:v>
                </c:pt>
                <c:pt idx="97">
                  <c:v>19.400000000000002</c:v>
                </c:pt>
                <c:pt idx="98">
                  <c:v>19.6</c:v>
                </c:pt>
                <c:pt idx="99">
                  <c:v>19.8</c:v>
                </c:pt>
                <c:pt idx="100">
                  <c:v>20</c:v>
                </c:pt>
                <c:pt idx="101">
                  <c:v>20.2</c:v>
                </c:pt>
                <c:pt idx="102">
                  <c:v>20.400000000000002</c:v>
                </c:pt>
                <c:pt idx="103">
                  <c:v>20.6</c:v>
                </c:pt>
                <c:pt idx="104">
                  <c:v>20.8</c:v>
                </c:pt>
                <c:pt idx="105">
                  <c:v>21</c:v>
                </c:pt>
                <c:pt idx="106">
                  <c:v>21.2</c:v>
                </c:pt>
                <c:pt idx="107">
                  <c:v>21.400000000000002</c:v>
                </c:pt>
                <c:pt idx="108">
                  <c:v>21.6</c:v>
                </c:pt>
                <c:pt idx="109">
                  <c:v>21.8</c:v>
                </c:pt>
                <c:pt idx="110">
                  <c:v>22</c:v>
                </c:pt>
                <c:pt idx="111">
                  <c:v>22.2</c:v>
                </c:pt>
                <c:pt idx="112">
                  <c:v>22.400000000000002</c:v>
                </c:pt>
                <c:pt idx="113">
                  <c:v>22.6</c:v>
                </c:pt>
                <c:pt idx="114">
                  <c:v>22.8</c:v>
                </c:pt>
                <c:pt idx="115">
                  <c:v>23</c:v>
                </c:pt>
                <c:pt idx="116">
                  <c:v>23.2</c:v>
                </c:pt>
                <c:pt idx="117">
                  <c:v>23.400000000000002</c:v>
                </c:pt>
                <c:pt idx="118">
                  <c:v>23.6</c:v>
                </c:pt>
                <c:pt idx="119">
                  <c:v>23.8</c:v>
                </c:pt>
                <c:pt idx="120">
                  <c:v>24</c:v>
                </c:pt>
                <c:pt idx="121">
                  <c:v>24.2</c:v>
                </c:pt>
                <c:pt idx="122">
                  <c:v>24.400000000000002</c:v>
                </c:pt>
                <c:pt idx="123">
                  <c:v>24.6</c:v>
                </c:pt>
                <c:pt idx="124">
                  <c:v>24.8</c:v>
                </c:pt>
                <c:pt idx="125">
                  <c:v>25</c:v>
                </c:pt>
                <c:pt idx="126">
                  <c:v>25.2</c:v>
                </c:pt>
                <c:pt idx="127">
                  <c:v>25.400000000000002</c:v>
                </c:pt>
                <c:pt idx="128">
                  <c:v>25.6</c:v>
                </c:pt>
                <c:pt idx="129">
                  <c:v>25.8</c:v>
                </c:pt>
                <c:pt idx="130">
                  <c:v>26</c:v>
                </c:pt>
                <c:pt idx="131">
                  <c:v>26.2</c:v>
                </c:pt>
                <c:pt idx="132">
                  <c:v>26.400000000000002</c:v>
                </c:pt>
                <c:pt idx="133">
                  <c:v>26.6</c:v>
                </c:pt>
                <c:pt idx="134">
                  <c:v>26.8</c:v>
                </c:pt>
                <c:pt idx="135">
                  <c:v>27</c:v>
                </c:pt>
                <c:pt idx="136">
                  <c:v>27.2</c:v>
                </c:pt>
                <c:pt idx="137">
                  <c:v>27.400000000000002</c:v>
                </c:pt>
                <c:pt idx="138">
                  <c:v>27.6</c:v>
                </c:pt>
                <c:pt idx="139">
                  <c:v>27.8</c:v>
                </c:pt>
                <c:pt idx="140">
                  <c:v>28</c:v>
                </c:pt>
                <c:pt idx="141">
                  <c:v>28.2</c:v>
                </c:pt>
                <c:pt idx="142">
                  <c:v>28.400000000000002</c:v>
                </c:pt>
                <c:pt idx="143">
                  <c:v>28.6</c:v>
                </c:pt>
                <c:pt idx="144">
                  <c:v>28.8</c:v>
                </c:pt>
                <c:pt idx="145">
                  <c:v>29</c:v>
                </c:pt>
                <c:pt idx="146">
                  <c:v>29.2</c:v>
                </c:pt>
                <c:pt idx="147">
                  <c:v>29.400000000000002</c:v>
                </c:pt>
                <c:pt idx="148">
                  <c:v>29.6</c:v>
                </c:pt>
                <c:pt idx="149">
                  <c:v>29.8</c:v>
                </c:pt>
                <c:pt idx="150">
                  <c:v>30</c:v>
                </c:pt>
                <c:pt idx="151">
                  <c:v>30.2</c:v>
                </c:pt>
                <c:pt idx="152">
                  <c:v>30.400000000000002</c:v>
                </c:pt>
                <c:pt idx="153">
                  <c:v>30.6</c:v>
                </c:pt>
                <c:pt idx="154">
                  <c:v>30.8</c:v>
                </c:pt>
                <c:pt idx="155">
                  <c:v>31</c:v>
                </c:pt>
                <c:pt idx="156">
                  <c:v>31.2</c:v>
                </c:pt>
                <c:pt idx="157">
                  <c:v>31.400000000000002</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34.800000000000004</c:v>
                </c:pt>
                <c:pt idx="175">
                  <c:v>35</c:v>
                </c:pt>
                <c:pt idx="176">
                  <c:v>35.2</c:v>
                </c:pt>
                <c:pt idx="177">
                  <c:v>35.4</c:v>
                </c:pt>
                <c:pt idx="178">
                  <c:v>35.6</c:v>
                </c:pt>
                <c:pt idx="179">
                  <c:v>35.800000000000004</c:v>
                </c:pt>
                <c:pt idx="180">
                  <c:v>36</c:v>
                </c:pt>
                <c:pt idx="181">
                  <c:v>36.2</c:v>
                </c:pt>
                <c:pt idx="182">
                  <c:v>36.4</c:v>
                </c:pt>
                <c:pt idx="183">
                  <c:v>36.6</c:v>
                </c:pt>
                <c:pt idx="184">
                  <c:v>36.800000000000004</c:v>
                </c:pt>
                <c:pt idx="185">
                  <c:v>37</c:v>
                </c:pt>
                <c:pt idx="186">
                  <c:v>37.2</c:v>
                </c:pt>
                <c:pt idx="187">
                  <c:v>37.4</c:v>
                </c:pt>
                <c:pt idx="188">
                  <c:v>37.6</c:v>
                </c:pt>
                <c:pt idx="189">
                  <c:v>37.800000000000004</c:v>
                </c:pt>
                <c:pt idx="190">
                  <c:v>38</c:v>
                </c:pt>
                <c:pt idx="191">
                  <c:v>38.2</c:v>
                </c:pt>
                <c:pt idx="192">
                  <c:v>38.4</c:v>
                </c:pt>
                <c:pt idx="193">
                  <c:v>38.6</c:v>
                </c:pt>
                <c:pt idx="194">
                  <c:v>38.800000000000004</c:v>
                </c:pt>
                <c:pt idx="195">
                  <c:v>39</c:v>
                </c:pt>
                <c:pt idx="196">
                  <c:v>39.2</c:v>
                </c:pt>
                <c:pt idx="197">
                  <c:v>39.4</c:v>
                </c:pt>
                <c:pt idx="198">
                  <c:v>39.6</c:v>
                </c:pt>
                <c:pt idx="199">
                  <c:v>39.800000000000004</c:v>
                </c:pt>
                <c:pt idx="200">
                  <c:v>40</c:v>
                </c:pt>
                <c:pt idx="201">
                  <c:v>40.2</c:v>
                </c:pt>
                <c:pt idx="202">
                  <c:v>40.4</c:v>
                </c:pt>
                <c:pt idx="203">
                  <c:v>40.6</c:v>
                </c:pt>
                <c:pt idx="204">
                  <c:v>40.800000000000004</c:v>
                </c:pt>
                <c:pt idx="205">
                  <c:v>41</c:v>
                </c:pt>
                <c:pt idx="206">
                  <c:v>41.2</c:v>
                </c:pt>
                <c:pt idx="207">
                  <c:v>41.4</c:v>
                </c:pt>
                <c:pt idx="208">
                  <c:v>41.6</c:v>
                </c:pt>
                <c:pt idx="209">
                  <c:v>41.800000000000004</c:v>
                </c:pt>
                <c:pt idx="210">
                  <c:v>42</c:v>
                </c:pt>
                <c:pt idx="211">
                  <c:v>42.2</c:v>
                </c:pt>
                <c:pt idx="212">
                  <c:v>42.4</c:v>
                </c:pt>
                <c:pt idx="213">
                  <c:v>42.6</c:v>
                </c:pt>
                <c:pt idx="214">
                  <c:v>42.800000000000004</c:v>
                </c:pt>
                <c:pt idx="215">
                  <c:v>43</c:v>
                </c:pt>
                <c:pt idx="216">
                  <c:v>43.2</c:v>
                </c:pt>
                <c:pt idx="217">
                  <c:v>43.4</c:v>
                </c:pt>
                <c:pt idx="218">
                  <c:v>43.6</c:v>
                </c:pt>
                <c:pt idx="219">
                  <c:v>43.800000000000004</c:v>
                </c:pt>
                <c:pt idx="220">
                  <c:v>44</c:v>
                </c:pt>
                <c:pt idx="221">
                  <c:v>44.2</c:v>
                </c:pt>
                <c:pt idx="222">
                  <c:v>44.4</c:v>
                </c:pt>
                <c:pt idx="223">
                  <c:v>44.6</c:v>
                </c:pt>
                <c:pt idx="224">
                  <c:v>44.800000000000004</c:v>
                </c:pt>
                <c:pt idx="225">
                  <c:v>45</c:v>
                </c:pt>
                <c:pt idx="226">
                  <c:v>45.2</c:v>
                </c:pt>
                <c:pt idx="227">
                  <c:v>45.4</c:v>
                </c:pt>
                <c:pt idx="228">
                  <c:v>45.6</c:v>
                </c:pt>
                <c:pt idx="229">
                  <c:v>45.800000000000004</c:v>
                </c:pt>
                <c:pt idx="230">
                  <c:v>46</c:v>
                </c:pt>
                <c:pt idx="231">
                  <c:v>46.2</c:v>
                </c:pt>
                <c:pt idx="232">
                  <c:v>46.4</c:v>
                </c:pt>
                <c:pt idx="233">
                  <c:v>46.6</c:v>
                </c:pt>
                <c:pt idx="234">
                  <c:v>46.800000000000004</c:v>
                </c:pt>
                <c:pt idx="235">
                  <c:v>47</c:v>
                </c:pt>
                <c:pt idx="236">
                  <c:v>47.2</c:v>
                </c:pt>
                <c:pt idx="237">
                  <c:v>47.4</c:v>
                </c:pt>
                <c:pt idx="238">
                  <c:v>47.6</c:v>
                </c:pt>
                <c:pt idx="239">
                  <c:v>47.800000000000004</c:v>
                </c:pt>
                <c:pt idx="240">
                  <c:v>48</c:v>
                </c:pt>
                <c:pt idx="241">
                  <c:v>48.2</c:v>
                </c:pt>
                <c:pt idx="242">
                  <c:v>48.4</c:v>
                </c:pt>
                <c:pt idx="243">
                  <c:v>48.6</c:v>
                </c:pt>
                <c:pt idx="244">
                  <c:v>48.800000000000004</c:v>
                </c:pt>
                <c:pt idx="245">
                  <c:v>49</c:v>
                </c:pt>
                <c:pt idx="246">
                  <c:v>49.2</c:v>
                </c:pt>
                <c:pt idx="247">
                  <c:v>49.4</c:v>
                </c:pt>
                <c:pt idx="248">
                  <c:v>49.6</c:v>
                </c:pt>
                <c:pt idx="249">
                  <c:v>49.800000000000004</c:v>
                </c:pt>
                <c:pt idx="250">
                  <c:v>50</c:v>
                </c:pt>
                <c:pt idx="251">
                  <c:v>50.2</c:v>
                </c:pt>
                <c:pt idx="252">
                  <c:v>50.4</c:v>
                </c:pt>
                <c:pt idx="253">
                  <c:v>50.6</c:v>
                </c:pt>
                <c:pt idx="254">
                  <c:v>50.800000000000004</c:v>
                </c:pt>
                <c:pt idx="255">
                  <c:v>51</c:v>
                </c:pt>
                <c:pt idx="256">
                  <c:v>51.2</c:v>
                </c:pt>
                <c:pt idx="257">
                  <c:v>51.4</c:v>
                </c:pt>
                <c:pt idx="258">
                  <c:v>51.6</c:v>
                </c:pt>
                <c:pt idx="259">
                  <c:v>51.800000000000004</c:v>
                </c:pt>
                <c:pt idx="260">
                  <c:v>52</c:v>
                </c:pt>
                <c:pt idx="261">
                  <c:v>52.2</c:v>
                </c:pt>
                <c:pt idx="262">
                  <c:v>52.4</c:v>
                </c:pt>
                <c:pt idx="263">
                  <c:v>52.6</c:v>
                </c:pt>
                <c:pt idx="264">
                  <c:v>52.800000000000004</c:v>
                </c:pt>
                <c:pt idx="265">
                  <c:v>53</c:v>
                </c:pt>
                <c:pt idx="266">
                  <c:v>53.2</c:v>
                </c:pt>
                <c:pt idx="267">
                  <c:v>53.4</c:v>
                </c:pt>
                <c:pt idx="268">
                  <c:v>53.6</c:v>
                </c:pt>
                <c:pt idx="269">
                  <c:v>53.800000000000004</c:v>
                </c:pt>
                <c:pt idx="270">
                  <c:v>54</c:v>
                </c:pt>
                <c:pt idx="271">
                  <c:v>54.2</c:v>
                </c:pt>
                <c:pt idx="272">
                  <c:v>54.4</c:v>
                </c:pt>
                <c:pt idx="273">
                  <c:v>54.6</c:v>
                </c:pt>
                <c:pt idx="274">
                  <c:v>54.800000000000004</c:v>
                </c:pt>
                <c:pt idx="275">
                  <c:v>55</c:v>
                </c:pt>
                <c:pt idx="276">
                  <c:v>55.2</c:v>
                </c:pt>
                <c:pt idx="277">
                  <c:v>55.4</c:v>
                </c:pt>
                <c:pt idx="278">
                  <c:v>55.6</c:v>
                </c:pt>
                <c:pt idx="279">
                  <c:v>55.800000000000004</c:v>
                </c:pt>
                <c:pt idx="280">
                  <c:v>56</c:v>
                </c:pt>
                <c:pt idx="281">
                  <c:v>56.2</c:v>
                </c:pt>
                <c:pt idx="282">
                  <c:v>56.4</c:v>
                </c:pt>
                <c:pt idx="283">
                  <c:v>56.6</c:v>
                </c:pt>
                <c:pt idx="284">
                  <c:v>56.800000000000004</c:v>
                </c:pt>
                <c:pt idx="285">
                  <c:v>57</c:v>
                </c:pt>
                <c:pt idx="286">
                  <c:v>57.2</c:v>
                </c:pt>
                <c:pt idx="287">
                  <c:v>57.4</c:v>
                </c:pt>
                <c:pt idx="288">
                  <c:v>57.6</c:v>
                </c:pt>
                <c:pt idx="289">
                  <c:v>57.800000000000004</c:v>
                </c:pt>
                <c:pt idx="290">
                  <c:v>58</c:v>
                </c:pt>
                <c:pt idx="291">
                  <c:v>58.2</c:v>
                </c:pt>
                <c:pt idx="292">
                  <c:v>58.4</c:v>
                </c:pt>
                <c:pt idx="293">
                  <c:v>58.6</c:v>
                </c:pt>
                <c:pt idx="294">
                  <c:v>58.800000000000004</c:v>
                </c:pt>
                <c:pt idx="295">
                  <c:v>59</c:v>
                </c:pt>
                <c:pt idx="296">
                  <c:v>59.2</c:v>
                </c:pt>
                <c:pt idx="297">
                  <c:v>59.4</c:v>
                </c:pt>
                <c:pt idx="298">
                  <c:v>59.6</c:v>
                </c:pt>
                <c:pt idx="299">
                  <c:v>59.800000000000004</c:v>
                </c:pt>
                <c:pt idx="300">
                  <c:v>60</c:v>
                </c:pt>
              </c:numCache>
            </c:numRef>
          </c:xVal>
          <c:yVal>
            <c:numRef>
              <c:f>Sheet1!$B$2:$B$302</c:f>
              <c:numCache>
                <c:formatCode>General</c:formatCode>
                <c:ptCount val="301"/>
                <c:pt idx="0">
                  <c:v>1</c:v>
                </c:pt>
                <c:pt idx="1">
                  <c:v>1.0158289377298828</c:v>
                </c:pt>
                <c:pt idx="2">
                  <c:v>1.0612466438893653</c:v>
                </c:pt>
                <c:pt idx="3">
                  <c:v>1.1299652626274925</c:v>
                </c:pt>
                <c:pt idx="4">
                  <c:v>1.21147447328731</c:v>
                </c:pt>
                <c:pt idx="5">
                  <c:v>1.2916929400720845</c:v>
                </c:pt>
                <c:pt idx="6">
                  <c:v>1.3548162967251158</c:v>
                </c:pt>
                <c:pt idx="7">
                  <c:v>1.3863858274151055</c:v>
                </c:pt>
                <c:pt idx="8">
                  <c:v>1.376801518815711</c:v>
                </c:pt>
                <c:pt idx="9">
                  <c:v>1.3239267898307883</c:v>
                </c:pt>
                <c:pt idx="10">
                  <c:v>1.2335838840258888</c:v>
                </c:pt>
                <c:pt idx="11">
                  <c:v>1.1176572357764316</c:v>
                </c:pt>
                <c:pt idx="12">
                  <c:v>0.9906464311951834</c:v>
                </c:pt>
                <c:pt idx="13">
                  <c:v>0.8661062003297695</c:v>
                </c:pt>
                <c:pt idx="14">
                  <c:v>0.7541724388059176</c:v>
                </c:pt>
                <c:pt idx="15">
                  <c:v>0.6606073983229278</c:v>
                </c:pt>
                <c:pt idx="16">
                  <c:v>0.5870714132079413</c:v>
                </c:pt>
                <c:pt idx="17">
                  <c:v>0.5320096365735298</c:v>
                </c:pt>
                <c:pt idx="18">
                  <c:v>0.49163486114654337</c:v>
                </c:pt>
                <c:pt idx="19">
                  <c:v>0.4607776477934253</c:v>
                </c:pt>
                <c:pt idx="20">
                  <c:v>0.43363654375397154</c:v>
                </c:pt>
                <c:pt idx="21">
                  <c:v>0.40456153547285423</c:v>
                </c:pt>
                <c:pt idx="22">
                  <c:v>0.3689195936271364</c:v>
                </c:pt>
                <c:pt idx="23">
                  <c:v>0.32389881346924787</c:v>
                </c:pt>
                <c:pt idx="24">
                  <c:v>0.2689568058970228</c:v>
                </c:pt>
                <c:pt idx="25">
                  <c:v>0.20565195352901847</c:v>
                </c:pt>
                <c:pt idx="26">
                  <c:v>0.13683425850689027</c:v>
                </c:pt>
                <c:pt idx="27">
                  <c:v>0.06547343953758505</c:v>
                </c:pt>
                <c:pt idx="28">
                  <c:v>-0.006437473052666324</c:v>
                </c:pt>
                <c:pt idx="29">
                  <c:v>-0.07853840874622776</c:v>
                </c:pt>
                <c:pt idx="30">
                  <c:v>-0.15217699269769336</c:v>
                </c:pt>
                <c:pt idx="31">
                  <c:v>-0.22996475601426908</c:v>
                </c:pt>
                <c:pt idx="32">
                  <c:v>-0.31496030846564843</c:v>
                </c:pt>
                <c:pt idx="33">
                  <c:v>-0.4096114155244417</c:v>
                </c:pt>
                <c:pt idx="34">
                  <c:v>-0.5145825789179076</c:v>
                </c:pt>
                <c:pt idx="35">
                  <c:v>-0.6276805844326354</c:v>
                </c:pt>
                <c:pt idx="36">
                  <c:v>-0.7432489659903329</c:v>
                </c:pt>
                <c:pt idx="37">
                  <c:v>-0.8524928533498224</c:v>
                </c:pt>
                <c:pt idx="38">
                  <c:v>-0.9450297244024337</c:v>
                </c:pt>
                <c:pt idx="39">
                  <c:v>-1.0114712751136206</c:v>
                </c:pt>
                <c:pt idx="40">
                  <c:v>-1.0462314817130143</c:v>
                </c:pt>
                <c:pt idx="41">
                  <c:v>-1.0494451454539926</c:v>
                </c:pt>
                <c:pt idx="42">
                  <c:v>-1.0271822499865673</c:v>
                </c:pt>
                <c:pt idx="43">
                  <c:v>-0.9899377025246034</c:v>
                </c:pt>
                <c:pt idx="44">
                  <c:v>-0.9501506538928267</c:v>
                </c:pt>
                <c:pt idx="45">
                  <c:v>-0.9197716938948206</c:v>
                </c:pt>
                <c:pt idx="46">
                  <c:v>-0.9085685579364258</c:v>
                </c:pt>
                <c:pt idx="47">
                  <c:v>-0.9232652927546184</c:v>
                </c:pt>
                <c:pt idx="48">
                  <c:v>-0.9671577200825359</c:v>
                </c:pt>
                <c:pt idx="49">
                  <c:v>-1.039760366025999</c:v>
                </c:pt>
                <c:pt idx="50">
                  <c:v>-1.1362980938934255</c:v>
                </c:pt>
                <c:pt idx="51">
                  <c:v>-1.2472907566636051</c:v>
                </c:pt>
                <c:pt idx="52">
                  <c:v>-1.3588468116306394</c:v>
                </c:pt>
                <c:pt idx="53">
                  <c:v>-1.4543111579709054</c:v>
                </c:pt>
                <c:pt idx="54">
                  <c:v>-1.5174297609067526</c:v>
                </c:pt>
                <c:pt idx="55">
                  <c:v>-1.5363262793385786</c:v>
                </c:pt>
                <c:pt idx="56">
                  <c:v>-1.5068402968004777</c:v>
                </c:pt>
                <c:pt idx="57">
                  <c:v>-1.433756929271542</c:v>
                </c:pt>
                <c:pt idx="58">
                  <c:v>-1.329339515847137</c:v>
                </c:pt>
                <c:pt idx="59">
                  <c:v>-1.2098485535966779</c:v>
                </c:pt>
                <c:pt idx="60">
                  <c:v>-1.091557176494799</c:v>
                </c:pt>
                <c:pt idx="61">
                  <c:v>-0.9876874124188636</c:v>
                </c:pt>
                <c:pt idx="62">
                  <c:v>-0.9069137314636588</c:v>
                </c:pt>
                <c:pt idx="63">
                  <c:v>-0.8532258393131027</c:v>
                </c:pt>
                <c:pt idx="64">
                  <c:v>-0.8264937146915053</c:v>
                </c:pt>
                <c:pt idx="65">
                  <c:v>-0.8231292164636695</c:v>
                </c:pt>
                <c:pt idx="66">
                  <c:v>-0.8365975941665416</c:v>
                </c:pt>
                <c:pt idx="67">
                  <c:v>-0.8579307544892293</c:v>
                </c:pt>
                <c:pt idx="68">
                  <c:v>-0.876611165815438</c:v>
                </c:pt>
                <c:pt idx="69">
                  <c:v>-0.8820993957192111</c:v>
                </c:pt>
                <c:pt idx="70">
                  <c:v>-0.8658815084649015</c:v>
                </c:pt>
                <c:pt idx="71">
                  <c:v>-0.8234277880478085</c:v>
                </c:pt>
                <c:pt idx="72">
                  <c:v>-0.7552307096262444</c:v>
                </c:pt>
                <c:pt idx="73">
                  <c:v>-0.6663689050780182</c:v>
                </c:pt>
                <c:pt idx="74">
                  <c:v>-0.5647128944841574</c:v>
                </c:pt>
                <c:pt idx="75">
                  <c:v>-0.45851798031421187</c:v>
                </c:pt>
                <c:pt idx="76">
                  <c:v>-0.35433672193422605</c:v>
                </c:pt>
                <c:pt idx="77">
                  <c:v>-0.25587570310993074</c:v>
                </c:pt>
                <c:pt idx="78">
                  <c:v>-0.16390731400621894</c:v>
                </c:pt>
                <c:pt idx="79">
                  <c:v>-0.07696668849856166</c:v>
                </c:pt>
                <c:pt idx="80">
                  <c:v>0.0075455596622986685</c:v>
                </c:pt>
                <c:pt idx="81">
                  <c:v>0.09215874138553656</c:v>
                </c:pt>
                <c:pt idx="82">
                  <c:v>0.17823529739856958</c:v>
                </c:pt>
                <c:pt idx="83">
                  <c:v>0.2651773063145509</c:v>
                </c:pt>
                <c:pt idx="84">
                  <c:v>0.3501699070763071</c:v>
                </c:pt>
                <c:pt idx="85">
                  <c:v>0.42866638475129687</c:v>
                </c:pt>
                <c:pt idx="86">
                  <c:v>0.4956207931596799</c:v>
                </c:pt>
                <c:pt idx="87">
                  <c:v>0.5471394303020707</c:v>
                </c:pt>
                <c:pt idx="88">
                  <c:v>0.5819513911874512</c:v>
                </c:pt>
                <c:pt idx="89">
                  <c:v>0.6021166344950942</c:v>
                </c:pt>
                <c:pt idx="90">
                  <c:v>0.6127376811776175</c:v>
                </c:pt>
                <c:pt idx="91">
                  <c:v>0.6209018196676512</c:v>
                </c:pt>
                <c:pt idx="92">
                  <c:v>0.6343512326690491</c:v>
                </c:pt>
                <c:pt idx="93">
                  <c:v>0.6603171149017371</c:v>
                </c:pt>
                <c:pt idx="94">
                  <c:v>0.7046663074124694</c:v>
                </c:pt>
                <c:pt idx="95">
                  <c:v>0.771225514861555</c:v>
                </c:pt>
                <c:pt idx="96">
                  <c:v>0.8610514673716059</c:v>
                </c:pt>
                <c:pt idx="97">
                  <c:v>0.9715608295855165</c:v>
                </c:pt>
                <c:pt idx="98">
                  <c:v>1.0957548221751778</c:v>
                </c:pt>
                <c:pt idx="99">
                  <c:v>1.2220994038998587</c:v>
                </c:pt>
                <c:pt idx="100">
                  <c:v>1.3357041945586683</c:v>
                </c:pt>
                <c:pt idx="101">
                  <c:v>1.4210705661723693</c:v>
                </c:pt>
                <c:pt idx="102">
                  <c:v>1.465889200481719</c:v>
                </c:pt>
                <c:pt idx="103">
                  <c:v>1.4645781145695989</c:v>
                </c:pt>
                <c:pt idx="104">
                  <c:v>1.4200629380689107</c:v>
                </c:pt>
                <c:pt idx="105">
                  <c:v>1.3429959299049008</c:v>
                </c:pt>
                <c:pt idx="106">
                  <c:v>1.2488160412003533</c:v>
                </c:pt>
                <c:pt idx="107">
                  <c:v>1.1539798607576455</c:v>
                </c:pt>
                <c:pt idx="108">
                  <c:v>1.0727854103409589</c:v>
                </c:pt>
                <c:pt idx="109">
                  <c:v>1.0155576820868502</c:v>
                </c:pt>
                <c:pt idx="110">
                  <c:v>0.9881201690295137</c:v>
                </c:pt>
                <c:pt idx="111">
                  <c:v>0.991959965980614</c:v>
                </c:pt>
                <c:pt idx="112">
                  <c:v>1.0244807538602978</c:v>
                </c:pt>
                <c:pt idx="113">
                  <c:v>1.0790956625054045</c:v>
                </c:pt>
                <c:pt idx="114">
                  <c:v>1.145381544259838</c:v>
                </c:pt>
                <c:pt idx="115">
                  <c:v>1.2098309346963967</c:v>
                </c:pt>
                <c:pt idx="116">
                  <c:v>1.257679597258292</c:v>
                </c:pt>
                <c:pt idx="117">
                  <c:v>1.2757849744945857</c:v>
                </c:pt>
                <c:pt idx="118">
                  <c:v>1.2557956668008923</c:v>
                </c:pt>
                <c:pt idx="119">
                  <c:v>1.1963647498998533</c:v>
                </c:pt>
                <c:pt idx="120">
                  <c:v>1.1033622295671526</c:v>
                </c:pt>
                <c:pt idx="121">
                  <c:v>0.9879236836369354</c:v>
                </c:pt>
                <c:pt idx="122">
                  <c:v>0.8631868235107639</c:v>
                </c:pt>
                <c:pt idx="123">
                  <c:v>0.7410545227863976</c:v>
                </c:pt>
                <c:pt idx="124">
                  <c:v>0.6300470576165565</c:v>
                </c:pt>
                <c:pt idx="125">
                  <c:v>0.5345857862228216</c:v>
                </c:pt>
                <c:pt idx="126">
                  <c:v>0.45540560763099763</c:v>
                </c:pt>
                <c:pt idx="127">
                  <c:v>0.3905323491341961</c:v>
                </c:pt>
                <c:pt idx="128">
                  <c:v>0.33635775180134536</c:v>
                </c:pt>
                <c:pt idx="129">
                  <c:v>0.2885896494476426</c:v>
                </c:pt>
                <c:pt idx="130">
                  <c:v>0.24305089032145136</c:v>
                </c:pt>
                <c:pt idx="131">
                  <c:v>0.19635722625028823</c:v>
                </c:pt>
                <c:pt idx="132">
                  <c:v>0.1464411374248471</c:v>
                </c:pt>
                <c:pt idx="133">
                  <c:v>0.09279772955790766</c:v>
                </c:pt>
                <c:pt idx="134">
                  <c:v>0.03631800514396116</c:v>
                </c:pt>
                <c:pt idx="135">
                  <c:v>-0.021307473709897256</c:v>
                </c:pt>
                <c:pt idx="136">
                  <c:v>-0.07844397506690978</c:v>
                </c:pt>
                <c:pt idx="137">
                  <c:v>-0.1343292785901823</c:v>
                </c:pt>
                <c:pt idx="138">
                  <c:v>-0.18957958210444914</c:v>
                </c:pt>
                <c:pt idx="139">
                  <c:v>-0.24626410573585458</c:v>
                </c:pt>
                <c:pt idx="140">
                  <c:v>-0.30758770647794537</c:v>
                </c:pt>
                <c:pt idx="141">
                  <c:v>-0.37728819297812255</c:v>
                </c:pt>
                <c:pt idx="142">
                  <c:v>-0.45882430083263226</c:v>
                </c:pt>
                <c:pt idx="143">
                  <c:v>-0.5543818393518916</c:v>
                </c:pt>
                <c:pt idx="144">
                  <c:v>-0.6637580457719345</c:v>
                </c:pt>
                <c:pt idx="145">
                  <c:v>-0.7833409642259208</c:v>
                </c:pt>
                <c:pt idx="146">
                  <c:v>-0.9056172223203631</c:v>
                </c:pt>
                <c:pt idx="147">
                  <c:v>-1.019739850763913</c:v>
                </c:pt>
                <c:pt idx="148">
                  <c:v>-1.1134634248892477</c:v>
                </c:pt>
                <c:pt idx="149">
                  <c:v>-1.1761626330927455</c:v>
                </c:pt>
                <c:pt idx="150">
                  <c:v>-1.2019622955573315</c:v>
                </c:pt>
                <c:pt idx="151">
                  <c:v>-1.1917095621153506</c:v>
                </c:pt>
                <c:pt idx="152">
                  <c:v>-1.1529352718875894</c:v>
                </c:pt>
                <c:pt idx="153">
                  <c:v>-1.097892274921544</c:v>
                </c:pt>
                <c:pt idx="154">
                  <c:v>-1.0406130358220445</c:v>
                </c:pt>
                <c:pt idx="155">
                  <c:v>-0.9941625727925569</c:v>
                </c:pt>
                <c:pt idx="156">
                  <c:v>-0.9688340772627413</c:v>
                </c:pt>
                <c:pt idx="157">
                  <c:v>-0.9713437673845609</c:v>
                </c:pt>
                <c:pt idx="158">
                  <c:v>-1.0045896947863768</c:v>
                </c:pt>
                <c:pt idx="159">
                  <c:v>-1.0674658939612185</c:v>
                </c:pt>
                <c:pt idx="160">
                  <c:v>-1.1545175988129737</c:v>
                </c:pt>
                <c:pt idx="161">
                  <c:v>-1.255683651481966</c:v>
                </c:pt>
                <c:pt idx="162">
                  <c:v>-1.356737976674175</c:v>
                </c:pt>
                <c:pt idx="163">
                  <c:v>-1.4410473687895289</c:v>
                </c:pt>
                <c:pt idx="164">
                  <c:v>-1.492758049635779</c:v>
                </c:pt>
                <c:pt idx="165">
                  <c:v>-1.5006654457005402</c:v>
                </c:pt>
                <c:pt idx="166">
                  <c:v>-1.461327367179415</c:v>
                </c:pt>
                <c:pt idx="167">
                  <c:v>-1.380027502760664</c:v>
                </c:pt>
                <c:pt idx="168">
                  <c:v>-1.2691097531368145</c:v>
                </c:pt>
                <c:pt idx="169">
                  <c:v>-1.1444427341594492</c:v>
                </c:pt>
                <c:pt idx="170">
                  <c:v>-1.0215259523757843</c:v>
                </c:pt>
                <c:pt idx="171">
                  <c:v>-0.9126006787049822</c:v>
                </c:pt>
                <c:pt idx="172">
                  <c:v>-0.8253395903149382</c:v>
                </c:pt>
                <c:pt idx="173">
                  <c:v>-0.7628688130428353</c:v>
                </c:pt>
                <c:pt idx="174">
                  <c:v>-0.7244705021413631</c:v>
                </c:pt>
                <c:pt idx="175">
                  <c:v>-0.7063840241327423</c:v>
                </c:pt>
                <c:pt idx="176">
                  <c:v>-0.702463529024388</c:v>
                </c:pt>
                <c:pt idx="177">
                  <c:v>-0.7048015284111874</c:v>
                </c:pt>
                <c:pt idx="178">
                  <c:v>-0.7046009946558479</c:v>
                </c:pt>
                <c:pt idx="179">
                  <c:v>-0.6934815960321019</c:v>
                </c:pt>
                <c:pt idx="180">
                  <c:v>-0.6650790673280165</c:v>
                </c:pt>
                <c:pt idx="181">
                  <c:v>-0.6164356667879679</c:v>
                </c:pt>
                <c:pt idx="182">
                  <c:v>-0.5485595764664091</c:v>
                </c:pt>
                <c:pt idx="183">
                  <c:v>-0.46580739292510814</c:v>
                </c:pt>
                <c:pt idx="184">
                  <c:v>-0.37428388141753394</c:v>
                </c:pt>
                <c:pt idx="185">
                  <c:v>-0.2799050742426394</c:v>
                </c:pt>
                <c:pt idx="186">
                  <c:v>-0.18684908509635076</c:v>
                </c:pt>
                <c:pt idx="187">
                  <c:v>-0.096831572695478</c:v>
                </c:pt>
                <c:pt idx="188">
                  <c:v>-0.009240576674884052</c:v>
                </c:pt>
                <c:pt idx="189">
                  <c:v>0.07809990765322879</c:v>
                </c:pt>
                <c:pt idx="190">
                  <c:v>0.16782519826213754</c:v>
                </c:pt>
                <c:pt idx="191">
                  <c:v>0.26181843456776244</c:v>
                </c:pt>
                <c:pt idx="192">
                  <c:v>0.3601010269371748</c:v>
                </c:pt>
                <c:pt idx="193">
                  <c:v>0.46009001794718957</c:v>
                </c:pt>
                <c:pt idx="194">
                  <c:v>0.5565520795773506</c:v>
                </c:pt>
                <c:pt idx="195">
                  <c:v>0.6425062201434565</c:v>
                </c:pt>
                <c:pt idx="196">
                  <c:v>0.7110120984766914</c:v>
                </c:pt>
                <c:pt idx="197">
                  <c:v>0.7573267073173024</c:v>
                </c:pt>
                <c:pt idx="198">
                  <c:v>0.7806099815874252</c:v>
                </c:pt>
                <c:pt idx="199">
                  <c:v>0.7844809352273368</c:v>
                </c:pt>
                <c:pt idx="200">
                  <c:v>0.77625605387952</c:v>
                </c:pt>
                <c:pt idx="201">
                  <c:v>0.7653041024666226</c:v>
                </c:pt>
                <c:pt idx="202">
                  <c:v>0.7612360348560241</c:v>
                </c:pt>
                <c:pt idx="203">
                  <c:v>0.7724866760453661</c:v>
                </c:pt>
                <c:pt idx="204">
                  <c:v>0.8054278001315964</c:v>
                </c:pt>
                <c:pt idx="205">
                  <c:v>0.8637901964705783</c:v>
                </c:pt>
                <c:pt idx="206">
                  <c:v>0.9480715661670895</c:v>
                </c:pt>
                <c:pt idx="207">
                  <c:v>1.0547973143968365</c:v>
                </c:pt>
                <c:pt idx="208">
                  <c:v>1.175874286486265</c:v>
                </c:pt>
                <c:pt idx="209">
                  <c:v>1.2986288800322425</c:v>
                </c:pt>
                <c:pt idx="210">
                  <c:v>1.4071875951508859</c:v>
                </c:pt>
                <c:pt idx="211">
                  <c:v>1.485437637069658</c:v>
                </c:pt>
                <c:pt idx="212">
                  <c:v>1.5209694938815526</c:v>
                </c:pt>
                <c:pt idx="213">
                  <c:v>1.5086127697961116</c:v>
                </c:pt>
                <c:pt idx="214">
                  <c:v>1.4520456456118989</c:v>
                </c:pt>
                <c:pt idx="215">
                  <c:v>1.3627376734019367</c:v>
                </c:pt>
                <c:pt idx="216">
                  <c:v>1.2567423263221746</c:v>
                </c:pt>
                <c:pt idx="217">
                  <c:v>1.1507660305099345</c:v>
                </c:pt>
                <c:pt idx="218">
                  <c:v>1.058967572236806</c:v>
                </c:pt>
                <c:pt idx="219">
                  <c:v>0.9912273777131452</c:v>
                </c:pt>
                <c:pt idx="220">
                  <c:v>0.9527594305180298</c:v>
                </c:pt>
                <c:pt idx="221">
                  <c:v>0.9444366114728118</c:v>
                </c:pt>
                <c:pt idx="222">
                  <c:v>0.9632113807724085</c:v>
                </c:pt>
                <c:pt idx="223">
                  <c:v>1.0023791338908055</c:v>
                </c:pt>
                <c:pt idx="224">
                  <c:v>1.0518825705586057</c:v>
                </c:pt>
                <c:pt idx="225">
                  <c:v>1.0991372162733997</c:v>
                </c:pt>
                <c:pt idx="226">
                  <c:v>1.1307823247028996</c:v>
                </c:pt>
                <c:pt idx="227">
                  <c:v>1.135289161018454</c:v>
                </c:pt>
                <c:pt idx="228">
                  <c:v>1.1057082899250974</c:v>
                </c:pt>
                <c:pt idx="229">
                  <c:v>1.0414481980019188</c:v>
                </c:pt>
                <c:pt idx="230">
                  <c:v>0.9482191377215022</c:v>
                </c:pt>
                <c:pt idx="231">
                  <c:v>0.8360938390736795</c:v>
                </c:pt>
                <c:pt idx="232">
                  <c:v>0.7165170071654049</c:v>
                </c:pt>
                <c:pt idx="233">
                  <c:v>0.5994675715502092</c:v>
                </c:pt>
                <c:pt idx="234">
                  <c:v>0.4916786116733986</c:v>
                </c:pt>
                <c:pt idx="235">
                  <c:v>0.3961657084825202</c:v>
                </c:pt>
                <c:pt idx="236">
                  <c:v>0.3127642922902693</c:v>
                </c:pt>
                <c:pt idx="237">
                  <c:v>0.23917459401254557</c:v>
                </c:pt>
                <c:pt idx="238">
                  <c:v>0.17210626531483744</c:v>
                </c:pt>
                <c:pt idx="239">
                  <c:v>0.10830602459212761</c:v>
                </c:pt>
                <c:pt idx="240">
                  <c:v>0.045377980094521396</c:v>
                </c:pt>
                <c:pt idx="241">
                  <c:v>-0.017677765576681624</c:v>
                </c:pt>
                <c:pt idx="242">
                  <c:v>-0.08031637229664718</c:v>
                </c:pt>
                <c:pt idx="243">
                  <c:v>-0.1407789519389496</c:v>
                </c:pt>
                <c:pt idx="244">
                  <c:v>-0.19686375455538585</c:v>
                </c:pt>
                <c:pt idx="245">
                  <c:v>-0.246908740472655</c:v>
                </c:pt>
                <c:pt idx="246">
                  <c:v>-0.29063654866147454</c:v>
                </c:pt>
                <c:pt idx="247">
                  <c:v>-0.3295685030432413</c:v>
                </c:pt>
                <c:pt idx="248">
                  <c:v>-0.3669201381454245</c:v>
                </c:pt>
                <c:pt idx="249">
                  <c:v>-0.4071040511112335</c:v>
                </c:pt>
                <c:pt idx="250">
                  <c:v>-0.4550486546661088</c:v>
                </c:pt>
                <c:pt idx="251">
                  <c:v>-0.515468757196463</c:v>
                </c:pt>
                <c:pt idx="252">
                  <c:v>-0.5920862214225314</c:v>
                </c:pt>
                <c:pt idx="253">
                  <c:v>-0.6867238618491754</c:v>
                </c:pt>
                <c:pt idx="254">
                  <c:v>-0.7982699648575345</c:v>
                </c:pt>
                <c:pt idx="255">
                  <c:v>-0.9217356476469786</c:v>
                </c:pt>
                <c:pt idx="256">
                  <c:v>-1.047894233591368</c:v>
                </c:pt>
                <c:pt idx="257">
                  <c:v>-1.1640906130062179</c:v>
                </c:pt>
                <c:pt idx="258">
                  <c:v>-1.2565259347829092</c:v>
                </c:pt>
                <c:pt idx="259">
                  <c:v>-1.3136429874812463</c:v>
                </c:pt>
                <c:pt idx="260">
                  <c:v>-1.3294917831239705</c:v>
                </c:pt>
                <c:pt idx="261">
                  <c:v>-1.3056863249611903</c:v>
                </c:pt>
                <c:pt idx="262">
                  <c:v>-1.251091894180308</c:v>
                </c:pt>
                <c:pt idx="263">
                  <c:v>-1.1794471116048795</c:v>
                </c:pt>
                <c:pt idx="264">
                  <c:v>-1.1060323307069821</c:v>
                </c:pt>
                <c:pt idx="265">
                  <c:v>-1.044685861673791</c:v>
                </c:pt>
                <c:pt idx="266">
                  <c:v>-1.00594655238902</c:v>
                </c:pt>
                <c:pt idx="267">
                  <c:v>-0.996333712747381</c:v>
                </c:pt>
                <c:pt idx="268">
                  <c:v>-1.0182596987007486</c:v>
                </c:pt>
                <c:pt idx="269">
                  <c:v>-1.0700162950824614</c:v>
                </c:pt>
                <c:pt idx="270">
                  <c:v>-1.1456002931768527</c:v>
                </c:pt>
                <c:pt idx="271">
                  <c:v>-1.2346173755695329</c:v>
                </c:pt>
                <c:pt idx="272">
                  <c:v>-1.3228573042032368</c:v>
                </c:pt>
                <c:pt idx="273">
                  <c:v>-1.3941144861459367</c:v>
                </c:pt>
                <c:pt idx="274">
                  <c:v>-1.4333143896102838</c:v>
                </c:pt>
                <c:pt idx="275">
                  <c:v>-1.4301798703956552</c:v>
                </c:pt>
                <c:pt idx="276">
                  <c:v>-1.382045564067849</c:v>
                </c:pt>
                <c:pt idx="277">
                  <c:v>-1.2945385565506604</c:v>
                </c:pt>
                <c:pt idx="278">
                  <c:v>-1.1797634686505543</c:v>
                </c:pt>
                <c:pt idx="279">
                  <c:v>-1.0528045989296964</c:v>
                </c:pt>
                <c:pt idx="280">
                  <c:v>-0.9280183261341001</c:v>
                </c:pt>
                <c:pt idx="281">
                  <c:v>-0.8163852420391282</c:v>
                </c:pt>
                <c:pt idx="282">
                  <c:v>-0.7244131134329829</c:v>
                </c:pt>
                <c:pt idx="283">
                  <c:v>-0.6543153791482322</c:v>
                </c:pt>
                <c:pt idx="284">
                  <c:v>-0.6048354170830813</c:v>
                </c:pt>
                <c:pt idx="285">
                  <c:v>-0.5721706264733114</c:v>
                </c:pt>
                <c:pt idx="286">
                  <c:v>-0.5507603388541173</c:v>
                </c:pt>
                <c:pt idx="287">
                  <c:v>-0.5339979770612833</c:v>
                </c:pt>
                <c:pt idx="288">
                  <c:v>-0.5150553014148654</c:v>
                </c:pt>
                <c:pt idx="289">
                  <c:v>-0.487916662287694</c:v>
                </c:pt>
                <c:pt idx="290">
                  <c:v>-0.44847819594313937</c:v>
                </c:pt>
                <c:pt idx="291">
                  <c:v>-0.39533890415766343</c:v>
                </c:pt>
                <c:pt idx="292">
                  <c:v>-0.32988961369453423</c:v>
                </c:pt>
                <c:pt idx="293">
                  <c:v>-0.2555613979147092</c:v>
                </c:pt>
                <c:pt idx="294">
                  <c:v>-0.1764857928102905</c:v>
                </c:pt>
                <c:pt idx="295">
                  <c:v>-0.09608550819315045</c:v>
                </c:pt>
                <c:pt idx="296">
                  <c:v>-0.01609292002888203</c:v>
                </c:pt>
                <c:pt idx="297">
                  <c:v>0.0637564414710713</c:v>
                </c:pt>
                <c:pt idx="298">
                  <c:v>0.1453860700146924</c:v>
                </c:pt>
                <c:pt idx="299">
                  <c:v>0.23157505052021726</c:v>
                </c:pt>
                <c:pt idx="300">
                  <c:v>0.32487770319794157</c:v>
                </c:pt>
              </c:numCache>
            </c:numRef>
          </c:yVal>
          <c:smooth val="0"/>
        </c:ser>
        <c:ser>
          <c:idx val="1"/>
          <c:order val="1"/>
          <c:tx>
            <c:strRef>
              <c:f>Sheet1!$C$1</c:f>
              <c:strCache>
                <c:ptCount val="1"/>
                <c:pt idx="0">
                  <c:v>static saddle</c:v>
                </c:pt>
              </c:strCache>
            </c:strRef>
          </c:tx>
          <c:spPr>
            <a:solidFill>
              <a:srgbClr val="A31F34"/>
            </a:solidFill>
            <a:ln w="22225" cap="flat">
              <a:solidFill>
                <a:srgbClr val="A31F34"/>
              </a:solidFill>
              <a:prstDash val="solid"/>
              <a:round/>
            </a:ln>
            <a:effectLst/>
          </c:spPr>
          <c:marker>
            <c:symbol val="none"/>
            <c:size val="6"/>
            <c:spPr>
              <a:solidFill>
                <a:srgbClr val="A31F34"/>
              </a:solidFill>
              <a:ln w="9525" cap="flat">
                <a:solidFill>
                  <a:srgbClr val="A31F34"/>
                </a:solidFill>
                <a:prstDash val="solid"/>
                <a:round/>
              </a:ln>
              <a:effectLst/>
            </c:spPr>
          </c:marker>
          <c:xVal>
            <c:numRef>
              <c:f>Sheet1!$A$2:$A$302</c:f>
              <c:numCache>
                <c:formatCode>General</c:formatCode>
                <c:ptCount val="301"/>
                <c:pt idx="0">
                  <c:v>0</c:v>
                </c:pt>
                <c:pt idx="1">
                  <c:v>0.2</c:v>
                </c:pt>
                <c:pt idx="2">
                  <c:v>0.4</c:v>
                </c:pt>
                <c:pt idx="3">
                  <c:v>0.6</c:v>
                </c:pt>
                <c:pt idx="4">
                  <c:v>0.8</c:v>
                </c:pt>
                <c:pt idx="5">
                  <c:v>1</c:v>
                </c:pt>
                <c:pt idx="6">
                  <c:v>1.2</c:v>
                </c:pt>
                <c:pt idx="7">
                  <c:v>1.4000000000000001</c:v>
                </c:pt>
                <c:pt idx="8">
                  <c:v>1.6</c:v>
                </c:pt>
                <c:pt idx="9">
                  <c:v>1.8</c:v>
                </c:pt>
                <c:pt idx="10">
                  <c:v>2</c:v>
                </c:pt>
                <c:pt idx="11">
                  <c:v>2.2</c:v>
                </c:pt>
                <c:pt idx="12">
                  <c:v>2.4</c:v>
                </c:pt>
                <c:pt idx="13">
                  <c:v>2.6</c:v>
                </c:pt>
                <c:pt idx="14">
                  <c:v>2.8000000000000003</c:v>
                </c:pt>
                <c:pt idx="15">
                  <c:v>3</c:v>
                </c:pt>
                <c:pt idx="16">
                  <c:v>3.2</c:v>
                </c:pt>
                <c:pt idx="17">
                  <c:v>3.4</c:v>
                </c:pt>
                <c:pt idx="18">
                  <c:v>3.6</c:v>
                </c:pt>
                <c:pt idx="19">
                  <c:v>3.8000000000000003</c:v>
                </c:pt>
                <c:pt idx="20">
                  <c:v>4</c:v>
                </c:pt>
                <c:pt idx="21">
                  <c:v>4.2</c:v>
                </c:pt>
                <c:pt idx="22">
                  <c:v>4.4</c:v>
                </c:pt>
                <c:pt idx="23">
                  <c:v>4.6000000000000005</c:v>
                </c:pt>
                <c:pt idx="24">
                  <c:v>4.8</c:v>
                </c:pt>
                <c:pt idx="25">
                  <c:v>5</c:v>
                </c:pt>
                <c:pt idx="26">
                  <c:v>5.2</c:v>
                </c:pt>
                <c:pt idx="27">
                  <c:v>5.4</c:v>
                </c:pt>
                <c:pt idx="28">
                  <c:v>5.6000000000000005</c:v>
                </c:pt>
                <c:pt idx="29">
                  <c:v>5.8</c:v>
                </c:pt>
                <c:pt idx="30">
                  <c:v>6</c:v>
                </c:pt>
                <c:pt idx="31">
                  <c:v>6.2</c:v>
                </c:pt>
                <c:pt idx="32">
                  <c:v>6.4</c:v>
                </c:pt>
                <c:pt idx="33">
                  <c:v>6.6000000000000005</c:v>
                </c:pt>
                <c:pt idx="34">
                  <c:v>6.8</c:v>
                </c:pt>
                <c:pt idx="35">
                  <c:v>7</c:v>
                </c:pt>
                <c:pt idx="36">
                  <c:v>7.2</c:v>
                </c:pt>
                <c:pt idx="37">
                  <c:v>7.4</c:v>
                </c:pt>
                <c:pt idx="38">
                  <c:v>7.6000000000000005</c:v>
                </c:pt>
                <c:pt idx="39">
                  <c:v>7.8</c:v>
                </c:pt>
                <c:pt idx="40">
                  <c:v>8</c:v>
                </c:pt>
                <c:pt idx="41">
                  <c:v>8.2</c:v>
                </c:pt>
                <c:pt idx="42">
                  <c:v>8.4</c:v>
                </c:pt>
                <c:pt idx="43">
                  <c:v>8.6</c:v>
                </c:pt>
                <c:pt idx="44">
                  <c:v>8.8</c:v>
                </c:pt>
                <c:pt idx="45">
                  <c:v>9</c:v>
                </c:pt>
                <c:pt idx="46">
                  <c:v>9.200000000000001</c:v>
                </c:pt>
                <c:pt idx="47">
                  <c:v>9.4</c:v>
                </c:pt>
                <c:pt idx="48">
                  <c:v>9.6</c:v>
                </c:pt>
                <c:pt idx="49">
                  <c:v>9.8</c:v>
                </c:pt>
                <c:pt idx="50">
                  <c:v>10</c:v>
                </c:pt>
                <c:pt idx="51">
                  <c:v>10.200000000000001</c:v>
                </c:pt>
                <c:pt idx="52">
                  <c:v>10.4</c:v>
                </c:pt>
                <c:pt idx="53">
                  <c:v>10.6</c:v>
                </c:pt>
                <c:pt idx="54">
                  <c:v>10.8</c:v>
                </c:pt>
                <c:pt idx="55">
                  <c:v>11</c:v>
                </c:pt>
                <c:pt idx="56">
                  <c:v>11.200000000000001</c:v>
                </c:pt>
                <c:pt idx="57">
                  <c:v>11.4</c:v>
                </c:pt>
                <c:pt idx="58">
                  <c:v>11.6</c:v>
                </c:pt>
                <c:pt idx="59">
                  <c:v>11.8</c:v>
                </c:pt>
                <c:pt idx="60">
                  <c:v>12</c:v>
                </c:pt>
                <c:pt idx="61">
                  <c:v>12.200000000000001</c:v>
                </c:pt>
                <c:pt idx="62">
                  <c:v>12.4</c:v>
                </c:pt>
                <c:pt idx="63">
                  <c:v>12.6</c:v>
                </c:pt>
                <c:pt idx="64">
                  <c:v>12.8</c:v>
                </c:pt>
                <c:pt idx="65">
                  <c:v>13</c:v>
                </c:pt>
                <c:pt idx="66">
                  <c:v>13.200000000000001</c:v>
                </c:pt>
                <c:pt idx="67">
                  <c:v>13.4</c:v>
                </c:pt>
                <c:pt idx="68">
                  <c:v>13.6</c:v>
                </c:pt>
                <c:pt idx="69">
                  <c:v>13.8</c:v>
                </c:pt>
                <c:pt idx="70">
                  <c:v>14</c:v>
                </c:pt>
                <c:pt idx="71">
                  <c:v>14.200000000000001</c:v>
                </c:pt>
                <c:pt idx="72">
                  <c:v>14.4</c:v>
                </c:pt>
                <c:pt idx="73">
                  <c:v>14.6</c:v>
                </c:pt>
                <c:pt idx="74">
                  <c:v>14.8</c:v>
                </c:pt>
                <c:pt idx="75">
                  <c:v>15</c:v>
                </c:pt>
                <c:pt idx="76">
                  <c:v>15.200000000000001</c:v>
                </c:pt>
                <c:pt idx="77">
                  <c:v>15.4</c:v>
                </c:pt>
                <c:pt idx="78">
                  <c:v>15.6</c:v>
                </c:pt>
                <c:pt idx="79">
                  <c:v>15.8</c:v>
                </c:pt>
                <c:pt idx="80">
                  <c:v>16</c:v>
                </c:pt>
                <c:pt idx="81">
                  <c:v>16.2</c:v>
                </c:pt>
                <c:pt idx="82">
                  <c:v>16.4</c:v>
                </c:pt>
                <c:pt idx="83">
                  <c:v>16.6</c:v>
                </c:pt>
                <c:pt idx="84">
                  <c:v>16.8</c:v>
                </c:pt>
                <c:pt idx="85">
                  <c:v>17</c:v>
                </c:pt>
                <c:pt idx="86">
                  <c:v>17.2</c:v>
                </c:pt>
                <c:pt idx="87">
                  <c:v>17.400000000000002</c:v>
                </c:pt>
                <c:pt idx="88">
                  <c:v>17.6</c:v>
                </c:pt>
                <c:pt idx="89">
                  <c:v>17.8</c:v>
                </c:pt>
                <c:pt idx="90">
                  <c:v>18</c:v>
                </c:pt>
                <c:pt idx="91">
                  <c:v>18.2</c:v>
                </c:pt>
                <c:pt idx="92">
                  <c:v>18.400000000000002</c:v>
                </c:pt>
                <c:pt idx="93">
                  <c:v>18.6</c:v>
                </c:pt>
                <c:pt idx="94">
                  <c:v>18.8</c:v>
                </c:pt>
                <c:pt idx="95">
                  <c:v>19</c:v>
                </c:pt>
                <c:pt idx="96">
                  <c:v>19.2</c:v>
                </c:pt>
                <c:pt idx="97">
                  <c:v>19.400000000000002</c:v>
                </c:pt>
                <c:pt idx="98">
                  <c:v>19.6</c:v>
                </c:pt>
                <c:pt idx="99">
                  <c:v>19.8</c:v>
                </c:pt>
                <c:pt idx="100">
                  <c:v>20</c:v>
                </c:pt>
                <c:pt idx="101">
                  <c:v>20.2</c:v>
                </c:pt>
                <c:pt idx="102">
                  <c:v>20.400000000000002</c:v>
                </c:pt>
                <c:pt idx="103">
                  <c:v>20.6</c:v>
                </c:pt>
                <c:pt idx="104">
                  <c:v>20.8</c:v>
                </c:pt>
                <c:pt idx="105">
                  <c:v>21</c:v>
                </c:pt>
                <c:pt idx="106">
                  <c:v>21.2</c:v>
                </c:pt>
                <c:pt idx="107">
                  <c:v>21.400000000000002</c:v>
                </c:pt>
                <c:pt idx="108">
                  <c:v>21.6</c:v>
                </c:pt>
                <c:pt idx="109">
                  <c:v>21.8</c:v>
                </c:pt>
                <c:pt idx="110">
                  <c:v>22</c:v>
                </c:pt>
                <c:pt idx="111">
                  <c:v>22.2</c:v>
                </c:pt>
                <c:pt idx="112">
                  <c:v>22.400000000000002</c:v>
                </c:pt>
                <c:pt idx="113">
                  <c:v>22.6</c:v>
                </c:pt>
                <c:pt idx="114">
                  <c:v>22.8</c:v>
                </c:pt>
                <c:pt idx="115">
                  <c:v>23</c:v>
                </c:pt>
                <c:pt idx="116">
                  <c:v>23.2</c:v>
                </c:pt>
                <c:pt idx="117">
                  <c:v>23.400000000000002</c:v>
                </c:pt>
                <c:pt idx="118">
                  <c:v>23.6</c:v>
                </c:pt>
                <c:pt idx="119">
                  <c:v>23.8</c:v>
                </c:pt>
                <c:pt idx="120">
                  <c:v>24</c:v>
                </c:pt>
                <c:pt idx="121">
                  <c:v>24.2</c:v>
                </c:pt>
                <c:pt idx="122">
                  <c:v>24.400000000000002</c:v>
                </c:pt>
                <c:pt idx="123">
                  <c:v>24.6</c:v>
                </c:pt>
                <c:pt idx="124">
                  <c:v>24.8</c:v>
                </c:pt>
                <c:pt idx="125">
                  <c:v>25</c:v>
                </c:pt>
                <c:pt idx="126">
                  <c:v>25.2</c:v>
                </c:pt>
                <c:pt idx="127">
                  <c:v>25.400000000000002</c:v>
                </c:pt>
                <c:pt idx="128">
                  <c:v>25.6</c:v>
                </c:pt>
                <c:pt idx="129">
                  <c:v>25.8</c:v>
                </c:pt>
                <c:pt idx="130">
                  <c:v>26</c:v>
                </c:pt>
                <c:pt idx="131">
                  <c:v>26.2</c:v>
                </c:pt>
                <c:pt idx="132">
                  <c:v>26.400000000000002</c:v>
                </c:pt>
                <c:pt idx="133">
                  <c:v>26.6</c:v>
                </c:pt>
                <c:pt idx="134">
                  <c:v>26.8</c:v>
                </c:pt>
                <c:pt idx="135">
                  <c:v>27</c:v>
                </c:pt>
                <c:pt idx="136">
                  <c:v>27.2</c:v>
                </c:pt>
                <c:pt idx="137">
                  <c:v>27.400000000000002</c:v>
                </c:pt>
                <c:pt idx="138">
                  <c:v>27.6</c:v>
                </c:pt>
                <c:pt idx="139">
                  <c:v>27.8</c:v>
                </c:pt>
                <c:pt idx="140">
                  <c:v>28</c:v>
                </c:pt>
                <c:pt idx="141">
                  <c:v>28.2</c:v>
                </c:pt>
                <c:pt idx="142">
                  <c:v>28.400000000000002</c:v>
                </c:pt>
                <c:pt idx="143">
                  <c:v>28.6</c:v>
                </c:pt>
                <c:pt idx="144">
                  <c:v>28.8</c:v>
                </c:pt>
                <c:pt idx="145">
                  <c:v>29</c:v>
                </c:pt>
                <c:pt idx="146">
                  <c:v>29.2</c:v>
                </c:pt>
                <c:pt idx="147">
                  <c:v>29.400000000000002</c:v>
                </c:pt>
                <c:pt idx="148">
                  <c:v>29.6</c:v>
                </c:pt>
                <c:pt idx="149">
                  <c:v>29.8</c:v>
                </c:pt>
                <c:pt idx="150">
                  <c:v>30</c:v>
                </c:pt>
                <c:pt idx="151">
                  <c:v>30.2</c:v>
                </c:pt>
                <c:pt idx="152">
                  <c:v>30.400000000000002</c:v>
                </c:pt>
                <c:pt idx="153">
                  <c:v>30.6</c:v>
                </c:pt>
                <c:pt idx="154">
                  <c:v>30.8</c:v>
                </c:pt>
                <c:pt idx="155">
                  <c:v>31</c:v>
                </c:pt>
                <c:pt idx="156">
                  <c:v>31.2</c:v>
                </c:pt>
                <c:pt idx="157">
                  <c:v>31.400000000000002</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34.800000000000004</c:v>
                </c:pt>
                <c:pt idx="175">
                  <c:v>35</c:v>
                </c:pt>
                <c:pt idx="176">
                  <c:v>35.2</c:v>
                </c:pt>
                <c:pt idx="177">
                  <c:v>35.4</c:v>
                </c:pt>
                <c:pt idx="178">
                  <c:v>35.6</c:v>
                </c:pt>
                <c:pt idx="179">
                  <c:v>35.800000000000004</c:v>
                </c:pt>
                <c:pt idx="180">
                  <c:v>36</c:v>
                </c:pt>
                <c:pt idx="181">
                  <c:v>36.2</c:v>
                </c:pt>
                <c:pt idx="182">
                  <c:v>36.4</c:v>
                </c:pt>
                <c:pt idx="183">
                  <c:v>36.6</c:v>
                </c:pt>
                <c:pt idx="184">
                  <c:v>36.800000000000004</c:v>
                </c:pt>
                <c:pt idx="185">
                  <c:v>37</c:v>
                </c:pt>
                <c:pt idx="186">
                  <c:v>37.2</c:v>
                </c:pt>
                <c:pt idx="187">
                  <c:v>37.4</c:v>
                </c:pt>
                <c:pt idx="188">
                  <c:v>37.6</c:v>
                </c:pt>
                <c:pt idx="189">
                  <c:v>37.800000000000004</c:v>
                </c:pt>
                <c:pt idx="190">
                  <c:v>38</c:v>
                </c:pt>
                <c:pt idx="191">
                  <c:v>38.2</c:v>
                </c:pt>
                <c:pt idx="192">
                  <c:v>38.4</c:v>
                </c:pt>
                <c:pt idx="193">
                  <c:v>38.6</c:v>
                </c:pt>
                <c:pt idx="194">
                  <c:v>38.800000000000004</c:v>
                </c:pt>
                <c:pt idx="195">
                  <c:v>39</c:v>
                </c:pt>
                <c:pt idx="196">
                  <c:v>39.2</c:v>
                </c:pt>
                <c:pt idx="197">
                  <c:v>39.4</c:v>
                </c:pt>
                <c:pt idx="198">
                  <c:v>39.6</c:v>
                </c:pt>
                <c:pt idx="199">
                  <c:v>39.800000000000004</c:v>
                </c:pt>
                <c:pt idx="200">
                  <c:v>40</c:v>
                </c:pt>
                <c:pt idx="201">
                  <c:v>40.2</c:v>
                </c:pt>
                <c:pt idx="202">
                  <c:v>40.4</c:v>
                </c:pt>
                <c:pt idx="203">
                  <c:v>40.6</c:v>
                </c:pt>
                <c:pt idx="204">
                  <c:v>40.800000000000004</c:v>
                </c:pt>
                <c:pt idx="205">
                  <c:v>41</c:v>
                </c:pt>
                <c:pt idx="206">
                  <c:v>41.2</c:v>
                </c:pt>
                <c:pt idx="207">
                  <c:v>41.4</c:v>
                </c:pt>
                <c:pt idx="208">
                  <c:v>41.6</c:v>
                </c:pt>
                <c:pt idx="209">
                  <c:v>41.800000000000004</c:v>
                </c:pt>
                <c:pt idx="210">
                  <c:v>42</c:v>
                </c:pt>
                <c:pt idx="211">
                  <c:v>42.2</c:v>
                </c:pt>
                <c:pt idx="212">
                  <c:v>42.4</c:v>
                </c:pt>
                <c:pt idx="213">
                  <c:v>42.6</c:v>
                </c:pt>
                <c:pt idx="214">
                  <c:v>42.800000000000004</c:v>
                </c:pt>
                <c:pt idx="215">
                  <c:v>43</c:v>
                </c:pt>
                <c:pt idx="216">
                  <c:v>43.2</c:v>
                </c:pt>
                <c:pt idx="217">
                  <c:v>43.4</c:v>
                </c:pt>
                <c:pt idx="218">
                  <c:v>43.6</c:v>
                </c:pt>
                <c:pt idx="219">
                  <c:v>43.800000000000004</c:v>
                </c:pt>
                <c:pt idx="220">
                  <c:v>44</c:v>
                </c:pt>
                <c:pt idx="221">
                  <c:v>44.2</c:v>
                </c:pt>
                <c:pt idx="222">
                  <c:v>44.4</c:v>
                </c:pt>
                <c:pt idx="223">
                  <c:v>44.6</c:v>
                </c:pt>
                <c:pt idx="224">
                  <c:v>44.800000000000004</c:v>
                </c:pt>
                <c:pt idx="225">
                  <c:v>45</c:v>
                </c:pt>
                <c:pt idx="226">
                  <c:v>45.2</c:v>
                </c:pt>
                <c:pt idx="227">
                  <c:v>45.4</c:v>
                </c:pt>
                <c:pt idx="228">
                  <c:v>45.6</c:v>
                </c:pt>
                <c:pt idx="229">
                  <c:v>45.800000000000004</c:v>
                </c:pt>
                <c:pt idx="230">
                  <c:v>46</c:v>
                </c:pt>
                <c:pt idx="231">
                  <c:v>46.2</c:v>
                </c:pt>
                <c:pt idx="232">
                  <c:v>46.4</c:v>
                </c:pt>
                <c:pt idx="233">
                  <c:v>46.6</c:v>
                </c:pt>
                <c:pt idx="234">
                  <c:v>46.800000000000004</c:v>
                </c:pt>
                <c:pt idx="235">
                  <c:v>47</c:v>
                </c:pt>
                <c:pt idx="236">
                  <c:v>47.2</c:v>
                </c:pt>
                <c:pt idx="237">
                  <c:v>47.4</c:v>
                </c:pt>
                <c:pt idx="238">
                  <c:v>47.6</c:v>
                </c:pt>
                <c:pt idx="239">
                  <c:v>47.800000000000004</c:v>
                </c:pt>
                <c:pt idx="240">
                  <c:v>48</c:v>
                </c:pt>
                <c:pt idx="241">
                  <c:v>48.2</c:v>
                </c:pt>
                <c:pt idx="242">
                  <c:v>48.4</c:v>
                </c:pt>
                <c:pt idx="243">
                  <c:v>48.6</c:v>
                </c:pt>
                <c:pt idx="244">
                  <c:v>48.800000000000004</c:v>
                </c:pt>
                <c:pt idx="245">
                  <c:v>49</c:v>
                </c:pt>
                <c:pt idx="246">
                  <c:v>49.2</c:v>
                </c:pt>
                <c:pt idx="247">
                  <c:v>49.4</c:v>
                </c:pt>
                <c:pt idx="248">
                  <c:v>49.6</c:v>
                </c:pt>
                <c:pt idx="249">
                  <c:v>49.800000000000004</c:v>
                </c:pt>
                <c:pt idx="250">
                  <c:v>50</c:v>
                </c:pt>
                <c:pt idx="251">
                  <c:v>50.2</c:v>
                </c:pt>
                <c:pt idx="252">
                  <c:v>50.4</c:v>
                </c:pt>
                <c:pt idx="253">
                  <c:v>50.6</c:v>
                </c:pt>
                <c:pt idx="254">
                  <c:v>50.800000000000004</c:v>
                </c:pt>
                <c:pt idx="255">
                  <c:v>51</c:v>
                </c:pt>
                <c:pt idx="256">
                  <c:v>51.2</c:v>
                </c:pt>
                <c:pt idx="257">
                  <c:v>51.4</c:v>
                </c:pt>
                <c:pt idx="258">
                  <c:v>51.6</c:v>
                </c:pt>
                <c:pt idx="259">
                  <c:v>51.800000000000004</c:v>
                </c:pt>
                <c:pt idx="260">
                  <c:v>52</c:v>
                </c:pt>
                <c:pt idx="261">
                  <c:v>52.2</c:v>
                </c:pt>
                <c:pt idx="262">
                  <c:v>52.4</c:v>
                </c:pt>
                <c:pt idx="263">
                  <c:v>52.6</c:v>
                </c:pt>
                <c:pt idx="264">
                  <c:v>52.800000000000004</c:v>
                </c:pt>
                <c:pt idx="265">
                  <c:v>53</c:v>
                </c:pt>
                <c:pt idx="266">
                  <c:v>53.2</c:v>
                </c:pt>
                <c:pt idx="267">
                  <c:v>53.4</c:v>
                </c:pt>
                <c:pt idx="268">
                  <c:v>53.6</c:v>
                </c:pt>
                <c:pt idx="269">
                  <c:v>53.800000000000004</c:v>
                </c:pt>
                <c:pt idx="270">
                  <c:v>54</c:v>
                </c:pt>
                <c:pt idx="271">
                  <c:v>54.2</c:v>
                </c:pt>
                <c:pt idx="272">
                  <c:v>54.4</c:v>
                </c:pt>
                <c:pt idx="273">
                  <c:v>54.6</c:v>
                </c:pt>
                <c:pt idx="274">
                  <c:v>54.800000000000004</c:v>
                </c:pt>
                <c:pt idx="275">
                  <c:v>55</c:v>
                </c:pt>
                <c:pt idx="276">
                  <c:v>55.2</c:v>
                </c:pt>
                <c:pt idx="277">
                  <c:v>55.4</c:v>
                </c:pt>
                <c:pt idx="278">
                  <c:v>55.6</c:v>
                </c:pt>
                <c:pt idx="279">
                  <c:v>55.800000000000004</c:v>
                </c:pt>
                <c:pt idx="280">
                  <c:v>56</c:v>
                </c:pt>
                <c:pt idx="281">
                  <c:v>56.2</c:v>
                </c:pt>
                <c:pt idx="282">
                  <c:v>56.4</c:v>
                </c:pt>
                <c:pt idx="283">
                  <c:v>56.6</c:v>
                </c:pt>
                <c:pt idx="284">
                  <c:v>56.800000000000004</c:v>
                </c:pt>
                <c:pt idx="285">
                  <c:v>57</c:v>
                </c:pt>
                <c:pt idx="286">
                  <c:v>57.2</c:v>
                </c:pt>
                <c:pt idx="287">
                  <c:v>57.4</c:v>
                </c:pt>
                <c:pt idx="288">
                  <c:v>57.6</c:v>
                </c:pt>
                <c:pt idx="289">
                  <c:v>57.800000000000004</c:v>
                </c:pt>
                <c:pt idx="290">
                  <c:v>58</c:v>
                </c:pt>
                <c:pt idx="291">
                  <c:v>58.2</c:v>
                </c:pt>
                <c:pt idx="292">
                  <c:v>58.4</c:v>
                </c:pt>
                <c:pt idx="293">
                  <c:v>58.6</c:v>
                </c:pt>
                <c:pt idx="294">
                  <c:v>58.800000000000004</c:v>
                </c:pt>
                <c:pt idx="295">
                  <c:v>59</c:v>
                </c:pt>
                <c:pt idx="296">
                  <c:v>59.2</c:v>
                </c:pt>
                <c:pt idx="297">
                  <c:v>59.4</c:v>
                </c:pt>
                <c:pt idx="298">
                  <c:v>59.6</c:v>
                </c:pt>
                <c:pt idx="299">
                  <c:v>59.800000000000004</c:v>
                </c:pt>
                <c:pt idx="300">
                  <c:v>60</c:v>
                </c:pt>
              </c:numCache>
            </c:numRef>
          </c:xVal>
          <c:yVal>
            <c:numRef>
              <c:f>Sheet1!$C$2:$C$302</c:f>
              <c:numCache>
                <c:formatCode>General</c:formatCode>
                <c:ptCount val="301"/>
                <c:pt idx="0">
                  <c:v>1</c:v>
                </c:pt>
                <c:pt idx="1">
                  <c:v>1.0160427122021503</c:v>
                </c:pt>
                <c:pt idx="2">
                  <c:v>1.06468558603806</c:v>
                </c:pt>
                <c:pt idx="3">
                  <c:v>1.1474893487589963</c:v>
                </c:pt>
                <c:pt idx="4">
                  <c:v>1.2671107942341269</c:v>
                </c:pt>
                <c:pt idx="5">
                  <c:v>1.4273880273093649</c:v>
                </c:pt>
                <c:pt idx="6">
                  <c:v>1.6334636110302598</c:v>
                </c:pt>
                <c:pt idx="7">
                  <c:v>1.8919495679598377</c:v>
                </c:pt>
                <c:pt idx="8">
                  <c:v>2.2111395297287046</c:v>
                </c:pt>
                <c:pt idx="9">
                  <c:v>2.601274841725774</c:v>
                </c:pt>
                <c:pt idx="10">
                  <c:v>3.074873161011526</c:v>
                </c:pt>
                <c:pt idx="11">
                  <c:v>3.6471300906573534</c:v>
                </c:pt>
                <c:pt idx="12">
                  <c:v>4.336406737119175</c:v>
                </c:pt>
                <c:pt idx="13">
                  <c:v>5.164818834130612</c:v>
                </c:pt>
                <c:pt idx="14">
                  <c:v>1000</c:v>
                </c:pt>
                <c:pt idx="15">
                  <c:v>1000</c:v>
                </c:pt>
                <c:pt idx="16">
                  <c:v>1000</c:v>
                </c:pt>
                <c:pt idx="17">
                  <c:v>1000</c:v>
                </c:pt>
                <c:pt idx="18">
                  <c:v>1000</c:v>
                </c:pt>
                <c:pt idx="19">
                  <c:v>1000</c:v>
                </c:pt>
                <c:pt idx="20">
                  <c:v>1000</c:v>
                </c:pt>
                <c:pt idx="21">
                  <c:v>1000</c:v>
                </c:pt>
                <c:pt idx="22">
                  <c:v>1000</c:v>
                </c:pt>
                <c:pt idx="23">
                  <c:v>1000</c:v>
                </c:pt>
                <c:pt idx="24">
                  <c:v>1000</c:v>
                </c:pt>
                <c:pt idx="25">
                  <c:v>1000</c:v>
                </c:pt>
                <c:pt idx="26">
                  <c:v>1000</c:v>
                </c:pt>
                <c:pt idx="27">
                  <c:v>1000</c:v>
                </c:pt>
                <c:pt idx="28">
                  <c:v>1000</c:v>
                </c:pt>
                <c:pt idx="29">
                  <c:v>1000</c:v>
                </c:pt>
                <c:pt idx="30">
                  <c:v>1000</c:v>
                </c:pt>
                <c:pt idx="31">
                  <c:v>1000</c:v>
                </c:pt>
                <c:pt idx="32">
                  <c:v>1000</c:v>
                </c:pt>
                <c:pt idx="33">
                  <c:v>1000</c:v>
                </c:pt>
                <c:pt idx="34">
                  <c:v>1000</c:v>
                </c:pt>
                <c:pt idx="35">
                  <c:v>1000</c:v>
                </c:pt>
                <c:pt idx="36">
                  <c:v>1000</c:v>
                </c:pt>
                <c:pt idx="37">
                  <c:v>1000</c:v>
                </c:pt>
                <c:pt idx="38">
                  <c:v>1000</c:v>
                </c:pt>
                <c:pt idx="39">
                  <c:v>1000</c:v>
                </c:pt>
                <c:pt idx="40">
                  <c:v>1000</c:v>
                </c:pt>
                <c:pt idx="41">
                  <c:v>1000</c:v>
                </c:pt>
                <c:pt idx="42">
                  <c:v>1000</c:v>
                </c:pt>
                <c:pt idx="43">
                  <c:v>1000</c:v>
                </c:pt>
                <c:pt idx="44">
                  <c:v>1000</c:v>
                </c:pt>
                <c:pt idx="45">
                  <c:v>1000</c:v>
                </c:pt>
                <c:pt idx="46">
                  <c:v>1000</c:v>
                </c:pt>
                <c:pt idx="47">
                  <c:v>1000</c:v>
                </c:pt>
                <c:pt idx="48">
                  <c:v>1000</c:v>
                </c:pt>
                <c:pt idx="49">
                  <c:v>1000</c:v>
                </c:pt>
                <c:pt idx="50">
                  <c:v>1000</c:v>
                </c:pt>
                <c:pt idx="51">
                  <c:v>1000</c:v>
                </c:pt>
                <c:pt idx="52">
                  <c:v>1000</c:v>
                </c:pt>
                <c:pt idx="53">
                  <c:v>1000</c:v>
                </c:pt>
                <c:pt idx="54">
                  <c:v>1000</c:v>
                </c:pt>
                <c:pt idx="55">
                  <c:v>1000</c:v>
                </c:pt>
                <c:pt idx="56">
                  <c:v>1000</c:v>
                </c:pt>
                <c:pt idx="57">
                  <c:v>1000</c:v>
                </c:pt>
                <c:pt idx="58">
                  <c:v>1000</c:v>
                </c:pt>
                <c:pt idx="59">
                  <c:v>1000</c:v>
                </c:pt>
                <c:pt idx="60">
                  <c:v>1000</c:v>
                </c:pt>
                <c:pt idx="61">
                  <c:v>1000</c:v>
                </c:pt>
                <c:pt idx="62">
                  <c:v>1000</c:v>
                </c:pt>
                <c:pt idx="63">
                  <c:v>1000</c:v>
                </c:pt>
                <c:pt idx="64">
                  <c:v>1000</c:v>
                </c:pt>
                <c:pt idx="65">
                  <c:v>1000</c:v>
                </c:pt>
                <c:pt idx="66">
                  <c:v>1000</c:v>
                </c:pt>
                <c:pt idx="67">
                  <c:v>1000</c:v>
                </c:pt>
                <c:pt idx="68">
                  <c:v>1000</c:v>
                </c:pt>
                <c:pt idx="69">
                  <c:v>1000</c:v>
                </c:pt>
                <c:pt idx="70">
                  <c:v>1000</c:v>
                </c:pt>
                <c:pt idx="71">
                  <c:v>1000</c:v>
                </c:pt>
                <c:pt idx="72">
                  <c:v>1000</c:v>
                </c:pt>
                <c:pt idx="73">
                  <c:v>1000</c:v>
                </c:pt>
                <c:pt idx="74">
                  <c:v>1000</c:v>
                </c:pt>
                <c:pt idx="75">
                  <c:v>1000</c:v>
                </c:pt>
                <c:pt idx="76">
                  <c:v>1000</c:v>
                </c:pt>
                <c:pt idx="77">
                  <c:v>1000</c:v>
                </c:pt>
                <c:pt idx="78">
                  <c:v>1000</c:v>
                </c:pt>
                <c:pt idx="79">
                  <c:v>1000</c:v>
                </c:pt>
                <c:pt idx="80">
                  <c:v>1000</c:v>
                </c:pt>
                <c:pt idx="81">
                  <c:v>1000</c:v>
                </c:pt>
                <c:pt idx="82">
                  <c:v>1000</c:v>
                </c:pt>
                <c:pt idx="83">
                  <c:v>1000</c:v>
                </c:pt>
                <c:pt idx="84">
                  <c:v>1000</c:v>
                </c:pt>
                <c:pt idx="85">
                  <c:v>1000</c:v>
                </c:pt>
                <c:pt idx="86">
                  <c:v>1000</c:v>
                </c:pt>
                <c:pt idx="87">
                  <c:v>1000</c:v>
                </c:pt>
                <c:pt idx="88">
                  <c:v>1000</c:v>
                </c:pt>
                <c:pt idx="89">
                  <c:v>1000</c:v>
                </c:pt>
                <c:pt idx="90">
                  <c:v>1000</c:v>
                </c:pt>
                <c:pt idx="91">
                  <c:v>1000</c:v>
                </c:pt>
                <c:pt idx="92">
                  <c:v>1000</c:v>
                </c:pt>
                <c:pt idx="93">
                  <c:v>1000</c:v>
                </c:pt>
                <c:pt idx="94">
                  <c:v>1000</c:v>
                </c:pt>
                <c:pt idx="95">
                  <c:v>1000</c:v>
                </c:pt>
                <c:pt idx="96">
                  <c:v>1000</c:v>
                </c:pt>
                <c:pt idx="97">
                  <c:v>1000</c:v>
                </c:pt>
                <c:pt idx="98">
                  <c:v>1000</c:v>
                </c:pt>
                <c:pt idx="99">
                  <c:v>1000</c:v>
                </c:pt>
                <c:pt idx="100">
                  <c:v>1000</c:v>
                </c:pt>
                <c:pt idx="101">
                  <c:v>1000</c:v>
                </c:pt>
                <c:pt idx="102">
                  <c:v>1000</c:v>
                </c:pt>
                <c:pt idx="103">
                  <c:v>1000</c:v>
                </c:pt>
                <c:pt idx="104">
                  <c:v>1000</c:v>
                </c:pt>
                <c:pt idx="105">
                  <c:v>1000</c:v>
                </c:pt>
                <c:pt idx="106">
                  <c:v>1000</c:v>
                </c:pt>
                <c:pt idx="107">
                  <c:v>1000</c:v>
                </c:pt>
                <c:pt idx="108">
                  <c:v>1000</c:v>
                </c:pt>
                <c:pt idx="109">
                  <c:v>1000</c:v>
                </c:pt>
                <c:pt idx="110">
                  <c:v>1000</c:v>
                </c:pt>
                <c:pt idx="111">
                  <c:v>1000</c:v>
                </c:pt>
                <c:pt idx="112">
                  <c:v>1000</c:v>
                </c:pt>
                <c:pt idx="113">
                  <c:v>1000</c:v>
                </c:pt>
                <c:pt idx="114">
                  <c:v>1000</c:v>
                </c:pt>
                <c:pt idx="115">
                  <c:v>1000</c:v>
                </c:pt>
                <c:pt idx="116">
                  <c:v>1000</c:v>
                </c:pt>
                <c:pt idx="117">
                  <c:v>1000</c:v>
                </c:pt>
                <c:pt idx="118">
                  <c:v>1000</c:v>
                </c:pt>
                <c:pt idx="119">
                  <c:v>1000</c:v>
                </c:pt>
                <c:pt idx="120">
                  <c:v>1000</c:v>
                </c:pt>
                <c:pt idx="121">
                  <c:v>1000</c:v>
                </c:pt>
                <c:pt idx="122">
                  <c:v>1000</c:v>
                </c:pt>
                <c:pt idx="123">
                  <c:v>1000</c:v>
                </c:pt>
                <c:pt idx="124">
                  <c:v>1000</c:v>
                </c:pt>
                <c:pt idx="125">
                  <c:v>1000</c:v>
                </c:pt>
                <c:pt idx="126">
                  <c:v>1000</c:v>
                </c:pt>
                <c:pt idx="127">
                  <c:v>1000</c:v>
                </c:pt>
                <c:pt idx="128">
                  <c:v>1000</c:v>
                </c:pt>
                <c:pt idx="129">
                  <c:v>1000</c:v>
                </c:pt>
                <c:pt idx="130">
                  <c:v>1000</c:v>
                </c:pt>
                <c:pt idx="131">
                  <c:v>1000</c:v>
                </c:pt>
                <c:pt idx="132">
                  <c:v>1000</c:v>
                </c:pt>
                <c:pt idx="133">
                  <c:v>1000</c:v>
                </c:pt>
                <c:pt idx="134">
                  <c:v>1000</c:v>
                </c:pt>
                <c:pt idx="135">
                  <c:v>1000</c:v>
                </c:pt>
                <c:pt idx="136">
                  <c:v>1000</c:v>
                </c:pt>
                <c:pt idx="137">
                  <c:v>1000</c:v>
                </c:pt>
                <c:pt idx="138">
                  <c:v>1000</c:v>
                </c:pt>
                <c:pt idx="139">
                  <c:v>1000</c:v>
                </c:pt>
                <c:pt idx="140">
                  <c:v>1000</c:v>
                </c:pt>
                <c:pt idx="141">
                  <c:v>1000</c:v>
                </c:pt>
                <c:pt idx="142">
                  <c:v>1000</c:v>
                </c:pt>
                <c:pt idx="143">
                  <c:v>1000</c:v>
                </c:pt>
                <c:pt idx="144">
                  <c:v>1000</c:v>
                </c:pt>
                <c:pt idx="145">
                  <c:v>1000</c:v>
                </c:pt>
                <c:pt idx="146">
                  <c:v>1000</c:v>
                </c:pt>
                <c:pt idx="147">
                  <c:v>1000</c:v>
                </c:pt>
                <c:pt idx="148">
                  <c:v>1000</c:v>
                </c:pt>
                <c:pt idx="149">
                  <c:v>1000</c:v>
                </c:pt>
                <c:pt idx="150">
                  <c:v>1000</c:v>
                </c:pt>
                <c:pt idx="151">
                  <c:v>1000</c:v>
                </c:pt>
                <c:pt idx="152">
                  <c:v>1000</c:v>
                </c:pt>
                <c:pt idx="153">
                  <c:v>1000</c:v>
                </c:pt>
                <c:pt idx="154">
                  <c:v>1000</c:v>
                </c:pt>
                <c:pt idx="155">
                  <c:v>1000</c:v>
                </c:pt>
                <c:pt idx="156">
                  <c:v>1000</c:v>
                </c:pt>
                <c:pt idx="157">
                  <c:v>1000</c:v>
                </c:pt>
                <c:pt idx="158">
                  <c:v>1000</c:v>
                </c:pt>
                <c:pt idx="159">
                  <c:v>1000</c:v>
                </c:pt>
                <c:pt idx="160">
                  <c:v>1000</c:v>
                </c:pt>
                <c:pt idx="161">
                  <c:v>1000</c:v>
                </c:pt>
                <c:pt idx="162">
                  <c:v>1000</c:v>
                </c:pt>
                <c:pt idx="163">
                  <c:v>1000</c:v>
                </c:pt>
                <c:pt idx="164">
                  <c:v>1000</c:v>
                </c:pt>
                <c:pt idx="165">
                  <c:v>1000</c:v>
                </c:pt>
                <c:pt idx="166">
                  <c:v>1000</c:v>
                </c:pt>
                <c:pt idx="167">
                  <c:v>1000</c:v>
                </c:pt>
                <c:pt idx="168">
                  <c:v>1000</c:v>
                </c:pt>
                <c:pt idx="169">
                  <c:v>1000</c:v>
                </c:pt>
                <c:pt idx="170">
                  <c:v>1000</c:v>
                </c:pt>
                <c:pt idx="171">
                  <c:v>1000</c:v>
                </c:pt>
                <c:pt idx="172">
                  <c:v>1000</c:v>
                </c:pt>
                <c:pt idx="173">
                  <c:v>1000</c:v>
                </c:pt>
                <c:pt idx="174">
                  <c:v>1000</c:v>
                </c:pt>
                <c:pt idx="175">
                  <c:v>1000</c:v>
                </c:pt>
                <c:pt idx="176">
                  <c:v>1000</c:v>
                </c:pt>
                <c:pt idx="177">
                  <c:v>1000</c:v>
                </c:pt>
                <c:pt idx="178">
                  <c:v>1000</c:v>
                </c:pt>
                <c:pt idx="179">
                  <c:v>1000</c:v>
                </c:pt>
                <c:pt idx="180">
                  <c:v>1000</c:v>
                </c:pt>
                <c:pt idx="181">
                  <c:v>1000</c:v>
                </c:pt>
                <c:pt idx="182">
                  <c:v>1000</c:v>
                </c:pt>
                <c:pt idx="183">
                  <c:v>1000</c:v>
                </c:pt>
                <c:pt idx="184">
                  <c:v>1000</c:v>
                </c:pt>
                <c:pt idx="185">
                  <c:v>1000</c:v>
                </c:pt>
                <c:pt idx="186">
                  <c:v>1000</c:v>
                </c:pt>
                <c:pt idx="187">
                  <c:v>1000</c:v>
                </c:pt>
                <c:pt idx="188">
                  <c:v>1000</c:v>
                </c:pt>
                <c:pt idx="189">
                  <c:v>1000</c:v>
                </c:pt>
                <c:pt idx="190">
                  <c:v>1000</c:v>
                </c:pt>
                <c:pt idx="191">
                  <c:v>1000</c:v>
                </c:pt>
                <c:pt idx="192">
                  <c:v>1000</c:v>
                </c:pt>
                <c:pt idx="193">
                  <c:v>1000</c:v>
                </c:pt>
                <c:pt idx="194">
                  <c:v>1000</c:v>
                </c:pt>
                <c:pt idx="195">
                  <c:v>1000</c:v>
                </c:pt>
                <c:pt idx="196">
                  <c:v>1000</c:v>
                </c:pt>
                <c:pt idx="197">
                  <c:v>1000</c:v>
                </c:pt>
                <c:pt idx="198">
                  <c:v>1000</c:v>
                </c:pt>
                <c:pt idx="199">
                  <c:v>1000</c:v>
                </c:pt>
                <c:pt idx="200">
                  <c:v>1000</c:v>
                </c:pt>
                <c:pt idx="201">
                  <c:v>1000</c:v>
                </c:pt>
                <c:pt idx="202">
                  <c:v>1000</c:v>
                </c:pt>
                <c:pt idx="203">
                  <c:v>1000</c:v>
                </c:pt>
                <c:pt idx="204">
                  <c:v>1000</c:v>
                </c:pt>
                <c:pt idx="205">
                  <c:v>1000</c:v>
                </c:pt>
                <c:pt idx="206">
                  <c:v>1000</c:v>
                </c:pt>
                <c:pt idx="207">
                  <c:v>1000</c:v>
                </c:pt>
                <c:pt idx="208">
                  <c:v>1000</c:v>
                </c:pt>
                <c:pt idx="209">
                  <c:v>1000</c:v>
                </c:pt>
                <c:pt idx="210">
                  <c:v>1000</c:v>
                </c:pt>
                <c:pt idx="211">
                  <c:v>1000</c:v>
                </c:pt>
                <c:pt idx="212">
                  <c:v>1000</c:v>
                </c:pt>
                <c:pt idx="213">
                  <c:v>1000</c:v>
                </c:pt>
                <c:pt idx="214">
                  <c:v>1000</c:v>
                </c:pt>
                <c:pt idx="215">
                  <c:v>1000</c:v>
                </c:pt>
                <c:pt idx="216">
                  <c:v>1000</c:v>
                </c:pt>
                <c:pt idx="217">
                  <c:v>1000</c:v>
                </c:pt>
                <c:pt idx="218">
                  <c:v>1000</c:v>
                </c:pt>
                <c:pt idx="219">
                  <c:v>1000</c:v>
                </c:pt>
                <c:pt idx="220">
                  <c:v>1000</c:v>
                </c:pt>
                <c:pt idx="221">
                  <c:v>1000</c:v>
                </c:pt>
                <c:pt idx="222">
                  <c:v>1000</c:v>
                </c:pt>
                <c:pt idx="223">
                  <c:v>1000</c:v>
                </c:pt>
                <c:pt idx="224">
                  <c:v>1000</c:v>
                </c:pt>
                <c:pt idx="225">
                  <c:v>1000</c:v>
                </c:pt>
                <c:pt idx="226">
                  <c:v>1000</c:v>
                </c:pt>
                <c:pt idx="227">
                  <c:v>1000</c:v>
                </c:pt>
                <c:pt idx="228">
                  <c:v>1000</c:v>
                </c:pt>
                <c:pt idx="229">
                  <c:v>1000</c:v>
                </c:pt>
                <c:pt idx="230">
                  <c:v>1000</c:v>
                </c:pt>
                <c:pt idx="231">
                  <c:v>1000</c:v>
                </c:pt>
                <c:pt idx="232">
                  <c:v>1000</c:v>
                </c:pt>
                <c:pt idx="233">
                  <c:v>1000</c:v>
                </c:pt>
                <c:pt idx="234">
                  <c:v>1000</c:v>
                </c:pt>
                <c:pt idx="235">
                  <c:v>1000</c:v>
                </c:pt>
                <c:pt idx="236">
                  <c:v>1000</c:v>
                </c:pt>
                <c:pt idx="237">
                  <c:v>1000</c:v>
                </c:pt>
                <c:pt idx="238">
                  <c:v>1000</c:v>
                </c:pt>
                <c:pt idx="239">
                  <c:v>1000</c:v>
                </c:pt>
                <c:pt idx="240">
                  <c:v>1000</c:v>
                </c:pt>
                <c:pt idx="241">
                  <c:v>1000</c:v>
                </c:pt>
                <c:pt idx="242">
                  <c:v>1000</c:v>
                </c:pt>
                <c:pt idx="243">
                  <c:v>1000</c:v>
                </c:pt>
                <c:pt idx="244">
                  <c:v>1000</c:v>
                </c:pt>
                <c:pt idx="245">
                  <c:v>1000</c:v>
                </c:pt>
                <c:pt idx="246">
                  <c:v>1000</c:v>
                </c:pt>
                <c:pt idx="247">
                  <c:v>1000</c:v>
                </c:pt>
                <c:pt idx="248">
                  <c:v>1000</c:v>
                </c:pt>
                <c:pt idx="249">
                  <c:v>1000</c:v>
                </c:pt>
                <c:pt idx="250">
                  <c:v>1000</c:v>
                </c:pt>
                <c:pt idx="251">
                  <c:v>1000</c:v>
                </c:pt>
                <c:pt idx="252">
                  <c:v>1000</c:v>
                </c:pt>
                <c:pt idx="253">
                  <c:v>1000</c:v>
                </c:pt>
                <c:pt idx="254">
                  <c:v>1000</c:v>
                </c:pt>
                <c:pt idx="255">
                  <c:v>1000</c:v>
                </c:pt>
                <c:pt idx="256">
                  <c:v>1000</c:v>
                </c:pt>
                <c:pt idx="257">
                  <c:v>1000</c:v>
                </c:pt>
                <c:pt idx="258">
                  <c:v>1000</c:v>
                </c:pt>
                <c:pt idx="259">
                  <c:v>1000</c:v>
                </c:pt>
                <c:pt idx="260">
                  <c:v>1000</c:v>
                </c:pt>
                <c:pt idx="261">
                  <c:v>1000</c:v>
                </c:pt>
                <c:pt idx="262">
                  <c:v>1000</c:v>
                </c:pt>
                <c:pt idx="263">
                  <c:v>1000</c:v>
                </c:pt>
                <c:pt idx="264">
                  <c:v>1000</c:v>
                </c:pt>
                <c:pt idx="265">
                  <c:v>1000</c:v>
                </c:pt>
                <c:pt idx="266">
                  <c:v>1000</c:v>
                </c:pt>
                <c:pt idx="267">
                  <c:v>1000</c:v>
                </c:pt>
                <c:pt idx="268">
                  <c:v>1000</c:v>
                </c:pt>
                <c:pt idx="269">
                  <c:v>1000</c:v>
                </c:pt>
                <c:pt idx="270">
                  <c:v>1000</c:v>
                </c:pt>
                <c:pt idx="271">
                  <c:v>1000</c:v>
                </c:pt>
                <c:pt idx="272">
                  <c:v>1000</c:v>
                </c:pt>
                <c:pt idx="273">
                  <c:v>1000</c:v>
                </c:pt>
                <c:pt idx="274">
                  <c:v>1000</c:v>
                </c:pt>
                <c:pt idx="275">
                  <c:v>1000</c:v>
                </c:pt>
                <c:pt idx="276">
                  <c:v>1000</c:v>
                </c:pt>
                <c:pt idx="277">
                  <c:v>1000</c:v>
                </c:pt>
                <c:pt idx="278">
                  <c:v>1000</c:v>
                </c:pt>
                <c:pt idx="279">
                  <c:v>1000</c:v>
                </c:pt>
                <c:pt idx="280">
                  <c:v>1000</c:v>
                </c:pt>
                <c:pt idx="281">
                  <c:v>1000</c:v>
                </c:pt>
                <c:pt idx="282">
                  <c:v>1000</c:v>
                </c:pt>
                <c:pt idx="283">
                  <c:v>1000</c:v>
                </c:pt>
                <c:pt idx="284">
                  <c:v>1000</c:v>
                </c:pt>
                <c:pt idx="285">
                  <c:v>1000</c:v>
                </c:pt>
                <c:pt idx="286">
                  <c:v>1000</c:v>
                </c:pt>
                <c:pt idx="287">
                  <c:v>1000</c:v>
                </c:pt>
                <c:pt idx="288">
                  <c:v>1000</c:v>
                </c:pt>
                <c:pt idx="289">
                  <c:v>1000</c:v>
                </c:pt>
                <c:pt idx="290">
                  <c:v>1000</c:v>
                </c:pt>
                <c:pt idx="291">
                  <c:v>1000</c:v>
                </c:pt>
                <c:pt idx="292">
                  <c:v>1000</c:v>
                </c:pt>
                <c:pt idx="293">
                  <c:v>1000</c:v>
                </c:pt>
                <c:pt idx="294">
                  <c:v>1000</c:v>
                </c:pt>
                <c:pt idx="295">
                  <c:v>1000</c:v>
                </c:pt>
                <c:pt idx="296">
                  <c:v>1000</c:v>
                </c:pt>
                <c:pt idx="297">
                  <c:v>1000</c:v>
                </c:pt>
                <c:pt idx="298">
                  <c:v>1000</c:v>
                </c:pt>
                <c:pt idx="299">
                  <c:v>1000</c:v>
                </c:pt>
                <c:pt idx="300">
                  <c:v>1000</c:v>
                </c:pt>
              </c:numCache>
            </c:numRef>
          </c:yVal>
          <c:smooth val="0"/>
        </c:ser>
        <c:dLbls>
          <c:numFmt formatCode="General" sourceLinked="0"/>
          <c:txPr>
            <a:bodyPr/>
            <a:lstStyle/>
            <a:p>
              <a:pPr>
                <a:defRPr b="0" i="0" strike="noStrike" sz="1000" u="none">
                  <a:solidFill>
                    <a:srgbClr val="152D42"/>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000" b="0" i="0" u="none" strike="noStrike">
                    <a:solidFill>
                      <a:srgbClr val="506476"/>
                    </a:solidFill>
                    <a:latin typeface="+mn-lt"/>
                  </a:defRPr>
                </a:pPr>
                <a:r>
                  <a:rPr sz="1000" b="0" i="0" u="none" strike="noStrike">
                    <a:solidFill>
                      <a:srgbClr val="506476"/>
                    </a:solidFill>
                    <a:latin typeface="+mn-lt"/>
                  </a:rPr>
                  <a:t>scaled time τ</a:t>
                </a:r>
              </a:p>
            </c:rich>
          </c:tx>
          <c:layout/>
          <c:overlay val="0"/>
        </c:title>
        <c:numFmt formatCode="General" sourceLinked="1"/>
        <c:majorTickMark val="none"/>
        <c:minorTickMark val="none"/>
        <c:tickLblPos val="low"/>
        <c:spPr>
          <a:ln w="12700" cap="flat">
            <a:solidFill>
              <a:srgbClr val="888888"/>
            </a:solidFill>
            <a:prstDash val="solid"/>
            <a:round/>
          </a:ln>
        </c:spPr>
        <c:txPr>
          <a:bodyPr/>
          <a:lstStyle/>
          <a:p>
            <a:pPr>
              <a:defRPr sz="1000" b="0" i="0" u="none" strike="noStrike">
                <a:solidFill>
                  <a:srgbClr val="506476"/>
                </a:solidFill>
                <a:latin typeface="+mn-lt"/>
              </a:defRPr>
            </a:pPr>
            <a:endParaRPr lang="en-US"/>
          </a:p>
        </c:txPr>
        <c:crossAx val="2094734552"/>
        <c:crosses val="autoZero"/>
        <c:auto val="1"/>
        <c:lblAlgn val="ctr"/>
        <c:noMultiLvlLbl val="1"/>
        <c:majorUnit val="10"/>
      </c:valAx>
      <c:valAx>
        <c:axId val="2094734552"/>
        <c:scaling>
          <c:orientation val="minMax"/>
          <c:max val="2"/>
          <c:min val="-2"/>
        </c:scaling>
        <c:delete val="0"/>
        <c:axPos val="l"/>
        <c:majorGridlines>
          <c:spPr>
            <a:ln w="6350" cap="flat">
              <a:solidFill>
                <a:srgbClr val="DCE4EB"/>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000" b="0" i="0" u="none" strike="noStrike">
                <a:solidFill>
                  <a:srgbClr val="506476"/>
                </a:solidFill>
                <a:latin typeface="+mn-lt"/>
              </a:defRPr>
            </a:pPr>
            <a:endParaRPr lang="en-US"/>
          </a:p>
        </c:txPr>
        <c:crossAx val="2094734554"/>
        <c:crosses val="autoZero"/>
        <c:crossBetween val="midCat"/>
        <c:majorUnit val="1"/>
      </c:valAx>
      <c:spPr>
        <a:noFill/>
        <a:ln>
          <a:noFill/>
        </a:ln>
        <a:effectLst/>
      </c:spPr>
    </c:plotArea>
    <c:legend>
      <c:legendPos val="b"/>
      <c:overlay val="0"/>
      <c:txPr>
        <a:bodyPr/>
        <a:lstStyle/>
        <a:p>
          <a:pPr>
            <a:defRPr sz="1000">
              <a:solidFill>
                <a:srgbClr val="50647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2D42"/>
                </a:solidFill>
                <a:latin typeface="+mn-lt"/>
              </a:defRPr>
            </a:pPr>
            <a:r>
              <a:rPr sz="1200" b="0" i="0" u="none" strike="noStrike">
                <a:solidFill>
                  <a:srgbClr val="152D42"/>
                </a:solidFill>
                <a:latin typeface="+mn-lt"/>
              </a:rPr>
              <a:t>Bond stiffness k (N/m)</a:t>
            </a:r>
          </a:p>
        </c:rich>
      </c:tx>
      <c:layout/>
      <c:overlay val="0"/>
    </c:title>
    <c:autoTitleDeleted val="0"/>
    <c:plotArea>
      <c:layout/>
      <c:barChart>
        <c:barDir val="col"/>
        <c:grouping val="clustered"/>
        <c:varyColors val="0"/>
        <c:ser>
          <c:idx val="0"/>
          <c:order val="0"/>
          <c:tx>
            <c:strRef>
              <c:f>Sheet1!$B$1</c:f>
              <c:strCache>
                <c:ptCount val="1"/>
                <c:pt idx="0">
                  <c:v>k (N/m)</c:v>
                </c:pt>
              </c:strCache>
            </c:strRef>
          </c:tx>
          <c:spPr>
            <a:solidFill>
              <a:srgbClr val="152D42"/>
            </a:solidFill>
            <a:effectLst/>
          </c:spPr>
          <c:invertIfNegative val="0"/>
          <c:dLbls>
            <c:numFmt formatCode="0" sourceLinked="0"/>
            <c:txPr>
              <a:bodyPr/>
              <a:lstStyle/>
              <a:p>
                <a:pPr>
                  <a:defRPr b="0" i="0" strike="noStrike" sz="1000" u="none">
                    <a:solidFill>
                      <a:srgbClr val="152D42"/>
                    </a:solidFill>
                    <a:latin typeface="+mn-lt"/>
                  </a:defRPr>
                </a:pPr>
              </a:p>
            </c:txPr>
            <c:showLegendKey val="0"/>
            <c:showVal val="1"/>
            <c:showCatName val="0"/>
            <c:showSerName val="0"/>
            <c:showPercent val="0"/>
            <c:showBubbleSize val="0"/>
            <c:showLeaderLines val="0"/>
          </c:dLbls>
          <c:cat>
            <c:multiLvlStrRef>
              <c:f>Sheet1!$A$2:$A$5</c:f>
              <c:multiLvlStrCache>
                <c:ptCount val="4"/>
                <c:lvl>
                  <c:pt idx="0">
                    <c:v>H–H</c:v>
                  </c:pt>
                  <c:pt idx="1">
                    <c:v>H–Cl</c:v>
                  </c:pt>
                  <c:pt idx="2">
                    <c:v>C≡O</c:v>
                  </c:pt>
                  <c:pt idx="3">
                    <c:v>N≡N</c:v>
                  </c:pt>
                </c:lvl>
              </c:multiLvlStrCache>
            </c:multiLvlStrRef>
          </c:cat>
          <c:val>
            <c:numRef>
              <c:f>Sheet1!$B$2:$B$5</c:f>
              <c:numCache>
                <c:formatCode>General</c:formatCode>
                <c:ptCount val="4"/>
                <c:pt idx="0">
                  <c:v>575</c:v>
                </c:pt>
                <c:pt idx="1">
                  <c:v>516</c:v>
                </c:pt>
                <c:pt idx="2">
                  <c:v>1902</c:v>
                </c:pt>
                <c:pt idx="3">
                  <c:v>2295</c:v>
                </c:pt>
              </c:numCache>
            </c:numRef>
          </c:val>
        </c:ser>
        <c:dLbls>
          <c:numFmt formatCode="0" sourceLinked="0"/>
          <c:txPr>
            <a:bodyPr/>
            <a:lstStyle/>
            <a:p>
              <a:pPr>
                <a:defRPr b="0" i="0" strike="noStrike" sz="1000" u="none">
                  <a:solidFill>
                    <a:srgbClr val="152D42"/>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06476"/>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DCE4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06476"/>
                </a:solidFill>
                <a:latin typeface="+mn-lt"/>
              </a:defRPr>
            </a:pPr>
            <a:endParaRPr lang="en-US"/>
          </a:p>
        </c:txPr>
        <c:crossAx val="2094734554"/>
        <c:crosses val="autoZero"/>
        <c:crossBetween val="between"/>
        <c:majorUnit val="50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2D42"/>
                </a:solidFill>
                <a:latin typeface="+mn-lt"/>
              </a:defRPr>
            </a:pPr>
            <a:r>
              <a:rPr sz="1200" b="0" i="0" u="none" strike="noStrike">
                <a:solidFill>
                  <a:srgbClr val="152D42"/>
                </a:solidFill>
                <a:latin typeface="+mn-lt"/>
              </a:rPr>
              <a:t>Eigenvalues of the 9 × 9 Hessian (units ε/σ²)</a:t>
            </a:r>
          </a:p>
        </c:rich>
      </c:tx>
      <c:layout/>
      <c:overlay val="0"/>
    </c:title>
    <c:autoTitleDeleted val="0"/>
    <c:plotArea>
      <c:layout/>
      <c:barChart>
        <c:barDir val="col"/>
        <c:grouping val="clustered"/>
        <c:varyColors val="0"/>
        <c:ser>
          <c:idx val="0"/>
          <c:order val="0"/>
          <c:tx>
            <c:strRef>
              <c:f>Sheet1!$B$1</c:f>
              <c:strCache>
                <c:ptCount val="1"/>
                <c:pt idx="0">
                  <c:v>eigenvalue</c:v>
                </c:pt>
              </c:strCache>
            </c:strRef>
          </c:tx>
          <c:spPr>
            <a:solidFill>
              <a:srgbClr val="152D42"/>
            </a:solidFill>
            <a:effectLst/>
          </c:spPr>
          <c:invertIfNegative val="0"/>
          <c:dLbls>
            <c:numFmt formatCode="0.00" sourceLinked="0"/>
            <c:txPr>
              <a:bodyPr/>
              <a:lstStyle/>
              <a:p>
                <a:pPr>
                  <a:defRPr b="0" i="0" strike="noStrike" sz="1000" u="none">
                    <a:solidFill>
                      <a:srgbClr val="152D42"/>
                    </a:solidFill>
                    <a:latin typeface="+mn-lt"/>
                  </a:defRPr>
                </a:pPr>
              </a:p>
            </c:txPr>
            <c:showLegendKey val="0"/>
            <c:showVal val="1"/>
            <c:showCatName val="0"/>
            <c:showSerName val="0"/>
            <c:showPercent val="0"/>
            <c:showBubbleSize val="0"/>
            <c:showLeaderLines val="0"/>
          </c:dLbls>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0</c:v>
                </c:pt>
                <c:pt idx="1">
                  <c:v>0</c:v>
                </c:pt>
                <c:pt idx="2">
                  <c:v>0</c:v>
                </c:pt>
                <c:pt idx="3">
                  <c:v>0</c:v>
                </c:pt>
                <c:pt idx="4">
                  <c:v>0</c:v>
                </c:pt>
                <c:pt idx="5">
                  <c:v>0</c:v>
                </c:pt>
                <c:pt idx="6">
                  <c:v>85.72</c:v>
                </c:pt>
                <c:pt idx="7">
                  <c:v>85.72</c:v>
                </c:pt>
                <c:pt idx="8">
                  <c:v>171.44</c:v>
                </c:pt>
              </c:numCache>
            </c:numRef>
          </c:val>
        </c:ser>
        <c:dLbls>
          <c:numFmt formatCode="0.00" sourceLinked="0"/>
          <c:txPr>
            <a:bodyPr/>
            <a:lstStyle/>
            <a:p>
              <a:pPr>
                <a:defRPr b="0" i="0" strike="noStrike" sz="1000" u="none">
                  <a:solidFill>
                    <a:srgbClr val="152D4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06476"/>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6350" cap="flat">
              <a:solidFill>
                <a:srgbClr val="DCE4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06476"/>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8, Monday 5 October. These slides go with Sections 1 to 3 of the notes and stop at the Hessian: the symmetric part and the two tests are not here.
Time: the full deck is about 50 minutes (slides 2 to 8: 17, slides 9 to 12: 11, slides 13 to 21: 17, slides 22 and 23: 4). The core, slides 2 to 12, is about 28 minutes. The core plus slides 13, 14, 17, 20 and 22 is about 36. Each application slide stands alone, so any of them can be skipped.
The computed numbers come from L08_hessian.py and L08_applications.py (appendix). Measured values are named in the notes of their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map of the hour. Card 1 is the definition from Section 1 of the notes. Card 2 is the Hessian, Section 3. Card 3 is what a computer does with it. Card 4 is why anyone cares.
The question written under the cards is the thread: every example today asks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Ask before clicking: let the room vote on each matrix. These are the four matrices of Example 1.3 in the notes.
Click 1: (a) is a sum of three squares that vanish together only at x = 0.
Click 2: (b) is a perfect square, zero on the whole line x2 = -x1.
Click 3: (c) is minus (a).
Click 4: (d) takes both signs: 10 at (1, 1) and -2 at (1, -1).
Click 5: the key idea.
Point out that finitely many test vectors can show a matrix is NOT positive definite, but cannot show that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same four matrices, now as surfaces z = xᵀMx over the unit disc. Colour is the sign: navy positive, red negative.
Clicks 1 to 4 show the surfaces one at a time. The trough is the interesting one: a whole line of non-zero vectors with zero energy. That line is the gap between &gt; 0 and &gt;= 0.
Click 5: the bridge to the Hessian. Near a critical point a smooth function is a constant plus a shape like these. Two cases are not drawn: the trough upside down (negative semi-definite) and the flat case M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Section 3 of the notes. Both derivatives of the one-variable test have to be generalised: f' becomes a vector, f'' becomes a matrix.
Click 1: symmetry. For a smooth f the order of differentiation does not matter, so H is symmetric and everything from Lecture 7 applies: real eigenvalues, orthogonal eigenvectors.
Click 2: Taylor to second order, first in one variable and then in n.
Click 3: at a critical point the linear term is gone, and the sign of the change in f is the sign of dᵀHd.
Click 4: the key idea. This is why the definition of the first half of the lecture is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Theorem 3.1 of the notes is row 1. Rows 2 and 3 follow by the same argument.
Clicks 1 to 4: one row each. Click 5: the warning.
Row 4 is where the test stops: with a zero eigenvalue the quadratic term is flat in some direction and higher-order terms decide. The pair in the box has the same Hessian at the origin and opposite behaviour.
Sufficient, not necessary.
The rows describe definiteness by the signs of the eigenvalues. The notes prove that in Section 5; the caption gives the one-line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Example 3.2 of the notes. Both functions are quadratic forms xᵀMx, so the gradient is 2Mx and the Hessian is 2M at every point. The only critical point is the origin.
Click 1: the two Hessians. They are twice the matrices (a) and (d) of slide 3.
Click 2: eigenvalues and verdicts. f is a sum of squares; g rises along (1, 1) and falls along (1, -1).
Click 3: contour plots. Closed ellipses for the bowl, hyperbolas for the saddle, with the two zero-level lines dashed.
Click 4: the key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Example 3.4 of the notes. The function is not quadratic, so the Hessian changes from point to point and the test is applied at each critical point separately.
Click 1: the gradient and its two zeros.
Click 2: the Hessian as a function of x.
Click 3: at (1, 0), positive definite, a minimum with f = -2.
Click 4: at (-1, 0), indefinite, a saddle with f = 2. Along x1, f(-1 + h, 0) = 2 - 3h² + h³ is below 2; along x2 it is above.
Click 5: the picture.
This function comes back on slides 10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When f is a simulation or an energy from a program, there are no formulas for the second derivatives. Estimate them from values of f.
The test function has the exact Hessian [[2, 2], [2, 1]] at (1, 0), so the error can be measured.
Click 1: the chart. The error falls like h² down to h = 1e-4 and then rises again.
Click 2: why. Truncation error falls with h, rounding error grows as 1/h². The two balance near the fourth root of machine epsilon.
Click 3: the cost. The code makes 4 evaluations for each entry on or above the diagonal: 2n(n+1) in all. That grows with the square of the number of variables.
Code: hessian_fd in L08_hessian.py.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eigenvalue route, which is what the notes use: a symmetric matrix has real eigenvalues, so compute them and read the signs.
eigvalsh is the routine for symmetric matrices. It returns real numbers in ascending order, so the first entry is the smallest.
Click 1: matrices (a) and (d) of slide 3, and between them the free-free second difference matrix, which is semi-definite: its exact eigenvalues are 0, 1, 3.
Click 2: the finite-difference Hessians of slide 8's function at its two critical points.
Click 3: the warning. The computed zero is 3.9e-17 on this machine and could as well be negative. Never test an eigenvalue against exact zero. For a finite-difference Hessian the error in H sets the size of a computed zero: 7e-6 for the three atoms of slide 21.
eigvalsh assumes symmetry and reads only one triangle of the matrix. The tolerance in classify is relative: 1e-6 times the largest eigenvalue in size.
Code: classify in L08_hessian.py.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Hessian is not only a test, it is also a tool for finding the minimum.
Replace f near the current point by its quadratic model. If H is positive definite the model is a bowl, and its lowest point solves H s = -grad f. One linear system per step.
Click 1: the iteration.
Click 2: the numbers for slide 8's function from (2, 1). x2 is 0 after one step, because f is exactly quadratic in x2.
Click 3: the error on a log scale, against gradient descent with a fixed step 0.1.
Click 4: the count. Newton is below 1e-7 after 4 steps and at rounding level after 5. Gradient descent with step 0.1 first gets below 1e-8 at step 83.
(1, 0) is a local minimum only: f goes to minus infinity as x1 does.
The price: Newton needs the Hessian and a linear solve at every step.
Code: newton and descent in L08_hessian.py.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same function, a different start. At (-0.5, 1) the Hessian is diag(-3, 2): indefinite.
Click 1: the quadratic model is then a saddle, and solving H s = -grad f finds the model's saddle point. Newton goes left and converges, fast, to the saddle of f.
Click 2: gradient descent uses no Hessian. It goes downhill and arrives at the minimum, slowly.
Click 3: the repair. Add a multiple of the identity so that every eigenvalue is positive. Here the smallest eigenvalue is -3 and the shift is 4, which lifts it to 1. After that first step H is positive definite along the path and the shift is zero. The method reaches the local minimum, with error below 1e-8 after 5 steps.
This is why optimisation codes care about definiteness. Adding delta*I adds delta to every eigenvalue and leaves the eigenvectors alone.
Code: newton_shifted in L08_hessian.py.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Eight examples in three fields. Each of the next slides stands alone and takes 1.5 to 2 minutes. If time is short, keep 14 (oscillators, which is Example 3.5 of the notes), 17 (buckling) and 20 (transition states).
The pattern to point out on every one: a scalar function, a point where its gradient is zero, and the signs of the Hessian eigenvalues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Example 3.5 of the notes. V is a sum of five squares, so it is positive definite by inspection; the Hessian says the same.
Click 1: the Hessian and its eigenvalues 1, 2, 4. All positive, so the origin is a minimum of V: a stable equilibrium.
Click 2: with unit masses the equations of motion are x'' = -Hx, so each eigenvector oscillates at the frequency sqrt(lambda). The shapes: all together (the joining springs do nothing), ends opposed, middle against the ends.
Click 3: quantum mechanics. Each mode is an independent oscillator with lowest energy hbar*omega/2, so the lowest total energy is 2.21 hbar and not zero.
Click 4: what a negative eigenvalue would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 stable resting point for a charge needs a minimum of its potential energy, so a positive definite Hessian. Laplace's equation says the trace of the Hessian of the potential is zero.
Click 1: the trace is the sum of the eigenvalues. If one is positive another is negative, so the point is a saddle. (If all three are zero the test is silent, but a solution of Laplace's equation has no local minimum in any case.) This is Earnshaw's theorem. It is about electrostatic fields alone: a Penning trap adds a static magnetic field.
Click 2: the standard example, with eigenvalues 2, 2, -4: confining in x and y, expelling along z.
Click 3: the way out is to make the field oscillate, so that the saddle flips sign. The equation is for one axis in scaled time; q grows with the field strength and falls with the square of its frequency. Chart: a static saddle expels the charge at once (red; u = 7.35 already at tau = 3), the oscillating one with q = 0.4 holds it (navy; |u| stays near 1.5 at most).
Click 4: the stability limit 0.908 is computed in the script from the one-period map. Paul and Dehmelt shared half of the 1989 Nobel Prize for the ion trap technique; Ramsey received the other half.
Trapped ions are now clocks and quantum computers. Optional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 thin lens multiplies the field by exp(ikW) with W quadratic in the position on the lens. For a perfect lens of focal length f, W = -|x|²/(2f). In general the quadratic form has a symmetric matrix F: the matrix of powers, in dioptres (1/m).
Click 1: the example. F is the matrix from Lectures 6 and 7.
Click 2: eigenvalues 4 and 2 dioptres, along (1, 1) and (1, -1): the principal meridians of the lens, at right angles because F is symmetric.
Click 3: a ray entering parallel at x leaves with slope -Fx. At distance z the beam is the image of the aperture under I - zF. That matrix is singular at z = 1/4 and z = 1/2: two line foci, each along the other meridian. At z = 1/3 it is -(1/3) times a reflection: a round spot.
Click 4: definiteness. Click 5: the optometrist writes the same matrix as sphere, cylinder and axis. In minus-cylinder form, which is the more usual one, the same lens is +4.00 / -2.00 x 45.
Optional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smallest model of a column: two rigid links, a rotational spring at the base and at the joint, a dead load on top. theta1 and theta2 are the angles of the links from the vertical.
The energy is spring energy minus the work of the load, which is P times the distance the top comes down.
Click 1: the Hessian at the straight position. The first matrix is the fixed-free second difference matrix; the load subtracts PL times the identity.
Click 2: the smallest eigenvalue of the first matrix is (3 - sqrt 5)/2 = 0.382, so H is positive definite exactly while PL/k &lt; 0.382. That is the critical load.
Click 3: the energy below and above the critical load. Below: one bowl. Above: the straight column is a saddle and two buckled minima appear on either side. At PL/k = 0.6 they are far out, at 65 and 99 degrees, because this load is 57% above critical.
Real columns: the same calculation with a stiffness matrix K and a geometric stiffness matrix, and the critical load is a generalised eigenvalue.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 preview of least squares, which comes back later in the course. The misfit is a function of the two parameters, and it is a quadratic form plus lower-order terms.
Click 1: its Hessian is 2AᵀA, the same at every point. Both eigenvalues are positive, so the misfit is a bowl with one lowest point, at c = (1.04, 1.99).
Click 2: the inverse of the Hessian gives the uncertainty. The bowl is about 22 times more curved along one eigenvector than along the other (67.02 / 2.98); the shallow direction is the combination of intercept and slope that the data determine least well.
Click 3: the error bars, and the fitted line on the left plot. s² = 0.107/3 is the residual sum of squares over (5 points - 2 parameters). numpy.polyfit(t, y, 1, cov=True) returns the same numbers.
Optional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simplest Hessian in chemistry is 1 × 1. The energy of a diatomic molecule as a function of bond length has a minimum at r_e, and near it the curve is a parabola with curvature k.
The molecule vibrates at omega = sqrt(k/mu). Spectroscopy gives the wavenumber, so k follows from it. The values used are the harmonic wavenumbers, which are the observed lines corrected for anharmonicity.
Click 1: four molecules. H2 and HCl are single bonds; CO and N2 are triple bonds.
Click 2: the pattern. Stiffness tracks bond order.
Wavenumbers used (harmonic values): H2 4401, HCl 2991, CO 2170, N2 2359 per cm. HCl by hand: mu = 0.9796 u, k = mu (2 pi c nu)² = 516 N/m.
For scale: a car suspension spring is of order 20 000 N/m. A single bond is a few percent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 reaction is a path on an energy surface from one minimum to another, over the lowest pass between them. The pass is a critical point too. What kind?
The three critical points are (1, 0), (-1, 0) and (0, 0); the picture shows them unlabelled until click 2.
Click 1: at (1, 0) and (-1, 0) the Hessian is diag(8, 2), positive definite.
Click 2: at the origin it is diag(-4, 2). One negative eigenvalue: a maximum along the reaction direction, a minimum across it. The labels appear on the picture.
Click 3: this count is how quantum chemistry programs label every stationary geometry they find.
Click 4: ammonia. The nitrogen sits above or below the plane of the three hydrogens: two mirror-image minima. The planar molecule is the transition state, 24.2 kJ/mol higher. Lecture 7 used this double well for the tunnelling splitting at 23.87 GHz.
The eigenvector of the negative eigenvalue points along the reaction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Three atoms, nine coordinates. The energy is the sum of three Lennard-Jones pair energies; the minimum is an equilateral triangle with side 2^(1/6) sigma and energy -3 epsilon.
Click 1: the eigenvalues of the 9 × 9 finite-difference Hessian. Six are zero, three are positive.
Click 2: the six zeros are the motions that change no distance: three translations, three rotations. H is positive semi-definite, and the triangle is a minimum once those are set aside. On the computer the six zeros come out as large as 7e-6, and classify, with its relative tolerance, returns semi-definite. The three positive ones are the vibrations: a degenerate pair at 85.72 and the breathing mode at 171.44, in units of epsilon/sigma². These are 1.5 k and 3 k with k = 57.15 the stiffness of one pair.
Click 3: the same count for water, with the observed wavenumbers. And finding the geometry in the first place is Newton's method from slide 11, usually with an approximate Hessian that is updated from gradients (quasi-Newton).
Units: epsilon and sigma are the depth and the length scale of the pair energy. Optional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One table for the whole second half. Read one or two rows, not all six.
The last column is the reason to compute the eigenvalues and not only their signs: they are frequencies, powers, margins, uncertainties.
Next: the notes go on to the symmetric part of a matrix and to the pivot and eigenvalue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or as an exit ticket. Each click shows one answer.
1. Saddle. The matrix is diagonal, so the eigenvalues are 2 and -1.
2. Saddle. H = [[2, 3], [3, 2]] has eigenvalues -1 and 5. Check: f(1, -1) = 1 - 3 + 1 = -1 &lt; 0, f(1, 1) = 5 &gt; 0.
3. -4. The trace of the Hessian of a potential in empty space is zero, so 3 + 1 + x = 0.
4. 12 × 12, with 6 zero eigenvalues. The other 3N - 6 = 6 are vibrations.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9 and 10. hessian_fd makes 4 evaluations of f for each entry on or above the diagonal. classify reads the eigenvalues from eigvalsh, with a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11 and 12. newton solves H s = -grad f at every step. newton_shifted first lifts the smallest eigenvalue of H to at least 1. descent uses the gradient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of python3 L08_hessian.py (left) and python3 L08_applications.py (right, long lines wrapped). The computed numbers of slides 11 to 21 appear here, and so does the error table of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14 and 16. The oscillator Hessian is computed by finite differences from V, not typed in. The eigenvalues of F are the principal powers of the lens; prescription builds the power matrix from sphere, cylinder and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rk4 is the classical Runge-Kutta method. trap_path gives the curves of the chart. mathieu_trace integrates one period for both unit initial conditions; |trace| &lt; 2 means bounded motion, and q_limit finds where that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17 and 18. The column Hessian is T2 - (PL/k) I. buckled finds a buckled equilibrium by Newton's method with the finite-difference Hessian. The fit uses the normal equations.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Slides 19 to 21. stiffness converts a wavenumber in 1/cm to a force constant in N/m. surface is the double well. lj is the energy of three Lennard-Jones atoms and tri is the equilateral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08 Titl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051560"/>
            <a:ext cx="10515600" cy="365760"/>
          </a:xfrm>
          <a:prstGeom prst="rect">
            <a:avLst/>
          </a:prstGeom>
          <a:noFill/>
          <a:ln/>
        </p:spPr>
        <p:txBody>
          <a:bodyPr wrap="square" lIns="0" tIns="0" rIns="0" bIns="0" rtlCol="0" anchor="ctr"/>
          <a:lstStyle/>
          <a:p>
            <a:pPr indent="0" marL="0">
              <a:buNone/>
            </a:pPr>
            <a:r>
              <a:rPr lang="en-US" sz="1500" dirty="0">
                <a:solidFill>
                  <a:schemeClr val="accent4"/>
                </a:solidFill>
              </a:rPr>
              <a:t>18.085  ·  Computational Science and Engineering I  ·  Fall 2026</a:t>
            </a:r>
            <a:endParaRPr lang="en-US" sz="1500" dirty="0"/>
          </a:p>
        </p:txBody>
      </p:sp>
      <p:sp>
        <p:nvSpPr>
          <p:cNvPr id="3" name="Text 1"/>
          <p:cNvSpPr/>
          <p:nvPr>
            <p:ph idx="101" type="title" hasCustomPrompt="1"/>
          </p:nvPr>
        </p:nvSpPr>
        <p:spPr>
          <a:xfrm>
            <a:off x="822960" y="1600200"/>
            <a:ext cx="10515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822960" y="3520440"/>
            <a:ext cx="10515600" cy="41148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08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612648" y="6464808"/>
            <a:ext cx="7315200" cy="274320"/>
          </a:xfrm>
          <a:prstGeom prst="rect">
            <a:avLst/>
          </a:prstGeom>
          <a:noFill/>
          <a:ln/>
        </p:spPr>
        <p:txBody>
          <a:bodyPr wrap="square" lIns="0" tIns="0" rIns="0" bIns="0" rtlCol="0" anchor="ctr"/>
          <a:lstStyle/>
          <a:p>
            <a:pPr indent="0" marL="0">
              <a:buNone/>
            </a:pPr>
            <a:r>
              <a:rPr lang="en-US" sz="1000" dirty="0">
                <a:solidFill>
                  <a:schemeClr val="tx2"/>
                </a:solidFill>
              </a:rPr>
              <a:t>18.085  ·  Lecture 8  ·  Positive definite matrices and the Hessian</a:t>
            </a:r>
            <a:endParaRPr lang="en-US" sz="1000" dirty="0"/>
          </a:p>
        </p:txBody>
      </p:sp>
      <p:sp>
        <p:nvSpPr>
          <p:cNvPr id="2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6" Type="http://schemas.openxmlformats.org/officeDocument/2006/relationships/chart" Target="/ppt/charts/chart3.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3.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19-1.png"/><Relationship Id="rId2" Type="http://schemas.openxmlformats.org/officeDocument/2006/relationships/image" Target="../media/image-19-2.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chart" Target="/ppt/charts/chart5.xml"/><Relationship Id="rId1" Type="http://schemas.openxmlformats.org/officeDocument/2006/relationships/image" Target="../media/image-21-1.png"/><Relationship Id="rId2"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822960" y="1600200"/>
            <a:ext cx="10515600" cy="1737360"/>
          </a:xfrm>
          <a:prstGeom prst="rect">
            <a:avLst/>
          </a:prstGeom>
          <a:noFill/>
          <a:ln/>
        </p:spPr>
        <p:txBody>
          <a:bodyPr wrap="square" lIns="0" tIns="0" rIns="0" bIns="0" rtlCol="0" anchor="t"/>
          <a:lstStyle/>
          <a:p>
            <a:pPr algn="l" indent="0" marL="0">
              <a:buNone/>
            </a:pPr>
            <a:r>
              <a:rPr lang="en-US" sz="4400" b="1" dirty="0">
                <a:solidFill>
                  <a:schemeClr val="bg1"/>
                </a:solidFill>
              </a:rPr>
              <a:t>Positive definite matrices</a:t>
            </a:r>
            <a:endParaRPr lang="en-US" sz="4400" dirty="0"/>
          </a:p>
          <a:p>
            <a:pPr algn="l" indent="0" marL="0">
              <a:buNone/>
            </a:pPr>
            <a:r>
              <a:rPr lang="en-US" sz="4400" b="1" dirty="0">
                <a:solidFill>
                  <a:schemeClr val="bg1"/>
                </a:solidFill>
              </a:rPr>
              <a:t>and the Hessian</a:t>
            </a:r>
            <a:endParaRPr lang="en-US" sz="4400" dirty="0"/>
          </a:p>
        </p:txBody>
      </p:sp>
      <p:sp>
        <p:nvSpPr>
          <p:cNvPr id="3" name="Text 1"/>
          <p:cNvSpPr/>
          <p:nvPr>
            <p:ph idx="102" type="body" hasCustomPrompt="1"/>
          </p:nvPr>
        </p:nvSpPr>
        <p:spPr>
          <a:xfrm>
            <a:off x="822960" y="3520440"/>
            <a:ext cx="10515600" cy="411480"/>
          </a:xfrm>
          <a:prstGeom prst="rect">
            <a:avLst/>
          </a:prstGeom>
          <a:noFill/>
          <a:ln/>
        </p:spPr>
        <p:txBody>
          <a:bodyPr wrap="square" lIns="0" tIns="0" rIns="0" bIns="0" rtlCol="0" anchor="t"/>
          <a:lstStyle/>
          <a:p>
            <a:pPr algn="l" indent="0" marL="0">
              <a:buNone/>
            </a:pPr>
            <a:r>
              <a:rPr lang="en-US" sz="1800" dirty="0">
                <a:solidFill>
                  <a:schemeClr val="bg1"/>
                </a:solidFill>
              </a:rPr>
              <a:t>Lecture 8  ·  the energy xᵀMx  ·  the second derivative test  ·  Newton's method</a:t>
            </a:r>
            <a:endParaRPr lang="en-US" sz="1800" dirty="0"/>
          </a:p>
        </p:txBody>
      </p:sp>
      <p:sp>
        <p:nvSpPr>
          <p:cNvPr id="4" name="t-1"/>
          <p:cNvSpPr txBox="1"/>
          <p:nvPr/>
        </p:nvSpPr>
        <p:spPr>
          <a:xfrm>
            <a:off x="822960" y="4023360"/>
            <a:ext cx="10515600" cy="320040"/>
          </a:xfrm>
          <a:prstGeom prst="rect">
            <a:avLst/>
          </a:prstGeom>
          <a:noFill/>
          <a:ln/>
        </p:spPr>
        <p:txBody>
          <a:bodyPr wrap="square" lIns="0" tIns="0" rIns="0" bIns="0" rtlCol="0" anchor="ctr"/>
          <a:lstStyle/>
          <a:p>
            <a:pPr indent="0" marL="0">
              <a:buNone/>
            </a:pPr>
            <a:r>
              <a:rPr lang="en-US" sz="1500" dirty="0">
                <a:solidFill>
                  <a:schemeClr val="accent4"/>
                </a:solidFill>
              </a:rPr>
              <a:t>Monday 5 October 2026</a:t>
            </a:r>
            <a:endParaRPr lang="en-US" sz="1500" dirty="0"/>
          </a:p>
        </p:txBody>
      </p:sp>
      <p:sp>
        <p:nvSpPr>
          <p:cNvPr id="5" name="t-2"/>
          <p:cNvSpPr txBox="1"/>
          <p:nvPr/>
        </p:nvSpPr>
        <p:spPr>
          <a:xfrm>
            <a:off x="822960" y="4892040"/>
            <a:ext cx="10515600" cy="274320"/>
          </a:xfrm>
          <a:prstGeom prst="rect">
            <a:avLst/>
          </a:prstGeom>
          <a:noFill/>
          <a:ln/>
        </p:spPr>
        <p:txBody>
          <a:bodyPr wrap="square" lIns="0" tIns="0" rIns="0" bIns="0" rtlCol="0" anchor="ctr"/>
          <a:lstStyle/>
          <a:p>
            <a:pPr indent="0" marL="0">
              <a:buNone/>
            </a:pPr>
            <a:r>
              <a:rPr lang="en-US" sz="1300" b="1" dirty="0">
                <a:solidFill>
                  <a:schemeClr val="accent4"/>
                </a:solidFill>
              </a:rPr>
              <a:t>Where it shows up today</a:t>
            </a:r>
            <a:endParaRPr lang="en-US" sz="1300" dirty="0"/>
          </a:p>
        </p:txBody>
      </p:sp>
      <p:pic>
        <p:nvPicPr>
          <p:cNvPr id="6" name="icon-3" descr="Physics icon">    </p:cNvPr>
          <p:cNvPicPr>
            <a:picLocks noChangeAspect="1"/>
          </p:cNvPicPr>
          <p:nvPr/>
        </p:nvPicPr>
        <p:blipFill>
          <a:blip r:embed="rId1"/>
          <a:stretch>
            <a:fillRect/>
          </a:stretch>
        </p:blipFill>
        <p:spPr>
          <a:xfrm>
            <a:off x="822960" y="5349240"/>
            <a:ext cx="411480" cy="411480"/>
          </a:xfrm>
          <a:prstGeom prst="rect">
            <a:avLst/>
          </a:prstGeom>
        </p:spPr>
      </p:pic>
      <p:sp>
        <p:nvSpPr>
          <p:cNvPr id="7" name="t-4"/>
          <p:cNvSpPr txBox="1"/>
          <p:nvPr/>
        </p:nvSpPr>
        <p:spPr>
          <a:xfrm>
            <a:off x="1389888" y="5349240"/>
            <a:ext cx="1920240" cy="411480"/>
          </a:xfrm>
          <a:prstGeom prst="rect">
            <a:avLst/>
          </a:prstGeom>
          <a:noFill/>
          <a:ln/>
        </p:spPr>
        <p:txBody>
          <a:bodyPr wrap="square" lIns="0" tIns="0" rIns="0" bIns="0" rtlCol="0" anchor="ctr"/>
          <a:lstStyle/>
          <a:p>
            <a:pPr indent="0" marL="0">
              <a:buNone/>
            </a:pPr>
            <a:r>
              <a:rPr lang="en-US" sz="1400" dirty="0">
                <a:solidFill>
                  <a:schemeClr val="bg1"/>
                </a:solidFill>
              </a:rPr>
              <a:t>Physics</a:t>
            </a:r>
            <a:endParaRPr lang="en-US" sz="1400" dirty="0"/>
          </a:p>
        </p:txBody>
      </p:sp>
      <p:pic>
        <p:nvPicPr>
          <p:cNvPr id="8" name="icon-5" descr="Engineering icon">    </p:cNvPr>
          <p:cNvPicPr>
            <a:picLocks noChangeAspect="1"/>
          </p:cNvPicPr>
          <p:nvPr/>
        </p:nvPicPr>
        <p:blipFill>
          <a:blip r:embed="rId2"/>
          <a:stretch>
            <a:fillRect/>
          </a:stretch>
        </p:blipFill>
        <p:spPr>
          <a:xfrm>
            <a:off x="3337560" y="5349240"/>
            <a:ext cx="411480" cy="411480"/>
          </a:xfrm>
          <a:prstGeom prst="rect">
            <a:avLst/>
          </a:prstGeom>
        </p:spPr>
      </p:pic>
      <p:sp>
        <p:nvSpPr>
          <p:cNvPr id="9" name="t-6"/>
          <p:cNvSpPr txBox="1"/>
          <p:nvPr/>
        </p:nvSpPr>
        <p:spPr>
          <a:xfrm>
            <a:off x="3904488" y="5349240"/>
            <a:ext cx="1920240" cy="411480"/>
          </a:xfrm>
          <a:prstGeom prst="rect">
            <a:avLst/>
          </a:prstGeom>
          <a:noFill/>
          <a:ln/>
        </p:spPr>
        <p:txBody>
          <a:bodyPr wrap="square" lIns="0" tIns="0" rIns="0" bIns="0" rtlCol="0" anchor="ctr"/>
          <a:lstStyle/>
          <a:p>
            <a:pPr indent="0" marL="0">
              <a:buNone/>
            </a:pPr>
            <a:r>
              <a:rPr lang="en-US" sz="1400" dirty="0">
                <a:solidFill>
                  <a:schemeClr val="bg1"/>
                </a:solidFill>
              </a:rPr>
              <a:t>Engineering</a:t>
            </a:r>
            <a:endParaRPr lang="en-US" sz="1400" dirty="0"/>
          </a:p>
        </p:txBody>
      </p:sp>
      <p:pic>
        <p:nvPicPr>
          <p:cNvPr id="10" name="icon-7" descr="Chemistry icon">    </p:cNvPr>
          <p:cNvPicPr>
            <a:picLocks noChangeAspect="1"/>
          </p:cNvPicPr>
          <p:nvPr/>
        </p:nvPicPr>
        <p:blipFill>
          <a:blip r:embed="rId3"/>
          <a:stretch>
            <a:fillRect/>
          </a:stretch>
        </p:blipFill>
        <p:spPr>
          <a:xfrm>
            <a:off x="5852160" y="5349240"/>
            <a:ext cx="411480" cy="411480"/>
          </a:xfrm>
          <a:prstGeom prst="rect">
            <a:avLst/>
          </a:prstGeom>
        </p:spPr>
      </p:pic>
      <p:sp>
        <p:nvSpPr>
          <p:cNvPr id="11" name="t-8"/>
          <p:cNvSpPr txBox="1"/>
          <p:nvPr/>
        </p:nvSpPr>
        <p:spPr>
          <a:xfrm>
            <a:off x="6419088" y="5349240"/>
            <a:ext cx="1920240" cy="411480"/>
          </a:xfrm>
          <a:prstGeom prst="rect">
            <a:avLst/>
          </a:prstGeom>
          <a:noFill/>
          <a:ln/>
        </p:spPr>
        <p:txBody>
          <a:bodyPr wrap="square" lIns="0" tIns="0" rIns="0" bIns="0" rtlCol="0" anchor="ctr"/>
          <a:lstStyle/>
          <a:p>
            <a:pPr indent="0" marL="0">
              <a:buNone/>
            </a:pPr>
            <a:r>
              <a:rPr lang="en-US" sz="1400" dirty="0">
                <a:solidFill>
                  <a:schemeClr val="bg1"/>
                </a:solidFill>
              </a:rPr>
              <a:t>Chemistry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Today: one definition, one matrix, many uses</a:t>
            </a:r>
            <a:endParaRPr lang="en-US" sz="2800" dirty="0"/>
          </a:p>
        </p:txBody>
      </p:sp>
      <p:sp>
        <p:nvSpPr>
          <p:cNvPr id="3" name="box-9"/>
          <p:cNvSpPr/>
          <p:nvPr/>
        </p:nvSpPr>
        <p:spPr>
          <a:xfrm>
            <a:off x="612648" y="1325880"/>
            <a:ext cx="2578608" cy="3520440"/>
          </a:xfrm>
          <a:prstGeom prst="roundRect">
            <a:avLst>
              <a:gd name="adj" fmla="val 2128"/>
            </a:avLst>
          </a:prstGeom>
          <a:solidFill>
            <a:schemeClr val="bg2"/>
          </a:solidFill>
          <a:ln/>
        </p:spPr>
      </p:sp>
      <p:sp>
        <p:nvSpPr>
          <p:cNvPr id="4" name="badge-10"/>
          <p:cNvSpPr/>
          <p:nvPr/>
        </p:nvSpPr>
        <p:spPr>
          <a:xfrm>
            <a:off x="841248" y="1554480"/>
            <a:ext cx="457200" cy="457200"/>
          </a:xfrm>
          <a:prstGeom prst="ellipse">
            <a:avLst/>
          </a:prstGeom>
          <a:solidFill>
            <a:schemeClr val="tx1"/>
          </a:solidFill>
          <a:ln/>
        </p:spPr>
      </p:sp>
      <p:sp>
        <p:nvSpPr>
          <p:cNvPr id="5" name="t-11"/>
          <p:cNvSpPr txBox="1"/>
          <p:nvPr/>
        </p:nvSpPr>
        <p:spPr>
          <a:xfrm>
            <a:off x="841248"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12"/>
          <p:cNvSpPr txBox="1"/>
          <p:nvPr/>
        </p:nvSpPr>
        <p:spPr>
          <a:xfrm>
            <a:off x="841248" y="2221992"/>
            <a:ext cx="2121408" cy="320040"/>
          </a:xfrm>
          <a:prstGeom prst="rect">
            <a:avLst/>
          </a:prstGeom>
          <a:noFill/>
          <a:ln/>
        </p:spPr>
        <p:txBody>
          <a:bodyPr wrap="square" lIns="0" tIns="0" rIns="0" bIns="0" rtlCol="0" anchor="t"/>
          <a:lstStyle/>
          <a:p>
            <a:pPr algn="l" indent="0" marL="0">
              <a:buNone/>
            </a:pPr>
            <a:r>
              <a:rPr lang="en-US" sz="1600" b="1" dirty="0">
                <a:solidFill>
                  <a:schemeClr val="tx1"/>
                </a:solidFill>
              </a:rPr>
              <a:t>Positive definite</a:t>
            </a:r>
            <a:endParaRPr lang="en-US" sz="1600" dirty="0"/>
          </a:p>
        </p:txBody>
      </p:sp>
      <p:pic>
        <p:nvPicPr>
          <p:cNvPr id="7" name="eq-13" descr="\vc{x}\T\mat{M}\vc{x} &gt; 0">    </p:cNvPr>
          <p:cNvPicPr>
            <a:picLocks noChangeAspect="1"/>
          </p:cNvPicPr>
          <p:nvPr/>
        </p:nvPicPr>
        <p:blipFill>
          <a:blip r:embed="rId1"/>
          <a:stretch>
            <a:fillRect/>
          </a:stretch>
        </p:blipFill>
        <p:spPr>
          <a:xfrm>
            <a:off x="841248" y="2982087"/>
            <a:ext cx="1076706" cy="253746"/>
          </a:xfrm>
          <a:prstGeom prst="rect">
            <a:avLst/>
          </a:prstGeom>
        </p:spPr>
      </p:pic>
      <p:sp>
        <p:nvSpPr>
          <p:cNvPr id="8" name="t-14"/>
          <p:cNvSpPr txBox="1"/>
          <p:nvPr/>
        </p:nvSpPr>
        <p:spPr>
          <a:xfrm>
            <a:off x="841248" y="3703320"/>
            <a:ext cx="2121408" cy="1005840"/>
          </a:xfrm>
          <a:prstGeom prst="rect">
            <a:avLst/>
          </a:prstGeom>
          <a:noFill/>
          <a:ln/>
        </p:spPr>
        <p:txBody>
          <a:bodyPr wrap="square" lIns="0" tIns="0" rIns="0" bIns="0" rtlCol="0" anchor="t"/>
          <a:lstStyle/>
          <a:p>
            <a:pPr algn="l" indent="0" marL="0">
              <a:buNone/>
            </a:pPr>
            <a:r>
              <a:rPr lang="en-US" sz="1400" dirty="0">
                <a:solidFill>
                  <a:schemeClr val="tx2"/>
                </a:solidFill>
              </a:rPr>
              <a:t>A symmetric matrix whose energy is positive for every non-zero x.</a:t>
            </a:r>
            <a:endParaRPr lang="en-US" sz="1400" dirty="0"/>
          </a:p>
        </p:txBody>
      </p:sp>
      <p:sp>
        <p:nvSpPr>
          <p:cNvPr id="9" name="box-15"/>
          <p:cNvSpPr/>
          <p:nvPr/>
        </p:nvSpPr>
        <p:spPr>
          <a:xfrm>
            <a:off x="3410712" y="1325880"/>
            <a:ext cx="2578608" cy="3520440"/>
          </a:xfrm>
          <a:prstGeom prst="roundRect">
            <a:avLst>
              <a:gd name="adj" fmla="val 2128"/>
            </a:avLst>
          </a:prstGeom>
          <a:solidFill>
            <a:schemeClr val="bg2"/>
          </a:solidFill>
          <a:ln/>
        </p:spPr>
      </p:sp>
      <p:sp>
        <p:nvSpPr>
          <p:cNvPr id="10" name="badge-16"/>
          <p:cNvSpPr/>
          <p:nvPr/>
        </p:nvSpPr>
        <p:spPr>
          <a:xfrm>
            <a:off x="3639312" y="1554480"/>
            <a:ext cx="457200" cy="457200"/>
          </a:xfrm>
          <a:prstGeom prst="ellipse">
            <a:avLst/>
          </a:prstGeom>
          <a:solidFill>
            <a:schemeClr val="tx1"/>
          </a:solidFill>
          <a:ln/>
        </p:spPr>
      </p:sp>
      <p:sp>
        <p:nvSpPr>
          <p:cNvPr id="11" name="t-17"/>
          <p:cNvSpPr txBox="1"/>
          <p:nvPr/>
        </p:nvSpPr>
        <p:spPr>
          <a:xfrm>
            <a:off x="3639312"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18"/>
          <p:cNvSpPr txBox="1"/>
          <p:nvPr/>
        </p:nvSpPr>
        <p:spPr>
          <a:xfrm>
            <a:off x="3639312" y="2221992"/>
            <a:ext cx="2121408" cy="320040"/>
          </a:xfrm>
          <a:prstGeom prst="rect">
            <a:avLst/>
          </a:prstGeom>
          <a:noFill/>
          <a:ln/>
        </p:spPr>
        <p:txBody>
          <a:bodyPr wrap="square" lIns="0" tIns="0" rIns="0" bIns="0" rtlCol="0" anchor="t"/>
          <a:lstStyle/>
          <a:p>
            <a:pPr algn="l" indent="0" marL="0">
              <a:buNone/>
            </a:pPr>
            <a:r>
              <a:rPr lang="en-US" sz="1600" b="1" dirty="0">
                <a:solidFill>
                  <a:schemeClr val="tx1"/>
                </a:solidFill>
              </a:rPr>
              <a:t>The Hessian</a:t>
            </a:r>
            <a:endParaRPr lang="en-US" sz="1600" dirty="0"/>
          </a:p>
        </p:txBody>
      </p:sp>
      <p:pic>
        <p:nvPicPr>
          <p:cNvPr id="13" name="eq-19" descr="H_{ij} = \dfrac{\partial^2 f}{\partial x_i\,\partial x_j}">    </p:cNvPr>
          <p:cNvPicPr>
            <a:picLocks noChangeAspect="1"/>
          </p:cNvPicPr>
          <p:nvPr/>
        </p:nvPicPr>
        <p:blipFill>
          <a:blip r:embed="rId2"/>
          <a:stretch>
            <a:fillRect/>
          </a:stretch>
        </p:blipFill>
        <p:spPr>
          <a:xfrm>
            <a:off x="3639312" y="2843784"/>
            <a:ext cx="1094994" cy="530352"/>
          </a:xfrm>
          <a:prstGeom prst="rect">
            <a:avLst/>
          </a:prstGeom>
        </p:spPr>
      </p:pic>
      <p:sp>
        <p:nvSpPr>
          <p:cNvPr id="14" name="t-20"/>
          <p:cNvSpPr txBox="1"/>
          <p:nvPr/>
        </p:nvSpPr>
        <p:spPr>
          <a:xfrm>
            <a:off x="3639312" y="3703320"/>
            <a:ext cx="2121408" cy="1005840"/>
          </a:xfrm>
          <a:prstGeom prst="rect">
            <a:avLst/>
          </a:prstGeom>
          <a:noFill/>
          <a:ln/>
        </p:spPr>
        <p:txBody>
          <a:bodyPr wrap="square" lIns="0" tIns="0" rIns="0" bIns="0" rtlCol="0" anchor="t"/>
          <a:lstStyle/>
          <a:p>
            <a:pPr algn="l" indent="0" marL="0">
              <a:buNone/>
            </a:pPr>
            <a:r>
              <a:rPr lang="en-US" sz="1400" dirty="0">
                <a:solidFill>
                  <a:schemeClr val="tx2"/>
                </a:solidFill>
              </a:rPr>
              <a:t>The symmetric matrix of all second derivatives of a function f.</a:t>
            </a:r>
            <a:endParaRPr lang="en-US" sz="1400" dirty="0"/>
          </a:p>
        </p:txBody>
      </p:sp>
      <p:sp>
        <p:nvSpPr>
          <p:cNvPr id="15" name="box-21"/>
          <p:cNvSpPr/>
          <p:nvPr/>
        </p:nvSpPr>
        <p:spPr>
          <a:xfrm>
            <a:off x="6208776" y="1325880"/>
            <a:ext cx="2578608" cy="3520440"/>
          </a:xfrm>
          <a:prstGeom prst="roundRect">
            <a:avLst>
              <a:gd name="adj" fmla="val 2128"/>
            </a:avLst>
          </a:prstGeom>
          <a:solidFill>
            <a:schemeClr val="bg2"/>
          </a:solidFill>
          <a:ln/>
        </p:spPr>
      </p:sp>
      <p:sp>
        <p:nvSpPr>
          <p:cNvPr id="16" name="badge-22"/>
          <p:cNvSpPr/>
          <p:nvPr/>
        </p:nvSpPr>
        <p:spPr>
          <a:xfrm>
            <a:off x="6437376" y="1554480"/>
            <a:ext cx="457200" cy="457200"/>
          </a:xfrm>
          <a:prstGeom prst="ellipse">
            <a:avLst/>
          </a:prstGeom>
          <a:solidFill>
            <a:schemeClr val="tx1"/>
          </a:solidFill>
          <a:ln/>
        </p:spPr>
      </p:sp>
      <p:sp>
        <p:nvSpPr>
          <p:cNvPr id="17" name="t-23"/>
          <p:cNvSpPr txBox="1"/>
          <p:nvPr/>
        </p:nvSpPr>
        <p:spPr>
          <a:xfrm>
            <a:off x="6437376"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24"/>
          <p:cNvSpPr txBox="1"/>
          <p:nvPr/>
        </p:nvSpPr>
        <p:spPr>
          <a:xfrm>
            <a:off x="6437376" y="2221992"/>
            <a:ext cx="2121408" cy="320040"/>
          </a:xfrm>
          <a:prstGeom prst="rect">
            <a:avLst/>
          </a:prstGeom>
          <a:noFill/>
          <a:ln/>
        </p:spPr>
        <p:txBody>
          <a:bodyPr wrap="square" lIns="0" tIns="0" rIns="0" bIns="0" rtlCol="0" anchor="t"/>
          <a:lstStyle/>
          <a:p>
            <a:pPr algn="l" indent="0" marL="0">
              <a:buNone/>
            </a:pPr>
            <a:r>
              <a:rPr lang="en-US" sz="1600" b="1" dirty="0">
                <a:solidFill>
                  <a:schemeClr val="tx1"/>
                </a:solidFill>
              </a:rPr>
              <a:t>On the computer</a:t>
            </a:r>
            <a:endParaRPr lang="en-US" sz="1600" dirty="0"/>
          </a:p>
        </p:txBody>
      </p:sp>
      <p:pic>
        <p:nvPicPr>
          <p:cNvPr id="19" name="eq-25" descr="\mat{H}\,\vc{s} = -\nabla f">    </p:cNvPr>
          <p:cNvPicPr>
            <a:picLocks noChangeAspect="1"/>
          </p:cNvPicPr>
          <p:nvPr/>
        </p:nvPicPr>
        <p:blipFill>
          <a:blip r:embed="rId3"/>
          <a:stretch>
            <a:fillRect/>
          </a:stretch>
        </p:blipFill>
        <p:spPr>
          <a:xfrm>
            <a:off x="6437376" y="2992374"/>
            <a:ext cx="1101852" cy="233172"/>
          </a:xfrm>
          <a:prstGeom prst="rect">
            <a:avLst/>
          </a:prstGeom>
        </p:spPr>
      </p:pic>
      <p:sp>
        <p:nvSpPr>
          <p:cNvPr id="20" name="t-26"/>
          <p:cNvSpPr txBox="1"/>
          <p:nvPr/>
        </p:nvSpPr>
        <p:spPr>
          <a:xfrm>
            <a:off x="6437376" y="3703320"/>
            <a:ext cx="2121408" cy="1005840"/>
          </a:xfrm>
          <a:prstGeom prst="rect">
            <a:avLst/>
          </a:prstGeom>
          <a:noFill/>
          <a:ln/>
        </p:spPr>
        <p:txBody>
          <a:bodyPr wrap="square" lIns="0" tIns="0" rIns="0" bIns="0" rtlCol="0" anchor="t"/>
          <a:lstStyle/>
          <a:p>
            <a:pPr algn="l" indent="0" marL="0">
              <a:buNone/>
            </a:pPr>
            <a:r>
              <a:rPr lang="en-US" sz="1400" dirty="0">
                <a:solidFill>
                  <a:schemeClr val="tx2"/>
                </a:solidFill>
              </a:rPr>
              <a:t>Finite differences, eigvalsh, and Newton's method.</a:t>
            </a:r>
            <a:endParaRPr lang="en-US" sz="1400" dirty="0"/>
          </a:p>
        </p:txBody>
      </p:sp>
      <p:sp>
        <p:nvSpPr>
          <p:cNvPr id="21" name="box-27"/>
          <p:cNvSpPr/>
          <p:nvPr/>
        </p:nvSpPr>
        <p:spPr>
          <a:xfrm>
            <a:off x="9006840" y="1325880"/>
            <a:ext cx="2578608" cy="3520440"/>
          </a:xfrm>
          <a:prstGeom prst="roundRect">
            <a:avLst>
              <a:gd name="adj" fmla="val 2128"/>
            </a:avLst>
          </a:prstGeom>
          <a:solidFill>
            <a:schemeClr val="bg2"/>
          </a:solidFill>
          <a:ln/>
        </p:spPr>
      </p:sp>
      <p:sp>
        <p:nvSpPr>
          <p:cNvPr id="22" name="badge-28"/>
          <p:cNvSpPr/>
          <p:nvPr/>
        </p:nvSpPr>
        <p:spPr>
          <a:xfrm>
            <a:off x="9235440" y="1554480"/>
            <a:ext cx="457200" cy="457200"/>
          </a:xfrm>
          <a:prstGeom prst="ellipse">
            <a:avLst/>
          </a:prstGeom>
          <a:solidFill>
            <a:schemeClr val="tx1"/>
          </a:solidFill>
          <a:ln/>
        </p:spPr>
      </p:sp>
      <p:sp>
        <p:nvSpPr>
          <p:cNvPr id="23" name="t-29"/>
          <p:cNvSpPr txBox="1"/>
          <p:nvPr/>
        </p:nvSpPr>
        <p:spPr>
          <a:xfrm>
            <a:off x="92354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30"/>
          <p:cNvSpPr txBox="1"/>
          <p:nvPr/>
        </p:nvSpPr>
        <p:spPr>
          <a:xfrm>
            <a:off x="9235440" y="2221992"/>
            <a:ext cx="2121408" cy="320040"/>
          </a:xfrm>
          <a:prstGeom prst="rect">
            <a:avLst/>
          </a:prstGeom>
          <a:noFill/>
          <a:ln/>
        </p:spPr>
        <p:txBody>
          <a:bodyPr wrap="square" lIns="0" tIns="0" rIns="0" bIns="0" rtlCol="0" anchor="t"/>
          <a:lstStyle/>
          <a:p>
            <a:pPr algn="l" indent="0" marL="0">
              <a:buNone/>
            </a:pPr>
            <a:r>
              <a:rPr lang="en-US" sz="1600" b="1" dirty="0">
                <a:solidFill>
                  <a:schemeClr val="tx1"/>
                </a:solidFill>
              </a:rPr>
              <a:t>Where it is used</a:t>
            </a:r>
            <a:endParaRPr lang="en-US" sz="1600" dirty="0"/>
          </a:p>
        </p:txBody>
      </p:sp>
      <p:pic>
        <p:nvPicPr>
          <p:cNvPr id="25" name="eq-31" descr="\omega_i = \sqrt{\lambda_i(\mat{H})}">    </p:cNvPr>
          <p:cNvPicPr>
            <a:picLocks noChangeAspect="1"/>
          </p:cNvPicPr>
          <p:nvPr/>
        </p:nvPicPr>
        <p:blipFill>
          <a:blip r:embed="rId4"/>
          <a:stretch>
            <a:fillRect/>
          </a:stretch>
        </p:blipFill>
        <p:spPr>
          <a:xfrm>
            <a:off x="9235440" y="2884932"/>
            <a:ext cx="1300734" cy="448056"/>
          </a:xfrm>
          <a:prstGeom prst="rect">
            <a:avLst/>
          </a:prstGeom>
        </p:spPr>
      </p:pic>
      <p:sp>
        <p:nvSpPr>
          <p:cNvPr id="26" name="t-32"/>
          <p:cNvSpPr txBox="1"/>
          <p:nvPr/>
        </p:nvSpPr>
        <p:spPr>
          <a:xfrm>
            <a:off x="9235440" y="3703320"/>
            <a:ext cx="2121408" cy="1005840"/>
          </a:xfrm>
          <a:prstGeom prst="rect">
            <a:avLst/>
          </a:prstGeom>
          <a:noFill/>
          <a:ln/>
        </p:spPr>
        <p:txBody>
          <a:bodyPr wrap="square" lIns="0" tIns="0" rIns="0" bIns="0" rtlCol="0" anchor="t"/>
          <a:lstStyle/>
          <a:p>
            <a:pPr algn="l" indent="0" marL="0">
              <a:buNone/>
            </a:pPr>
            <a:r>
              <a:rPr lang="en-US" sz="1400" dirty="0">
                <a:solidFill>
                  <a:schemeClr val="tx2"/>
                </a:solidFill>
              </a:rPr>
              <a:t>Stability, focusing, buckling, error bars, molecular vibrations.</a:t>
            </a:r>
            <a:endParaRPr lang="en-US" sz="1400" dirty="0"/>
          </a:p>
        </p:txBody>
      </p:sp>
      <p:sp>
        <p:nvSpPr>
          <p:cNvPr id="27" name="t-33"/>
          <p:cNvSpPr txBox="1"/>
          <p:nvPr/>
        </p:nvSpPr>
        <p:spPr>
          <a:xfrm>
            <a:off x="612648" y="5166360"/>
            <a:ext cx="10972800" cy="365760"/>
          </a:xfrm>
          <a:prstGeom prst="rect">
            <a:avLst/>
          </a:prstGeom>
          <a:noFill/>
          <a:ln/>
        </p:spPr>
        <p:txBody>
          <a:bodyPr wrap="square" lIns="0" tIns="0" rIns="0" bIns="0" rtlCol="0" anchor="t"/>
          <a:lstStyle/>
          <a:p>
            <a:pPr algn="l" indent="0" marL="0">
              <a:buNone/>
            </a:pPr>
            <a:r>
              <a:rPr lang="en-US" sz="1600" dirty="0">
                <a:solidFill>
                  <a:schemeClr val="tx1"/>
                </a:solidFill>
              </a:rPr>
              <a:t>The question behind every slide: </a:t>
            </a:r>
            <a:pPr algn="l" indent="0" marL="0">
              <a:buNone/>
            </a:pPr>
            <a:r>
              <a:rPr lang="en-US" sz="1600" b="1" dirty="0">
                <a:solidFill>
                  <a:schemeClr val="tx1"/>
                </a:solidFill>
              </a:rPr>
              <a:t>is this critical point a minimum?</a:t>
            </a:r>
            <a:endParaRPr lang="en-US" sz="1600" dirty="0"/>
          </a:p>
        </p:txBody>
      </p:sp>
      <p:sp>
        <p:nvSpPr>
          <p:cNvPr id="28" name="t-34"/>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These slides follow Sections 1 to 3 of the notes and stop at the Hessian.</a:t>
            </a:r>
            <a:endParaRPr lang="en-US" sz="1400" dirty="0"/>
          </a:p>
        </p:txBody>
      </p:sp>
      <p:sp>
        <p:nvSpPr>
          <p:cNvPr id="29"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Which of these matrices is positive definite?</a:t>
            </a:r>
            <a:endParaRPr lang="en-US" sz="2800" dirty="0"/>
          </a:p>
        </p:txBody>
      </p:sp>
      <p:sp>
        <p:nvSpPr>
          <p:cNvPr id="3" name="t-35"/>
          <p:cNvSpPr txBox="1"/>
          <p:nvPr/>
        </p:nvSpPr>
        <p:spPr>
          <a:xfrm>
            <a:off x="612648" y="1325880"/>
            <a:ext cx="4937760" cy="338328"/>
          </a:xfrm>
          <a:prstGeom prst="rect">
            <a:avLst/>
          </a:prstGeom>
          <a:noFill/>
          <a:ln/>
        </p:spPr>
        <p:txBody>
          <a:bodyPr wrap="square" lIns="0" tIns="0" rIns="0" bIns="0" rtlCol="0" anchor="ctr"/>
          <a:lstStyle/>
          <a:p>
            <a:pPr algn="l" indent="0" marL="0">
              <a:buNone/>
            </a:pPr>
            <a:r>
              <a:rPr lang="en-US" sz="1600" dirty="0">
                <a:solidFill>
                  <a:schemeClr val="tx1"/>
                </a:solidFill>
              </a:rPr>
              <a:t>A symmetric matrix M is positive definite when</a:t>
            </a:r>
            <a:endParaRPr lang="en-US" sz="1600" dirty="0"/>
          </a:p>
        </p:txBody>
      </p:sp>
      <p:pic>
        <p:nvPicPr>
          <p:cNvPr id="4" name="eq-36" descr="\vc{x}\T\mat{M}\vc{x} &gt; 0 \quad \text{for every } \vc{x} \neq \vc{0}">    </p:cNvPr>
          <p:cNvPicPr>
            <a:picLocks noChangeAspect="1"/>
          </p:cNvPicPr>
          <p:nvPr/>
        </p:nvPicPr>
        <p:blipFill>
          <a:blip r:embed="rId1"/>
          <a:stretch>
            <a:fillRect/>
          </a:stretch>
        </p:blipFill>
        <p:spPr>
          <a:xfrm>
            <a:off x="5486400" y="1325880"/>
            <a:ext cx="3415284" cy="338328"/>
          </a:xfrm>
          <a:prstGeom prst="rect">
            <a:avLst/>
          </a:prstGeom>
        </p:spPr>
      </p:pic>
      <p:sp>
        <p:nvSpPr>
          <p:cNvPr id="5" name="box-37"/>
          <p:cNvSpPr/>
          <p:nvPr/>
        </p:nvSpPr>
        <p:spPr>
          <a:xfrm>
            <a:off x="612648" y="2011680"/>
            <a:ext cx="2578608" cy="2743200"/>
          </a:xfrm>
          <a:prstGeom prst="roundRect">
            <a:avLst>
              <a:gd name="adj" fmla="val 2128"/>
            </a:avLst>
          </a:prstGeom>
          <a:solidFill>
            <a:schemeClr val="bg2"/>
          </a:solidFill>
          <a:ln/>
        </p:spPr>
      </p:sp>
      <p:sp>
        <p:nvSpPr>
          <p:cNvPr id="6" name="t-38"/>
          <p:cNvSpPr txBox="1"/>
          <p:nvPr/>
        </p:nvSpPr>
        <p:spPr>
          <a:xfrm>
            <a:off x="795528" y="2148840"/>
            <a:ext cx="548640" cy="274320"/>
          </a:xfrm>
          <a:prstGeom prst="rect">
            <a:avLst/>
          </a:prstGeom>
          <a:noFill/>
          <a:ln/>
        </p:spPr>
        <p:txBody>
          <a:bodyPr wrap="square" lIns="0" tIns="0" rIns="0" bIns="0" rtlCol="0" anchor="t"/>
          <a:lstStyle/>
          <a:p>
            <a:pPr algn="l" indent="0" marL="0">
              <a:buNone/>
            </a:pPr>
            <a:r>
              <a:rPr lang="en-US" sz="1400" b="1" dirty="0">
                <a:solidFill>
                  <a:schemeClr val="tx2"/>
                </a:solidFill>
              </a:rPr>
              <a:t>(a)</a:t>
            </a:r>
            <a:endParaRPr lang="en-US" sz="1400" dirty="0"/>
          </a:p>
        </p:txBody>
      </p:sp>
      <p:pic>
        <p:nvPicPr>
          <p:cNvPr id="7" name="eq-39" descr="\begin{bmatrix} 2 &amp; -1 \\ -1 &amp; 2\end{bmatrix}">    </p:cNvPr>
          <p:cNvPicPr>
            <a:picLocks noChangeAspect="1"/>
          </p:cNvPicPr>
          <p:nvPr/>
        </p:nvPicPr>
        <p:blipFill>
          <a:blip r:embed="rId2"/>
          <a:stretch>
            <a:fillRect/>
          </a:stretch>
        </p:blipFill>
        <p:spPr>
          <a:xfrm>
            <a:off x="1407033" y="2310003"/>
            <a:ext cx="989838" cy="537210"/>
          </a:xfrm>
          <a:prstGeom prst="rect">
            <a:avLst/>
          </a:prstGeom>
        </p:spPr>
      </p:pic>
      <p:sp>
        <p:nvSpPr>
          <p:cNvPr id="8" name="b1-t-40"/>
          <p:cNvSpPr txBox="1"/>
          <p:nvPr/>
        </p:nvSpPr>
        <p:spPr>
          <a:xfrm>
            <a:off x="749808" y="2990088"/>
            <a:ext cx="2304288" cy="237744"/>
          </a:xfrm>
          <a:prstGeom prst="rect">
            <a:avLst/>
          </a:prstGeom>
          <a:noFill/>
          <a:ln/>
        </p:spPr>
        <p:txBody>
          <a:bodyPr wrap="square" lIns="0" tIns="0" rIns="0" bIns="0" rtlCol="0" anchor="t"/>
          <a:lstStyle/>
          <a:p>
            <a:pPr algn="ctr" indent="0" marL="0">
              <a:buNone/>
            </a:pPr>
            <a:r>
              <a:rPr lang="en-US" sz="1200" dirty="0">
                <a:solidFill>
                  <a:schemeClr val="tx2"/>
                </a:solidFill>
              </a:rPr>
              <a:t>xᵀMx =</a:t>
            </a:r>
            <a:endParaRPr lang="en-US" sz="1200" dirty="0"/>
          </a:p>
        </p:txBody>
      </p:sp>
      <p:pic>
        <p:nvPicPr>
          <p:cNvPr id="9" name="b1-eq-41" descr="x_1^2 + (x_1 - x_2)^2 + x_2^2">    </p:cNvPr>
          <p:cNvPicPr>
            <a:picLocks noChangeAspect="1"/>
          </p:cNvPicPr>
          <p:nvPr/>
        </p:nvPicPr>
        <p:blipFill>
          <a:blip r:embed="rId3"/>
          <a:stretch>
            <a:fillRect/>
          </a:stretch>
        </p:blipFill>
        <p:spPr>
          <a:xfrm>
            <a:off x="1052703" y="3268980"/>
            <a:ext cx="1698498" cy="265176"/>
          </a:xfrm>
          <a:prstGeom prst="rect">
            <a:avLst/>
          </a:prstGeom>
        </p:spPr>
      </p:pic>
      <p:sp>
        <p:nvSpPr>
          <p:cNvPr id="10" name="b1-t-42"/>
          <p:cNvSpPr txBox="1"/>
          <p:nvPr/>
        </p:nvSpPr>
        <p:spPr>
          <a:xfrm>
            <a:off x="704088" y="3657600"/>
            <a:ext cx="2395728" cy="274320"/>
          </a:xfrm>
          <a:prstGeom prst="rect">
            <a:avLst/>
          </a:prstGeom>
          <a:noFill/>
          <a:ln/>
        </p:spPr>
        <p:txBody>
          <a:bodyPr wrap="square" lIns="0" tIns="0" rIns="0" bIns="0" rtlCol="0" anchor="t"/>
          <a:lstStyle/>
          <a:p>
            <a:pPr algn="ctr" indent="0" marL="0">
              <a:buNone/>
            </a:pPr>
            <a:r>
              <a:rPr lang="en-US" sz="1400" dirty="0">
                <a:solidFill>
                  <a:schemeClr val="tx2"/>
                </a:solidFill>
              </a:rPr>
              <a:t>positive unless x = 0</a:t>
            </a:r>
            <a:endParaRPr lang="en-US" sz="1400" dirty="0"/>
          </a:p>
        </p:txBody>
      </p:sp>
      <p:sp>
        <p:nvSpPr>
          <p:cNvPr id="11" name="b1-t-43"/>
          <p:cNvSpPr txBox="1"/>
          <p:nvPr/>
        </p:nvSpPr>
        <p:spPr>
          <a:xfrm>
            <a:off x="704088" y="4041648"/>
            <a:ext cx="2395728" cy="566928"/>
          </a:xfrm>
          <a:prstGeom prst="rect">
            <a:avLst/>
          </a:prstGeom>
          <a:noFill/>
          <a:ln/>
        </p:spPr>
        <p:txBody>
          <a:bodyPr wrap="square" lIns="0" tIns="0" rIns="0" bIns="0" rtlCol="0" anchor="t"/>
          <a:lstStyle/>
          <a:p>
            <a:pPr algn="ctr" indent="0" marL="0">
              <a:buNone/>
            </a:pPr>
            <a:r>
              <a:rPr lang="en-US" sz="1500" b="1" dirty="0">
                <a:solidFill>
                  <a:schemeClr val="tx1"/>
                </a:solidFill>
              </a:rPr>
              <a:t>positive</a:t>
            </a:r>
            <a:endParaRPr lang="en-US" sz="1500" dirty="0"/>
          </a:p>
          <a:p>
            <a:pPr algn="ctr" indent="0" marL="0">
              <a:buNone/>
            </a:pPr>
            <a:r>
              <a:rPr lang="en-US" sz="1500" b="1" dirty="0">
                <a:solidFill>
                  <a:schemeClr val="tx1"/>
                </a:solidFill>
              </a:rPr>
              <a:t>definite</a:t>
            </a:r>
            <a:endParaRPr lang="en-US" sz="1500" dirty="0"/>
          </a:p>
        </p:txBody>
      </p:sp>
      <p:sp>
        <p:nvSpPr>
          <p:cNvPr id="12" name="box-44"/>
          <p:cNvSpPr/>
          <p:nvPr/>
        </p:nvSpPr>
        <p:spPr>
          <a:xfrm>
            <a:off x="3410712" y="2011680"/>
            <a:ext cx="2578608" cy="2743200"/>
          </a:xfrm>
          <a:prstGeom prst="roundRect">
            <a:avLst>
              <a:gd name="adj" fmla="val 2128"/>
            </a:avLst>
          </a:prstGeom>
          <a:solidFill>
            <a:schemeClr val="bg2"/>
          </a:solidFill>
          <a:ln/>
        </p:spPr>
      </p:sp>
      <p:sp>
        <p:nvSpPr>
          <p:cNvPr id="13" name="t-45"/>
          <p:cNvSpPr txBox="1"/>
          <p:nvPr/>
        </p:nvSpPr>
        <p:spPr>
          <a:xfrm>
            <a:off x="3593592" y="2148840"/>
            <a:ext cx="548640" cy="274320"/>
          </a:xfrm>
          <a:prstGeom prst="rect">
            <a:avLst/>
          </a:prstGeom>
          <a:noFill/>
          <a:ln/>
        </p:spPr>
        <p:txBody>
          <a:bodyPr wrap="square" lIns="0" tIns="0" rIns="0" bIns="0" rtlCol="0" anchor="t"/>
          <a:lstStyle/>
          <a:p>
            <a:pPr algn="l" indent="0" marL="0">
              <a:buNone/>
            </a:pPr>
            <a:r>
              <a:rPr lang="en-US" sz="1400" b="1" dirty="0">
                <a:solidFill>
                  <a:schemeClr val="tx2"/>
                </a:solidFill>
              </a:rPr>
              <a:t>(b)</a:t>
            </a:r>
            <a:endParaRPr lang="en-US" sz="1400" dirty="0"/>
          </a:p>
        </p:txBody>
      </p:sp>
      <p:pic>
        <p:nvPicPr>
          <p:cNvPr id="14" name="eq-46" descr="\begin{bmatrix} 1 &amp; 1 \\ 1 &amp; 1\end{bmatrix}">    </p:cNvPr>
          <p:cNvPicPr>
            <a:picLocks noChangeAspect="1"/>
          </p:cNvPicPr>
          <p:nvPr/>
        </p:nvPicPr>
        <p:blipFill>
          <a:blip r:embed="rId4"/>
          <a:stretch>
            <a:fillRect/>
          </a:stretch>
        </p:blipFill>
        <p:spPr>
          <a:xfrm>
            <a:off x="4375404" y="2310003"/>
            <a:ext cx="649224" cy="537210"/>
          </a:xfrm>
          <a:prstGeom prst="rect">
            <a:avLst/>
          </a:prstGeom>
        </p:spPr>
      </p:pic>
      <p:sp>
        <p:nvSpPr>
          <p:cNvPr id="15" name="b2-t-47"/>
          <p:cNvSpPr txBox="1"/>
          <p:nvPr/>
        </p:nvSpPr>
        <p:spPr>
          <a:xfrm>
            <a:off x="3547872" y="2990088"/>
            <a:ext cx="2304288" cy="237744"/>
          </a:xfrm>
          <a:prstGeom prst="rect">
            <a:avLst/>
          </a:prstGeom>
          <a:noFill/>
          <a:ln/>
        </p:spPr>
        <p:txBody>
          <a:bodyPr wrap="square" lIns="0" tIns="0" rIns="0" bIns="0" rtlCol="0" anchor="t"/>
          <a:lstStyle/>
          <a:p>
            <a:pPr algn="ctr" indent="0" marL="0">
              <a:buNone/>
            </a:pPr>
            <a:r>
              <a:rPr lang="en-US" sz="1200" dirty="0">
                <a:solidFill>
                  <a:schemeClr val="tx2"/>
                </a:solidFill>
              </a:rPr>
              <a:t>xᵀMx =</a:t>
            </a:r>
            <a:endParaRPr lang="en-US" sz="1200" dirty="0"/>
          </a:p>
        </p:txBody>
      </p:sp>
      <p:pic>
        <p:nvPicPr>
          <p:cNvPr id="16" name="b2-eq-48" descr="(x_1 + x_2)^2">    </p:cNvPr>
          <p:cNvPicPr>
            <a:picLocks noChangeAspect="1"/>
          </p:cNvPicPr>
          <p:nvPr/>
        </p:nvPicPr>
        <p:blipFill>
          <a:blip r:embed="rId5"/>
          <a:stretch>
            <a:fillRect/>
          </a:stretch>
        </p:blipFill>
        <p:spPr>
          <a:xfrm>
            <a:off x="4262247" y="3268980"/>
            <a:ext cx="875538" cy="265176"/>
          </a:xfrm>
          <a:prstGeom prst="rect">
            <a:avLst/>
          </a:prstGeom>
        </p:spPr>
      </p:pic>
      <p:sp>
        <p:nvSpPr>
          <p:cNvPr id="17" name="b2-t-49"/>
          <p:cNvSpPr txBox="1"/>
          <p:nvPr/>
        </p:nvSpPr>
        <p:spPr>
          <a:xfrm>
            <a:off x="3502152" y="3657600"/>
            <a:ext cx="2395728" cy="274320"/>
          </a:xfrm>
          <a:prstGeom prst="rect">
            <a:avLst/>
          </a:prstGeom>
          <a:noFill/>
          <a:ln/>
        </p:spPr>
        <p:txBody>
          <a:bodyPr wrap="square" lIns="0" tIns="0" rIns="0" bIns="0" rtlCol="0" anchor="t"/>
          <a:lstStyle/>
          <a:p>
            <a:pPr algn="ctr" indent="0" marL="0">
              <a:buNone/>
            </a:pPr>
            <a:r>
              <a:rPr lang="en-US" sz="1400" dirty="0">
                <a:solidFill>
                  <a:schemeClr val="tx2"/>
                </a:solidFill>
              </a:rPr>
              <a:t>zero at x = (1, −1)</a:t>
            </a:r>
            <a:endParaRPr lang="en-US" sz="1400" dirty="0"/>
          </a:p>
        </p:txBody>
      </p:sp>
      <p:sp>
        <p:nvSpPr>
          <p:cNvPr id="18" name="b2-t-50"/>
          <p:cNvSpPr txBox="1"/>
          <p:nvPr/>
        </p:nvSpPr>
        <p:spPr>
          <a:xfrm>
            <a:off x="3502152" y="4041648"/>
            <a:ext cx="2395728" cy="566928"/>
          </a:xfrm>
          <a:prstGeom prst="rect">
            <a:avLst/>
          </a:prstGeom>
          <a:noFill/>
          <a:ln/>
        </p:spPr>
        <p:txBody>
          <a:bodyPr wrap="square" lIns="0" tIns="0" rIns="0" bIns="0" rtlCol="0" anchor="t"/>
          <a:lstStyle/>
          <a:p>
            <a:pPr algn="ctr" indent="0" marL="0">
              <a:buNone/>
            </a:pPr>
            <a:r>
              <a:rPr lang="en-US" sz="1500" b="1" dirty="0">
                <a:solidFill>
                  <a:schemeClr val="tx1"/>
                </a:solidFill>
              </a:rPr>
              <a:t>positive</a:t>
            </a:r>
            <a:endParaRPr lang="en-US" sz="1500" dirty="0"/>
          </a:p>
          <a:p>
            <a:pPr algn="ctr" indent="0" marL="0">
              <a:buNone/>
            </a:pPr>
            <a:r>
              <a:rPr lang="en-US" sz="1500" b="1" dirty="0">
                <a:solidFill>
                  <a:schemeClr val="tx1"/>
                </a:solidFill>
              </a:rPr>
              <a:t>semi-definite</a:t>
            </a:r>
            <a:endParaRPr lang="en-US" sz="1500" dirty="0"/>
          </a:p>
        </p:txBody>
      </p:sp>
      <p:sp>
        <p:nvSpPr>
          <p:cNvPr id="19" name="box-51"/>
          <p:cNvSpPr/>
          <p:nvPr/>
        </p:nvSpPr>
        <p:spPr>
          <a:xfrm>
            <a:off x="6208776" y="2011680"/>
            <a:ext cx="2578608" cy="2743200"/>
          </a:xfrm>
          <a:prstGeom prst="roundRect">
            <a:avLst>
              <a:gd name="adj" fmla="val 2128"/>
            </a:avLst>
          </a:prstGeom>
          <a:solidFill>
            <a:schemeClr val="bg2"/>
          </a:solidFill>
          <a:ln/>
        </p:spPr>
      </p:sp>
      <p:sp>
        <p:nvSpPr>
          <p:cNvPr id="20" name="t-52"/>
          <p:cNvSpPr txBox="1"/>
          <p:nvPr/>
        </p:nvSpPr>
        <p:spPr>
          <a:xfrm>
            <a:off x="6391656" y="2148840"/>
            <a:ext cx="548640" cy="274320"/>
          </a:xfrm>
          <a:prstGeom prst="rect">
            <a:avLst/>
          </a:prstGeom>
          <a:noFill/>
          <a:ln/>
        </p:spPr>
        <p:txBody>
          <a:bodyPr wrap="square" lIns="0" tIns="0" rIns="0" bIns="0" rtlCol="0" anchor="t"/>
          <a:lstStyle/>
          <a:p>
            <a:pPr algn="l" indent="0" marL="0">
              <a:buNone/>
            </a:pPr>
            <a:r>
              <a:rPr lang="en-US" sz="1400" b="1" dirty="0">
                <a:solidFill>
                  <a:schemeClr val="tx2"/>
                </a:solidFill>
              </a:rPr>
              <a:t>(c)</a:t>
            </a:r>
            <a:endParaRPr lang="en-US" sz="1400" dirty="0"/>
          </a:p>
        </p:txBody>
      </p:sp>
      <p:pic>
        <p:nvPicPr>
          <p:cNvPr id="21" name="eq-53" descr="\begin{bmatrix} -2 &amp; 1 \\ 1 &amp; -2\end{bmatrix}">    </p:cNvPr>
          <p:cNvPicPr>
            <a:picLocks noChangeAspect="1"/>
          </p:cNvPicPr>
          <p:nvPr/>
        </p:nvPicPr>
        <p:blipFill>
          <a:blip r:embed="rId6"/>
          <a:stretch>
            <a:fillRect/>
          </a:stretch>
        </p:blipFill>
        <p:spPr>
          <a:xfrm>
            <a:off x="7003161" y="2310003"/>
            <a:ext cx="989838" cy="537210"/>
          </a:xfrm>
          <a:prstGeom prst="rect">
            <a:avLst/>
          </a:prstGeom>
        </p:spPr>
      </p:pic>
      <p:sp>
        <p:nvSpPr>
          <p:cNvPr id="22" name="b3-t-54"/>
          <p:cNvSpPr txBox="1"/>
          <p:nvPr/>
        </p:nvSpPr>
        <p:spPr>
          <a:xfrm>
            <a:off x="6345936" y="2990088"/>
            <a:ext cx="2304288" cy="237744"/>
          </a:xfrm>
          <a:prstGeom prst="rect">
            <a:avLst/>
          </a:prstGeom>
          <a:noFill/>
          <a:ln/>
        </p:spPr>
        <p:txBody>
          <a:bodyPr wrap="square" lIns="0" tIns="0" rIns="0" bIns="0" rtlCol="0" anchor="t"/>
          <a:lstStyle/>
          <a:p>
            <a:pPr algn="ctr" indent="0" marL="0">
              <a:buNone/>
            </a:pPr>
            <a:r>
              <a:rPr lang="en-US" sz="1200" dirty="0">
                <a:solidFill>
                  <a:schemeClr val="tx2"/>
                </a:solidFill>
              </a:rPr>
              <a:t>xᵀMx =</a:t>
            </a:r>
            <a:endParaRPr lang="en-US" sz="1200" dirty="0"/>
          </a:p>
        </p:txBody>
      </p:sp>
      <p:pic>
        <p:nvPicPr>
          <p:cNvPr id="23" name="b3-eq-55" descr="-x_1^2 - (x_1 - x_2)^2 - x_2^2">    </p:cNvPr>
          <p:cNvPicPr>
            <a:picLocks noChangeAspect="1"/>
          </p:cNvPicPr>
          <p:nvPr/>
        </p:nvPicPr>
        <p:blipFill>
          <a:blip r:embed="rId7"/>
          <a:stretch>
            <a:fillRect/>
          </a:stretch>
        </p:blipFill>
        <p:spPr>
          <a:xfrm>
            <a:off x="6575679" y="3268980"/>
            <a:ext cx="1844802" cy="265176"/>
          </a:xfrm>
          <a:prstGeom prst="rect">
            <a:avLst/>
          </a:prstGeom>
        </p:spPr>
      </p:pic>
      <p:sp>
        <p:nvSpPr>
          <p:cNvPr id="24" name="b3-t-56"/>
          <p:cNvSpPr txBox="1"/>
          <p:nvPr/>
        </p:nvSpPr>
        <p:spPr>
          <a:xfrm>
            <a:off x="6300216" y="3657600"/>
            <a:ext cx="2395728" cy="274320"/>
          </a:xfrm>
          <a:prstGeom prst="rect">
            <a:avLst/>
          </a:prstGeom>
          <a:noFill/>
          <a:ln/>
        </p:spPr>
        <p:txBody>
          <a:bodyPr wrap="square" lIns="0" tIns="0" rIns="0" bIns="0" rtlCol="0" anchor="t"/>
          <a:lstStyle/>
          <a:p>
            <a:pPr algn="ctr" indent="0" marL="0">
              <a:buNone/>
            </a:pPr>
            <a:r>
              <a:rPr lang="en-US" sz="1400" dirty="0">
                <a:solidFill>
                  <a:schemeClr val="tx2"/>
                </a:solidFill>
              </a:rPr>
              <a:t>negative unless x = 0</a:t>
            </a:r>
            <a:endParaRPr lang="en-US" sz="1400" dirty="0"/>
          </a:p>
        </p:txBody>
      </p:sp>
      <p:sp>
        <p:nvSpPr>
          <p:cNvPr id="25" name="b3-t-57"/>
          <p:cNvSpPr txBox="1"/>
          <p:nvPr/>
        </p:nvSpPr>
        <p:spPr>
          <a:xfrm>
            <a:off x="6300216" y="4041648"/>
            <a:ext cx="2395728" cy="566928"/>
          </a:xfrm>
          <a:prstGeom prst="rect">
            <a:avLst/>
          </a:prstGeom>
          <a:noFill/>
          <a:ln/>
        </p:spPr>
        <p:txBody>
          <a:bodyPr wrap="square" lIns="0" tIns="0" rIns="0" bIns="0" rtlCol="0" anchor="t"/>
          <a:lstStyle/>
          <a:p>
            <a:pPr algn="ctr" indent="0" marL="0">
              <a:buNone/>
            </a:pPr>
            <a:r>
              <a:rPr lang="en-US" sz="1500" b="1" dirty="0">
                <a:solidFill>
                  <a:schemeClr val="tx1"/>
                </a:solidFill>
              </a:rPr>
              <a:t>negative</a:t>
            </a:r>
            <a:endParaRPr lang="en-US" sz="1500" dirty="0"/>
          </a:p>
          <a:p>
            <a:pPr algn="ctr" indent="0" marL="0">
              <a:buNone/>
            </a:pPr>
            <a:r>
              <a:rPr lang="en-US" sz="1500" b="1" dirty="0">
                <a:solidFill>
                  <a:schemeClr val="tx1"/>
                </a:solidFill>
              </a:rPr>
              <a:t>definite</a:t>
            </a:r>
            <a:endParaRPr lang="en-US" sz="1500" dirty="0"/>
          </a:p>
        </p:txBody>
      </p:sp>
      <p:sp>
        <p:nvSpPr>
          <p:cNvPr id="26" name="box-58"/>
          <p:cNvSpPr/>
          <p:nvPr/>
        </p:nvSpPr>
        <p:spPr>
          <a:xfrm>
            <a:off x="9006840" y="2011680"/>
            <a:ext cx="2578608" cy="2743200"/>
          </a:xfrm>
          <a:prstGeom prst="roundRect">
            <a:avLst>
              <a:gd name="adj" fmla="val 2128"/>
            </a:avLst>
          </a:prstGeom>
          <a:solidFill>
            <a:schemeClr val="bg2"/>
          </a:solidFill>
          <a:ln/>
        </p:spPr>
      </p:sp>
      <p:sp>
        <p:nvSpPr>
          <p:cNvPr id="27" name="t-59"/>
          <p:cNvSpPr txBox="1"/>
          <p:nvPr/>
        </p:nvSpPr>
        <p:spPr>
          <a:xfrm>
            <a:off x="9189720" y="2148840"/>
            <a:ext cx="548640" cy="274320"/>
          </a:xfrm>
          <a:prstGeom prst="rect">
            <a:avLst/>
          </a:prstGeom>
          <a:noFill/>
          <a:ln/>
        </p:spPr>
        <p:txBody>
          <a:bodyPr wrap="square" lIns="0" tIns="0" rIns="0" bIns="0" rtlCol="0" anchor="t"/>
          <a:lstStyle/>
          <a:p>
            <a:pPr algn="l" indent="0" marL="0">
              <a:buNone/>
            </a:pPr>
            <a:r>
              <a:rPr lang="en-US" sz="1400" b="1" dirty="0">
                <a:solidFill>
                  <a:schemeClr val="tx2"/>
                </a:solidFill>
              </a:rPr>
              <a:t>(d)</a:t>
            </a:r>
            <a:endParaRPr lang="en-US" sz="1400" dirty="0"/>
          </a:p>
        </p:txBody>
      </p:sp>
      <p:pic>
        <p:nvPicPr>
          <p:cNvPr id="28" name="eq-60" descr="\begin{bmatrix} 2 &amp; 3 \\ 3 &amp; 2\end{bmatrix}">    </p:cNvPr>
          <p:cNvPicPr>
            <a:picLocks noChangeAspect="1"/>
          </p:cNvPicPr>
          <p:nvPr/>
        </p:nvPicPr>
        <p:blipFill>
          <a:blip r:embed="rId8"/>
          <a:stretch>
            <a:fillRect/>
          </a:stretch>
        </p:blipFill>
        <p:spPr>
          <a:xfrm>
            <a:off x="9971532" y="2310003"/>
            <a:ext cx="649224" cy="537210"/>
          </a:xfrm>
          <a:prstGeom prst="rect">
            <a:avLst/>
          </a:prstGeom>
        </p:spPr>
      </p:pic>
      <p:sp>
        <p:nvSpPr>
          <p:cNvPr id="29" name="b4-t-61"/>
          <p:cNvSpPr txBox="1"/>
          <p:nvPr/>
        </p:nvSpPr>
        <p:spPr>
          <a:xfrm>
            <a:off x="9144000" y="2990088"/>
            <a:ext cx="2304288" cy="237744"/>
          </a:xfrm>
          <a:prstGeom prst="rect">
            <a:avLst/>
          </a:prstGeom>
          <a:noFill/>
          <a:ln/>
        </p:spPr>
        <p:txBody>
          <a:bodyPr wrap="square" lIns="0" tIns="0" rIns="0" bIns="0" rtlCol="0" anchor="t"/>
          <a:lstStyle/>
          <a:p>
            <a:pPr algn="ctr" indent="0" marL="0">
              <a:buNone/>
            </a:pPr>
            <a:r>
              <a:rPr lang="en-US" sz="1200" dirty="0">
                <a:solidFill>
                  <a:schemeClr val="tx2"/>
                </a:solidFill>
              </a:rPr>
              <a:t>xᵀMx =</a:t>
            </a:r>
            <a:endParaRPr lang="en-US" sz="1200" dirty="0"/>
          </a:p>
        </p:txBody>
      </p:sp>
      <p:pic>
        <p:nvPicPr>
          <p:cNvPr id="30" name="b4-eq-62" descr="2x_1^2 + 6x_1x_2 + 2x_2^2">    </p:cNvPr>
          <p:cNvPicPr>
            <a:picLocks noChangeAspect="1"/>
          </p:cNvPicPr>
          <p:nvPr/>
        </p:nvPicPr>
        <p:blipFill>
          <a:blip r:embed="rId9"/>
          <a:stretch>
            <a:fillRect/>
          </a:stretch>
        </p:blipFill>
        <p:spPr>
          <a:xfrm>
            <a:off x="9501759" y="3268980"/>
            <a:ext cx="1588770" cy="265176"/>
          </a:xfrm>
          <a:prstGeom prst="rect">
            <a:avLst/>
          </a:prstGeom>
        </p:spPr>
      </p:pic>
      <p:sp>
        <p:nvSpPr>
          <p:cNvPr id="31" name="b4-t-63"/>
          <p:cNvSpPr txBox="1"/>
          <p:nvPr/>
        </p:nvSpPr>
        <p:spPr>
          <a:xfrm>
            <a:off x="9098280" y="3657600"/>
            <a:ext cx="2395728" cy="274320"/>
          </a:xfrm>
          <a:prstGeom prst="rect">
            <a:avLst/>
          </a:prstGeom>
          <a:noFill/>
          <a:ln/>
        </p:spPr>
        <p:txBody>
          <a:bodyPr wrap="square" lIns="0" tIns="0" rIns="0" bIns="0" rtlCol="0" anchor="t"/>
          <a:lstStyle/>
          <a:p>
            <a:pPr algn="ctr" indent="0" marL="0">
              <a:buNone/>
            </a:pPr>
            <a:r>
              <a:rPr lang="en-US" sz="1400" dirty="0">
                <a:solidFill>
                  <a:schemeClr val="tx2"/>
                </a:solidFill>
              </a:rPr>
              <a:t>10 at (1, 1),  −2 at (1, −1)</a:t>
            </a:r>
            <a:endParaRPr lang="en-US" sz="1400" dirty="0"/>
          </a:p>
        </p:txBody>
      </p:sp>
      <p:sp>
        <p:nvSpPr>
          <p:cNvPr id="32" name="b4-t-64"/>
          <p:cNvSpPr txBox="1"/>
          <p:nvPr/>
        </p:nvSpPr>
        <p:spPr>
          <a:xfrm>
            <a:off x="9098280" y="4041648"/>
            <a:ext cx="2395728" cy="566928"/>
          </a:xfrm>
          <a:prstGeom prst="rect">
            <a:avLst/>
          </a:prstGeom>
          <a:noFill/>
          <a:ln/>
        </p:spPr>
        <p:txBody>
          <a:bodyPr wrap="square" lIns="0" tIns="0" rIns="0" bIns="0" rtlCol="0" anchor="t"/>
          <a:lstStyle/>
          <a:p>
            <a:pPr algn="ctr" indent="0" marL="0">
              <a:buNone/>
            </a:pPr>
            <a:r>
              <a:rPr lang="en-US" sz="1500" b="1" dirty="0">
                <a:solidFill>
                  <a:schemeClr val="accent1"/>
                </a:solidFill>
              </a:rPr>
              <a:t>indefinite</a:t>
            </a:r>
            <a:endParaRPr lang="en-US" sz="1500" dirty="0"/>
          </a:p>
        </p:txBody>
      </p:sp>
      <p:sp>
        <p:nvSpPr>
          <p:cNvPr id="33" name="b5-box-65"/>
          <p:cNvSpPr/>
          <p:nvPr/>
        </p:nvSpPr>
        <p:spPr>
          <a:xfrm>
            <a:off x="612648" y="4956048"/>
            <a:ext cx="10972800" cy="868680"/>
          </a:xfrm>
          <a:prstGeom prst="roundRect">
            <a:avLst>
              <a:gd name="adj" fmla="val 6316"/>
            </a:avLst>
          </a:prstGeom>
          <a:solidFill>
            <a:schemeClr val="accent2"/>
          </a:solidFill>
          <a:ln/>
        </p:spPr>
      </p:sp>
      <p:sp>
        <p:nvSpPr>
          <p:cNvPr id="34" name="b5-t-66"/>
          <p:cNvSpPr txBox="1"/>
          <p:nvPr/>
        </p:nvSpPr>
        <p:spPr>
          <a:xfrm>
            <a:off x="841248" y="5084064"/>
            <a:ext cx="10515600"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35" name="b5-t-67"/>
          <p:cNvSpPr txBox="1"/>
          <p:nvPr/>
        </p:nvSpPr>
        <p:spPr>
          <a:xfrm>
            <a:off x="841248" y="5376672"/>
            <a:ext cx="10515600" cy="338328"/>
          </a:xfrm>
          <a:prstGeom prst="rect">
            <a:avLst/>
          </a:prstGeom>
          <a:noFill/>
          <a:ln/>
        </p:spPr>
        <p:txBody>
          <a:bodyPr wrap="square" lIns="0" tIns="0" rIns="0" bIns="0" rtlCol="0" anchor="t"/>
          <a:lstStyle/>
          <a:p>
            <a:pPr algn="l" indent="0" marL="0">
              <a:buNone/>
            </a:pPr>
            <a:r>
              <a:rPr lang="en-US" sz="1600" dirty="0">
                <a:solidFill>
                  <a:schemeClr val="tx1"/>
                </a:solidFill>
              </a:rPr>
              <a:t>Positive definite: the energy xᵀMx is zero at x = 0 and positive everywhere else. A bowl.</a:t>
            </a:r>
            <a:endParaRPr lang="en-US" sz="1600" dirty="0"/>
          </a:p>
        </p:txBody>
      </p:sp>
      <p:sp>
        <p:nvSpPr>
          <p:cNvPr id="36"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5" grpId="0" animBg="1"/>
      <p:bldP spid="17" grpId="0" animBg="1"/>
      <p:bldP spid="18" grpId="0" animBg="1"/>
      <p:bldP spid="22" grpId="0" animBg="1"/>
      <p:bldP spid="24" grpId="0" animBg="1"/>
      <p:bldP spid="25" grpId="0" animBg="1"/>
      <p:bldP spid="29" grpId="0" animBg="1"/>
      <p:bldP spid="31" grpId="0" animBg="1"/>
      <p:bldP spid="32" grpId="0" animBg="1"/>
      <p:bldP spid="33" grpId="0" animBg="1"/>
      <p:bldP spid="34"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Four shapes of the energy xᵀMx</a:t>
            </a:r>
            <a:endParaRPr lang="en-US" sz="2800" dirty="0"/>
          </a:p>
        </p:txBody>
      </p:sp>
      <p:pic>
        <p:nvPicPr>
          <p:cNvPr id="3" name="b1-img-68" descr="Surface of the energy for matrix a: a bowl">    </p:cNvPr>
          <p:cNvPicPr>
            <a:picLocks noChangeAspect="1"/>
          </p:cNvPicPr>
          <p:nvPr/>
        </p:nvPicPr>
        <p:blipFill>
          <a:blip r:embed="rId1"/>
          <a:stretch>
            <a:fillRect/>
          </a:stretch>
        </p:blipFill>
        <p:spPr>
          <a:xfrm>
            <a:off x="612648" y="1280160"/>
            <a:ext cx="2578608" cy="2148840"/>
          </a:xfrm>
          <a:prstGeom prst="rect">
            <a:avLst/>
          </a:prstGeom>
        </p:spPr>
      </p:pic>
      <p:sp>
        <p:nvSpPr>
          <p:cNvPr id="4" name="b1-t-69"/>
          <p:cNvSpPr txBox="1"/>
          <p:nvPr/>
        </p:nvSpPr>
        <p:spPr>
          <a:xfrm>
            <a:off x="612648" y="3520440"/>
            <a:ext cx="2578608" cy="292608"/>
          </a:xfrm>
          <a:prstGeom prst="rect">
            <a:avLst/>
          </a:prstGeom>
          <a:noFill/>
          <a:ln/>
        </p:spPr>
        <p:txBody>
          <a:bodyPr wrap="square" lIns="0" tIns="0" rIns="0" bIns="0" rtlCol="0" anchor="t"/>
          <a:lstStyle/>
          <a:p>
            <a:pPr algn="ctr" indent="0" marL="0">
              <a:buNone/>
            </a:pPr>
            <a:r>
              <a:rPr lang="en-US" sz="1600" b="1" dirty="0">
                <a:solidFill>
                  <a:schemeClr val="tx1"/>
                </a:solidFill>
              </a:rPr>
              <a:t>bowl</a:t>
            </a:r>
            <a:endParaRPr lang="en-US" sz="1600" dirty="0"/>
          </a:p>
        </p:txBody>
      </p:sp>
      <p:sp>
        <p:nvSpPr>
          <p:cNvPr id="5" name="b1-t-70"/>
          <p:cNvSpPr txBox="1"/>
          <p:nvPr/>
        </p:nvSpPr>
        <p:spPr>
          <a:xfrm>
            <a:off x="612648" y="3831336"/>
            <a:ext cx="2578608" cy="274320"/>
          </a:xfrm>
          <a:prstGeom prst="rect">
            <a:avLst/>
          </a:prstGeom>
          <a:noFill/>
          <a:ln/>
        </p:spPr>
        <p:txBody>
          <a:bodyPr wrap="square" lIns="0" tIns="0" rIns="0" bIns="0" rtlCol="0" anchor="t"/>
          <a:lstStyle/>
          <a:p>
            <a:pPr algn="ctr" indent="0" marL="0">
              <a:buNone/>
            </a:pPr>
            <a:r>
              <a:rPr lang="en-US" sz="1400" dirty="0">
                <a:solidFill>
                  <a:schemeClr val="tx2"/>
                </a:solidFill>
              </a:rPr>
              <a:t>positive definite</a:t>
            </a:r>
            <a:endParaRPr lang="en-US" sz="1400" dirty="0"/>
          </a:p>
        </p:txBody>
      </p:sp>
      <p:pic>
        <p:nvPicPr>
          <p:cNvPr id="6" name="b1-eq-71" descr="\begin{bmatrix} 2 &amp; -1 \\ -1 &amp; 2\end{bmatrix}">    </p:cNvPr>
          <p:cNvPicPr>
            <a:picLocks noChangeAspect="1"/>
          </p:cNvPicPr>
          <p:nvPr/>
        </p:nvPicPr>
        <p:blipFill>
          <a:blip r:embed="rId2"/>
          <a:stretch>
            <a:fillRect/>
          </a:stretch>
        </p:blipFill>
        <p:spPr>
          <a:xfrm>
            <a:off x="1481271" y="4252246"/>
            <a:ext cx="841362" cy="456629"/>
          </a:xfrm>
          <a:prstGeom prst="rect">
            <a:avLst/>
          </a:prstGeom>
        </p:spPr>
      </p:pic>
      <p:pic>
        <p:nvPicPr>
          <p:cNvPr id="7" name="b2-img-72" descr="Surface of the energy for matrix b: a trough">    </p:cNvPr>
          <p:cNvPicPr>
            <a:picLocks noChangeAspect="1"/>
          </p:cNvPicPr>
          <p:nvPr/>
        </p:nvPicPr>
        <p:blipFill>
          <a:blip r:embed="rId3"/>
          <a:stretch>
            <a:fillRect/>
          </a:stretch>
        </p:blipFill>
        <p:spPr>
          <a:xfrm>
            <a:off x="3410712" y="1280160"/>
            <a:ext cx="2578608" cy="2148840"/>
          </a:xfrm>
          <a:prstGeom prst="rect">
            <a:avLst/>
          </a:prstGeom>
        </p:spPr>
      </p:pic>
      <p:sp>
        <p:nvSpPr>
          <p:cNvPr id="8" name="b2-t-73"/>
          <p:cNvSpPr txBox="1"/>
          <p:nvPr/>
        </p:nvSpPr>
        <p:spPr>
          <a:xfrm>
            <a:off x="3410712" y="3520440"/>
            <a:ext cx="2578608" cy="292608"/>
          </a:xfrm>
          <a:prstGeom prst="rect">
            <a:avLst/>
          </a:prstGeom>
          <a:noFill/>
          <a:ln/>
        </p:spPr>
        <p:txBody>
          <a:bodyPr wrap="square" lIns="0" tIns="0" rIns="0" bIns="0" rtlCol="0" anchor="t"/>
          <a:lstStyle/>
          <a:p>
            <a:pPr algn="ctr" indent="0" marL="0">
              <a:buNone/>
            </a:pPr>
            <a:r>
              <a:rPr lang="en-US" sz="1600" b="1" dirty="0">
                <a:solidFill>
                  <a:schemeClr val="tx1"/>
                </a:solidFill>
              </a:rPr>
              <a:t>trough</a:t>
            </a:r>
            <a:endParaRPr lang="en-US" sz="1600" dirty="0"/>
          </a:p>
        </p:txBody>
      </p:sp>
      <p:sp>
        <p:nvSpPr>
          <p:cNvPr id="9" name="b2-t-74"/>
          <p:cNvSpPr txBox="1"/>
          <p:nvPr/>
        </p:nvSpPr>
        <p:spPr>
          <a:xfrm>
            <a:off x="3410712" y="3831336"/>
            <a:ext cx="2578608" cy="274320"/>
          </a:xfrm>
          <a:prstGeom prst="rect">
            <a:avLst/>
          </a:prstGeom>
          <a:noFill/>
          <a:ln/>
        </p:spPr>
        <p:txBody>
          <a:bodyPr wrap="square" lIns="0" tIns="0" rIns="0" bIns="0" rtlCol="0" anchor="t"/>
          <a:lstStyle/>
          <a:p>
            <a:pPr algn="ctr" indent="0" marL="0">
              <a:buNone/>
            </a:pPr>
            <a:r>
              <a:rPr lang="en-US" sz="1400" dirty="0">
                <a:solidFill>
                  <a:schemeClr val="tx2"/>
                </a:solidFill>
              </a:rPr>
              <a:t>positive semi-definite</a:t>
            </a:r>
            <a:endParaRPr lang="en-US" sz="1400" dirty="0"/>
          </a:p>
        </p:txBody>
      </p:sp>
      <p:pic>
        <p:nvPicPr>
          <p:cNvPr id="10" name="b2-eq-75" descr="\begin{bmatrix} 1 &amp; 1 \\ 1 &amp; 1\end{bmatrix}">    </p:cNvPr>
          <p:cNvPicPr>
            <a:picLocks noChangeAspect="1"/>
          </p:cNvPicPr>
          <p:nvPr/>
        </p:nvPicPr>
        <p:blipFill>
          <a:blip r:embed="rId4"/>
          <a:stretch>
            <a:fillRect/>
          </a:stretch>
        </p:blipFill>
        <p:spPr>
          <a:xfrm>
            <a:off x="4424096" y="4252246"/>
            <a:ext cx="551840" cy="456629"/>
          </a:xfrm>
          <a:prstGeom prst="rect">
            <a:avLst/>
          </a:prstGeom>
        </p:spPr>
      </p:pic>
      <p:pic>
        <p:nvPicPr>
          <p:cNvPr id="11" name="b3-img-76" descr="Surface of the energy for matrix c: a dome">    </p:cNvPr>
          <p:cNvPicPr>
            <a:picLocks noChangeAspect="1"/>
          </p:cNvPicPr>
          <p:nvPr/>
        </p:nvPicPr>
        <p:blipFill>
          <a:blip r:embed="rId5"/>
          <a:stretch>
            <a:fillRect/>
          </a:stretch>
        </p:blipFill>
        <p:spPr>
          <a:xfrm>
            <a:off x="6208776" y="1280160"/>
            <a:ext cx="2578608" cy="2148840"/>
          </a:xfrm>
          <a:prstGeom prst="rect">
            <a:avLst/>
          </a:prstGeom>
        </p:spPr>
      </p:pic>
      <p:sp>
        <p:nvSpPr>
          <p:cNvPr id="12" name="b3-t-77"/>
          <p:cNvSpPr txBox="1"/>
          <p:nvPr/>
        </p:nvSpPr>
        <p:spPr>
          <a:xfrm>
            <a:off x="6208776" y="3520440"/>
            <a:ext cx="2578608" cy="292608"/>
          </a:xfrm>
          <a:prstGeom prst="rect">
            <a:avLst/>
          </a:prstGeom>
          <a:noFill/>
          <a:ln/>
        </p:spPr>
        <p:txBody>
          <a:bodyPr wrap="square" lIns="0" tIns="0" rIns="0" bIns="0" rtlCol="0" anchor="t"/>
          <a:lstStyle/>
          <a:p>
            <a:pPr algn="ctr" indent="0" marL="0">
              <a:buNone/>
            </a:pPr>
            <a:r>
              <a:rPr lang="en-US" sz="1600" b="1" dirty="0">
                <a:solidFill>
                  <a:schemeClr val="tx1"/>
                </a:solidFill>
              </a:rPr>
              <a:t>dome</a:t>
            </a:r>
            <a:endParaRPr lang="en-US" sz="1600" dirty="0"/>
          </a:p>
        </p:txBody>
      </p:sp>
      <p:sp>
        <p:nvSpPr>
          <p:cNvPr id="13" name="b3-t-78"/>
          <p:cNvSpPr txBox="1"/>
          <p:nvPr/>
        </p:nvSpPr>
        <p:spPr>
          <a:xfrm>
            <a:off x="6208776" y="3831336"/>
            <a:ext cx="2578608" cy="274320"/>
          </a:xfrm>
          <a:prstGeom prst="rect">
            <a:avLst/>
          </a:prstGeom>
          <a:noFill/>
          <a:ln/>
        </p:spPr>
        <p:txBody>
          <a:bodyPr wrap="square" lIns="0" tIns="0" rIns="0" bIns="0" rtlCol="0" anchor="t"/>
          <a:lstStyle/>
          <a:p>
            <a:pPr algn="ctr" indent="0" marL="0">
              <a:buNone/>
            </a:pPr>
            <a:r>
              <a:rPr lang="en-US" sz="1400" dirty="0">
                <a:solidFill>
                  <a:schemeClr val="tx2"/>
                </a:solidFill>
              </a:rPr>
              <a:t>negative definite</a:t>
            </a:r>
            <a:endParaRPr lang="en-US" sz="1400" dirty="0"/>
          </a:p>
        </p:txBody>
      </p:sp>
      <p:pic>
        <p:nvPicPr>
          <p:cNvPr id="14" name="b3-eq-79" descr="\begin{bmatrix} -2 &amp; 1 \\ 1 &amp; -2\end{bmatrix}">    </p:cNvPr>
          <p:cNvPicPr>
            <a:picLocks noChangeAspect="1"/>
          </p:cNvPicPr>
          <p:nvPr/>
        </p:nvPicPr>
        <p:blipFill>
          <a:blip r:embed="rId6"/>
          <a:stretch>
            <a:fillRect/>
          </a:stretch>
        </p:blipFill>
        <p:spPr>
          <a:xfrm>
            <a:off x="7077399" y="4252246"/>
            <a:ext cx="841362" cy="456629"/>
          </a:xfrm>
          <a:prstGeom prst="rect">
            <a:avLst/>
          </a:prstGeom>
        </p:spPr>
      </p:pic>
      <p:pic>
        <p:nvPicPr>
          <p:cNvPr id="15" name="b4-img-80" descr="Surface of the energy for matrix d: a saddle">    </p:cNvPr>
          <p:cNvPicPr>
            <a:picLocks noChangeAspect="1"/>
          </p:cNvPicPr>
          <p:nvPr/>
        </p:nvPicPr>
        <p:blipFill>
          <a:blip r:embed="rId7"/>
          <a:stretch>
            <a:fillRect/>
          </a:stretch>
        </p:blipFill>
        <p:spPr>
          <a:xfrm>
            <a:off x="9006840" y="1280160"/>
            <a:ext cx="2578608" cy="2148840"/>
          </a:xfrm>
          <a:prstGeom prst="rect">
            <a:avLst/>
          </a:prstGeom>
        </p:spPr>
      </p:pic>
      <p:sp>
        <p:nvSpPr>
          <p:cNvPr id="16" name="b4-t-81"/>
          <p:cNvSpPr txBox="1"/>
          <p:nvPr/>
        </p:nvSpPr>
        <p:spPr>
          <a:xfrm>
            <a:off x="9006840" y="3520440"/>
            <a:ext cx="2578608" cy="292608"/>
          </a:xfrm>
          <a:prstGeom prst="rect">
            <a:avLst/>
          </a:prstGeom>
          <a:noFill/>
          <a:ln/>
        </p:spPr>
        <p:txBody>
          <a:bodyPr wrap="square" lIns="0" tIns="0" rIns="0" bIns="0" rtlCol="0" anchor="t"/>
          <a:lstStyle/>
          <a:p>
            <a:pPr algn="ctr" indent="0" marL="0">
              <a:buNone/>
            </a:pPr>
            <a:r>
              <a:rPr lang="en-US" sz="1600" b="1" dirty="0">
                <a:solidFill>
                  <a:schemeClr val="accent1"/>
                </a:solidFill>
              </a:rPr>
              <a:t>saddle</a:t>
            </a:r>
            <a:endParaRPr lang="en-US" sz="1600" dirty="0"/>
          </a:p>
        </p:txBody>
      </p:sp>
      <p:sp>
        <p:nvSpPr>
          <p:cNvPr id="17" name="b4-t-82"/>
          <p:cNvSpPr txBox="1"/>
          <p:nvPr/>
        </p:nvSpPr>
        <p:spPr>
          <a:xfrm>
            <a:off x="9006840" y="3831336"/>
            <a:ext cx="2578608" cy="274320"/>
          </a:xfrm>
          <a:prstGeom prst="rect">
            <a:avLst/>
          </a:prstGeom>
          <a:noFill/>
          <a:ln/>
        </p:spPr>
        <p:txBody>
          <a:bodyPr wrap="square" lIns="0" tIns="0" rIns="0" bIns="0" rtlCol="0" anchor="t"/>
          <a:lstStyle/>
          <a:p>
            <a:pPr algn="ctr" indent="0" marL="0">
              <a:buNone/>
            </a:pPr>
            <a:r>
              <a:rPr lang="en-US" sz="1400" dirty="0">
                <a:solidFill>
                  <a:schemeClr val="tx2"/>
                </a:solidFill>
              </a:rPr>
              <a:t>indefinite</a:t>
            </a:r>
            <a:endParaRPr lang="en-US" sz="1400" dirty="0"/>
          </a:p>
        </p:txBody>
      </p:sp>
      <p:pic>
        <p:nvPicPr>
          <p:cNvPr id="18" name="b4-eq-83" descr="\begin{bmatrix} 2 &amp; 3 \\ 3 &amp; 2\end{bmatrix}">    </p:cNvPr>
          <p:cNvPicPr>
            <a:picLocks noChangeAspect="1"/>
          </p:cNvPicPr>
          <p:nvPr/>
        </p:nvPicPr>
        <p:blipFill>
          <a:blip r:embed="rId8"/>
          <a:stretch>
            <a:fillRect/>
          </a:stretch>
        </p:blipFill>
        <p:spPr>
          <a:xfrm>
            <a:off x="10020224" y="4252246"/>
            <a:ext cx="551840" cy="456629"/>
          </a:xfrm>
          <a:prstGeom prst="rect">
            <a:avLst/>
          </a:prstGeom>
        </p:spPr>
      </p:pic>
      <p:sp>
        <p:nvSpPr>
          <p:cNvPr id="19" name="b5-t-84"/>
          <p:cNvSpPr txBox="1"/>
          <p:nvPr/>
        </p:nvSpPr>
        <p:spPr>
          <a:xfrm>
            <a:off x="612648" y="5029200"/>
            <a:ext cx="10972800" cy="640080"/>
          </a:xfrm>
          <a:prstGeom prst="rect">
            <a:avLst/>
          </a:prstGeom>
          <a:noFill/>
          <a:ln/>
        </p:spPr>
        <p:txBody>
          <a:bodyPr wrap="square" lIns="0" tIns="0" rIns="0" bIns="0" rtlCol="0" anchor="t"/>
          <a:lstStyle/>
          <a:p>
            <a:pPr algn="l" indent="0" marL="0">
              <a:buNone/>
            </a:pPr>
            <a:r>
              <a:rPr lang="en-US" sz="1600" dirty="0">
                <a:solidFill>
                  <a:schemeClr val="tx1"/>
                </a:solidFill>
              </a:rPr>
              <a:t>Near a critical point, a smooth function looks like a constant plus a quadratic shape of this kind. The matrix that says which one is the Hessian.</a:t>
            </a:r>
            <a:endParaRPr lang="en-US" sz="1600" dirty="0"/>
          </a:p>
        </p:txBody>
      </p:sp>
      <p:sp>
        <p:nvSpPr>
          <p:cNvPr id="20" name="t-85"/>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Colour shows the sign of xᵀMx: navy is positive, red is negative.</a:t>
            </a:r>
            <a:endParaRPr lang="en-US" sz="1400" dirty="0"/>
          </a:p>
        </p:txBody>
      </p:sp>
      <p:sp>
        <p:nvSpPr>
          <p:cNvPr id="21"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2" grpId="0" animBg="1"/>
      <p:bldP spid="13" grpId="0" animBg="1"/>
      <p:bldP spid="16" grpId="0" animBg="1"/>
      <p:bldP spid="17"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The gradient and the Hessian</a:t>
            </a:r>
            <a:endParaRPr lang="en-US" sz="2800" dirty="0"/>
          </a:p>
        </p:txBody>
      </p:sp>
      <p:sp>
        <p:nvSpPr>
          <p:cNvPr id="3" name="t-86"/>
          <p:cNvSpPr txBox="1"/>
          <p:nvPr/>
        </p:nvSpPr>
        <p:spPr>
          <a:xfrm>
            <a:off x="612648" y="1298448"/>
            <a:ext cx="5120640" cy="320040"/>
          </a:xfrm>
          <a:prstGeom prst="rect">
            <a:avLst/>
          </a:prstGeom>
          <a:noFill/>
          <a:ln/>
        </p:spPr>
        <p:txBody>
          <a:bodyPr wrap="square" lIns="0" tIns="0" rIns="0" bIns="0" rtlCol="0" anchor="t"/>
          <a:lstStyle/>
          <a:p>
            <a:pPr algn="l" indent="0" marL="0">
              <a:buNone/>
            </a:pPr>
            <a:r>
              <a:rPr lang="en-US" sz="1600" dirty="0">
                <a:solidFill>
                  <a:schemeClr val="tx1"/>
                </a:solidFill>
              </a:rPr>
              <a:t>For a smooth function f(x₁, …, xₙ):</a:t>
            </a:r>
            <a:endParaRPr lang="en-US" sz="1600" dirty="0"/>
          </a:p>
        </p:txBody>
      </p:sp>
      <p:pic>
        <p:nvPicPr>
          <p:cNvPr id="4" name="eq-87" descr="\nabla f = \begin{bmatrix} \partial f/\partial x_1 \\ \vdots \\ \partial f/\partial x_n\end{bmatrix}">    </p:cNvPr>
          <p:cNvPicPr>
            <a:picLocks noChangeAspect="1"/>
          </p:cNvPicPr>
          <p:nvPr/>
        </p:nvPicPr>
        <p:blipFill>
          <a:blip r:embed="rId1"/>
          <a:stretch>
            <a:fillRect/>
          </a:stretch>
        </p:blipFill>
        <p:spPr>
          <a:xfrm>
            <a:off x="612648" y="1737360"/>
            <a:ext cx="1497330" cy="786384"/>
          </a:xfrm>
          <a:prstGeom prst="rect">
            <a:avLst/>
          </a:prstGeom>
        </p:spPr>
      </p:pic>
      <p:sp>
        <p:nvSpPr>
          <p:cNvPr id="5" name="t-88"/>
          <p:cNvSpPr txBox="1"/>
          <p:nvPr/>
        </p:nvSpPr>
        <p:spPr>
          <a:xfrm>
            <a:off x="2514600" y="1874520"/>
            <a:ext cx="2926080" cy="548640"/>
          </a:xfrm>
          <a:prstGeom prst="rect">
            <a:avLst/>
          </a:prstGeom>
          <a:noFill/>
          <a:ln/>
        </p:spPr>
        <p:txBody>
          <a:bodyPr wrap="square" lIns="0" tIns="0" rIns="0" bIns="0" rtlCol="0" anchor="t"/>
          <a:lstStyle/>
          <a:p>
            <a:pPr algn="l" indent="0" marL="0">
              <a:buNone/>
            </a:pPr>
            <a:r>
              <a:rPr lang="en-US" sz="1400" dirty="0">
                <a:solidFill>
                  <a:schemeClr val="tx2"/>
                </a:solidFill>
              </a:rPr>
              <a:t>first derivatives:</a:t>
            </a:r>
            <a:endParaRPr lang="en-US" sz="1400" dirty="0"/>
          </a:p>
          <a:p>
            <a:pPr algn="l" indent="0" marL="0">
              <a:buNone/>
            </a:pPr>
            <a:r>
              <a:rPr lang="en-US" sz="1400" dirty="0">
                <a:solidFill>
                  <a:schemeClr val="tx2"/>
                </a:solidFill>
              </a:rPr>
              <a:t>a vector</a:t>
            </a:r>
            <a:endParaRPr lang="en-US" sz="1400" dirty="0"/>
          </a:p>
        </p:txBody>
      </p:sp>
      <p:pic>
        <p:nvPicPr>
          <p:cNvPr id="6" name="eq-89" descr="\mat{H} = \begin{bmatrix} \dfrac{\partial^2 f}{\partial x_1^2} &amp; \cdots &amp; \dfrac{\partial^2 f}{\partial x_1\,\partial x_n} \\[11pt] \vdots &amp; &amp; \vdots \\[5pt] \dfrac{\partial^2 f}{\partial x_n\,\partial x_1} &amp; \cdots &amp; \dfrac{\partial^2 f}{\partial x_n^2}\end{bmatrix}">    </p:cNvPr>
          <p:cNvPicPr>
            <a:picLocks noChangeAspect="1"/>
          </p:cNvPicPr>
          <p:nvPr/>
        </p:nvPicPr>
        <p:blipFill>
          <a:blip r:embed="rId2"/>
          <a:stretch>
            <a:fillRect/>
          </a:stretch>
        </p:blipFill>
        <p:spPr>
          <a:xfrm>
            <a:off x="612648" y="2697480"/>
            <a:ext cx="2811780" cy="1508760"/>
          </a:xfrm>
          <a:prstGeom prst="rect">
            <a:avLst/>
          </a:prstGeom>
        </p:spPr>
      </p:pic>
      <p:sp>
        <p:nvSpPr>
          <p:cNvPr id="7" name="t-90"/>
          <p:cNvSpPr txBox="1"/>
          <p:nvPr/>
        </p:nvSpPr>
        <p:spPr>
          <a:xfrm>
            <a:off x="3703320" y="3200400"/>
            <a:ext cx="2194560" cy="548640"/>
          </a:xfrm>
          <a:prstGeom prst="rect">
            <a:avLst/>
          </a:prstGeom>
          <a:noFill/>
          <a:ln/>
        </p:spPr>
        <p:txBody>
          <a:bodyPr wrap="square" lIns="0" tIns="0" rIns="0" bIns="0" rtlCol="0" anchor="t"/>
          <a:lstStyle/>
          <a:p>
            <a:pPr algn="l" indent="0" marL="0">
              <a:buNone/>
            </a:pPr>
            <a:r>
              <a:rPr lang="en-US" sz="1400" dirty="0">
                <a:solidFill>
                  <a:schemeClr val="tx2"/>
                </a:solidFill>
              </a:rPr>
              <a:t>second derivatives:</a:t>
            </a:r>
            <a:endParaRPr lang="en-US" sz="1400" dirty="0"/>
          </a:p>
          <a:p>
            <a:pPr algn="l" indent="0" marL="0">
              <a:buNone/>
            </a:pPr>
            <a:r>
              <a:rPr lang="en-US" sz="1400" dirty="0">
                <a:solidFill>
                  <a:schemeClr val="tx2"/>
                </a:solidFill>
              </a:rPr>
              <a:t>an n × n matrix</a:t>
            </a:r>
            <a:endParaRPr lang="en-US" sz="1400" dirty="0"/>
          </a:p>
        </p:txBody>
      </p:sp>
      <p:pic>
        <p:nvPicPr>
          <p:cNvPr id="8" name="b1-eq-91" descr="H_{ij} = \dfrac{\partial^2 f}{\partial x_i\,\partial x_j} = H_{ji}">    </p:cNvPr>
          <p:cNvPicPr>
            <a:picLocks noChangeAspect="1"/>
          </p:cNvPicPr>
          <p:nvPr/>
        </p:nvPicPr>
        <p:blipFill>
          <a:blip r:embed="rId3"/>
          <a:stretch>
            <a:fillRect/>
          </a:stretch>
        </p:blipFill>
        <p:spPr>
          <a:xfrm>
            <a:off x="612648" y="4434840"/>
            <a:ext cx="1730502" cy="596646"/>
          </a:xfrm>
          <a:prstGeom prst="rect">
            <a:avLst/>
          </a:prstGeom>
        </p:spPr>
      </p:pic>
      <p:sp>
        <p:nvSpPr>
          <p:cNvPr id="9" name="b1-t-92"/>
          <p:cNvSpPr txBox="1"/>
          <p:nvPr/>
        </p:nvSpPr>
        <p:spPr>
          <a:xfrm>
            <a:off x="2651760" y="4507992"/>
            <a:ext cx="3200400" cy="548640"/>
          </a:xfrm>
          <a:prstGeom prst="rect">
            <a:avLst/>
          </a:prstGeom>
          <a:noFill/>
          <a:ln/>
        </p:spPr>
        <p:txBody>
          <a:bodyPr wrap="square" lIns="0" tIns="0" rIns="0" bIns="0" rtlCol="0" anchor="t"/>
          <a:lstStyle/>
          <a:p>
            <a:pPr algn="l" indent="0" marL="0">
              <a:buNone/>
            </a:pPr>
            <a:r>
              <a:rPr lang="en-US" sz="1400" dirty="0">
                <a:solidFill>
                  <a:schemeClr val="tx2"/>
                </a:solidFill>
              </a:rPr>
              <a:t>mixed derivatives are equal,</a:t>
            </a:r>
            <a:endParaRPr lang="en-US" sz="1400" dirty="0"/>
          </a:p>
          <a:p>
            <a:pPr algn="l" indent="0" marL="0">
              <a:buNone/>
            </a:pPr>
            <a:r>
              <a:rPr lang="en-US" sz="1400" dirty="0">
                <a:solidFill>
                  <a:schemeClr val="tx2"/>
                </a:solidFill>
              </a:rPr>
              <a:t>so H is symmetric</a:t>
            </a:r>
            <a:endParaRPr lang="en-US" sz="1400" dirty="0"/>
          </a:p>
        </p:txBody>
      </p:sp>
      <p:sp>
        <p:nvSpPr>
          <p:cNvPr id="10" name="b2-t-93"/>
          <p:cNvSpPr txBox="1"/>
          <p:nvPr/>
        </p:nvSpPr>
        <p:spPr>
          <a:xfrm>
            <a:off x="6309360" y="1298448"/>
            <a:ext cx="5212080" cy="274320"/>
          </a:xfrm>
          <a:prstGeom prst="rect">
            <a:avLst/>
          </a:prstGeom>
          <a:noFill/>
          <a:ln/>
        </p:spPr>
        <p:txBody>
          <a:bodyPr wrap="square" lIns="0" tIns="0" rIns="0" bIns="0" rtlCol="0" anchor="t"/>
          <a:lstStyle/>
          <a:p>
            <a:pPr algn="l" indent="0" marL="0">
              <a:buNone/>
            </a:pPr>
            <a:r>
              <a:rPr lang="en-US" sz="1400" dirty="0">
                <a:solidFill>
                  <a:schemeClr val="tx2"/>
                </a:solidFill>
              </a:rPr>
              <a:t>one variable</a:t>
            </a:r>
            <a:endParaRPr lang="en-US" sz="1400" dirty="0"/>
          </a:p>
        </p:txBody>
      </p:sp>
      <p:pic>
        <p:nvPicPr>
          <p:cNvPr id="11" name="b2-eq-94" descr="f(x_0 + d) \approx f(x_0) + f'(x_0)\,d + \tfrac12\,f''(x_0)\,d^2">    </p:cNvPr>
          <p:cNvPicPr>
            <a:picLocks noChangeAspect="1"/>
          </p:cNvPicPr>
          <p:nvPr/>
        </p:nvPicPr>
        <p:blipFill>
          <a:blip r:embed="rId4"/>
          <a:stretch>
            <a:fillRect/>
          </a:stretch>
        </p:blipFill>
        <p:spPr>
          <a:xfrm>
            <a:off x="6309360" y="1627632"/>
            <a:ext cx="3374136" cy="288036"/>
          </a:xfrm>
          <a:prstGeom prst="rect">
            <a:avLst/>
          </a:prstGeom>
        </p:spPr>
      </p:pic>
      <p:sp>
        <p:nvSpPr>
          <p:cNvPr id="12" name="b2-t-95"/>
          <p:cNvSpPr txBox="1"/>
          <p:nvPr/>
        </p:nvSpPr>
        <p:spPr>
          <a:xfrm>
            <a:off x="6309360" y="2212848"/>
            <a:ext cx="5212080" cy="274320"/>
          </a:xfrm>
          <a:prstGeom prst="rect">
            <a:avLst/>
          </a:prstGeom>
          <a:noFill/>
          <a:ln/>
        </p:spPr>
        <p:txBody>
          <a:bodyPr wrap="square" lIns="0" tIns="0" rIns="0" bIns="0" rtlCol="0" anchor="t"/>
          <a:lstStyle/>
          <a:p>
            <a:pPr algn="l" indent="0" marL="0">
              <a:buNone/>
            </a:pPr>
            <a:r>
              <a:rPr lang="en-US" sz="1400" dirty="0">
                <a:solidFill>
                  <a:schemeClr val="tx2"/>
                </a:solidFill>
              </a:rPr>
              <a:t>n variables</a:t>
            </a:r>
            <a:endParaRPr lang="en-US" sz="1400" dirty="0"/>
          </a:p>
        </p:txBody>
      </p:sp>
      <p:pic>
        <p:nvPicPr>
          <p:cNvPr id="13" name="b2-eq-96" descr="f(\vc{x}_0 + \vc{d}) \approx f(\vc{x}_0) + \nabla f(\vc{x}_0)\T\vc{d} + \tfrac12\,\vc{d}\T\mat{H}(\vc{x}_0)\,\vc{d}">    </p:cNvPr>
          <p:cNvPicPr>
            <a:picLocks noChangeAspect="1"/>
          </p:cNvPicPr>
          <p:nvPr/>
        </p:nvPicPr>
        <p:blipFill>
          <a:blip r:embed="rId5"/>
          <a:stretch>
            <a:fillRect/>
          </a:stretch>
        </p:blipFill>
        <p:spPr>
          <a:xfrm>
            <a:off x="6309360" y="2542032"/>
            <a:ext cx="4309110" cy="338328"/>
          </a:xfrm>
          <a:prstGeom prst="rect">
            <a:avLst/>
          </a:prstGeom>
        </p:spPr>
      </p:pic>
      <p:sp>
        <p:nvSpPr>
          <p:cNvPr id="14" name="b3-t-97"/>
          <p:cNvSpPr txBox="1"/>
          <p:nvPr/>
        </p:nvSpPr>
        <p:spPr>
          <a:xfrm>
            <a:off x="6309360" y="3246120"/>
            <a:ext cx="5276088" cy="320040"/>
          </a:xfrm>
          <a:prstGeom prst="rect">
            <a:avLst/>
          </a:prstGeom>
          <a:noFill/>
          <a:ln/>
        </p:spPr>
        <p:txBody>
          <a:bodyPr wrap="square" lIns="0" tIns="0" rIns="0" bIns="0" rtlCol="0" anchor="t"/>
          <a:lstStyle/>
          <a:p>
            <a:pPr algn="l" indent="0" marL="0">
              <a:buNone/>
            </a:pPr>
            <a:r>
              <a:rPr lang="en-US" sz="1600" dirty="0">
                <a:solidFill>
                  <a:schemeClr val="tx1"/>
                </a:solidFill>
              </a:rPr>
              <a:t>At a critical point the linear term vanishes:</a:t>
            </a:r>
            <a:endParaRPr lang="en-US" sz="1600" dirty="0"/>
          </a:p>
        </p:txBody>
      </p:sp>
      <p:pic>
        <p:nvPicPr>
          <p:cNvPr id="15" name="b3-eq-98" descr="\nabla f(\vc{x}_0) = \vc{0} \quad\Longrightarrow\quad f(\vc{x}_0 + \vc{d}) - f(\vc{x}_0) \approx \tfrac12\,\red{\vc{d}\T\mat{H}\,\vc{d}}">    </p:cNvPr>
          <p:cNvPicPr>
            <a:picLocks noChangeAspect="1"/>
          </p:cNvPicPr>
          <p:nvPr/>
        </p:nvPicPr>
        <p:blipFill>
          <a:blip r:embed="rId6"/>
          <a:stretch>
            <a:fillRect/>
          </a:stretch>
        </p:blipFill>
        <p:spPr>
          <a:xfrm>
            <a:off x="6309360" y="3657600"/>
            <a:ext cx="4729734" cy="338328"/>
          </a:xfrm>
          <a:prstGeom prst="rect">
            <a:avLst/>
          </a:prstGeom>
        </p:spPr>
      </p:pic>
      <p:sp>
        <p:nvSpPr>
          <p:cNvPr id="16" name="b4-box-99"/>
          <p:cNvSpPr/>
          <p:nvPr/>
        </p:nvSpPr>
        <p:spPr>
          <a:xfrm>
            <a:off x="6309360" y="4343400"/>
            <a:ext cx="5276088" cy="1371600"/>
          </a:xfrm>
          <a:prstGeom prst="roundRect">
            <a:avLst>
              <a:gd name="adj" fmla="val 4000"/>
            </a:avLst>
          </a:prstGeom>
          <a:solidFill>
            <a:schemeClr val="accent2"/>
          </a:solidFill>
          <a:ln/>
        </p:spPr>
      </p:sp>
      <p:sp>
        <p:nvSpPr>
          <p:cNvPr id="17" name="b4-t-100"/>
          <p:cNvSpPr txBox="1"/>
          <p:nvPr/>
        </p:nvSpPr>
        <p:spPr>
          <a:xfrm>
            <a:off x="6537960" y="4471416"/>
            <a:ext cx="4818888"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8" name="b4-t-101"/>
          <p:cNvSpPr txBox="1"/>
          <p:nvPr/>
        </p:nvSpPr>
        <p:spPr>
          <a:xfrm>
            <a:off x="6537960" y="4764024"/>
            <a:ext cx="4818888" cy="841248"/>
          </a:xfrm>
          <a:prstGeom prst="rect">
            <a:avLst/>
          </a:prstGeom>
          <a:noFill/>
          <a:ln/>
        </p:spPr>
        <p:txBody>
          <a:bodyPr wrap="square" lIns="0" tIns="0" rIns="0" bIns="0" rtlCol="0" anchor="t"/>
          <a:lstStyle/>
          <a:p>
            <a:pPr algn="l" indent="0" marL="0">
              <a:buNone/>
            </a:pPr>
            <a:r>
              <a:rPr lang="en-US" sz="1600" dirty="0">
                <a:solidFill>
                  <a:schemeClr val="tx1"/>
                </a:solidFill>
              </a:rPr>
              <a:t>If H(x₀) is positive definite, the critical point x₀ is a local minimum. A question about f becomes a question about a matrix.</a:t>
            </a:r>
            <a:endParaRPr lang="en-US" sz="1600" dirty="0"/>
          </a:p>
        </p:txBody>
      </p:sp>
      <p:sp>
        <p:nvSpPr>
          <p:cNvPr id="19" name="t-102"/>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For n = 1 the Hessian is the single number f″(x₀), and positive definite means f″(x₀) &gt; 0.</a:t>
            </a:r>
            <a:endParaRPr lang="en-US" sz="1400" dirty="0"/>
          </a:p>
        </p:txBody>
      </p:sp>
      <p:sp>
        <p:nvSpPr>
          <p:cNvPr id="20"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The second derivative test</a:t>
            </a:r>
            <a:endParaRPr lang="en-US" sz="2800" dirty="0"/>
          </a:p>
        </p:txBody>
      </p:sp>
      <p:sp>
        <p:nvSpPr>
          <p:cNvPr id="3" name="t-103"/>
          <p:cNvSpPr txBox="1"/>
          <p:nvPr/>
        </p:nvSpPr>
        <p:spPr>
          <a:xfrm>
            <a:off x="612648" y="1298448"/>
            <a:ext cx="10972800" cy="320040"/>
          </a:xfrm>
          <a:prstGeom prst="rect">
            <a:avLst/>
          </a:prstGeom>
          <a:noFill/>
          <a:ln/>
        </p:spPr>
        <p:txBody>
          <a:bodyPr wrap="square" lIns="0" tIns="0" rIns="0" bIns="0" rtlCol="0" anchor="t"/>
          <a:lstStyle/>
          <a:p>
            <a:pPr algn="l" indent="0" marL="0">
              <a:buNone/>
            </a:pPr>
            <a:r>
              <a:rPr lang="en-US" sz="1600" dirty="0">
                <a:solidFill>
                  <a:schemeClr val="tx1"/>
                </a:solidFill>
              </a:rPr>
              <a:t>At a critical point x₀, where the gradient is zero, look at the Hessian H(x₀):</a:t>
            </a:r>
            <a:endParaRPr lang="en-US" sz="1600" dirty="0"/>
          </a:p>
        </p:txBody>
      </p:sp>
      <p:sp>
        <p:nvSpPr>
          <p:cNvPr id="4" name="b1-box-104"/>
          <p:cNvSpPr/>
          <p:nvPr/>
        </p:nvSpPr>
        <p:spPr>
          <a:xfrm>
            <a:off x="612648" y="1828800"/>
            <a:ext cx="6949440" cy="850392"/>
          </a:xfrm>
          <a:prstGeom prst="roundRect">
            <a:avLst>
              <a:gd name="adj" fmla="val 6452"/>
            </a:avLst>
          </a:prstGeom>
          <a:solidFill>
            <a:schemeClr val="bg2"/>
          </a:solidFill>
          <a:ln/>
        </p:spPr>
      </p:sp>
      <p:pic>
        <p:nvPicPr>
          <p:cNvPr id="5" name="b1-img-105" descr="positive definite shape">    </p:cNvPr>
          <p:cNvPicPr>
            <a:picLocks noChangeAspect="1"/>
          </p:cNvPicPr>
          <p:nvPr/>
        </p:nvPicPr>
        <p:blipFill>
          <a:blip r:embed="rId1"/>
          <a:stretch>
            <a:fillRect/>
          </a:stretch>
        </p:blipFill>
        <p:spPr>
          <a:xfrm>
            <a:off x="722376" y="1892808"/>
            <a:ext cx="896112" cy="723783"/>
          </a:xfrm>
          <a:prstGeom prst="rect">
            <a:avLst/>
          </a:prstGeom>
        </p:spPr>
      </p:pic>
      <p:sp>
        <p:nvSpPr>
          <p:cNvPr id="6" name="b1-t-106"/>
          <p:cNvSpPr txBox="1"/>
          <p:nvPr/>
        </p:nvSpPr>
        <p:spPr>
          <a:xfrm>
            <a:off x="1755648" y="1956816"/>
            <a:ext cx="3931920" cy="274320"/>
          </a:xfrm>
          <a:prstGeom prst="rect">
            <a:avLst/>
          </a:prstGeom>
          <a:noFill/>
          <a:ln/>
        </p:spPr>
        <p:txBody>
          <a:bodyPr wrap="square" lIns="0" tIns="0" rIns="0" bIns="0" rtlCol="0" anchor="t"/>
          <a:lstStyle/>
          <a:p>
            <a:pPr algn="l" indent="0" marL="0">
              <a:buNone/>
            </a:pPr>
            <a:r>
              <a:rPr lang="en-US" sz="1600" b="1" dirty="0">
                <a:solidFill>
                  <a:schemeClr val="tx1"/>
                </a:solidFill>
              </a:rPr>
              <a:t>positive definite</a:t>
            </a:r>
            <a:endParaRPr lang="en-US" sz="1600" dirty="0"/>
          </a:p>
        </p:txBody>
      </p:sp>
      <p:sp>
        <p:nvSpPr>
          <p:cNvPr id="7" name="b1-t-107"/>
          <p:cNvSpPr txBox="1"/>
          <p:nvPr/>
        </p:nvSpPr>
        <p:spPr>
          <a:xfrm>
            <a:off x="1755648" y="2286000"/>
            <a:ext cx="3931920" cy="274320"/>
          </a:xfrm>
          <a:prstGeom prst="rect">
            <a:avLst/>
          </a:prstGeom>
          <a:noFill/>
          <a:ln/>
        </p:spPr>
        <p:txBody>
          <a:bodyPr wrap="square" lIns="0" tIns="0" rIns="0" bIns="0" rtlCol="0" anchor="t"/>
          <a:lstStyle/>
          <a:p>
            <a:pPr algn="l" indent="0" marL="0">
              <a:buNone/>
            </a:pPr>
            <a:r>
              <a:rPr lang="en-US" sz="1400" dirty="0">
                <a:solidFill>
                  <a:schemeClr val="tx2"/>
                </a:solidFill>
              </a:rPr>
              <a:t>all eigenvalues positive</a:t>
            </a:r>
            <a:endParaRPr lang="en-US" sz="1400" dirty="0"/>
          </a:p>
        </p:txBody>
      </p:sp>
      <p:sp>
        <p:nvSpPr>
          <p:cNvPr id="8" name="b1-t-108"/>
          <p:cNvSpPr txBox="1"/>
          <p:nvPr/>
        </p:nvSpPr>
        <p:spPr>
          <a:xfrm>
            <a:off x="5733288" y="1956816"/>
            <a:ext cx="1737360" cy="594360"/>
          </a:xfrm>
          <a:prstGeom prst="rect">
            <a:avLst/>
          </a:prstGeom>
          <a:noFill/>
          <a:ln/>
        </p:spPr>
        <p:txBody>
          <a:bodyPr wrap="square" lIns="0" tIns="0" rIns="0" bIns="0" rtlCol="0" anchor="ctr"/>
          <a:lstStyle/>
          <a:p>
            <a:pPr algn="l" indent="0" marL="0">
              <a:buNone/>
            </a:pPr>
            <a:r>
              <a:rPr lang="en-US" sz="1500" b="1" dirty="0">
                <a:solidFill>
                  <a:schemeClr val="tx1"/>
                </a:solidFill>
              </a:rPr>
              <a:t>local minimum</a:t>
            </a:r>
            <a:endParaRPr lang="en-US" sz="1500" dirty="0"/>
          </a:p>
        </p:txBody>
      </p:sp>
      <p:sp>
        <p:nvSpPr>
          <p:cNvPr id="9" name="b2-box-109"/>
          <p:cNvSpPr/>
          <p:nvPr/>
        </p:nvSpPr>
        <p:spPr>
          <a:xfrm>
            <a:off x="612648" y="2807208"/>
            <a:ext cx="6949440" cy="850392"/>
          </a:xfrm>
          <a:prstGeom prst="roundRect">
            <a:avLst>
              <a:gd name="adj" fmla="val 6452"/>
            </a:avLst>
          </a:prstGeom>
          <a:solidFill>
            <a:schemeClr val="bg2"/>
          </a:solidFill>
          <a:ln/>
        </p:spPr>
      </p:sp>
      <p:pic>
        <p:nvPicPr>
          <p:cNvPr id="10" name="b2-img-110" descr="negative definite shape">    </p:cNvPr>
          <p:cNvPicPr>
            <a:picLocks noChangeAspect="1"/>
          </p:cNvPicPr>
          <p:nvPr/>
        </p:nvPicPr>
        <p:blipFill>
          <a:blip r:embed="rId2"/>
          <a:stretch>
            <a:fillRect/>
          </a:stretch>
        </p:blipFill>
        <p:spPr>
          <a:xfrm>
            <a:off x="722376" y="2871216"/>
            <a:ext cx="896112" cy="723783"/>
          </a:xfrm>
          <a:prstGeom prst="rect">
            <a:avLst/>
          </a:prstGeom>
        </p:spPr>
      </p:pic>
      <p:sp>
        <p:nvSpPr>
          <p:cNvPr id="11" name="b2-t-111"/>
          <p:cNvSpPr txBox="1"/>
          <p:nvPr/>
        </p:nvSpPr>
        <p:spPr>
          <a:xfrm>
            <a:off x="1755648" y="2935224"/>
            <a:ext cx="3931920" cy="274320"/>
          </a:xfrm>
          <a:prstGeom prst="rect">
            <a:avLst/>
          </a:prstGeom>
          <a:noFill/>
          <a:ln/>
        </p:spPr>
        <p:txBody>
          <a:bodyPr wrap="square" lIns="0" tIns="0" rIns="0" bIns="0" rtlCol="0" anchor="t"/>
          <a:lstStyle/>
          <a:p>
            <a:pPr algn="l" indent="0" marL="0">
              <a:buNone/>
            </a:pPr>
            <a:r>
              <a:rPr lang="en-US" sz="1600" b="1" dirty="0">
                <a:solidFill>
                  <a:schemeClr val="tx1"/>
                </a:solidFill>
              </a:rPr>
              <a:t>negative definite</a:t>
            </a:r>
            <a:endParaRPr lang="en-US" sz="1600" dirty="0"/>
          </a:p>
        </p:txBody>
      </p:sp>
      <p:sp>
        <p:nvSpPr>
          <p:cNvPr id="12" name="b2-t-112"/>
          <p:cNvSpPr txBox="1"/>
          <p:nvPr/>
        </p:nvSpPr>
        <p:spPr>
          <a:xfrm>
            <a:off x="1755648" y="3264408"/>
            <a:ext cx="3931920" cy="274320"/>
          </a:xfrm>
          <a:prstGeom prst="rect">
            <a:avLst/>
          </a:prstGeom>
          <a:noFill/>
          <a:ln/>
        </p:spPr>
        <p:txBody>
          <a:bodyPr wrap="square" lIns="0" tIns="0" rIns="0" bIns="0" rtlCol="0" anchor="t"/>
          <a:lstStyle/>
          <a:p>
            <a:pPr algn="l" indent="0" marL="0">
              <a:buNone/>
            </a:pPr>
            <a:r>
              <a:rPr lang="en-US" sz="1400" dirty="0">
                <a:solidFill>
                  <a:schemeClr val="tx2"/>
                </a:solidFill>
              </a:rPr>
              <a:t>all eigenvalues negative</a:t>
            </a:r>
            <a:endParaRPr lang="en-US" sz="1400" dirty="0"/>
          </a:p>
        </p:txBody>
      </p:sp>
      <p:sp>
        <p:nvSpPr>
          <p:cNvPr id="13" name="b2-t-113"/>
          <p:cNvSpPr txBox="1"/>
          <p:nvPr/>
        </p:nvSpPr>
        <p:spPr>
          <a:xfrm>
            <a:off x="5733288" y="2935224"/>
            <a:ext cx="1737360" cy="594360"/>
          </a:xfrm>
          <a:prstGeom prst="rect">
            <a:avLst/>
          </a:prstGeom>
          <a:noFill/>
          <a:ln/>
        </p:spPr>
        <p:txBody>
          <a:bodyPr wrap="square" lIns="0" tIns="0" rIns="0" bIns="0" rtlCol="0" anchor="ctr"/>
          <a:lstStyle/>
          <a:p>
            <a:pPr algn="l" indent="0" marL="0">
              <a:buNone/>
            </a:pPr>
            <a:r>
              <a:rPr lang="en-US" sz="1500" b="1" dirty="0">
                <a:solidFill>
                  <a:schemeClr val="tx1"/>
                </a:solidFill>
              </a:rPr>
              <a:t>local maximum</a:t>
            </a:r>
            <a:endParaRPr lang="en-US" sz="1500" dirty="0"/>
          </a:p>
        </p:txBody>
      </p:sp>
      <p:sp>
        <p:nvSpPr>
          <p:cNvPr id="14" name="b3-box-114"/>
          <p:cNvSpPr/>
          <p:nvPr/>
        </p:nvSpPr>
        <p:spPr>
          <a:xfrm>
            <a:off x="612648" y="3785616"/>
            <a:ext cx="6949440" cy="850392"/>
          </a:xfrm>
          <a:prstGeom prst="roundRect">
            <a:avLst>
              <a:gd name="adj" fmla="val 6452"/>
            </a:avLst>
          </a:prstGeom>
          <a:solidFill>
            <a:schemeClr val="bg2"/>
          </a:solidFill>
          <a:ln/>
        </p:spPr>
      </p:sp>
      <p:pic>
        <p:nvPicPr>
          <p:cNvPr id="15" name="b3-img-115" descr="indefinite shape">    </p:cNvPr>
          <p:cNvPicPr>
            <a:picLocks noChangeAspect="1"/>
          </p:cNvPicPr>
          <p:nvPr/>
        </p:nvPicPr>
        <p:blipFill>
          <a:blip r:embed="rId3"/>
          <a:stretch>
            <a:fillRect/>
          </a:stretch>
        </p:blipFill>
        <p:spPr>
          <a:xfrm>
            <a:off x="722376" y="3849624"/>
            <a:ext cx="896112" cy="723783"/>
          </a:xfrm>
          <a:prstGeom prst="rect">
            <a:avLst/>
          </a:prstGeom>
        </p:spPr>
      </p:pic>
      <p:sp>
        <p:nvSpPr>
          <p:cNvPr id="16" name="b3-t-116"/>
          <p:cNvSpPr txBox="1"/>
          <p:nvPr/>
        </p:nvSpPr>
        <p:spPr>
          <a:xfrm>
            <a:off x="1755648" y="3913632"/>
            <a:ext cx="3931920" cy="274320"/>
          </a:xfrm>
          <a:prstGeom prst="rect">
            <a:avLst/>
          </a:prstGeom>
          <a:noFill/>
          <a:ln/>
        </p:spPr>
        <p:txBody>
          <a:bodyPr wrap="square" lIns="0" tIns="0" rIns="0" bIns="0" rtlCol="0" anchor="t"/>
          <a:lstStyle/>
          <a:p>
            <a:pPr algn="l" indent="0" marL="0">
              <a:buNone/>
            </a:pPr>
            <a:r>
              <a:rPr lang="en-US" sz="1600" b="1" dirty="0">
                <a:solidFill>
                  <a:schemeClr val="tx1"/>
                </a:solidFill>
              </a:rPr>
              <a:t>indefinite</a:t>
            </a:r>
            <a:endParaRPr lang="en-US" sz="1600" dirty="0"/>
          </a:p>
        </p:txBody>
      </p:sp>
      <p:sp>
        <p:nvSpPr>
          <p:cNvPr id="17" name="b3-t-117"/>
          <p:cNvSpPr txBox="1"/>
          <p:nvPr/>
        </p:nvSpPr>
        <p:spPr>
          <a:xfrm>
            <a:off x="1755648" y="4242816"/>
            <a:ext cx="3931920" cy="274320"/>
          </a:xfrm>
          <a:prstGeom prst="rect">
            <a:avLst/>
          </a:prstGeom>
          <a:noFill/>
          <a:ln/>
        </p:spPr>
        <p:txBody>
          <a:bodyPr wrap="square" lIns="0" tIns="0" rIns="0" bIns="0" rtlCol="0" anchor="t"/>
          <a:lstStyle/>
          <a:p>
            <a:pPr algn="l" indent="0" marL="0">
              <a:buNone/>
            </a:pPr>
            <a:r>
              <a:rPr lang="en-US" sz="1400" dirty="0">
                <a:solidFill>
                  <a:schemeClr val="tx2"/>
                </a:solidFill>
              </a:rPr>
              <a:t>eigenvalues of both signs</a:t>
            </a:r>
            <a:endParaRPr lang="en-US" sz="1400" dirty="0"/>
          </a:p>
        </p:txBody>
      </p:sp>
      <p:sp>
        <p:nvSpPr>
          <p:cNvPr id="18" name="b3-t-118"/>
          <p:cNvSpPr txBox="1"/>
          <p:nvPr/>
        </p:nvSpPr>
        <p:spPr>
          <a:xfrm>
            <a:off x="5733288" y="3913632"/>
            <a:ext cx="1737360" cy="594360"/>
          </a:xfrm>
          <a:prstGeom prst="rect">
            <a:avLst/>
          </a:prstGeom>
          <a:noFill/>
          <a:ln/>
        </p:spPr>
        <p:txBody>
          <a:bodyPr wrap="square" lIns="0" tIns="0" rIns="0" bIns="0" rtlCol="0" anchor="ctr"/>
          <a:lstStyle/>
          <a:p>
            <a:pPr algn="l" indent="0" marL="0">
              <a:buNone/>
            </a:pPr>
            <a:r>
              <a:rPr lang="en-US" sz="1500" b="1" dirty="0">
                <a:solidFill>
                  <a:schemeClr val="tx1"/>
                </a:solidFill>
              </a:rPr>
              <a:t>saddle</a:t>
            </a:r>
            <a:endParaRPr lang="en-US" sz="1500" dirty="0"/>
          </a:p>
        </p:txBody>
      </p:sp>
      <p:sp>
        <p:nvSpPr>
          <p:cNvPr id="19" name="b4-box-119"/>
          <p:cNvSpPr/>
          <p:nvPr/>
        </p:nvSpPr>
        <p:spPr>
          <a:xfrm>
            <a:off x="612648" y="4764024"/>
            <a:ext cx="6949440" cy="850392"/>
          </a:xfrm>
          <a:prstGeom prst="roundRect">
            <a:avLst>
              <a:gd name="adj" fmla="val 6452"/>
            </a:avLst>
          </a:prstGeom>
          <a:solidFill>
            <a:schemeClr val="bg2"/>
          </a:solidFill>
          <a:ln/>
        </p:spPr>
      </p:sp>
      <p:pic>
        <p:nvPicPr>
          <p:cNvPr id="20" name="b4-img-120" descr="semi-definite shape">    </p:cNvPr>
          <p:cNvPicPr>
            <a:picLocks noChangeAspect="1"/>
          </p:cNvPicPr>
          <p:nvPr/>
        </p:nvPicPr>
        <p:blipFill>
          <a:blip r:embed="rId4"/>
          <a:stretch>
            <a:fillRect/>
          </a:stretch>
        </p:blipFill>
        <p:spPr>
          <a:xfrm>
            <a:off x="722376" y="4828032"/>
            <a:ext cx="896112" cy="723783"/>
          </a:xfrm>
          <a:prstGeom prst="rect">
            <a:avLst/>
          </a:prstGeom>
        </p:spPr>
      </p:pic>
      <p:sp>
        <p:nvSpPr>
          <p:cNvPr id="21" name="b4-t-121"/>
          <p:cNvSpPr txBox="1"/>
          <p:nvPr/>
        </p:nvSpPr>
        <p:spPr>
          <a:xfrm>
            <a:off x="1755648" y="4892040"/>
            <a:ext cx="3931920" cy="274320"/>
          </a:xfrm>
          <a:prstGeom prst="rect">
            <a:avLst/>
          </a:prstGeom>
          <a:noFill/>
          <a:ln/>
        </p:spPr>
        <p:txBody>
          <a:bodyPr wrap="square" lIns="0" tIns="0" rIns="0" bIns="0" rtlCol="0" anchor="t"/>
          <a:lstStyle/>
          <a:p>
            <a:pPr algn="l" indent="0" marL="0">
              <a:buNone/>
            </a:pPr>
            <a:r>
              <a:rPr lang="en-US" sz="1600" b="1" dirty="0">
                <a:solidFill>
                  <a:schemeClr val="tx1"/>
                </a:solidFill>
              </a:rPr>
              <a:t>semi-definite</a:t>
            </a:r>
            <a:endParaRPr lang="en-US" sz="1600" dirty="0"/>
          </a:p>
        </p:txBody>
      </p:sp>
      <p:sp>
        <p:nvSpPr>
          <p:cNvPr id="22" name="b4-t-122"/>
          <p:cNvSpPr txBox="1"/>
          <p:nvPr/>
        </p:nvSpPr>
        <p:spPr>
          <a:xfrm>
            <a:off x="1755648" y="5221224"/>
            <a:ext cx="3931920" cy="274320"/>
          </a:xfrm>
          <a:prstGeom prst="rect">
            <a:avLst/>
          </a:prstGeom>
          <a:noFill/>
          <a:ln/>
        </p:spPr>
        <p:txBody>
          <a:bodyPr wrap="square" lIns="0" tIns="0" rIns="0" bIns="0" rtlCol="0" anchor="t"/>
          <a:lstStyle/>
          <a:p>
            <a:pPr algn="l" indent="0" marL="0">
              <a:buNone/>
            </a:pPr>
            <a:r>
              <a:rPr lang="en-US" sz="1400" dirty="0">
                <a:solidFill>
                  <a:schemeClr val="tx2"/>
                </a:solidFill>
              </a:rPr>
              <a:t>a zero eigenvalue, the others of one sign</a:t>
            </a:r>
            <a:endParaRPr lang="en-US" sz="1400" dirty="0"/>
          </a:p>
        </p:txBody>
      </p:sp>
      <p:sp>
        <p:nvSpPr>
          <p:cNvPr id="23" name="b4-t-123"/>
          <p:cNvSpPr txBox="1"/>
          <p:nvPr/>
        </p:nvSpPr>
        <p:spPr>
          <a:xfrm>
            <a:off x="5733288" y="4892040"/>
            <a:ext cx="1737360" cy="594360"/>
          </a:xfrm>
          <a:prstGeom prst="rect">
            <a:avLst/>
          </a:prstGeom>
          <a:noFill/>
          <a:ln/>
        </p:spPr>
        <p:txBody>
          <a:bodyPr wrap="square" lIns="0" tIns="0" rIns="0" bIns="0" rtlCol="0" anchor="ctr"/>
          <a:lstStyle/>
          <a:p>
            <a:pPr algn="l" indent="0" marL="0">
              <a:buNone/>
            </a:pPr>
            <a:r>
              <a:rPr lang="en-US" sz="1500" b="1" dirty="0">
                <a:solidFill>
                  <a:schemeClr val="accent1"/>
                </a:solidFill>
              </a:rPr>
              <a:t>no verdict</a:t>
            </a:r>
            <a:endParaRPr lang="en-US" sz="1500" dirty="0"/>
          </a:p>
        </p:txBody>
      </p:sp>
      <p:sp>
        <p:nvSpPr>
          <p:cNvPr id="24" name="b5-box-124"/>
          <p:cNvSpPr/>
          <p:nvPr/>
        </p:nvSpPr>
        <p:spPr>
          <a:xfrm>
            <a:off x="7772400" y="1828800"/>
            <a:ext cx="3813048" cy="3785616"/>
          </a:xfrm>
          <a:prstGeom prst="roundRect">
            <a:avLst>
              <a:gd name="adj" fmla="val 1449"/>
            </a:avLst>
          </a:prstGeom>
          <a:solidFill>
            <a:schemeClr val="accent3"/>
          </a:solidFill>
          <a:ln/>
        </p:spPr>
      </p:sp>
      <p:sp>
        <p:nvSpPr>
          <p:cNvPr id="25" name="b5-t-125"/>
          <p:cNvSpPr txBox="1"/>
          <p:nvPr/>
        </p:nvSpPr>
        <p:spPr>
          <a:xfrm>
            <a:off x="8001000" y="1956816"/>
            <a:ext cx="3355848" cy="201168"/>
          </a:xfrm>
          <a:prstGeom prst="rect">
            <a:avLst/>
          </a:prstGeom>
          <a:noFill/>
          <a:ln/>
        </p:spPr>
        <p:txBody>
          <a:bodyPr wrap="square" lIns="0" tIns="0" rIns="0" bIns="0" rtlCol="0" anchor="t"/>
          <a:lstStyle/>
          <a:p>
            <a:pPr algn="l" indent="0" marL="0">
              <a:buNone/>
            </a:pPr>
            <a:r>
              <a:rPr lang="en-US" sz="1100" b="1" dirty="0">
                <a:solidFill>
                  <a:schemeClr val="accent1"/>
                </a:solidFill>
              </a:rPr>
              <a:t>WATCH OUT</a:t>
            </a:r>
            <a:endParaRPr lang="en-US" sz="1100" dirty="0"/>
          </a:p>
        </p:txBody>
      </p:sp>
      <p:pic>
        <p:nvPicPr>
          <p:cNvPr id="26" name="b5-eq-126" descr="f = x_1^2 + x_2^4 \qquad g = x_1^2 - x_2^4">    </p:cNvPr>
          <p:cNvPicPr>
            <a:picLocks noChangeAspect="1"/>
          </p:cNvPicPr>
          <p:nvPr/>
        </p:nvPicPr>
        <p:blipFill>
          <a:blip r:embed="rId5"/>
          <a:stretch>
            <a:fillRect/>
          </a:stretch>
        </p:blipFill>
        <p:spPr>
          <a:xfrm>
            <a:off x="8001000" y="2286000"/>
            <a:ext cx="2354580" cy="278892"/>
          </a:xfrm>
          <a:prstGeom prst="rect">
            <a:avLst/>
          </a:prstGeom>
        </p:spPr>
      </p:pic>
      <p:pic>
        <p:nvPicPr>
          <p:cNvPr id="27" name="b5-eq-127" descr="\mat{H}(\vc{0}) = \begin{bmatrix} 2 &amp; 0 \\ 0 &amp; 0\end{bmatrix} \text{ for both}">    </p:cNvPr>
          <p:cNvPicPr>
            <a:picLocks noChangeAspect="1"/>
          </p:cNvPicPr>
          <p:nvPr/>
        </p:nvPicPr>
        <p:blipFill>
          <a:blip r:embed="rId6"/>
          <a:stretch>
            <a:fillRect/>
          </a:stretch>
        </p:blipFill>
        <p:spPr>
          <a:xfrm>
            <a:off x="8001000" y="2743200"/>
            <a:ext cx="2132838" cy="507492"/>
          </a:xfrm>
          <a:prstGeom prst="rect">
            <a:avLst/>
          </a:prstGeom>
        </p:spPr>
      </p:pic>
      <p:sp>
        <p:nvSpPr>
          <p:cNvPr id="28" name="b5-t-128"/>
          <p:cNvSpPr txBox="1"/>
          <p:nvPr/>
        </p:nvSpPr>
        <p:spPr>
          <a:xfrm>
            <a:off x="8001000" y="3429000"/>
            <a:ext cx="3355848" cy="2103120"/>
          </a:xfrm>
          <a:prstGeom prst="rect">
            <a:avLst/>
          </a:prstGeom>
          <a:noFill/>
          <a:ln/>
        </p:spPr>
        <p:txBody>
          <a:bodyPr wrap="square" lIns="0" tIns="0" rIns="0" bIns="0" rtlCol="0" anchor="t"/>
          <a:lstStyle/>
          <a:p>
            <a:pPr algn="l" indent="0" marL="0">
              <a:buNone/>
            </a:pPr>
            <a:r>
              <a:rPr lang="en-US" sz="1400" dirty="0">
                <a:solidFill>
                  <a:schemeClr val="tx1"/>
                </a:solidFill>
              </a:rPr>
              <a:t>f has a minimum at the origin. g does not: g(0, x₂) = −x₂⁴ is negative.</a:t>
            </a:r>
            <a:endParaRPr lang="en-US" sz="1400" dirty="0"/>
          </a:p>
          <a:p>
            <a:pPr algn="l" indent="0" marL="0">
              <a:buNone/>
            </a:pPr>
            <a:r>
              <a:rPr lang="en-US" sz="1400" dirty="0">
                <a:solidFill>
                  <a:schemeClr val="tx1"/>
                </a:solidFill>
              </a:rPr>
              <a:t> </a:t>
            </a:r>
            <a:endParaRPr lang="en-US" sz="1400" dirty="0"/>
          </a:p>
          <a:p>
            <a:pPr algn="l" indent="0" marL="0">
              <a:buNone/>
            </a:pPr>
            <a:r>
              <a:rPr lang="en-US" sz="1400" b="1" dirty="0">
                <a:solidFill>
                  <a:schemeClr val="tx1"/>
                </a:solidFill>
              </a:rPr>
              <a:t>The test is sufficient, not necessary.</a:t>
            </a:r>
            <a:endParaRPr lang="en-US" sz="1400" dirty="0"/>
          </a:p>
          <a:p>
            <a:pPr algn="l" indent="0" marL="0">
              <a:buNone/>
            </a:pPr>
            <a:r>
              <a:rPr lang="en-US" sz="1400" dirty="0">
                <a:solidFill>
                  <a:schemeClr val="tx1"/>
                </a:solidFill>
              </a:rPr>
              <a:t> </a:t>
            </a:r>
            <a:endParaRPr lang="en-US" sz="1400" dirty="0"/>
          </a:p>
          <a:p>
            <a:pPr algn="l" indent="0" marL="0">
              <a:buNone/>
            </a:pPr>
            <a:r>
              <a:rPr lang="en-US" sz="1400" dirty="0">
                <a:solidFill>
                  <a:schemeClr val="tx2"/>
                </a:solidFill>
              </a:rPr>
              <a:t>One variable: f″(x₀) = 0 decides nothing either. x⁴ has a minimum at 0, x³ does not.</a:t>
            </a:r>
            <a:endParaRPr lang="en-US" sz="1400" dirty="0"/>
          </a:p>
        </p:txBody>
      </p:sp>
      <p:sp>
        <p:nvSpPr>
          <p:cNvPr id="29" name="t-129"/>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Why eigenvalues: with y = Qᵀd (Q: orthonormal eigenvectors of H), dᵀHd = λ₁y₁² + … + λₙyₙ². Section 5 of the notes.</a:t>
            </a:r>
            <a:endParaRPr lang="en-US" sz="1400" dirty="0"/>
          </a:p>
        </p:txBody>
      </p:sp>
      <p:sp>
        <p:nvSpPr>
          <p:cNvPr id="30"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Example: a minimum and a saddle</a:t>
            </a:r>
            <a:endParaRPr lang="en-US" sz="2800" dirty="0"/>
          </a:p>
        </p:txBody>
      </p:sp>
      <p:sp>
        <p:nvSpPr>
          <p:cNvPr id="3" name="t-130"/>
          <p:cNvSpPr txBox="1"/>
          <p:nvPr/>
        </p:nvSpPr>
        <p:spPr>
          <a:xfrm>
            <a:off x="612648" y="1298448"/>
            <a:ext cx="10972800" cy="32004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two functions. </a:t>
            </a:r>
            <a:pPr algn="l" indent="0" marL="0">
              <a:buNone/>
            </a:pPr>
            <a:r>
              <a:rPr lang="en-US" sz="1600" b="1" dirty="0">
                <a:solidFill>
                  <a:schemeClr val="tx1"/>
                </a:solidFill>
              </a:rPr>
              <a:t>Find</a:t>
            </a:r>
            <a:pPr algn="l" indent="0" marL="0">
              <a:buNone/>
            </a:pPr>
            <a:r>
              <a:rPr lang="en-US" sz="1600" dirty="0">
                <a:solidFill>
                  <a:schemeClr val="tx1"/>
                </a:solidFill>
              </a:rPr>
              <a:t> the kind of critical point each one has at the origin.</a:t>
            </a:r>
            <a:endParaRPr lang="en-US" sz="1600" dirty="0"/>
          </a:p>
        </p:txBody>
      </p:sp>
      <p:pic>
        <p:nvPicPr>
          <p:cNvPr id="4" name="eq-131" descr="f = 2x_1^2 - 2x_1x_2 + 2x_2^2">    </p:cNvPr>
          <p:cNvPicPr>
            <a:picLocks noChangeAspect="1"/>
          </p:cNvPicPr>
          <p:nvPr/>
        </p:nvPicPr>
        <p:blipFill>
          <a:blip r:embed="rId1"/>
          <a:stretch>
            <a:fillRect/>
          </a:stretch>
        </p:blipFill>
        <p:spPr>
          <a:xfrm>
            <a:off x="612648" y="1810512"/>
            <a:ext cx="2176272" cy="301752"/>
          </a:xfrm>
          <a:prstGeom prst="rect">
            <a:avLst/>
          </a:prstGeom>
        </p:spPr>
      </p:pic>
      <p:pic>
        <p:nvPicPr>
          <p:cNvPr id="5" name="b1-eq-132" descr="\mat{H} = \begin{bmatrix} 4 &amp; -2 \\ -2 &amp; 4\end{bmatrix}">    </p:cNvPr>
          <p:cNvPicPr>
            <a:picLocks noChangeAspect="1"/>
          </p:cNvPicPr>
          <p:nvPr/>
        </p:nvPicPr>
        <p:blipFill>
          <a:blip r:embed="rId2"/>
          <a:stretch>
            <a:fillRect/>
          </a:stretch>
        </p:blipFill>
        <p:spPr>
          <a:xfrm>
            <a:off x="612648" y="2377440"/>
            <a:ext cx="1437894" cy="537210"/>
          </a:xfrm>
          <a:prstGeom prst="rect">
            <a:avLst/>
          </a:prstGeom>
        </p:spPr>
      </p:pic>
      <p:pic>
        <p:nvPicPr>
          <p:cNvPr id="6" name="b2-eq-133" descr="\lambda = 2,\ 6">    </p:cNvPr>
          <p:cNvPicPr>
            <a:picLocks noChangeAspect="1"/>
          </p:cNvPicPr>
          <p:nvPr/>
        </p:nvPicPr>
        <p:blipFill>
          <a:blip r:embed="rId3"/>
          <a:stretch>
            <a:fillRect/>
          </a:stretch>
        </p:blipFill>
        <p:spPr>
          <a:xfrm>
            <a:off x="612648" y="3200400"/>
            <a:ext cx="880110" cy="246888"/>
          </a:xfrm>
          <a:prstGeom prst="rect">
            <a:avLst/>
          </a:prstGeom>
        </p:spPr>
      </p:pic>
      <p:sp>
        <p:nvSpPr>
          <p:cNvPr id="7" name="b2-t-134"/>
          <p:cNvSpPr txBox="1"/>
          <p:nvPr/>
        </p:nvSpPr>
        <p:spPr>
          <a:xfrm>
            <a:off x="612648" y="3547872"/>
            <a:ext cx="2926080" cy="566928"/>
          </a:xfrm>
          <a:prstGeom prst="rect">
            <a:avLst/>
          </a:prstGeom>
          <a:noFill/>
          <a:ln/>
        </p:spPr>
        <p:txBody>
          <a:bodyPr wrap="square" lIns="0" tIns="0" rIns="0" bIns="0" rtlCol="0" anchor="t"/>
          <a:lstStyle/>
          <a:p>
            <a:pPr algn="l" indent="0" marL="0">
              <a:buNone/>
            </a:pPr>
            <a:r>
              <a:rPr lang="en-US" sz="1600" b="1" dirty="0">
                <a:solidFill>
                  <a:schemeClr val="tx1"/>
                </a:solidFill>
              </a:rPr>
              <a:t>positive definite</a:t>
            </a:r>
            <a:endParaRPr lang="en-US" sz="1600" dirty="0"/>
          </a:p>
          <a:p>
            <a:pPr algn="l" indent="0" marL="0">
              <a:buNone/>
            </a:pPr>
            <a:r>
              <a:rPr lang="en-US" sz="1600" dirty="0">
                <a:solidFill>
                  <a:schemeClr val="tx1"/>
                </a:solidFill>
              </a:rPr>
              <a:t>a minimum at the origin</a:t>
            </a:r>
            <a:endParaRPr lang="en-US" sz="1600" dirty="0"/>
          </a:p>
        </p:txBody>
      </p:sp>
      <p:pic>
        <p:nvPicPr>
          <p:cNvPr id="8" name="b2-eq-135" descr="f = x_1^2 + (x_1 - x_2)^2 + x_2^2 \ \geq\ 0">    </p:cNvPr>
          <p:cNvPicPr>
            <a:picLocks noChangeAspect="1"/>
          </p:cNvPicPr>
          <p:nvPr/>
        </p:nvPicPr>
        <p:blipFill>
          <a:blip r:embed="rId4"/>
          <a:stretch>
            <a:fillRect/>
          </a:stretch>
        </p:blipFill>
        <p:spPr>
          <a:xfrm>
            <a:off x="612648" y="4224528"/>
            <a:ext cx="2468880" cy="265176"/>
          </a:xfrm>
          <a:prstGeom prst="rect">
            <a:avLst/>
          </a:prstGeom>
        </p:spPr>
      </p:pic>
      <p:pic>
        <p:nvPicPr>
          <p:cNvPr id="9" name="b3-img-136" descr="Contours of f: closed ellipses around the origin">    </p:cNvPr>
          <p:cNvPicPr>
            <a:picLocks noChangeAspect="1"/>
          </p:cNvPicPr>
          <p:nvPr/>
        </p:nvPicPr>
        <p:blipFill>
          <a:blip r:embed="rId5"/>
          <a:stretch>
            <a:fillRect/>
          </a:stretch>
        </p:blipFill>
        <p:spPr>
          <a:xfrm>
            <a:off x="3675888" y="2286000"/>
            <a:ext cx="2103120" cy="2117311"/>
          </a:xfrm>
          <a:prstGeom prst="rect">
            <a:avLst/>
          </a:prstGeom>
        </p:spPr>
      </p:pic>
      <p:pic>
        <p:nvPicPr>
          <p:cNvPr id="10" name="eq-137" descr="g = 2x_1^2 + 6x_1x_2 + 2x_2^2">    </p:cNvPr>
          <p:cNvPicPr>
            <a:picLocks noChangeAspect="1"/>
          </p:cNvPicPr>
          <p:nvPr/>
        </p:nvPicPr>
        <p:blipFill>
          <a:blip r:embed="rId6"/>
          <a:stretch>
            <a:fillRect/>
          </a:stretch>
        </p:blipFill>
        <p:spPr>
          <a:xfrm>
            <a:off x="6336792" y="1810512"/>
            <a:ext cx="2219706" cy="301752"/>
          </a:xfrm>
          <a:prstGeom prst="rect">
            <a:avLst/>
          </a:prstGeom>
        </p:spPr>
      </p:pic>
      <p:pic>
        <p:nvPicPr>
          <p:cNvPr id="11" name="b1-eq-138" descr="\mat{H} = \begin{bmatrix} 4 &amp; 6 \\ 6 &amp; 4\end{bmatrix}">    </p:cNvPr>
          <p:cNvPicPr>
            <a:picLocks noChangeAspect="1"/>
          </p:cNvPicPr>
          <p:nvPr/>
        </p:nvPicPr>
        <p:blipFill>
          <a:blip r:embed="rId7"/>
          <a:stretch>
            <a:fillRect/>
          </a:stretch>
        </p:blipFill>
        <p:spPr>
          <a:xfrm>
            <a:off x="6336792" y="2377440"/>
            <a:ext cx="1097280" cy="537210"/>
          </a:xfrm>
          <a:prstGeom prst="rect">
            <a:avLst/>
          </a:prstGeom>
        </p:spPr>
      </p:pic>
      <p:pic>
        <p:nvPicPr>
          <p:cNvPr id="12" name="b2-eq-139" descr="\lambda = \red{-2},\ 10">    </p:cNvPr>
          <p:cNvPicPr>
            <a:picLocks noChangeAspect="1"/>
          </p:cNvPicPr>
          <p:nvPr/>
        </p:nvPicPr>
        <p:blipFill>
          <a:blip r:embed="rId8"/>
          <a:stretch>
            <a:fillRect/>
          </a:stretch>
        </p:blipFill>
        <p:spPr>
          <a:xfrm>
            <a:off x="6336792" y="3200400"/>
            <a:ext cx="1177290" cy="246888"/>
          </a:xfrm>
          <a:prstGeom prst="rect">
            <a:avLst/>
          </a:prstGeom>
        </p:spPr>
      </p:pic>
      <p:sp>
        <p:nvSpPr>
          <p:cNvPr id="13" name="b2-t-140"/>
          <p:cNvSpPr txBox="1"/>
          <p:nvPr/>
        </p:nvSpPr>
        <p:spPr>
          <a:xfrm>
            <a:off x="6336792" y="3547872"/>
            <a:ext cx="2926080" cy="566928"/>
          </a:xfrm>
          <a:prstGeom prst="rect">
            <a:avLst/>
          </a:prstGeom>
          <a:noFill/>
          <a:ln/>
        </p:spPr>
        <p:txBody>
          <a:bodyPr wrap="square" lIns="0" tIns="0" rIns="0" bIns="0" rtlCol="0" anchor="t"/>
          <a:lstStyle/>
          <a:p>
            <a:pPr algn="l" indent="0" marL="0">
              <a:buNone/>
            </a:pPr>
            <a:r>
              <a:rPr lang="en-US" sz="1600" b="1" dirty="0">
                <a:solidFill>
                  <a:schemeClr val="accent1"/>
                </a:solidFill>
              </a:rPr>
              <a:t>indefinite</a:t>
            </a:r>
            <a:endParaRPr lang="en-US" sz="1600" dirty="0"/>
          </a:p>
          <a:p>
            <a:pPr algn="l" indent="0" marL="0">
              <a:buNone/>
            </a:pPr>
            <a:r>
              <a:rPr lang="en-US" sz="1600" dirty="0">
                <a:solidFill>
                  <a:schemeClr val="tx1"/>
                </a:solidFill>
              </a:rPr>
              <a:t>a saddle at the origin</a:t>
            </a:r>
            <a:endParaRPr lang="en-US" sz="1600" dirty="0"/>
          </a:p>
        </p:txBody>
      </p:sp>
      <p:pic>
        <p:nvPicPr>
          <p:cNvPr id="14" name="b2-eq-141" descr="g(t,t) = 10\,t^2, \qquad g(t,-t) = \red{-2\,t^2}">    </p:cNvPr>
          <p:cNvPicPr>
            <a:picLocks noChangeAspect="1"/>
          </p:cNvPicPr>
          <p:nvPr/>
        </p:nvPicPr>
        <p:blipFill>
          <a:blip r:embed="rId9"/>
          <a:stretch>
            <a:fillRect/>
          </a:stretch>
        </p:blipFill>
        <p:spPr>
          <a:xfrm>
            <a:off x="6336792" y="4224528"/>
            <a:ext cx="2896362" cy="265176"/>
          </a:xfrm>
          <a:prstGeom prst="rect">
            <a:avLst/>
          </a:prstGeom>
        </p:spPr>
      </p:pic>
      <p:pic>
        <p:nvPicPr>
          <p:cNvPr id="15" name="b3-img-142" descr="Contours of g: hyperbolas, a saddle at the origin">    </p:cNvPr>
          <p:cNvPicPr>
            <a:picLocks noChangeAspect="1"/>
          </p:cNvPicPr>
          <p:nvPr/>
        </p:nvPicPr>
        <p:blipFill>
          <a:blip r:embed="rId10"/>
          <a:stretch>
            <a:fillRect/>
          </a:stretch>
        </p:blipFill>
        <p:spPr>
          <a:xfrm>
            <a:off x="9400032" y="2286000"/>
            <a:ext cx="2103120" cy="2117311"/>
          </a:xfrm>
          <a:prstGeom prst="rect">
            <a:avLst/>
          </a:prstGeom>
        </p:spPr>
      </p:pic>
      <p:sp>
        <p:nvSpPr>
          <p:cNvPr id="16" name="b4-box-143"/>
          <p:cNvSpPr/>
          <p:nvPr/>
        </p:nvSpPr>
        <p:spPr>
          <a:xfrm>
            <a:off x="612648" y="4828032"/>
            <a:ext cx="10972800" cy="896112"/>
          </a:xfrm>
          <a:prstGeom prst="roundRect">
            <a:avLst>
              <a:gd name="adj" fmla="val 6122"/>
            </a:avLst>
          </a:prstGeom>
          <a:solidFill>
            <a:schemeClr val="accent2"/>
          </a:solidFill>
          <a:ln/>
        </p:spPr>
      </p:sp>
      <p:sp>
        <p:nvSpPr>
          <p:cNvPr id="17" name="b4-t-144"/>
          <p:cNvSpPr txBox="1"/>
          <p:nvPr/>
        </p:nvSpPr>
        <p:spPr>
          <a:xfrm>
            <a:off x="841248" y="4956048"/>
            <a:ext cx="10515600"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8" name="b4-t-145"/>
          <p:cNvSpPr txBox="1"/>
          <p:nvPr/>
        </p:nvSpPr>
        <p:spPr>
          <a:xfrm>
            <a:off x="841248" y="5248656"/>
            <a:ext cx="10515600" cy="365760"/>
          </a:xfrm>
          <a:prstGeom prst="rect">
            <a:avLst/>
          </a:prstGeom>
          <a:noFill/>
          <a:ln/>
        </p:spPr>
        <p:txBody>
          <a:bodyPr wrap="square" lIns="0" tIns="0" rIns="0" bIns="0" rtlCol="0" anchor="t"/>
          <a:lstStyle/>
          <a:p>
            <a:pPr algn="l" indent="0" marL="0">
              <a:buNone/>
            </a:pPr>
            <a:r>
              <a:rPr lang="en-US" sz="1600" dirty="0">
                <a:solidFill>
                  <a:schemeClr val="tx1"/>
                </a:solidFill>
              </a:rPr>
              <a:t>A quadratic form xᵀMx has Hessian 2M at every point: the test is the definiteness of M.</a:t>
            </a:r>
            <a:endParaRPr lang="en-US" sz="1600" dirty="0"/>
          </a:p>
        </p:txBody>
      </p:sp>
      <p:sp>
        <p:nvSpPr>
          <p:cNvPr id="19"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Example: the Hessian depends on the point</a:t>
            </a:r>
            <a:endParaRPr lang="en-US" sz="2800" dirty="0"/>
          </a:p>
        </p:txBody>
      </p:sp>
      <p:sp>
        <p:nvSpPr>
          <p:cNvPr id="3" name="t-146"/>
          <p:cNvSpPr txBox="1"/>
          <p:nvPr/>
        </p:nvSpPr>
        <p:spPr>
          <a:xfrm>
            <a:off x="612648" y="1325880"/>
            <a:ext cx="822960" cy="320040"/>
          </a:xfrm>
          <a:prstGeom prst="rect">
            <a:avLst/>
          </a:prstGeom>
          <a:noFill/>
          <a:ln/>
        </p:spPr>
        <p:txBody>
          <a:bodyPr wrap="square" lIns="0" tIns="0" rIns="0" bIns="0" rtlCol="0" anchor="t"/>
          <a:lstStyle/>
          <a:p>
            <a:pPr algn="l" indent="0" marL="0">
              <a:buNone/>
            </a:pPr>
            <a:r>
              <a:rPr lang="en-US" sz="1600" b="1" dirty="0">
                <a:solidFill>
                  <a:schemeClr val="tx1"/>
                </a:solidFill>
              </a:rPr>
              <a:t>Given</a:t>
            </a:r>
            <a:endParaRPr lang="en-US" sz="1600" dirty="0"/>
          </a:p>
        </p:txBody>
      </p:sp>
      <p:pic>
        <p:nvPicPr>
          <p:cNvPr id="4" name="eq-147" descr="f = x_1^3 - 3x_1 + x_2^2">    </p:cNvPr>
          <p:cNvPicPr>
            <a:picLocks noChangeAspect="1"/>
          </p:cNvPicPr>
          <p:nvPr/>
        </p:nvPicPr>
        <p:blipFill>
          <a:blip r:embed="rId1"/>
          <a:stretch>
            <a:fillRect/>
          </a:stretch>
        </p:blipFill>
        <p:spPr>
          <a:xfrm>
            <a:off x="1463040" y="1331595"/>
            <a:ext cx="1753362" cy="308610"/>
          </a:xfrm>
          <a:prstGeom prst="rect">
            <a:avLst/>
          </a:prstGeom>
        </p:spPr>
      </p:pic>
      <p:sp>
        <p:nvSpPr>
          <p:cNvPr id="5" name="t-148"/>
          <p:cNvSpPr txBox="1"/>
          <p:nvPr/>
        </p:nvSpPr>
        <p:spPr>
          <a:xfrm>
            <a:off x="3657600" y="1325880"/>
            <a:ext cx="7863840" cy="320040"/>
          </a:xfrm>
          <a:prstGeom prst="rect">
            <a:avLst/>
          </a:prstGeom>
          <a:noFill/>
          <a:ln/>
        </p:spPr>
        <p:txBody>
          <a:bodyPr wrap="square" lIns="0" tIns="0" rIns="0" bIns="0" rtlCol="0" anchor="t"/>
          <a:lstStyle/>
          <a:p>
            <a:pPr algn="l" indent="0" marL="0">
              <a:buNone/>
            </a:pPr>
            <a:r>
              <a:rPr lang="en-US" sz="1600" b="1" dirty="0">
                <a:solidFill>
                  <a:schemeClr val="tx1"/>
                </a:solidFill>
              </a:rPr>
              <a:t>Find</a:t>
            </a:r>
            <a:pPr algn="l" indent="0" marL="0">
              <a:buNone/>
            </a:pPr>
            <a:r>
              <a:rPr lang="en-US" sz="1600" dirty="0">
                <a:solidFill>
                  <a:schemeClr val="tx1"/>
                </a:solidFill>
              </a:rPr>
              <a:t> its critical points, and classify each one.</a:t>
            </a:r>
            <a:endParaRPr lang="en-US" sz="1600" dirty="0"/>
          </a:p>
        </p:txBody>
      </p:sp>
      <p:pic>
        <p:nvPicPr>
          <p:cNvPr id="6" name="b1-eq-149" descr="\nabla f = \begin{bmatrix} 3x_1^2 - 3 \\ 2x_2\end{bmatrix} = \vc{0} \quad\Longrightarrow\quad \vc{x}_0 = (1,0) \ \text{ or } \ (-1,0)">    </p:cNvPr>
          <p:cNvPicPr>
            <a:picLocks noChangeAspect="1"/>
          </p:cNvPicPr>
          <p:nvPr/>
        </p:nvPicPr>
        <p:blipFill>
          <a:blip r:embed="rId2"/>
          <a:stretch>
            <a:fillRect/>
          </a:stretch>
        </p:blipFill>
        <p:spPr>
          <a:xfrm>
            <a:off x="612648" y="1965960"/>
            <a:ext cx="4981194" cy="537210"/>
          </a:xfrm>
          <a:prstGeom prst="rect">
            <a:avLst/>
          </a:prstGeom>
        </p:spPr>
      </p:pic>
      <p:pic>
        <p:nvPicPr>
          <p:cNvPr id="7" name="b2-eq-150" descr="\mat{H}(\vc{x}) = \begin{bmatrix} 6x_1 &amp; 0 \\ 0 &amp; 2\end{bmatrix}">    </p:cNvPr>
          <p:cNvPicPr>
            <a:picLocks noChangeAspect="1"/>
          </p:cNvPicPr>
          <p:nvPr/>
        </p:nvPicPr>
        <p:blipFill>
          <a:blip r:embed="rId3"/>
          <a:stretch>
            <a:fillRect/>
          </a:stretch>
        </p:blipFill>
        <p:spPr>
          <a:xfrm>
            <a:off x="612648" y="2788920"/>
            <a:ext cx="1600200" cy="537210"/>
          </a:xfrm>
          <a:prstGeom prst="rect">
            <a:avLst/>
          </a:prstGeom>
        </p:spPr>
      </p:pic>
      <p:sp>
        <p:nvSpPr>
          <p:cNvPr id="8" name="b2-t-151"/>
          <p:cNvSpPr txBox="1"/>
          <p:nvPr/>
        </p:nvSpPr>
        <p:spPr>
          <a:xfrm>
            <a:off x="2514600" y="2926080"/>
            <a:ext cx="3566160" cy="274320"/>
          </a:xfrm>
          <a:prstGeom prst="rect">
            <a:avLst/>
          </a:prstGeom>
          <a:noFill/>
          <a:ln/>
        </p:spPr>
        <p:txBody>
          <a:bodyPr wrap="square" lIns="0" tIns="0" rIns="0" bIns="0" rtlCol="0" anchor="t"/>
          <a:lstStyle/>
          <a:p>
            <a:pPr algn="l" indent="0" marL="0">
              <a:buNone/>
            </a:pPr>
            <a:r>
              <a:rPr lang="en-US" sz="1400" dirty="0">
                <a:solidFill>
                  <a:schemeClr val="tx2"/>
                </a:solidFill>
              </a:rPr>
              <a:t>it changes from point to point</a:t>
            </a:r>
            <a:endParaRPr lang="en-US" sz="1400" dirty="0"/>
          </a:p>
        </p:txBody>
      </p:sp>
      <p:pic>
        <p:nvPicPr>
          <p:cNvPr id="9" name="b3-eq-152" descr="\mat{H}(1,0) = \begin{bmatrix} 6 &amp; 0 \\ 0 &amp; 2\end{bmatrix}">    </p:cNvPr>
          <p:cNvPicPr>
            <a:picLocks noChangeAspect="1"/>
          </p:cNvPicPr>
          <p:nvPr/>
        </p:nvPicPr>
        <p:blipFill>
          <a:blip r:embed="rId4"/>
          <a:stretch>
            <a:fillRect/>
          </a:stretch>
        </p:blipFill>
        <p:spPr>
          <a:xfrm>
            <a:off x="612648" y="3611880"/>
            <a:ext cx="1607058" cy="537210"/>
          </a:xfrm>
          <a:prstGeom prst="rect">
            <a:avLst/>
          </a:prstGeom>
        </p:spPr>
      </p:pic>
      <p:sp>
        <p:nvSpPr>
          <p:cNvPr id="10" name="b3-t-153"/>
          <p:cNvSpPr txBox="1"/>
          <p:nvPr/>
        </p:nvSpPr>
        <p:spPr>
          <a:xfrm>
            <a:off x="2834640" y="3611880"/>
            <a:ext cx="3474720" cy="566928"/>
          </a:xfrm>
          <a:prstGeom prst="rect">
            <a:avLst/>
          </a:prstGeom>
          <a:noFill/>
          <a:ln/>
        </p:spPr>
        <p:txBody>
          <a:bodyPr wrap="square" lIns="0" tIns="0" rIns="0" bIns="0" rtlCol="0" anchor="t"/>
          <a:lstStyle/>
          <a:p>
            <a:pPr algn="l" indent="0" marL="0">
              <a:buNone/>
            </a:pPr>
            <a:r>
              <a:rPr lang="en-US" sz="1600" b="1" dirty="0">
                <a:solidFill>
                  <a:schemeClr val="tx1"/>
                </a:solidFill>
              </a:rPr>
              <a:t>positive definite</a:t>
            </a:r>
            <a:endParaRPr lang="en-US" sz="1600" dirty="0"/>
          </a:p>
          <a:p>
            <a:pPr algn="l" indent="0" marL="0">
              <a:buNone/>
            </a:pPr>
            <a:r>
              <a:rPr lang="en-US" sz="1600" dirty="0">
                <a:solidFill>
                  <a:schemeClr val="tx1"/>
                </a:solidFill>
              </a:rPr>
              <a:t>local minimum, f = −2</a:t>
            </a:r>
            <a:endParaRPr lang="en-US" sz="1600" dirty="0"/>
          </a:p>
        </p:txBody>
      </p:sp>
      <p:pic>
        <p:nvPicPr>
          <p:cNvPr id="11" name="b4-eq-154" descr="\mat{H}(-1,0) = \begin{bmatrix} \red{-6} &amp; 0 \\ 0 &amp; 2\end{bmatrix}">    </p:cNvPr>
          <p:cNvPicPr>
            <a:picLocks noChangeAspect="1"/>
          </p:cNvPicPr>
          <p:nvPr/>
        </p:nvPicPr>
        <p:blipFill>
          <a:blip r:embed="rId5"/>
          <a:stretch>
            <a:fillRect/>
          </a:stretch>
        </p:blipFill>
        <p:spPr>
          <a:xfrm>
            <a:off x="612648" y="4434840"/>
            <a:ext cx="1945386" cy="537210"/>
          </a:xfrm>
          <a:prstGeom prst="rect">
            <a:avLst/>
          </a:prstGeom>
        </p:spPr>
      </p:pic>
      <p:sp>
        <p:nvSpPr>
          <p:cNvPr id="12" name="b4-t-155"/>
          <p:cNvSpPr txBox="1"/>
          <p:nvPr/>
        </p:nvSpPr>
        <p:spPr>
          <a:xfrm>
            <a:off x="2834640" y="4434840"/>
            <a:ext cx="3474720" cy="566928"/>
          </a:xfrm>
          <a:prstGeom prst="rect">
            <a:avLst/>
          </a:prstGeom>
          <a:noFill/>
          <a:ln/>
        </p:spPr>
        <p:txBody>
          <a:bodyPr wrap="square" lIns="0" tIns="0" rIns="0" bIns="0" rtlCol="0" anchor="t"/>
          <a:lstStyle/>
          <a:p>
            <a:pPr algn="l" indent="0" marL="0">
              <a:buNone/>
            </a:pPr>
            <a:r>
              <a:rPr lang="en-US" sz="1600" b="1" dirty="0">
                <a:solidFill>
                  <a:schemeClr val="accent1"/>
                </a:solidFill>
              </a:rPr>
              <a:t>indefinite</a:t>
            </a:r>
            <a:endParaRPr lang="en-US" sz="1600" dirty="0"/>
          </a:p>
          <a:p>
            <a:pPr algn="l" indent="0" marL="0">
              <a:buNone/>
            </a:pPr>
            <a:r>
              <a:rPr lang="en-US" sz="1600" dirty="0">
                <a:solidFill>
                  <a:schemeClr val="tx1"/>
                </a:solidFill>
              </a:rPr>
              <a:t>saddle, f = 2</a:t>
            </a:r>
            <a:endParaRPr lang="en-US" sz="1600" dirty="0"/>
          </a:p>
        </p:txBody>
      </p:sp>
      <p:pic>
        <p:nvPicPr>
          <p:cNvPr id="13" name="b5-img-156" descr="Contours of f with the minimum at (1, 0) and the saddle at (−1, 0)">    </p:cNvPr>
          <p:cNvPicPr>
            <a:picLocks noChangeAspect="1"/>
          </p:cNvPicPr>
          <p:nvPr/>
        </p:nvPicPr>
        <p:blipFill>
          <a:blip r:embed="rId6"/>
          <a:stretch>
            <a:fillRect/>
          </a:stretch>
        </p:blipFill>
        <p:spPr>
          <a:xfrm>
            <a:off x="6903720" y="2011680"/>
            <a:ext cx="4681728" cy="3346704"/>
          </a:xfrm>
          <a:prstGeom prst="rect">
            <a:avLst/>
          </a:prstGeom>
        </p:spPr>
      </p:pic>
      <p:sp>
        <p:nvSpPr>
          <p:cNvPr id="14" name="t-157"/>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The red dashed curve is the level f = 2 through the saddle. Along x₁ the saddle is a maximum, along x₂ a minimum.</a:t>
            </a:r>
            <a:endParaRPr lang="en-US" sz="1400" dirty="0"/>
          </a:p>
        </p:txBody>
      </p:sp>
      <p:sp>
        <p:nvSpPr>
          <p:cNvPr id="1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The Hessian by finite differences</a:t>
            </a:r>
            <a:endParaRPr lang="en-US" sz="2800" dirty="0"/>
          </a:p>
        </p:txBody>
      </p:sp>
      <p:sp>
        <p:nvSpPr>
          <p:cNvPr id="3" name="t-158"/>
          <p:cNvSpPr txBox="1"/>
          <p:nvPr/>
        </p:nvSpPr>
        <p:spPr>
          <a:xfrm>
            <a:off x="612648" y="1298448"/>
            <a:ext cx="10972800" cy="320040"/>
          </a:xfrm>
          <a:prstGeom prst="rect">
            <a:avLst/>
          </a:prstGeom>
          <a:noFill/>
          <a:ln/>
        </p:spPr>
        <p:txBody>
          <a:bodyPr wrap="square" lIns="0" tIns="0" rIns="0" bIns="0" rtlCol="0" anchor="t"/>
          <a:lstStyle/>
          <a:p>
            <a:pPr algn="l" indent="0" marL="0">
              <a:buNone/>
            </a:pPr>
            <a:r>
              <a:rPr lang="en-US" sz="1600" dirty="0">
                <a:solidFill>
                  <a:schemeClr val="tx1"/>
                </a:solidFill>
              </a:rPr>
              <a:t>When there are no formulas for the second derivatives, estimate them from values of f:</a:t>
            </a:r>
            <a:endParaRPr lang="en-US" sz="1600" dirty="0"/>
          </a:p>
        </p:txBody>
      </p:sp>
      <p:pic>
        <p:nvPicPr>
          <p:cNvPr id="4" name="eq-159" descr="H_{ij} \approx \dfrac{f(\vc{x} + h\vc{e}_i + h\vc{e}_j) - f(\vc{x} + h\vc{e}_i - h\vc{e}_j) - f(\vc{x} - h\vc{e}_i + h\vc{e}_j) + f(\vc{x} - h\vc{e}_i - h\vc{e}_j)}{4h^2}">    </p:cNvPr>
          <p:cNvPicPr>
            <a:picLocks noChangeAspect="1"/>
          </p:cNvPicPr>
          <p:nvPr/>
        </p:nvPicPr>
        <p:blipFill>
          <a:blip r:embed="rId1"/>
          <a:stretch>
            <a:fillRect/>
          </a:stretch>
        </p:blipFill>
        <p:spPr>
          <a:xfrm>
            <a:off x="612648" y="1755648"/>
            <a:ext cx="6631686" cy="466344"/>
          </a:xfrm>
          <a:prstGeom prst="rect">
            <a:avLst/>
          </a:prstGeom>
        </p:spPr>
      </p:pic>
      <p:sp>
        <p:nvSpPr>
          <p:cNvPr id="5" name="t-160"/>
          <p:cNvSpPr txBox="1"/>
          <p:nvPr/>
        </p:nvSpPr>
        <p:spPr>
          <a:xfrm>
            <a:off x="7589520" y="1737360"/>
            <a:ext cx="3931920" cy="548640"/>
          </a:xfrm>
          <a:prstGeom prst="rect">
            <a:avLst/>
          </a:prstGeom>
          <a:noFill/>
          <a:ln/>
        </p:spPr>
        <p:txBody>
          <a:bodyPr wrap="square" lIns="0" tIns="0" rIns="0" bIns="0" rtlCol="0" anchor="t"/>
          <a:lstStyle/>
          <a:p>
            <a:pPr algn="l" indent="0" marL="0">
              <a:buNone/>
            </a:pPr>
            <a:r>
              <a:rPr lang="en-US" sz="1400" dirty="0">
                <a:solidFill>
                  <a:schemeClr val="tx2"/>
                </a:solidFill>
              </a:rPr>
              <a:t>central differences, step h along</a:t>
            </a:r>
            <a:endParaRPr lang="en-US" sz="1400" dirty="0"/>
          </a:p>
          <a:p>
            <a:pPr algn="l" indent="0" marL="0">
              <a:buNone/>
            </a:pPr>
            <a:r>
              <a:rPr lang="en-US" sz="1400" dirty="0">
                <a:solidFill>
                  <a:schemeClr val="tx2"/>
                </a:solidFill>
              </a:rPr>
              <a:t>the unit vectors eᵢ and eⱼ</a:t>
            </a:r>
            <a:endParaRPr lang="en-US" sz="1400" dirty="0"/>
          </a:p>
        </p:txBody>
      </p:sp>
      <p:sp>
        <p:nvSpPr>
          <p:cNvPr id="6" name="t-161"/>
          <p:cNvSpPr txBox="1"/>
          <p:nvPr/>
        </p:nvSpPr>
        <p:spPr>
          <a:xfrm>
            <a:off x="612648" y="2670048"/>
            <a:ext cx="731520" cy="320040"/>
          </a:xfrm>
          <a:prstGeom prst="rect">
            <a:avLst/>
          </a:prstGeom>
          <a:noFill/>
          <a:ln/>
        </p:spPr>
        <p:txBody>
          <a:bodyPr wrap="square" lIns="0" tIns="0" rIns="0" bIns="0" rtlCol="0" anchor="ctr"/>
          <a:lstStyle/>
          <a:p>
            <a:pPr algn="l" indent="0" marL="0">
              <a:buNone/>
            </a:pPr>
            <a:r>
              <a:rPr lang="en-US" sz="1400" dirty="0">
                <a:solidFill>
                  <a:schemeClr val="tx2"/>
                </a:solidFill>
              </a:rPr>
              <a:t>Test:</a:t>
            </a:r>
            <a:endParaRPr lang="en-US" sz="1400" dirty="0"/>
          </a:p>
        </p:txBody>
      </p:sp>
      <p:pic>
        <p:nvPicPr>
          <p:cNvPr id="7" name="eq-162" descr="f = x_1^2\,e^{x_2}, \qquad \mat{H}(1,0) = \begin{bmatrix} 2 &amp; 2 \\ 2 &amp; 1\end{bmatrix}">    </p:cNvPr>
          <p:cNvPicPr>
            <a:picLocks noChangeAspect="1"/>
          </p:cNvPicPr>
          <p:nvPr/>
        </p:nvPicPr>
        <p:blipFill>
          <a:blip r:embed="rId2"/>
          <a:stretch>
            <a:fillRect/>
          </a:stretch>
        </p:blipFill>
        <p:spPr>
          <a:xfrm>
            <a:off x="1325880" y="2580894"/>
            <a:ext cx="2747772" cy="507492"/>
          </a:xfrm>
          <a:prstGeom prst="rect">
            <a:avLst/>
          </a:prstGeom>
        </p:spPr>
      </p:pic>
      <p:graphicFrame>
        <p:nvGraphicFramePr>
          <p:cNvPr id="8" name="b1-chart-163" descr=""/>
          <p:cNvGraphicFramePr/>
          <p:nvPr/>
        </p:nvGraphicFramePr>
        <p:xfrm>
          <a:off x="6172200" y="2423160"/>
          <a:ext cx="5413248" cy="3337560"/>
        </p:xfrm>
        <a:graphic xmlns:a="http://schemas.openxmlformats.org/drawingml/2006/main">
          <a:graphicData uri="http://schemas.openxmlformats.org/drawingml/2006/chart">
            <c:chart xmlns:c="http://schemas.openxmlformats.org/drawingml/2006/chart" r:id="rId3"/>
          </a:graphicData>
        </a:graphic>
      </p:graphicFrame>
      <p:pic>
        <p:nvPicPr>
          <p:cNvPr id="9" name="b2-eq-164" descr="\text{error} \approx \underbrace{c_1\,h^2}_{\text{truncation}} + \underbrace{c_2\,\epsilon/h^2}_{\text{rounding}}">    </p:cNvPr>
          <p:cNvPicPr>
            <a:picLocks noChangeAspect="1"/>
          </p:cNvPicPr>
          <p:nvPr/>
        </p:nvPicPr>
        <p:blipFill>
          <a:blip r:embed="rId4"/>
          <a:stretch>
            <a:fillRect/>
          </a:stretch>
        </p:blipFill>
        <p:spPr>
          <a:xfrm>
            <a:off x="612648" y="3383280"/>
            <a:ext cx="2269998" cy="548640"/>
          </a:xfrm>
          <a:prstGeom prst="rect">
            <a:avLst/>
          </a:prstGeom>
        </p:spPr>
      </p:pic>
      <p:pic>
        <p:nvPicPr>
          <p:cNvPr id="10" name="b2-eq-165" descr="h_{\text{best}} \sim \epsilon^{1/4} \approx 10^{-4}">    </p:cNvPr>
          <p:cNvPicPr>
            <a:picLocks noChangeAspect="1"/>
          </p:cNvPicPr>
          <p:nvPr/>
        </p:nvPicPr>
        <p:blipFill>
          <a:blip r:embed="rId5"/>
          <a:stretch>
            <a:fillRect/>
          </a:stretch>
        </p:blipFill>
        <p:spPr>
          <a:xfrm>
            <a:off x="3429000" y="3456432"/>
            <a:ext cx="1741932" cy="304038"/>
          </a:xfrm>
          <a:prstGeom prst="rect">
            <a:avLst/>
          </a:prstGeom>
        </p:spPr>
      </p:pic>
      <p:sp>
        <p:nvSpPr>
          <p:cNvPr id="11" name="b2-t-166"/>
          <p:cNvSpPr txBox="1"/>
          <p:nvPr/>
        </p:nvSpPr>
        <p:spPr>
          <a:xfrm>
            <a:off x="612648" y="4114800"/>
            <a:ext cx="5120640" cy="566928"/>
          </a:xfrm>
          <a:prstGeom prst="rect">
            <a:avLst/>
          </a:prstGeom>
          <a:noFill/>
          <a:ln/>
        </p:spPr>
        <p:txBody>
          <a:bodyPr wrap="square" lIns="0" tIns="0" rIns="0" bIns="0" rtlCol="0" anchor="t"/>
          <a:lstStyle/>
          <a:p>
            <a:pPr algn="l" indent="0" marL="0">
              <a:buNone/>
            </a:pPr>
            <a:r>
              <a:rPr lang="en-US" sz="1400" dirty="0">
                <a:solidFill>
                  <a:schemeClr val="tx2"/>
                </a:solidFill>
              </a:rPr>
              <a:t>Large h: the formula is inaccurate. Small h: the subtraction loses digits (machine ε ≈ 2.2 × 10⁻¹⁶).</a:t>
            </a:r>
            <a:endParaRPr lang="en-US" sz="1400" dirty="0"/>
          </a:p>
        </p:txBody>
      </p:sp>
      <p:sp>
        <p:nvSpPr>
          <p:cNvPr id="12" name="b3-box-167"/>
          <p:cNvSpPr/>
          <p:nvPr/>
        </p:nvSpPr>
        <p:spPr>
          <a:xfrm>
            <a:off x="612648" y="4800600"/>
            <a:ext cx="5120640" cy="960120"/>
          </a:xfrm>
          <a:prstGeom prst="roundRect">
            <a:avLst>
              <a:gd name="adj" fmla="val 5714"/>
            </a:avLst>
          </a:prstGeom>
          <a:solidFill>
            <a:schemeClr val="bg2"/>
          </a:solidFill>
          <a:ln/>
        </p:spPr>
      </p:sp>
      <p:sp>
        <p:nvSpPr>
          <p:cNvPr id="13" name="b3-t-168"/>
          <p:cNvSpPr txBox="1"/>
          <p:nvPr/>
        </p:nvSpPr>
        <p:spPr>
          <a:xfrm>
            <a:off x="841248" y="4928616"/>
            <a:ext cx="4663440" cy="201168"/>
          </a:xfrm>
          <a:prstGeom prst="rect">
            <a:avLst/>
          </a:prstGeom>
          <a:noFill/>
          <a:ln/>
        </p:spPr>
        <p:txBody>
          <a:bodyPr wrap="square" lIns="0" tIns="0" rIns="0" bIns="0" rtlCol="0" anchor="t"/>
          <a:lstStyle/>
          <a:p>
            <a:pPr algn="l" indent="0" marL="0">
              <a:buNone/>
            </a:pPr>
            <a:r>
              <a:rPr lang="en-US" sz="1100" b="1" dirty="0">
                <a:solidFill>
                  <a:schemeClr val="tx1"/>
                </a:solidFill>
              </a:rPr>
              <a:t>COST</a:t>
            </a:r>
            <a:endParaRPr lang="en-US" sz="1100" dirty="0"/>
          </a:p>
        </p:txBody>
      </p:sp>
      <p:sp>
        <p:nvSpPr>
          <p:cNvPr id="14" name="b3-t-169"/>
          <p:cNvSpPr txBox="1"/>
          <p:nvPr/>
        </p:nvSpPr>
        <p:spPr>
          <a:xfrm>
            <a:off x="841248" y="5221224"/>
            <a:ext cx="4663440" cy="429768"/>
          </a:xfrm>
          <a:prstGeom prst="rect">
            <a:avLst/>
          </a:prstGeom>
          <a:noFill/>
          <a:ln/>
        </p:spPr>
        <p:txBody>
          <a:bodyPr wrap="square" lIns="0" tIns="0" rIns="0" bIns="0" rtlCol="0" anchor="t"/>
          <a:lstStyle/>
          <a:p>
            <a:pPr algn="l" indent="0" marL="0">
              <a:buNone/>
            </a:pPr>
            <a:r>
              <a:rPr lang="en-US" sz="1400" dirty="0">
                <a:solidFill>
                  <a:schemeClr val="tx1"/>
                </a:solidFill>
              </a:rPr>
              <a:t>2n(n + 1) evaluations of f as coded: 12 for n = 2, 180 for n = 9, 180 600 for n = 300.</a:t>
            </a:r>
            <a:endParaRPr lang="en-US" sz="1400" dirty="0"/>
          </a:p>
        </p:txBody>
      </p:sp>
      <p:sp>
        <p:nvSpPr>
          <p:cNvPr id="15" name="t-170"/>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With h = 1e-4 the largest error in any entry is 5 × 10⁻⁹.</a:t>
            </a:r>
            <a:endParaRPr lang="en-US" sz="1400" dirty="0"/>
          </a:p>
        </p:txBody>
      </p:sp>
      <p:sp>
        <p:nvSpPr>
          <p:cNvPr id="16"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P spid="11"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Definiteness on the computer: eigvalsh</a:t>
            </a:r>
            <a:endParaRPr lang="en-US" sz="2800" dirty="0"/>
          </a:p>
        </p:txBody>
      </p:sp>
      <p:sp>
        <p:nvSpPr>
          <p:cNvPr id="3" name="t-171"/>
          <p:cNvSpPr txBox="1"/>
          <p:nvPr/>
        </p:nvSpPr>
        <p:spPr>
          <a:xfrm>
            <a:off x="612648" y="1298448"/>
            <a:ext cx="5120640" cy="640080"/>
          </a:xfrm>
          <a:prstGeom prst="rect">
            <a:avLst/>
          </a:prstGeom>
          <a:noFill/>
          <a:ln/>
        </p:spPr>
        <p:txBody>
          <a:bodyPr wrap="square" lIns="0" tIns="0" rIns="0" bIns="0" rtlCol="0" anchor="t"/>
          <a:lstStyle/>
          <a:p>
            <a:pPr algn="l" indent="0" marL="0">
              <a:buNone/>
            </a:pPr>
            <a:r>
              <a:rPr lang="en-US" sz="1600" dirty="0">
                <a:solidFill>
                  <a:schemeClr val="tx1"/>
                </a:solidFill>
              </a:rPr>
              <a:t>A symmetric matrix has real eigenvalues (Lecture 7). Compute them and read the signs.</a:t>
            </a:r>
            <a:endParaRPr lang="en-US" sz="1600" dirty="0"/>
          </a:p>
        </p:txBody>
      </p:sp>
      <p:sp>
        <p:nvSpPr>
          <p:cNvPr id="4" name="box-172"/>
          <p:cNvSpPr/>
          <p:nvPr/>
        </p:nvSpPr>
        <p:spPr>
          <a:xfrm>
            <a:off x="612648" y="2057400"/>
            <a:ext cx="5120640" cy="2011680"/>
          </a:xfrm>
          <a:prstGeom prst="roundRect">
            <a:avLst>
              <a:gd name="adj" fmla="val 2727"/>
            </a:avLst>
          </a:prstGeom>
          <a:solidFill>
            <a:schemeClr val="bg2"/>
          </a:solidFill>
          <a:ln/>
        </p:spPr>
      </p:sp>
      <p:sp>
        <p:nvSpPr>
          <p:cNvPr id="5" name="t-173"/>
          <p:cNvSpPr txBox="1"/>
          <p:nvPr/>
        </p:nvSpPr>
        <p:spPr>
          <a:xfrm>
            <a:off x="841248" y="2194560"/>
            <a:ext cx="4663440" cy="1783080"/>
          </a:xfrm>
          <a:prstGeom prst="rect">
            <a:avLst/>
          </a:prstGeom>
          <a:noFill/>
          <a:ln/>
        </p:spPr>
        <p:txBody>
          <a:bodyPr wrap="square" lIns="0" tIns="0" rIns="0" bIns="0" rtlCol="0" anchor="t"/>
          <a:lstStyle/>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lam = np.linalg.eigvalsh(H)</a:t>
            </a:r>
            <a:endParaRPr lang="en-US" sz="1300" dirty="0"/>
          </a:p>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tol = 1e-6 * abs(lam).max()</a:t>
            </a:r>
            <a:endParaRPr lang="en-US" sz="1300" dirty="0"/>
          </a:p>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 </a:t>
            </a:r>
            <a:endParaRPr lang="en-US" sz="1300" dirty="0"/>
          </a:p>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lam.min() &gt;  tol   positive definite</a:t>
            </a:r>
            <a:endParaRPr lang="en-US" sz="1300" dirty="0"/>
          </a:p>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lam.max() &lt; -tol   negative definite</a:t>
            </a:r>
            <a:endParaRPr lang="en-US" sz="1300" dirty="0"/>
          </a:p>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both signs         indefinite</a:t>
            </a:r>
            <a:endParaRPr lang="en-US" sz="1300" dirty="0"/>
          </a:p>
          <a:p>
            <a:pPr algn="l" indent="0" marL="0">
              <a:lnSpc>
                <a:spcPct val="112000"/>
              </a:lnSpc>
              <a:buNone/>
            </a:pPr>
            <a:r>
              <a:rPr lang="en-US" sz="1300" dirty="0">
                <a:solidFill>
                  <a:schemeClr val="tx1"/>
                </a:solidFill>
                <a:latin typeface="DejaVu Sans Mono" pitchFamily="34" charset="0"/>
                <a:ea typeface="DejaVu Sans Mono" pitchFamily="34" charset="-122"/>
                <a:cs typeface="DejaVu Sans Mono" pitchFamily="34" charset="-120"/>
              </a:rPr>
              <a:t>otherwise          semi-definite</a:t>
            </a:r>
            <a:endParaRPr lang="en-US" sz="1300" dirty="0"/>
          </a:p>
        </p:txBody>
      </p:sp>
      <p:sp>
        <p:nvSpPr>
          <p:cNvPr id="6" name="b3-box-174"/>
          <p:cNvSpPr/>
          <p:nvPr/>
        </p:nvSpPr>
        <p:spPr>
          <a:xfrm>
            <a:off x="612648" y="4224528"/>
            <a:ext cx="5120640" cy="1517904"/>
          </a:xfrm>
          <a:prstGeom prst="roundRect">
            <a:avLst>
              <a:gd name="adj" fmla="val 3614"/>
            </a:avLst>
          </a:prstGeom>
          <a:solidFill>
            <a:schemeClr val="accent3"/>
          </a:solidFill>
          <a:ln/>
        </p:spPr>
      </p:sp>
      <p:sp>
        <p:nvSpPr>
          <p:cNvPr id="7" name="b3-t-175"/>
          <p:cNvSpPr txBox="1"/>
          <p:nvPr/>
        </p:nvSpPr>
        <p:spPr>
          <a:xfrm>
            <a:off x="841248" y="4352544"/>
            <a:ext cx="4663440" cy="201168"/>
          </a:xfrm>
          <a:prstGeom prst="rect">
            <a:avLst/>
          </a:prstGeom>
          <a:noFill/>
          <a:ln/>
        </p:spPr>
        <p:txBody>
          <a:bodyPr wrap="square" lIns="0" tIns="0" rIns="0" bIns="0" rtlCol="0" anchor="t"/>
          <a:lstStyle/>
          <a:p>
            <a:pPr algn="l" indent="0" marL="0">
              <a:buNone/>
            </a:pPr>
            <a:r>
              <a:rPr lang="en-US" sz="1100" b="1" dirty="0">
                <a:solidFill>
                  <a:schemeClr val="accent1"/>
                </a:solidFill>
              </a:rPr>
              <a:t>WATCH OUT</a:t>
            </a:r>
            <a:endParaRPr lang="en-US" sz="1100" dirty="0"/>
          </a:p>
        </p:txBody>
      </p:sp>
      <p:sp>
        <p:nvSpPr>
          <p:cNvPr id="8" name="b3-t-176"/>
          <p:cNvSpPr txBox="1"/>
          <p:nvPr/>
        </p:nvSpPr>
        <p:spPr>
          <a:xfrm>
            <a:off x="841248" y="4645152"/>
            <a:ext cx="4663440" cy="987552"/>
          </a:xfrm>
          <a:prstGeom prst="rect">
            <a:avLst/>
          </a:prstGeom>
          <a:noFill/>
          <a:ln/>
        </p:spPr>
        <p:txBody>
          <a:bodyPr wrap="square" lIns="0" tIns="0" rIns="0" bIns="0" rtlCol="0" anchor="t"/>
          <a:lstStyle/>
          <a:p>
            <a:pPr algn="l" indent="0" marL="0">
              <a:buNone/>
            </a:pPr>
            <a:r>
              <a:rPr lang="en-US" sz="1400" dirty="0">
                <a:solidFill>
                  <a:schemeClr val="tx1"/>
                </a:solidFill>
              </a:rPr>
              <a:t>A zero eigenvalue is often not computed as exactly 0: about 10⁻¹⁶ in size when the entries are exact, much more for a finite-difference Hessian (7 × 10⁻⁶ on slide 21). Use a tolerance.</a:t>
            </a:r>
            <a:endParaRPr lang="en-US" sz="1400" dirty="0"/>
          </a:p>
        </p:txBody>
      </p:sp>
      <p:sp>
        <p:nvSpPr>
          <p:cNvPr id="9" name="t-177"/>
          <p:cNvSpPr txBox="1"/>
          <p:nvPr/>
        </p:nvSpPr>
        <p:spPr>
          <a:xfrm>
            <a:off x="6355080" y="1325880"/>
            <a:ext cx="2194560" cy="274320"/>
          </a:xfrm>
          <a:prstGeom prst="rect">
            <a:avLst/>
          </a:prstGeom>
          <a:noFill/>
          <a:ln/>
        </p:spPr>
        <p:txBody>
          <a:bodyPr wrap="square" lIns="0" tIns="0" rIns="0" bIns="0" rtlCol="0" anchor="t"/>
          <a:lstStyle/>
          <a:p>
            <a:pPr algn="l" indent="0" marL="0">
              <a:buNone/>
            </a:pPr>
            <a:r>
              <a:rPr lang="en-US" sz="1200" b="1" dirty="0">
                <a:solidFill>
                  <a:schemeClr val="tx2"/>
                </a:solidFill>
              </a:rPr>
              <a:t>matrix</a:t>
            </a:r>
            <a:endParaRPr lang="en-US" sz="1200" dirty="0"/>
          </a:p>
        </p:txBody>
      </p:sp>
      <p:sp>
        <p:nvSpPr>
          <p:cNvPr id="10" name="t-178"/>
          <p:cNvSpPr txBox="1"/>
          <p:nvPr/>
        </p:nvSpPr>
        <p:spPr>
          <a:xfrm>
            <a:off x="8229600" y="1325880"/>
            <a:ext cx="1737360" cy="274320"/>
          </a:xfrm>
          <a:prstGeom prst="rect">
            <a:avLst/>
          </a:prstGeom>
          <a:noFill/>
          <a:ln/>
        </p:spPr>
        <p:txBody>
          <a:bodyPr wrap="square" lIns="0" tIns="0" rIns="0" bIns="0" rtlCol="0" anchor="t"/>
          <a:lstStyle/>
          <a:p>
            <a:pPr algn="l" indent="0" marL="0">
              <a:buNone/>
            </a:pPr>
            <a:r>
              <a:rPr lang="en-US" sz="1200" b="1" dirty="0">
                <a:solidFill>
                  <a:schemeClr val="tx2"/>
                </a:solidFill>
              </a:rPr>
              <a:t>eigvalsh returns</a:t>
            </a:r>
            <a:endParaRPr lang="en-US" sz="1200" dirty="0"/>
          </a:p>
        </p:txBody>
      </p:sp>
      <p:sp>
        <p:nvSpPr>
          <p:cNvPr id="11" name="t-179"/>
          <p:cNvSpPr txBox="1"/>
          <p:nvPr/>
        </p:nvSpPr>
        <p:spPr>
          <a:xfrm>
            <a:off x="10030968" y="1325880"/>
            <a:ext cx="1371600" cy="274320"/>
          </a:xfrm>
          <a:prstGeom prst="rect">
            <a:avLst/>
          </a:prstGeom>
          <a:noFill/>
          <a:ln/>
        </p:spPr>
        <p:txBody>
          <a:bodyPr wrap="square" lIns="0" tIns="0" rIns="0" bIns="0" rtlCol="0" anchor="t"/>
          <a:lstStyle/>
          <a:p>
            <a:pPr algn="l" indent="0" marL="0">
              <a:buNone/>
            </a:pPr>
            <a:r>
              <a:rPr lang="en-US" sz="1200" b="1" dirty="0">
                <a:solidFill>
                  <a:schemeClr val="tx2"/>
                </a:solidFill>
              </a:rPr>
              <a:t>verdict</a:t>
            </a:r>
            <a:endParaRPr lang="en-US" sz="1200" dirty="0"/>
          </a:p>
        </p:txBody>
      </p:sp>
      <p:sp>
        <p:nvSpPr>
          <p:cNvPr id="12" name="b1-box-180"/>
          <p:cNvSpPr/>
          <p:nvPr/>
        </p:nvSpPr>
        <p:spPr>
          <a:xfrm>
            <a:off x="6172200" y="1664208"/>
            <a:ext cx="5413248" cy="731520"/>
          </a:xfrm>
          <a:prstGeom prst="roundRect">
            <a:avLst>
              <a:gd name="adj" fmla="val 7500"/>
            </a:avLst>
          </a:prstGeom>
          <a:solidFill>
            <a:schemeClr val="bg2"/>
          </a:solidFill>
          <a:ln/>
        </p:spPr>
      </p:sp>
      <p:pic>
        <p:nvPicPr>
          <p:cNvPr id="13" name="b1-eq-181" descr="\begin{bmatrix} 2 &amp; -1 \\ -1 &amp; 2\end{bmatrix}">    </p:cNvPr>
          <p:cNvPicPr>
            <a:picLocks noChangeAspect="1"/>
          </p:cNvPicPr>
          <p:nvPr/>
        </p:nvPicPr>
        <p:blipFill>
          <a:blip r:embed="rId1"/>
          <a:stretch>
            <a:fillRect/>
          </a:stretch>
        </p:blipFill>
        <p:spPr>
          <a:xfrm>
            <a:off x="6355080" y="1807083"/>
            <a:ext cx="797814" cy="445770"/>
          </a:xfrm>
          <a:prstGeom prst="rect">
            <a:avLst/>
          </a:prstGeom>
        </p:spPr>
      </p:pic>
      <p:sp>
        <p:nvSpPr>
          <p:cNvPr id="14" name="b1-t-182"/>
          <p:cNvSpPr txBox="1"/>
          <p:nvPr/>
        </p:nvSpPr>
        <p:spPr>
          <a:xfrm>
            <a:off x="8229600" y="1737360"/>
            <a:ext cx="1737360" cy="585216"/>
          </a:xfrm>
          <a:prstGeom prst="rect">
            <a:avLst/>
          </a:prstGeom>
          <a:noFill/>
          <a:ln/>
        </p:spPr>
        <p:txBody>
          <a:bodyPr wrap="square" lIns="0" tIns="0" rIns="0" bIns="0" rtlCol="0" anchor="ctr"/>
          <a:lstStyle/>
          <a:p>
            <a:pPr algn="l" indent="0" marL="0">
              <a:buNone/>
            </a:pPr>
            <a:r>
              <a:rPr lang="en-US" sz="1300" dirty="0">
                <a:solidFill>
                  <a:schemeClr val="tx1"/>
                </a:solidFill>
                <a:latin typeface="DejaVu Sans Mono" pitchFamily="34" charset="0"/>
                <a:ea typeface="DejaVu Sans Mono" pitchFamily="34" charset="-122"/>
                <a:cs typeface="DejaVu Sans Mono" pitchFamily="34" charset="-120"/>
              </a:rPr>
              <a:t>1,  3</a:t>
            </a:r>
            <a:endParaRPr lang="en-US" sz="1300" dirty="0"/>
          </a:p>
        </p:txBody>
      </p:sp>
      <p:sp>
        <p:nvSpPr>
          <p:cNvPr id="15" name="b1-t-183"/>
          <p:cNvSpPr txBox="1"/>
          <p:nvPr/>
        </p:nvSpPr>
        <p:spPr>
          <a:xfrm>
            <a:off x="10030968" y="1737360"/>
            <a:ext cx="1490472" cy="585216"/>
          </a:xfrm>
          <a:prstGeom prst="rect">
            <a:avLst/>
          </a:prstGeom>
          <a:noFill/>
          <a:ln/>
        </p:spPr>
        <p:txBody>
          <a:bodyPr wrap="square" lIns="0" tIns="0" rIns="0" bIns="0" rtlCol="0" anchor="ctr"/>
          <a:lstStyle/>
          <a:p>
            <a:pPr algn="l" indent="0" marL="0">
              <a:buNone/>
            </a:pPr>
            <a:r>
              <a:rPr lang="en-US" sz="1300" b="1" dirty="0">
                <a:solidFill>
                  <a:schemeClr val="tx1"/>
                </a:solidFill>
              </a:rPr>
              <a:t>positive</a:t>
            </a:r>
            <a:endParaRPr lang="en-US" sz="1300" dirty="0"/>
          </a:p>
          <a:p>
            <a:pPr algn="l" indent="0" marL="0">
              <a:buNone/>
            </a:pPr>
            <a:r>
              <a:rPr lang="en-US" sz="1300" b="1" dirty="0">
                <a:solidFill>
                  <a:schemeClr val="tx1"/>
                </a:solidFill>
              </a:rPr>
              <a:t>definite</a:t>
            </a:r>
            <a:endParaRPr lang="en-US" sz="1300" dirty="0"/>
          </a:p>
        </p:txBody>
      </p:sp>
      <p:sp>
        <p:nvSpPr>
          <p:cNvPr id="16" name="b1-box-184"/>
          <p:cNvSpPr/>
          <p:nvPr/>
        </p:nvSpPr>
        <p:spPr>
          <a:xfrm>
            <a:off x="6172200" y="2487168"/>
            <a:ext cx="5413248" cy="731520"/>
          </a:xfrm>
          <a:prstGeom prst="roundRect">
            <a:avLst>
              <a:gd name="adj" fmla="val 7500"/>
            </a:avLst>
          </a:prstGeom>
          <a:solidFill>
            <a:schemeClr val="bg2"/>
          </a:solidFill>
          <a:ln/>
        </p:spPr>
      </p:sp>
      <p:pic>
        <p:nvPicPr>
          <p:cNvPr id="17" name="b1-eq-185" descr="\begin{bmatrix} 1 &amp; -1 &amp; 0 \\ -1 &amp; 2 &amp; -1 \\ 0 &amp; -1 &amp; 1\end{bmatrix}">    </p:cNvPr>
          <p:cNvPicPr>
            <a:picLocks noChangeAspect="1"/>
          </p:cNvPicPr>
          <p:nvPr/>
        </p:nvPicPr>
        <p:blipFill>
          <a:blip r:embed="rId2"/>
          <a:stretch>
            <a:fillRect/>
          </a:stretch>
        </p:blipFill>
        <p:spPr>
          <a:xfrm>
            <a:off x="6355080" y="2553462"/>
            <a:ext cx="1152144" cy="598932"/>
          </a:xfrm>
          <a:prstGeom prst="rect">
            <a:avLst/>
          </a:prstGeom>
        </p:spPr>
      </p:pic>
      <p:sp>
        <p:nvSpPr>
          <p:cNvPr id="18" name="b1-t-186"/>
          <p:cNvSpPr txBox="1"/>
          <p:nvPr/>
        </p:nvSpPr>
        <p:spPr>
          <a:xfrm>
            <a:off x="8229600" y="2560320"/>
            <a:ext cx="1737360" cy="585216"/>
          </a:xfrm>
          <a:prstGeom prst="rect">
            <a:avLst/>
          </a:prstGeom>
          <a:noFill/>
          <a:ln/>
        </p:spPr>
        <p:txBody>
          <a:bodyPr wrap="square" lIns="0" tIns="0" rIns="0" bIns="0" rtlCol="0" anchor="ctr"/>
          <a:lstStyle/>
          <a:p>
            <a:pPr algn="l" indent="0" marL="0">
              <a:buNone/>
            </a:pPr>
            <a:r>
              <a:rPr lang="en-US" sz="1300" dirty="0">
                <a:solidFill>
                  <a:schemeClr val="tx1"/>
                </a:solidFill>
                <a:latin typeface="DejaVu Sans Mono" pitchFamily="34" charset="0"/>
                <a:ea typeface="DejaVu Sans Mono" pitchFamily="34" charset="-122"/>
                <a:cs typeface="DejaVu Sans Mono" pitchFamily="34" charset="-120"/>
              </a:rPr>
              <a:t>3.9e-17,  1,  3</a:t>
            </a:r>
            <a:endParaRPr lang="en-US" sz="1300" dirty="0"/>
          </a:p>
        </p:txBody>
      </p:sp>
      <p:sp>
        <p:nvSpPr>
          <p:cNvPr id="19" name="b1-t-187"/>
          <p:cNvSpPr txBox="1"/>
          <p:nvPr/>
        </p:nvSpPr>
        <p:spPr>
          <a:xfrm>
            <a:off x="10030968" y="2560320"/>
            <a:ext cx="1490472" cy="585216"/>
          </a:xfrm>
          <a:prstGeom prst="rect">
            <a:avLst/>
          </a:prstGeom>
          <a:noFill/>
          <a:ln/>
        </p:spPr>
        <p:txBody>
          <a:bodyPr wrap="square" lIns="0" tIns="0" rIns="0" bIns="0" rtlCol="0" anchor="ctr"/>
          <a:lstStyle/>
          <a:p>
            <a:pPr algn="l" indent="0" marL="0">
              <a:buNone/>
            </a:pPr>
            <a:r>
              <a:rPr lang="en-US" sz="1300" b="1" dirty="0">
                <a:solidFill>
                  <a:schemeClr val="tx1"/>
                </a:solidFill>
              </a:rPr>
              <a:t>semi-definite</a:t>
            </a:r>
            <a:endParaRPr lang="en-US" sz="1300" dirty="0"/>
          </a:p>
        </p:txBody>
      </p:sp>
      <p:sp>
        <p:nvSpPr>
          <p:cNvPr id="20" name="b1-box-188"/>
          <p:cNvSpPr/>
          <p:nvPr/>
        </p:nvSpPr>
        <p:spPr>
          <a:xfrm>
            <a:off x="6172200" y="3310128"/>
            <a:ext cx="5413248" cy="731520"/>
          </a:xfrm>
          <a:prstGeom prst="roundRect">
            <a:avLst>
              <a:gd name="adj" fmla="val 7500"/>
            </a:avLst>
          </a:prstGeom>
          <a:solidFill>
            <a:schemeClr val="bg2"/>
          </a:solidFill>
          <a:ln/>
        </p:spPr>
      </p:sp>
      <p:pic>
        <p:nvPicPr>
          <p:cNvPr id="21" name="b1-eq-189" descr="\begin{bmatrix} 2 &amp; 3 \\ 3 &amp; 2\end{bmatrix}">    </p:cNvPr>
          <p:cNvPicPr>
            <a:picLocks noChangeAspect="1"/>
          </p:cNvPicPr>
          <p:nvPr/>
        </p:nvPicPr>
        <p:blipFill>
          <a:blip r:embed="rId3"/>
          <a:stretch>
            <a:fillRect/>
          </a:stretch>
        </p:blipFill>
        <p:spPr>
          <a:xfrm>
            <a:off x="6355080" y="3453003"/>
            <a:ext cx="560070" cy="445770"/>
          </a:xfrm>
          <a:prstGeom prst="rect">
            <a:avLst/>
          </a:prstGeom>
        </p:spPr>
      </p:pic>
      <p:sp>
        <p:nvSpPr>
          <p:cNvPr id="22" name="b1-t-190"/>
          <p:cNvSpPr txBox="1"/>
          <p:nvPr/>
        </p:nvSpPr>
        <p:spPr>
          <a:xfrm>
            <a:off x="8229600" y="3383280"/>
            <a:ext cx="1737360" cy="585216"/>
          </a:xfrm>
          <a:prstGeom prst="rect">
            <a:avLst/>
          </a:prstGeom>
          <a:noFill/>
          <a:ln/>
        </p:spPr>
        <p:txBody>
          <a:bodyPr wrap="square" lIns="0" tIns="0" rIns="0" bIns="0" rtlCol="0" anchor="ctr"/>
          <a:lstStyle/>
          <a:p>
            <a:pPr algn="l" indent="0" marL="0">
              <a:buNone/>
            </a:pPr>
            <a:r>
              <a:rPr lang="en-US" sz="1300" dirty="0">
                <a:solidFill>
                  <a:schemeClr val="tx1"/>
                </a:solidFill>
                <a:latin typeface="DejaVu Sans Mono" pitchFamily="34" charset="0"/>
                <a:ea typeface="DejaVu Sans Mono" pitchFamily="34" charset="-122"/>
                <a:cs typeface="DejaVu Sans Mono" pitchFamily="34" charset="-120"/>
              </a:rPr>
              <a:t>−1,  5</a:t>
            </a:r>
            <a:endParaRPr lang="en-US" sz="1300" dirty="0"/>
          </a:p>
        </p:txBody>
      </p:sp>
      <p:sp>
        <p:nvSpPr>
          <p:cNvPr id="23" name="b1-t-191"/>
          <p:cNvSpPr txBox="1"/>
          <p:nvPr/>
        </p:nvSpPr>
        <p:spPr>
          <a:xfrm>
            <a:off x="10030968" y="3383280"/>
            <a:ext cx="1490472" cy="585216"/>
          </a:xfrm>
          <a:prstGeom prst="rect">
            <a:avLst/>
          </a:prstGeom>
          <a:noFill/>
          <a:ln/>
        </p:spPr>
        <p:txBody>
          <a:bodyPr wrap="square" lIns="0" tIns="0" rIns="0" bIns="0" rtlCol="0" anchor="ctr"/>
          <a:lstStyle/>
          <a:p>
            <a:pPr algn="l" indent="0" marL="0">
              <a:buNone/>
            </a:pPr>
            <a:r>
              <a:rPr lang="en-US" sz="1300" b="1" dirty="0">
                <a:solidFill>
                  <a:schemeClr val="tx1"/>
                </a:solidFill>
              </a:rPr>
              <a:t>indefinite</a:t>
            </a:r>
            <a:endParaRPr lang="en-US" sz="1300" dirty="0"/>
          </a:p>
        </p:txBody>
      </p:sp>
      <p:sp>
        <p:nvSpPr>
          <p:cNvPr id="24" name="b2-box-192"/>
          <p:cNvSpPr/>
          <p:nvPr/>
        </p:nvSpPr>
        <p:spPr>
          <a:xfrm>
            <a:off x="6172200" y="4133088"/>
            <a:ext cx="5413248" cy="731520"/>
          </a:xfrm>
          <a:prstGeom prst="roundRect">
            <a:avLst>
              <a:gd name="adj" fmla="val 7500"/>
            </a:avLst>
          </a:prstGeom>
          <a:solidFill>
            <a:schemeClr val="bg2"/>
          </a:solidFill>
          <a:ln/>
        </p:spPr>
      </p:sp>
      <p:sp>
        <p:nvSpPr>
          <p:cNvPr id="25" name="b2-t-193"/>
          <p:cNvSpPr txBox="1"/>
          <p:nvPr/>
        </p:nvSpPr>
        <p:spPr>
          <a:xfrm>
            <a:off x="6355080" y="4206240"/>
            <a:ext cx="1828800" cy="585216"/>
          </a:xfrm>
          <a:prstGeom prst="rect">
            <a:avLst/>
          </a:prstGeom>
          <a:noFill/>
          <a:ln/>
        </p:spPr>
        <p:txBody>
          <a:bodyPr wrap="square" lIns="0" tIns="0" rIns="0" bIns="0" rtlCol="0" anchor="ctr"/>
          <a:lstStyle/>
          <a:p>
            <a:pPr algn="l" indent="0" marL="0">
              <a:buNone/>
            </a:pPr>
            <a:r>
              <a:rPr lang="en-US" sz="1200" dirty="0">
                <a:solidFill>
                  <a:schemeClr val="tx2"/>
                </a:solidFill>
              </a:rPr>
              <a:t>H of slide 8 at (1, 0),</a:t>
            </a:r>
            <a:endParaRPr lang="en-US" sz="1200" dirty="0"/>
          </a:p>
          <a:p>
            <a:pPr algn="l" indent="0" marL="0">
              <a:buNone/>
            </a:pPr>
            <a:r>
              <a:rPr lang="en-US" sz="1200" dirty="0">
                <a:solidFill>
                  <a:schemeClr val="tx2"/>
                </a:solidFill>
              </a:rPr>
              <a:t>by finite differences</a:t>
            </a:r>
            <a:endParaRPr lang="en-US" sz="1200" dirty="0"/>
          </a:p>
        </p:txBody>
      </p:sp>
      <p:sp>
        <p:nvSpPr>
          <p:cNvPr id="26" name="b2-t-194"/>
          <p:cNvSpPr txBox="1"/>
          <p:nvPr/>
        </p:nvSpPr>
        <p:spPr>
          <a:xfrm>
            <a:off x="8229600" y="4206240"/>
            <a:ext cx="1737360" cy="585216"/>
          </a:xfrm>
          <a:prstGeom prst="rect">
            <a:avLst/>
          </a:prstGeom>
          <a:noFill/>
          <a:ln/>
        </p:spPr>
        <p:txBody>
          <a:bodyPr wrap="square" lIns="0" tIns="0" rIns="0" bIns="0" rtlCol="0" anchor="ctr"/>
          <a:lstStyle/>
          <a:p>
            <a:pPr algn="l" indent="0" marL="0">
              <a:buNone/>
            </a:pPr>
            <a:r>
              <a:rPr lang="en-US" sz="1300" dirty="0">
                <a:solidFill>
                  <a:schemeClr val="tx1"/>
                </a:solidFill>
                <a:latin typeface="DejaVu Sans Mono" pitchFamily="34" charset="0"/>
                <a:ea typeface="DejaVu Sans Mono" pitchFamily="34" charset="-122"/>
                <a:cs typeface="DejaVu Sans Mono" pitchFamily="34" charset="-120"/>
              </a:rPr>
              <a:t>2.00,  6.00</a:t>
            </a:r>
            <a:endParaRPr lang="en-US" sz="1300" dirty="0"/>
          </a:p>
        </p:txBody>
      </p:sp>
      <p:sp>
        <p:nvSpPr>
          <p:cNvPr id="27" name="b2-t-195"/>
          <p:cNvSpPr txBox="1"/>
          <p:nvPr/>
        </p:nvSpPr>
        <p:spPr>
          <a:xfrm>
            <a:off x="10030968" y="4206240"/>
            <a:ext cx="1490472" cy="585216"/>
          </a:xfrm>
          <a:prstGeom prst="rect">
            <a:avLst/>
          </a:prstGeom>
          <a:noFill/>
          <a:ln/>
        </p:spPr>
        <p:txBody>
          <a:bodyPr wrap="square" lIns="0" tIns="0" rIns="0" bIns="0" rtlCol="0" anchor="ctr"/>
          <a:lstStyle/>
          <a:p>
            <a:pPr algn="l" indent="0" marL="0">
              <a:buNone/>
            </a:pPr>
            <a:r>
              <a:rPr lang="en-US" sz="1300" b="1" dirty="0">
                <a:solidFill>
                  <a:schemeClr val="tx1"/>
                </a:solidFill>
              </a:rPr>
              <a:t>minimum</a:t>
            </a:r>
            <a:endParaRPr lang="en-US" sz="1300" dirty="0"/>
          </a:p>
        </p:txBody>
      </p:sp>
      <p:sp>
        <p:nvSpPr>
          <p:cNvPr id="28" name="b2-box-196"/>
          <p:cNvSpPr/>
          <p:nvPr/>
        </p:nvSpPr>
        <p:spPr>
          <a:xfrm>
            <a:off x="6172200" y="4956048"/>
            <a:ext cx="5413248" cy="731520"/>
          </a:xfrm>
          <a:prstGeom prst="roundRect">
            <a:avLst>
              <a:gd name="adj" fmla="val 7500"/>
            </a:avLst>
          </a:prstGeom>
          <a:solidFill>
            <a:schemeClr val="bg2"/>
          </a:solidFill>
          <a:ln/>
        </p:spPr>
      </p:sp>
      <p:sp>
        <p:nvSpPr>
          <p:cNvPr id="29" name="b2-t-197"/>
          <p:cNvSpPr txBox="1"/>
          <p:nvPr/>
        </p:nvSpPr>
        <p:spPr>
          <a:xfrm>
            <a:off x="6355080" y="5029200"/>
            <a:ext cx="1828800" cy="585216"/>
          </a:xfrm>
          <a:prstGeom prst="rect">
            <a:avLst/>
          </a:prstGeom>
          <a:noFill/>
          <a:ln/>
        </p:spPr>
        <p:txBody>
          <a:bodyPr wrap="square" lIns="0" tIns="0" rIns="0" bIns="0" rtlCol="0" anchor="ctr"/>
          <a:lstStyle/>
          <a:p>
            <a:pPr algn="l" indent="0" marL="0">
              <a:buNone/>
            </a:pPr>
            <a:r>
              <a:rPr lang="en-US" sz="1200" dirty="0">
                <a:solidFill>
                  <a:schemeClr val="tx2"/>
                </a:solidFill>
              </a:rPr>
              <a:t>H of slide 8 at (−1, 0),</a:t>
            </a:r>
            <a:endParaRPr lang="en-US" sz="1200" dirty="0"/>
          </a:p>
          <a:p>
            <a:pPr algn="l" indent="0" marL="0">
              <a:buNone/>
            </a:pPr>
            <a:r>
              <a:rPr lang="en-US" sz="1200" dirty="0">
                <a:solidFill>
                  <a:schemeClr val="tx2"/>
                </a:solidFill>
              </a:rPr>
              <a:t>by finite differences</a:t>
            </a:r>
            <a:endParaRPr lang="en-US" sz="1200" dirty="0"/>
          </a:p>
        </p:txBody>
      </p:sp>
      <p:sp>
        <p:nvSpPr>
          <p:cNvPr id="30" name="b2-t-198"/>
          <p:cNvSpPr txBox="1"/>
          <p:nvPr/>
        </p:nvSpPr>
        <p:spPr>
          <a:xfrm>
            <a:off x="8229600" y="5029200"/>
            <a:ext cx="1737360" cy="585216"/>
          </a:xfrm>
          <a:prstGeom prst="rect">
            <a:avLst/>
          </a:prstGeom>
          <a:noFill/>
          <a:ln/>
        </p:spPr>
        <p:txBody>
          <a:bodyPr wrap="square" lIns="0" tIns="0" rIns="0" bIns="0" rtlCol="0" anchor="ctr"/>
          <a:lstStyle/>
          <a:p>
            <a:pPr algn="l" indent="0" marL="0">
              <a:buNone/>
            </a:pPr>
            <a:r>
              <a:rPr lang="en-US" sz="1300" dirty="0">
                <a:solidFill>
                  <a:schemeClr val="tx1"/>
                </a:solidFill>
                <a:latin typeface="DejaVu Sans Mono" pitchFamily="34" charset="0"/>
                <a:ea typeface="DejaVu Sans Mono" pitchFamily="34" charset="-122"/>
                <a:cs typeface="DejaVu Sans Mono" pitchFamily="34" charset="-120"/>
              </a:rPr>
              <a:t>−6.00,  2.00</a:t>
            </a:r>
            <a:endParaRPr lang="en-US" sz="1300" dirty="0"/>
          </a:p>
        </p:txBody>
      </p:sp>
      <p:sp>
        <p:nvSpPr>
          <p:cNvPr id="31" name="b2-t-199"/>
          <p:cNvSpPr txBox="1"/>
          <p:nvPr/>
        </p:nvSpPr>
        <p:spPr>
          <a:xfrm>
            <a:off x="10030968" y="5029200"/>
            <a:ext cx="1490472" cy="585216"/>
          </a:xfrm>
          <a:prstGeom prst="rect">
            <a:avLst/>
          </a:prstGeom>
          <a:noFill/>
          <a:ln/>
        </p:spPr>
        <p:txBody>
          <a:bodyPr wrap="square" lIns="0" tIns="0" rIns="0" bIns="0" rtlCol="0" anchor="ctr"/>
          <a:lstStyle/>
          <a:p>
            <a:pPr algn="l" indent="0" marL="0">
              <a:buNone/>
            </a:pPr>
            <a:r>
              <a:rPr lang="en-US" sz="1300" b="1" dirty="0">
                <a:solidFill>
                  <a:schemeClr val="tx1"/>
                </a:solidFill>
              </a:rPr>
              <a:t>saddle</a:t>
            </a:r>
            <a:endParaRPr lang="en-US" sz="1300" dirty="0"/>
          </a:p>
        </p:txBody>
      </p:sp>
      <p:sp>
        <p:nvSpPr>
          <p:cNvPr id="32" name="t-200"/>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eigvalsh is the eigenvalue routine for symmetric matrices: real eigenvalues, in ascending order.</a:t>
            </a:r>
            <a:endParaRPr lang="en-US" sz="1400" dirty="0"/>
          </a:p>
        </p:txBody>
      </p:sp>
      <p:sp>
        <p:nvSpPr>
          <p:cNvPr id="33"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Newton's method: let the Hessian choose the step</a:t>
            </a:r>
            <a:endParaRPr lang="en-US" sz="2800" dirty="0"/>
          </a:p>
        </p:txBody>
      </p:sp>
      <p:sp>
        <p:nvSpPr>
          <p:cNvPr id="3" name="t-201"/>
          <p:cNvSpPr txBox="1"/>
          <p:nvPr/>
        </p:nvSpPr>
        <p:spPr>
          <a:xfrm>
            <a:off x="612648" y="1298448"/>
            <a:ext cx="5394960" cy="640080"/>
          </a:xfrm>
          <a:prstGeom prst="rect">
            <a:avLst/>
          </a:prstGeom>
          <a:noFill/>
          <a:ln/>
        </p:spPr>
        <p:txBody>
          <a:bodyPr wrap="square" lIns="0" tIns="0" rIns="0" bIns="0" rtlCol="0" anchor="t"/>
          <a:lstStyle/>
          <a:p>
            <a:pPr algn="l" indent="0" marL="0">
              <a:buNone/>
            </a:pPr>
            <a:r>
              <a:rPr lang="en-US" sz="1600" dirty="0">
                <a:solidFill>
                  <a:schemeClr val="tx1"/>
                </a:solidFill>
              </a:rPr>
              <a:t>Replace f near xₖ by its quadratic model, and step to the lowest point of the model:</a:t>
            </a:r>
            <a:endParaRPr lang="en-US" sz="1600" dirty="0"/>
          </a:p>
        </p:txBody>
      </p:sp>
      <p:pic>
        <p:nvPicPr>
          <p:cNvPr id="4" name="eq-202" descr="f(\vc{x} + \vc{s}) \approx f(\vc{x}) + \nabla f\T\vc{s} + \tfrac12\,\vc{s}\T\mat{H}\,\vc{s}">    </p:cNvPr>
          <p:cNvPicPr>
            <a:picLocks noChangeAspect="1"/>
          </p:cNvPicPr>
          <p:nvPr/>
        </p:nvPicPr>
        <p:blipFill>
          <a:blip r:embed="rId1"/>
          <a:stretch>
            <a:fillRect/>
          </a:stretch>
        </p:blipFill>
        <p:spPr>
          <a:xfrm>
            <a:off x="612648" y="2029968"/>
            <a:ext cx="3120390" cy="315468"/>
          </a:xfrm>
          <a:prstGeom prst="rect">
            <a:avLst/>
          </a:prstGeom>
        </p:spPr>
      </p:pic>
      <p:pic>
        <p:nvPicPr>
          <p:cNvPr id="5" name="b1-eq-203" descr="\mat{H}(\vc{x}_k)\,\vc{s}_k = -\nabla f(\vc{x}_k), \qquad \vc{x}_{k+1} = \vc{x}_k + \vc{s}_k">    </p:cNvPr>
          <p:cNvPicPr>
            <a:picLocks noChangeAspect="1"/>
          </p:cNvPicPr>
          <p:nvPr/>
        </p:nvPicPr>
        <p:blipFill>
          <a:blip r:embed="rId2"/>
          <a:stretch>
            <a:fillRect/>
          </a:stretch>
        </p:blipFill>
        <p:spPr>
          <a:xfrm>
            <a:off x="612648" y="2633472"/>
            <a:ext cx="3927348" cy="269748"/>
          </a:xfrm>
          <a:prstGeom prst="rect">
            <a:avLst/>
          </a:prstGeom>
        </p:spPr>
      </p:pic>
      <p:sp>
        <p:nvSpPr>
          <p:cNvPr id="6" name="b1-t-204"/>
          <p:cNvSpPr txBox="1"/>
          <p:nvPr/>
        </p:nvSpPr>
        <p:spPr>
          <a:xfrm>
            <a:off x="612648" y="3017520"/>
            <a:ext cx="5394960" cy="274320"/>
          </a:xfrm>
          <a:prstGeom prst="rect">
            <a:avLst/>
          </a:prstGeom>
          <a:noFill/>
          <a:ln/>
        </p:spPr>
        <p:txBody>
          <a:bodyPr wrap="square" lIns="0" tIns="0" rIns="0" bIns="0" rtlCol="0" anchor="t"/>
          <a:lstStyle/>
          <a:p>
            <a:pPr algn="l" indent="0" marL="0">
              <a:buNone/>
            </a:pPr>
            <a:r>
              <a:rPr lang="en-US" sz="1400" dirty="0">
                <a:solidFill>
                  <a:schemeClr val="tx2"/>
                </a:solidFill>
              </a:rPr>
              <a:t>one linear solve per step, with the Hessian as the matrix</a:t>
            </a:r>
            <a:endParaRPr lang="en-US" sz="1400" dirty="0"/>
          </a:p>
        </p:txBody>
      </p:sp>
      <p:sp>
        <p:nvSpPr>
          <p:cNvPr id="7" name="b2-t-205"/>
          <p:cNvSpPr txBox="1"/>
          <p:nvPr/>
        </p:nvSpPr>
        <p:spPr>
          <a:xfrm>
            <a:off x="612648" y="3520440"/>
            <a:ext cx="5394960" cy="566928"/>
          </a:xfrm>
          <a:prstGeom prst="rect">
            <a:avLst/>
          </a:prstGeom>
          <a:noFill/>
          <a:ln/>
        </p:spPr>
        <p:txBody>
          <a:bodyPr wrap="square" lIns="0" tIns="0" rIns="0" bIns="0" rtlCol="0" anchor="t"/>
          <a:lstStyle/>
          <a:p>
            <a:pPr algn="l" indent="0" marL="0">
              <a:buNone/>
            </a:pPr>
            <a:r>
              <a:rPr lang="en-US" sz="1500" b="1" dirty="0">
                <a:solidFill>
                  <a:schemeClr val="tx1"/>
                </a:solidFill>
              </a:rPr>
              <a:t>Example.</a:t>
            </a:r>
            <a:pPr algn="l" indent="0" marL="0">
              <a:buNone/>
            </a:pPr>
            <a:r>
              <a:rPr lang="en-US" sz="1500" dirty="0">
                <a:solidFill>
                  <a:schemeClr val="tx1"/>
                </a:solidFill>
              </a:rPr>
              <a:t> f = x₁³ − 3x₁ + x₂², from (2, 1) to the local minimum (1, 0)</a:t>
            </a:r>
            <a:endParaRPr lang="en-US" sz="1500" dirty="0"/>
          </a:p>
        </p:txBody>
      </p:sp>
      <p:graphicFrame>
        <p:nvGraphicFramePr>
          <p:cNvPr id="8" name="b2-table-206"/>
          <p:cNvGraphicFramePr>
            <a:graphicFrameLocks noGrp="1"/>
          </p:cNvGraphicFramePr>
          <p:nvPr>
            <p:extLst>
              <p:ext uri="{D42A27DB-BD31-4B8C-83A1-F6EECF244321}">
                <p14:modId xmlns:p14="http://schemas.microsoft.com/office/powerpoint/2010/main" val="1579011935"/>
              </p:ext>
            </p:extLst>
          </p:nvPr>
        </p:nvGraphicFramePr>
        <p:xfrm>
          <a:off x="612648" y="4133088"/>
          <a:ext cx="5120640" cy="914400"/>
        </p:xfrm>
        <a:graphic>
          <a:graphicData uri="http://schemas.openxmlformats.org/drawingml/2006/table">
            <a:tbl>
              <a:tblPr/>
              <a:tblGrid>
                <a:gridCol w="1005840"/>
                <a:gridCol w="1920240"/>
                <a:gridCol w="2194560"/>
              </a:tblGrid>
              <a:tr h="242316">
                <a:tc>
                  <a:txBody>
                    <a:bodyPr/>
                    <a:lstStyle/>
                    <a:p>
                      <a:pPr algn="ctr" indent="0" marL="0">
                        <a:buNone/>
                      </a:pPr>
                      <a:r>
                        <a:rPr lang="en-US" sz="1200" b="1" dirty="0">
                          <a:solidFill>
                            <a:schemeClr val="bg1"/>
                          </a:solidFill>
                        </a:rPr>
                        <a:t>step k</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x₁</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200" b="1" dirty="0">
                          <a:solidFill>
                            <a:schemeClr val="bg1"/>
                          </a:solidFill>
                        </a:rPr>
                        <a:t>distance to minimum</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chemeClr val="tx1"/>
                    </a:solidFill>
                  </a:tcPr>
                </a:tc>
              </a:tr>
              <a:tr h="242316">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0</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2</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1.4</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42316">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1.25</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2.5e-1</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42316">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2</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1.025</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2.5e-2</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42316">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3</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1.0003049</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3.0e-4</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242316">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4</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1.00000005</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4.6e-8</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42316">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5</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1.00000000</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tx1"/>
                          </a:solidFill>
                          <a:latin typeface="DejaVu Sans Mono" pitchFamily="34" charset="0"/>
                          <a:ea typeface="DejaVu Sans Mono" pitchFamily="34" charset="-122"/>
                          <a:cs typeface="DejaVu Sans Mono" pitchFamily="34" charset="-120"/>
                        </a:rPr>
                        <a:t>1.1e-15</a:t>
                      </a:r>
                      <a:endParaRPr lang="en-US" sz="1200" dirty="0">
                        <a:latin typeface="DejaVu Sans Mono" charset="0"/>
                        <a:ea typeface="DejaVu Sans Mono" charset="0"/>
                        <a:cs typeface="DejaVu Sans Mono"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graphicFrame>
        <p:nvGraphicFramePr>
          <p:cNvPr id="9" name="b3-chart-207" descr=""/>
          <p:cNvGraphicFramePr/>
          <p:nvPr/>
        </p:nvGraphicFramePr>
        <p:xfrm>
          <a:off x="6309360" y="1280160"/>
          <a:ext cx="5276088" cy="3246120"/>
        </p:xfrm>
        <a:graphic xmlns:a="http://schemas.openxmlformats.org/drawingml/2006/main">
          <a:graphicData uri="http://schemas.openxmlformats.org/drawingml/2006/chart">
            <c:chart xmlns:c="http://schemas.openxmlformats.org/drawingml/2006/chart" r:id="rId3"/>
          </a:graphicData>
        </a:graphic>
      </p:graphicFrame>
      <p:sp>
        <p:nvSpPr>
          <p:cNvPr id="10" name="b4-box-208"/>
          <p:cNvSpPr/>
          <p:nvPr/>
        </p:nvSpPr>
        <p:spPr>
          <a:xfrm>
            <a:off x="6309360" y="4617720"/>
            <a:ext cx="5276088" cy="1261872"/>
          </a:xfrm>
          <a:prstGeom prst="roundRect">
            <a:avLst>
              <a:gd name="adj" fmla="val 4348"/>
            </a:avLst>
          </a:prstGeom>
          <a:solidFill>
            <a:schemeClr val="accent2"/>
          </a:solidFill>
          <a:ln/>
        </p:spPr>
      </p:sp>
      <p:sp>
        <p:nvSpPr>
          <p:cNvPr id="11" name="b4-t-209"/>
          <p:cNvSpPr txBox="1"/>
          <p:nvPr/>
        </p:nvSpPr>
        <p:spPr>
          <a:xfrm>
            <a:off x="6537960" y="4745736"/>
            <a:ext cx="4818888"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2" name="b4-t-210"/>
          <p:cNvSpPr txBox="1"/>
          <p:nvPr/>
        </p:nvSpPr>
        <p:spPr>
          <a:xfrm>
            <a:off x="6537960" y="5038344"/>
            <a:ext cx="4818888" cy="731520"/>
          </a:xfrm>
          <a:prstGeom prst="rect">
            <a:avLst/>
          </a:prstGeom>
          <a:noFill/>
          <a:ln/>
        </p:spPr>
        <p:txBody>
          <a:bodyPr wrap="square" lIns="0" tIns="0" rIns="0" bIns="0" rtlCol="0" anchor="t"/>
          <a:lstStyle/>
          <a:p>
            <a:pPr algn="l" indent="0" marL="0">
              <a:buNone/>
            </a:pPr>
            <a:r>
              <a:rPr lang="en-US" sz="1400" dirty="0">
                <a:solidFill>
                  <a:schemeClr val="tx1"/>
                </a:solidFill>
              </a:rPr>
              <a:t>Newton: the number of correct digits about doubles at each step, and the error is below 10⁻⁸ after 5 steps. Gradient descent with step 0.1 needs 83.</a:t>
            </a:r>
            <a:endParaRPr lang="en-US" sz="1400" dirty="0"/>
          </a:p>
        </p:txBody>
      </p:sp>
      <p:sp>
        <p:nvSpPr>
          <p:cNvPr id="13"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Graphic spid="9" grpId="0">
        <p:bldAsOne/>
      </p:bldGraphic>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Newton needs a positive definite Hessian</a:t>
            </a:r>
            <a:endParaRPr lang="en-US" sz="2800" dirty="0"/>
          </a:p>
        </p:txBody>
      </p:sp>
      <p:sp>
        <p:nvSpPr>
          <p:cNvPr id="3" name="t-211"/>
          <p:cNvSpPr txBox="1"/>
          <p:nvPr/>
        </p:nvSpPr>
        <p:spPr>
          <a:xfrm>
            <a:off x="612648" y="1298448"/>
            <a:ext cx="5120640" cy="320040"/>
          </a:xfrm>
          <a:prstGeom prst="rect">
            <a:avLst/>
          </a:prstGeom>
          <a:noFill/>
          <a:ln/>
        </p:spPr>
        <p:txBody>
          <a:bodyPr wrap="square" lIns="0" tIns="0" rIns="0" bIns="0" rtlCol="0" anchor="t"/>
          <a:lstStyle/>
          <a:p>
            <a:pPr algn="l" indent="0" marL="0">
              <a:buNone/>
            </a:pPr>
            <a:r>
              <a:rPr lang="en-US" sz="1600" dirty="0">
                <a:solidFill>
                  <a:schemeClr val="tx1"/>
                </a:solidFill>
              </a:rPr>
              <a:t>The same f, started from (−0.5, 1):</a:t>
            </a:r>
            <a:endParaRPr lang="en-US" sz="1600" dirty="0"/>
          </a:p>
        </p:txBody>
      </p:sp>
      <p:pic>
        <p:nvPicPr>
          <p:cNvPr id="4" name="eq-212" descr="\mat{H}(-0.5,\,1) = \begin{bmatrix} \red{-3} &amp; 0 \\ 0 &amp; 2\end{bmatrix}">    </p:cNvPr>
          <p:cNvPicPr>
            <a:picLocks noChangeAspect="1"/>
          </p:cNvPicPr>
          <p:nvPr/>
        </p:nvPicPr>
        <p:blipFill>
          <a:blip r:embed="rId1"/>
          <a:stretch>
            <a:fillRect/>
          </a:stretch>
        </p:blipFill>
        <p:spPr>
          <a:xfrm>
            <a:off x="612648" y="1737360"/>
            <a:ext cx="2171700" cy="537210"/>
          </a:xfrm>
          <a:prstGeom prst="rect">
            <a:avLst/>
          </a:prstGeom>
        </p:spPr>
      </p:pic>
      <p:sp>
        <p:nvSpPr>
          <p:cNvPr id="5" name="t-213"/>
          <p:cNvSpPr txBox="1"/>
          <p:nvPr/>
        </p:nvSpPr>
        <p:spPr>
          <a:xfrm>
            <a:off x="3017520" y="1856232"/>
            <a:ext cx="2286000" cy="320040"/>
          </a:xfrm>
          <a:prstGeom prst="rect">
            <a:avLst/>
          </a:prstGeom>
          <a:noFill/>
          <a:ln/>
        </p:spPr>
        <p:txBody>
          <a:bodyPr wrap="square" lIns="0" tIns="0" rIns="0" bIns="0" rtlCol="0" anchor="t"/>
          <a:lstStyle/>
          <a:p>
            <a:pPr algn="l" indent="0" marL="0">
              <a:buNone/>
            </a:pPr>
            <a:r>
              <a:rPr lang="en-US" sz="1600" b="1" dirty="0">
                <a:solidFill>
                  <a:schemeClr val="accent1"/>
                </a:solidFill>
              </a:rPr>
              <a:t>indefinite</a:t>
            </a:r>
            <a:endParaRPr lang="en-US" sz="1600" dirty="0"/>
          </a:p>
        </p:txBody>
      </p:sp>
      <p:sp>
        <p:nvSpPr>
          <p:cNvPr id="6" name="b1-t-214"/>
          <p:cNvSpPr txBox="1"/>
          <p:nvPr/>
        </p:nvSpPr>
        <p:spPr>
          <a:xfrm>
            <a:off x="612648" y="2514600"/>
            <a:ext cx="5120640" cy="914400"/>
          </a:xfrm>
          <a:prstGeom prst="rect">
            <a:avLst/>
          </a:prstGeom>
          <a:noFill/>
          <a:ln/>
        </p:spPr>
        <p:txBody>
          <a:bodyPr wrap="square" lIns="0" tIns="0" rIns="0" bIns="0" rtlCol="0" anchor="t"/>
          <a:lstStyle/>
          <a:p>
            <a:pPr algn="l" indent="0" marL="0">
              <a:buNone/>
            </a:pPr>
            <a:r>
              <a:rPr lang="en-US" sz="1600" dirty="0">
                <a:solidFill>
                  <a:schemeClr val="tx1"/>
                </a:solidFill>
              </a:rPr>
              <a:t>The quadratic model is now a saddle. Newton steps to the model's critical point and converges to the saddle (−1, 0) of f.</a:t>
            </a:r>
            <a:endParaRPr lang="en-US" sz="1600" dirty="0"/>
          </a:p>
        </p:txBody>
      </p:sp>
      <p:sp>
        <p:nvSpPr>
          <p:cNvPr id="7" name="b2-t-215"/>
          <p:cNvSpPr txBox="1"/>
          <p:nvPr/>
        </p:nvSpPr>
        <p:spPr>
          <a:xfrm>
            <a:off x="612648" y="3520440"/>
            <a:ext cx="5120640" cy="640080"/>
          </a:xfrm>
          <a:prstGeom prst="rect">
            <a:avLst/>
          </a:prstGeom>
          <a:noFill/>
          <a:ln/>
        </p:spPr>
        <p:txBody>
          <a:bodyPr wrap="square" lIns="0" tIns="0" rIns="0" bIns="0" rtlCol="0" anchor="t"/>
          <a:lstStyle/>
          <a:p>
            <a:pPr algn="l" indent="0" marL="0">
              <a:buNone/>
            </a:pPr>
            <a:r>
              <a:rPr lang="en-US" sz="1600" dirty="0">
                <a:solidFill>
                  <a:schemeClr val="tx1"/>
                </a:solidFill>
              </a:rPr>
              <a:t>Gradient descent only goes downhill. It reaches the local minimum (1, 0), slowly.</a:t>
            </a:r>
            <a:endParaRPr lang="en-US" sz="1600" dirty="0"/>
          </a:p>
        </p:txBody>
      </p:sp>
      <p:sp>
        <p:nvSpPr>
          <p:cNvPr id="8" name="b3-t-216"/>
          <p:cNvSpPr txBox="1"/>
          <p:nvPr/>
        </p:nvSpPr>
        <p:spPr>
          <a:xfrm>
            <a:off x="612648" y="4315968"/>
            <a:ext cx="5120640" cy="320040"/>
          </a:xfrm>
          <a:prstGeom prst="rect">
            <a:avLst/>
          </a:prstGeom>
          <a:noFill/>
          <a:ln/>
        </p:spPr>
        <p:txBody>
          <a:bodyPr wrap="square" lIns="0" tIns="0" rIns="0" bIns="0" rtlCol="0" anchor="t"/>
          <a:lstStyle/>
          <a:p>
            <a:pPr algn="l" indent="0" marL="0">
              <a:buNone/>
            </a:pPr>
            <a:r>
              <a:rPr lang="en-US" sz="1600" b="1" dirty="0">
                <a:solidFill>
                  <a:schemeClr val="tx1"/>
                </a:solidFill>
              </a:rPr>
              <a:t>Repair.</a:t>
            </a:r>
            <a:pPr algn="l" indent="0" marL="0">
              <a:buNone/>
            </a:pPr>
            <a:r>
              <a:rPr lang="en-US" sz="1600" dirty="0">
                <a:solidFill>
                  <a:schemeClr val="tx1"/>
                </a:solidFill>
              </a:rPr>
              <a:t> Shift H until it is positive definite:</a:t>
            </a:r>
            <a:endParaRPr lang="en-US" sz="1600" dirty="0"/>
          </a:p>
        </p:txBody>
      </p:sp>
      <p:pic>
        <p:nvPicPr>
          <p:cNvPr id="9" name="b3-eq-217" descr="(\mat{H} + \delta\,\mat{I})\,\vc{s} = -\nabla f, \qquad \delta = 4:\ \ \mat{H} + 4\,\mat{I} = \begin{bmatrix} 1 &amp; 0 \\ 0 &amp; 6\end{bmatrix}">    </p:cNvPr>
          <p:cNvPicPr>
            <a:picLocks noChangeAspect="1"/>
          </p:cNvPicPr>
          <p:nvPr/>
        </p:nvPicPr>
        <p:blipFill>
          <a:blip r:embed="rId2"/>
          <a:stretch>
            <a:fillRect/>
          </a:stretch>
        </p:blipFill>
        <p:spPr>
          <a:xfrm>
            <a:off x="612648" y="4690872"/>
            <a:ext cx="4155948" cy="507492"/>
          </a:xfrm>
          <a:prstGeom prst="rect">
            <a:avLst/>
          </a:prstGeom>
        </p:spPr>
      </p:pic>
      <p:sp>
        <p:nvSpPr>
          <p:cNvPr id="10" name="b3-t-218"/>
          <p:cNvSpPr txBox="1"/>
          <p:nvPr/>
        </p:nvSpPr>
        <p:spPr>
          <a:xfrm>
            <a:off x="612648" y="5303520"/>
            <a:ext cx="5394960" cy="502920"/>
          </a:xfrm>
          <a:prstGeom prst="rect">
            <a:avLst/>
          </a:prstGeom>
          <a:noFill/>
          <a:ln/>
        </p:spPr>
        <p:txBody>
          <a:bodyPr wrap="square" lIns="0" tIns="0" rIns="0" bIns="0" rtlCol="0" anchor="t"/>
          <a:lstStyle/>
          <a:p>
            <a:pPr algn="l" indent="0" marL="0">
              <a:buNone/>
            </a:pPr>
            <a:r>
              <a:rPr lang="en-US" sz="1400" dirty="0">
                <a:solidFill>
                  <a:schemeClr val="tx2"/>
                </a:solidFill>
              </a:rPr>
              <a:t>Only the first step needs a shift. Newton then reaches the local minimum: error below 10⁻⁸ after 5 steps.</a:t>
            </a:r>
            <a:endParaRPr lang="en-US" sz="1400" dirty="0"/>
          </a:p>
        </p:txBody>
      </p:sp>
      <p:pic>
        <p:nvPicPr>
          <p:cNvPr id="11" name="img-219" descr="Contours of f with the starting point, the saddle and the minimum">    </p:cNvPr>
          <p:cNvPicPr>
            <a:picLocks noChangeAspect="1"/>
          </p:cNvPicPr>
          <p:nvPr/>
        </p:nvPicPr>
        <p:blipFill>
          <a:blip r:embed="rId3"/>
          <a:stretch>
            <a:fillRect/>
          </a:stretch>
        </p:blipFill>
        <p:spPr>
          <a:xfrm>
            <a:off x="6263640" y="1325880"/>
            <a:ext cx="5321808" cy="3761390"/>
          </a:xfrm>
          <a:prstGeom prst="rect">
            <a:avLst/>
          </a:prstGeom>
        </p:spPr>
      </p:pic>
      <p:pic>
        <p:nvPicPr>
          <p:cNvPr id="12" name="b1-img-220" descr="The Newton path ends at the saddle">    </p:cNvPr>
          <p:cNvPicPr>
            <a:picLocks noChangeAspect="1"/>
          </p:cNvPicPr>
          <p:nvPr/>
        </p:nvPicPr>
        <p:blipFill>
          <a:blip r:embed="rId4"/>
          <a:stretch>
            <a:fillRect/>
          </a:stretch>
        </p:blipFill>
        <p:spPr>
          <a:xfrm>
            <a:off x="6263640" y="1325880"/>
            <a:ext cx="5321808" cy="3761390"/>
          </a:xfrm>
          <a:prstGeom prst="rect">
            <a:avLst/>
          </a:prstGeom>
        </p:spPr>
      </p:pic>
      <p:pic>
        <p:nvPicPr>
          <p:cNvPr id="13" name="b2-img-221" descr="The gradient descent path ends at the minimum">    </p:cNvPr>
          <p:cNvPicPr>
            <a:picLocks noChangeAspect="1"/>
          </p:cNvPicPr>
          <p:nvPr/>
        </p:nvPicPr>
        <p:blipFill>
          <a:blip r:embed="rId5"/>
          <a:stretch>
            <a:fillRect/>
          </a:stretch>
        </p:blipFill>
        <p:spPr>
          <a:xfrm>
            <a:off x="6263640" y="1325880"/>
            <a:ext cx="5321808" cy="3761390"/>
          </a:xfrm>
          <a:prstGeom prst="rect">
            <a:avLst/>
          </a:prstGeom>
        </p:spPr>
      </p:pic>
      <p:pic>
        <p:nvPicPr>
          <p:cNvPr id="14" name="b3-img-222" descr="The shifted Newton path ends at the minimum">    </p:cNvPr>
          <p:cNvPicPr>
            <a:picLocks noChangeAspect="1"/>
          </p:cNvPicPr>
          <p:nvPr/>
        </p:nvPicPr>
        <p:blipFill>
          <a:blip r:embed="rId6"/>
          <a:stretch>
            <a:fillRect/>
          </a:stretch>
        </p:blipFill>
        <p:spPr>
          <a:xfrm>
            <a:off x="6263640" y="1325880"/>
            <a:ext cx="5321808" cy="3761390"/>
          </a:xfrm>
          <a:prstGeom prst="rect">
            <a:avLst/>
          </a:prstGeom>
        </p:spPr>
      </p:pic>
      <p:sp>
        <p:nvSpPr>
          <p:cNvPr id="15" name="t-223"/>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Practical optimisers do a version of this: they modify H, or limit the step, whenever H is not positive definite.</a:t>
            </a:r>
            <a:endParaRPr lang="en-US" sz="1400" dirty="0"/>
          </a:p>
        </p:txBody>
      </p:sp>
      <p:sp>
        <p:nvSpPr>
          <p:cNvPr id="16"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Where the Hessian is used</a:t>
            </a:r>
            <a:endParaRPr lang="en-US" sz="2800" dirty="0"/>
          </a:p>
        </p:txBody>
      </p:sp>
      <p:sp>
        <p:nvSpPr>
          <p:cNvPr id="3" name="t-224"/>
          <p:cNvSpPr txBox="1"/>
          <p:nvPr/>
        </p:nvSpPr>
        <p:spPr>
          <a:xfrm>
            <a:off x="612648" y="1298448"/>
            <a:ext cx="10972800" cy="320040"/>
          </a:xfrm>
          <a:prstGeom prst="rect">
            <a:avLst/>
          </a:prstGeom>
          <a:noFill/>
          <a:ln/>
        </p:spPr>
        <p:txBody>
          <a:bodyPr wrap="square" lIns="0" tIns="0" rIns="0" bIns="0" rtlCol="0" anchor="t"/>
          <a:lstStyle/>
          <a:p>
            <a:pPr algn="l" indent="0" marL="0">
              <a:buNone/>
            </a:pPr>
            <a:r>
              <a:rPr lang="en-US" sz="1600" dirty="0">
                <a:solidFill>
                  <a:schemeClr val="tx1"/>
                </a:solidFill>
              </a:rPr>
              <a:t>The same three steps each time: an energy or a misfit, a critical point, the eigenvalues of H.</a:t>
            </a:r>
            <a:endParaRPr lang="en-US" sz="1600" dirty="0"/>
          </a:p>
        </p:txBody>
      </p:sp>
      <p:sp>
        <p:nvSpPr>
          <p:cNvPr id="4" name="box-225"/>
          <p:cNvSpPr/>
          <p:nvPr/>
        </p:nvSpPr>
        <p:spPr>
          <a:xfrm>
            <a:off x="612648" y="1874520"/>
            <a:ext cx="3511296" cy="3749040"/>
          </a:xfrm>
          <a:prstGeom prst="roundRect">
            <a:avLst>
              <a:gd name="adj" fmla="val 1563"/>
            </a:avLst>
          </a:prstGeom>
          <a:solidFill>
            <a:schemeClr val="bg2"/>
          </a:solidFill>
          <a:ln/>
        </p:spPr>
      </p:sp>
      <p:sp>
        <p:nvSpPr>
          <p:cNvPr id="5" name="badge-226"/>
          <p:cNvSpPr/>
          <p:nvPr/>
        </p:nvSpPr>
        <p:spPr>
          <a:xfrm>
            <a:off x="886968" y="2148840"/>
            <a:ext cx="566928" cy="566928"/>
          </a:xfrm>
          <a:prstGeom prst="ellipse">
            <a:avLst/>
          </a:prstGeom>
          <a:solidFill>
            <a:schemeClr val="tx1"/>
          </a:solidFill>
          <a:ln/>
        </p:spPr>
      </p:sp>
      <p:pic>
        <p:nvPicPr>
          <p:cNvPr id="6" name="icon-227" descr="Physics icon">    </p:cNvPr>
          <p:cNvPicPr>
            <a:picLocks noChangeAspect="1"/>
          </p:cNvPicPr>
          <p:nvPr/>
        </p:nvPicPr>
        <p:blipFill>
          <a:blip r:embed="rId1"/>
          <a:stretch>
            <a:fillRect/>
          </a:stretch>
        </p:blipFill>
        <p:spPr>
          <a:xfrm>
            <a:off x="1024128" y="2286000"/>
            <a:ext cx="292608" cy="292608"/>
          </a:xfrm>
          <a:prstGeom prst="rect">
            <a:avLst/>
          </a:prstGeom>
        </p:spPr>
      </p:pic>
      <p:sp>
        <p:nvSpPr>
          <p:cNvPr id="7" name="t-228"/>
          <p:cNvSpPr txBox="1"/>
          <p:nvPr/>
        </p:nvSpPr>
        <p:spPr>
          <a:xfrm>
            <a:off x="1636776" y="2148840"/>
            <a:ext cx="2322576" cy="566928"/>
          </a:xfrm>
          <a:prstGeom prst="rect">
            <a:avLst/>
          </a:prstGeom>
          <a:noFill/>
          <a:ln/>
        </p:spPr>
        <p:txBody>
          <a:bodyPr wrap="square" lIns="0" tIns="0" rIns="0" bIns="0" rtlCol="0" anchor="ctr"/>
          <a:lstStyle/>
          <a:p>
            <a:pPr algn="l" indent="0" marL="0">
              <a:buNone/>
            </a:pPr>
            <a:r>
              <a:rPr lang="en-US" sz="2000" b="1" dirty="0">
                <a:solidFill>
                  <a:schemeClr val="tx1"/>
                </a:solidFill>
              </a:rPr>
              <a:t>Physics</a:t>
            </a:r>
            <a:endParaRPr lang="en-US" sz="2000" dirty="0"/>
          </a:p>
        </p:txBody>
      </p:sp>
      <p:sp>
        <p:nvSpPr>
          <p:cNvPr id="8" name="t-229"/>
          <p:cNvSpPr txBox="1"/>
          <p:nvPr/>
        </p:nvSpPr>
        <p:spPr>
          <a:xfrm>
            <a:off x="886968" y="2971800"/>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Small oscillations</a:t>
            </a:r>
            <a:endParaRPr lang="en-US" sz="1400" dirty="0"/>
          </a:p>
          <a:p>
            <a:pPr algn="l" indent="0" marL="0">
              <a:buNone/>
            </a:pPr>
            <a:r>
              <a:rPr lang="en-US" sz="1400" dirty="0">
                <a:solidFill>
                  <a:schemeClr val="tx2"/>
                </a:solidFill>
              </a:rPr>
              <a:t>the frequencies are the square roots of the eigenvalues</a:t>
            </a:r>
            <a:endParaRPr lang="en-US" sz="1400" dirty="0"/>
          </a:p>
        </p:txBody>
      </p:sp>
      <p:sp>
        <p:nvSpPr>
          <p:cNvPr id="9" name="t-230"/>
          <p:cNvSpPr txBox="1"/>
          <p:nvPr/>
        </p:nvSpPr>
        <p:spPr>
          <a:xfrm>
            <a:off x="886968" y="3822192"/>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Trapping a charge</a:t>
            </a:r>
            <a:endParaRPr lang="en-US" sz="1400" dirty="0"/>
          </a:p>
          <a:p>
            <a:pPr algn="l" indent="0" marL="0">
              <a:buNone/>
            </a:pPr>
            <a:r>
              <a:rPr lang="en-US" sz="1400" dirty="0">
                <a:solidFill>
                  <a:schemeClr val="tx2"/>
                </a:solidFill>
              </a:rPr>
              <a:t>no electrostatic field can do it</a:t>
            </a:r>
            <a:endParaRPr lang="en-US" sz="1400" dirty="0"/>
          </a:p>
        </p:txBody>
      </p:sp>
      <p:sp>
        <p:nvSpPr>
          <p:cNvPr id="10" name="t-231"/>
          <p:cNvSpPr txBox="1"/>
          <p:nvPr/>
        </p:nvSpPr>
        <p:spPr>
          <a:xfrm>
            <a:off x="886968" y="4672584"/>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Astigmatism</a:t>
            </a:r>
            <a:endParaRPr lang="en-US" sz="1400" dirty="0"/>
          </a:p>
          <a:p>
            <a:pPr algn="l" indent="0" marL="0">
              <a:buNone/>
            </a:pPr>
            <a:r>
              <a:rPr lang="en-US" sz="1400" dirty="0">
                <a:solidFill>
                  <a:schemeClr val="tx2"/>
                </a:solidFill>
              </a:rPr>
              <a:t>a lens as a 2 × 2 Hessian</a:t>
            </a:r>
            <a:endParaRPr lang="en-US" sz="1400" dirty="0"/>
          </a:p>
        </p:txBody>
      </p:sp>
      <p:sp>
        <p:nvSpPr>
          <p:cNvPr id="11" name="box-232"/>
          <p:cNvSpPr/>
          <p:nvPr/>
        </p:nvSpPr>
        <p:spPr>
          <a:xfrm>
            <a:off x="4343400" y="1874520"/>
            <a:ext cx="3511296" cy="3749040"/>
          </a:xfrm>
          <a:prstGeom prst="roundRect">
            <a:avLst>
              <a:gd name="adj" fmla="val 1563"/>
            </a:avLst>
          </a:prstGeom>
          <a:solidFill>
            <a:schemeClr val="bg2"/>
          </a:solidFill>
          <a:ln/>
        </p:spPr>
      </p:sp>
      <p:sp>
        <p:nvSpPr>
          <p:cNvPr id="12" name="badge-233"/>
          <p:cNvSpPr/>
          <p:nvPr/>
        </p:nvSpPr>
        <p:spPr>
          <a:xfrm>
            <a:off x="4617720" y="2148840"/>
            <a:ext cx="566928" cy="566928"/>
          </a:xfrm>
          <a:prstGeom prst="ellipse">
            <a:avLst/>
          </a:prstGeom>
          <a:solidFill>
            <a:schemeClr val="tx1"/>
          </a:solidFill>
          <a:ln/>
        </p:spPr>
      </p:sp>
      <p:pic>
        <p:nvPicPr>
          <p:cNvPr id="13" name="icon-234" descr="Engineering icon">    </p:cNvPr>
          <p:cNvPicPr>
            <a:picLocks noChangeAspect="1"/>
          </p:cNvPicPr>
          <p:nvPr/>
        </p:nvPicPr>
        <p:blipFill>
          <a:blip r:embed="rId2"/>
          <a:stretch>
            <a:fillRect/>
          </a:stretch>
        </p:blipFill>
        <p:spPr>
          <a:xfrm>
            <a:off x="4754880" y="2286000"/>
            <a:ext cx="292608" cy="292608"/>
          </a:xfrm>
          <a:prstGeom prst="rect">
            <a:avLst/>
          </a:prstGeom>
        </p:spPr>
      </p:pic>
      <p:sp>
        <p:nvSpPr>
          <p:cNvPr id="14" name="t-235"/>
          <p:cNvSpPr txBox="1"/>
          <p:nvPr/>
        </p:nvSpPr>
        <p:spPr>
          <a:xfrm>
            <a:off x="5367528" y="2148840"/>
            <a:ext cx="2322576" cy="566928"/>
          </a:xfrm>
          <a:prstGeom prst="rect">
            <a:avLst/>
          </a:prstGeom>
          <a:noFill/>
          <a:ln/>
        </p:spPr>
        <p:txBody>
          <a:bodyPr wrap="square" lIns="0" tIns="0" rIns="0" bIns="0" rtlCol="0" anchor="ctr"/>
          <a:lstStyle/>
          <a:p>
            <a:pPr algn="l" indent="0" marL="0">
              <a:buNone/>
            </a:pPr>
            <a:r>
              <a:rPr lang="en-US" sz="2000" b="1" dirty="0">
                <a:solidFill>
                  <a:schemeClr val="tx1"/>
                </a:solidFill>
              </a:rPr>
              <a:t>Engineering</a:t>
            </a:r>
            <a:endParaRPr lang="en-US" sz="2000" dirty="0"/>
          </a:p>
        </p:txBody>
      </p:sp>
      <p:sp>
        <p:nvSpPr>
          <p:cNvPr id="15" name="t-236"/>
          <p:cNvSpPr txBox="1"/>
          <p:nvPr/>
        </p:nvSpPr>
        <p:spPr>
          <a:xfrm>
            <a:off x="4617720" y="2971800"/>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Buckling</a:t>
            </a:r>
            <a:endParaRPr lang="en-US" sz="1400" dirty="0"/>
          </a:p>
          <a:p>
            <a:pPr algn="l" indent="0" marL="0">
              <a:buNone/>
            </a:pPr>
            <a:r>
              <a:rPr lang="en-US" sz="1400" dirty="0">
                <a:solidFill>
                  <a:schemeClr val="tx2"/>
                </a:solidFill>
              </a:rPr>
              <a:t>the load at which H stops being positive definite</a:t>
            </a:r>
            <a:endParaRPr lang="en-US" sz="1400" dirty="0"/>
          </a:p>
        </p:txBody>
      </p:sp>
      <p:sp>
        <p:nvSpPr>
          <p:cNvPr id="16" name="t-237"/>
          <p:cNvSpPr txBox="1"/>
          <p:nvPr/>
        </p:nvSpPr>
        <p:spPr>
          <a:xfrm>
            <a:off x="4617720" y="3822192"/>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Fitting data</a:t>
            </a:r>
            <a:endParaRPr lang="en-US" sz="1400" dirty="0"/>
          </a:p>
          <a:p>
            <a:pPr algn="l" indent="0" marL="0">
              <a:buNone/>
            </a:pPr>
            <a:r>
              <a:rPr lang="en-US" sz="1400" dirty="0">
                <a:solidFill>
                  <a:schemeClr val="tx2"/>
                </a:solidFill>
              </a:rPr>
              <a:t>the bowl of the misfit, and the error bars</a:t>
            </a:r>
            <a:endParaRPr lang="en-US" sz="1400" dirty="0"/>
          </a:p>
        </p:txBody>
      </p:sp>
      <p:sp>
        <p:nvSpPr>
          <p:cNvPr id="17" name="box-238"/>
          <p:cNvSpPr/>
          <p:nvPr/>
        </p:nvSpPr>
        <p:spPr>
          <a:xfrm>
            <a:off x="8074152" y="1874520"/>
            <a:ext cx="3511296" cy="3749040"/>
          </a:xfrm>
          <a:prstGeom prst="roundRect">
            <a:avLst>
              <a:gd name="adj" fmla="val 1563"/>
            </a:avLst>
          </a:prstGeom>
          <a:solidFill>
            <a:schemeClr val="bg2"/>
          </a:solidFill>
          <a:ln/>
        </p:spPr>
      </p:sp>
      <p:sp>
        <p:nvSpPr>
          <p:cNvPr id="18" name="badge-239"/>
          <p:cNvSpPr/>
          <p:nvPr/>
        </p:nvSpPr>
        <p:spPr>
          <a:xfrm>
            <a:off x="8348472" y="2148840"/>
            <a:ext cx="566928" cy="566928"/>
          </a:xfrm>
          <a:prstGeom prst="ellipse">
            <a:avLst/>
          </a:prstGeom>
          <a:solidFill>
            <a:schemeClr val="tx1"/>
          </a:solidFill>
          <a:ln/>
        </p:spPr>
      </p:sp>
      <p:pic>
        <p:nvPicPr>
          <p:cNvPr id="19" name="icon-240" descr="Chemistry icon">    </p:cNvPr>
          <p:cNvPicPr>
            <a:picLocks noChangeAspect="1"/>
          </p:cNvPicPr>
          <p:nvPr/>
        </p:nvPicPr>
        <p:blipFill>
          <a:blip r:embed="rId3"/>
          <a:stretch>
            <a:fillRect/>
          </a:stretch>
        </p:blipFill>
        <p:spPr>
          <a:xfrm>
            <a:off x="8485632" y="2286000"/>
            <a:ext cx="292608" cy="292608"/>
          </a:xfrm>
          <a:prstGeom prst="rect">
            <a:avLst/>
          </a:prstGeom>
        </p:spPr>
      </p:pic>
      <p:sp>
        <p:nvSpPr>
          <p:cNvPr id="20" name="t-241"/>
          <p:cNvSpPr txBox="1"/>
          <p:nvPr/>
        </p:nvSpPr>
        <p:spPr>
          <a:xfrm>
            <a:off x="9098280" y="2148840"/>
            <a:ext cx="2322576" cy="566928"/>
          </a:xfrm>
          <a:prstGeom prst="rect">
            <a:avLst/>
          </a:prstGeom>
          <a:noFill/>
          <a:ln/>
        </p:spPr>
        <p:txBody>
          <a:bodyPr wrap="square" lIns="0" tIns="0" rIns="0" bIns="0" rtlCol="0" anchor="ctr"/>
          <a:lstStyle/>
          <a:p>
            <a:pPr algn="l" indent="0" marL="0">
              <a:buNone/>
            </a:pPr>
            <a:r>
              <a:rPr lang="en-US" sz="2000" b="1" dirty="0">
                <a:solidFill>
                  <a:schemeClr val="tx1"/>
                </a:solidFill>
              </a:rPr>
              <a:t>Chemistry</a:t>
            </a:r>
            <a:endParaRPr lang="en-US" sz="2000" dirty="0"/>
          </a:p>
        </p:txBody>
      </p:sp>
      <p:sp>
        <p:nvSpPr>
          <p:cNvPr id="21" name="t-242"/>
          <p:cNvSpPr txBox="1"/>
          <p:nvPr/>
        </p:nvSpPr>
        <p:spPr>
          <a:xfrm>
            <a:off x="8348472" y="2971800"/>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Bond stiffness</a:t>
            </a:r>
            <a:endParaRPr lang="en-US" sz="1400" dirty="0"/>
          </a:p>
          <a:p>
            <a:pPr algn="l" indent="0" marL="0">
              <a:buNone/>
            </a:pPr>
            <a:r>
              <a:rPr lang="en-US" sz="1400" dirty="0">
                <a:solidFill>
                  <a:schemeClr val="tx2"/>
                </a:solidFill>
              </a:rPr>
              <a:t>a second derivative, measured by spectroscopy</a:t>
            </a:r>
            <a:endParaRPr lang="en-US" sz="1400" dirty="0"/>
          </a:p>
        </p:txBody>
      </p:sp>
      <p:sp>
        <p:nvSpPr>
          <p:cNvPr id="22" name="t-243"/>
          <p:cNvSpPr txBox="1"/>
          <p:nvPr/>
        </p:nvSpPr>
        <p:spPr>
          <a:xfrm>
            <a:off x="8348472" y="3822192"/>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Reactions</a:t>
            </a:r>
            <a:endParaRPr lang="en-US" sz="1400" dirty="0"/>
          </a:p>
          <a:p>
            <a:pPr algn="l" indent="0" marL="0">
              <a:buNone/>
            </a:pPr>
            <a:r>
              <a:rPr lang="en-US" sz="1400" dirty="0">
                <a:solidFill>
                  <a:schemeClr val="tx2"/>
                </a:solidFill>
              </a:rPr>
              <a:t>minimum or transition state</a:t>
            </a:r>
            <a:endParaRPr lang="en-US" sz="1400" dirty="0"/>
          </a:p>
        </p:txBody>
      </p:sp>
      <p:sp>
        <p:nvSpPr>
          <p:cNvPr id="23" name="t-244"/>
          <p:cNvSpPr txBox="1"/>
          <p:nvPr/>
        </p:nvSpPr>
        <p:spPr>
          <a:xfrm>
            <a:off x="8348472" y="4672584"/>
            <a:ext cx="2962656" cy="777240"/>
          </a:xfrm>
          <a:prstGeom prst="rect">
            <a:avLst/>
          </a:prstGeom>
          <a:noFill/>
          <a:ln/>
        </p:spPr>
        <p:txBody>
          <a:bodyPr wrap="square" lIns="0" tIns="0" rIns="0" bIns="0" rtlCol="0" anchor="t"/>
          <a:lstStyle/>
          <a:p>
            <a:pPr algn="l" indent="0" marL="0">
              <a:buNone/>
            </a:pPr>
            <a:r>
              <a:rPr lang="en-US" sz="1400" b="1" dirty="0">
                <a:solidFill>
                  <a:schemeClr val="tx1"/>
                </a:solidFill>
              </a:rPr>
              <a:t>Vibrations</a:t>
            </a:r>
            <a:endParaRPr lang="en-US" sz="1400" dirty="0"/>
          </a:p>
          <a:p>
            <a:pPr algn="l" indent="0" marL="0">
              <a:buNone/>
            </a:pPr>
            <a:r>
              <a:rPr lang="en-US" sz="1400" dirty="0">
                <a:solidFill>
                  <a:schemeClr val="tx2"/>
                </a:solidFill>
              </a:rPr>
              <a:t>a 9 × 9 Hessian for three atoms</a:t>
            </a:r>
            <a:endParaRPr lang="en-US" sz="1400" dirty="0"/>
          </a:p>
        </p:txBody>
      </p:sp>
      <p:sp>
        <p:nvSpPr>
          <p:cNvPr id="24" name="t-245"/>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The computed numbers on the next eight slides come from L08_applications.py.</a:t>
            </a:r>
            <a:endParaRPr lang="en-US" sz="1400" dirty="0"/>
          </a:p>
        </p:txBody>
      </p:sp>
      <p:sp>
        <p:nvSpPr>
          <p:cNvPr id="2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Physics: small oscillations</a:t>
            </a:r>
            <a:endParaRPr lang="en-US" sz="2800" dirty="0"/>
          </a:p>
        </p:txBody>
      </p:sp>
      <p:sp>
        <p:nvSpPr>
          <p:cNvPr id="3" name="t-246"/>
          <p:cNvSpPr txBox="1"/>
          <p:nvPr/>
        </p:nvSpPr>
        <p:spPr>
          <a:xfrm>
            <a:off x="612648" y="1298448"/>
            <a:ext cx="5577840"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three unit masses, each tied to its rest position and to its neighbours by unit springs.</a:t>
            </a:r>
            <a:endParaRPr lang="en-US" sz="1600" dirty="0"/>
          </a:p>
        </p:txBody>
      </p:sp>
      <p:pic>
        <p:nvPicPr>
          <p:cNvPr id="4" name="eq-247" descr="V(\vc{x}) = \tfrac12\bigl[\,x_1^2 + x_2^2 + x_3^2 + (x_1 - x_2)^2 + (x_2 - x_3)^2\,\bigr]">    </p:cNvPr>
          <p:cNvPicPr>
            <a:picLocks noChangeAspect="1"/>
          </p:cNvPicPr>
          <p:nvPr/>
        </p:nvPicPr>
        <p:blipFill>
          <a:blip r:embed="rId1"/>
          <a:stretch>
            <a:fillRect/>
          </a:stretch>
        </p:blipFill>
        <p:spPr>
          <a:xfrm>
            <a:off x="612648" y="2011680"/>
            <a:ext cx="4222242" cy="294894"/>
          </a:xfrm>
          <a:prstGeom prst="rect">
            <a:avLst/>
          </a:prstGeom>
        </p:spPr>
      </p:pic>
      <p:sp>
        <p:nvSpPr>
          <p:cNvPr id="5" name="t-248"/>
          <p:cNvSpPr txBox="1"/>
          <p:nvPr/>
        </p:nvSpPr>
        <p:spPr>
          <a:xfrm>
            <a:off x="612648" y="2487168"/>
            <a:ext cx="5577840" cy="640080"/>
          </a:xfrm>
          <a:prstGeom prst="rect">
            <a:avLst/>
          </a:prstGeom>
          <a:noFill/>
          <a:ln/>
        </p:spPr>
        <p:txBody>
          <a:bodyPr wrap="square" lIns="0" tIns="0" rIns="0" bIns="0" rtlCol="0" anchor="t"/>
          <a:lstStyle/>
          <a:p>
            <a:pPr algn="l" indent="0" marL="0">
              <a:buNone/>
            </a:pPr>
            <a:r>
              <a:rPr lang="en-US" sz="1600" b="1" dirty="0">
                <a:solidFill>
                  <a:schemeClr val="tx1"/>
                </a:solidFill>
              </a:rPr>
              <a:t>Find</a:t>
            </a:r>
            <a:pPr algn="l" indent="0" marL="0">
              <a:buNone/>
            </a:pPr>
            <a:r>
              <a:rPr lang="en-US" sz="1600" dirty="0">
                <a:solidFill>
                  <a:schemeClr val="tx1"/>
                </a:solidFill>
              </a:rPr>
              <a:t> whether x = 0 is stable, and the frequencies of vibration.</a:t>
            </a:r>
            <a:endParaRPr lang="en-US" sz="1600" dirty="0"/>
          </a:p>
        </p:txBody>
      </p:sp>
      <p:pic>
        <p:nvPicPr>
          <p:cNvPr id="6" name="b1-eq-249" descr="\mat{H} = \begin{bmatrix} 2 &amp; -1 &amp; 0 \\ -1 &amp; 3 &amp; -1 \\ 0 &amp; -1 &amp; 2\end{bmatrix}">    </p:cNvPr>
          <p:cNvPicPr>
            <a:picLocks noChangeAspect="1"/>
          </p:cNvPicPr>
          <p:nvPr/>
        </p:nvPicPr>
        <p:blipFill>
          <a:blip r:embed="rId2"/>
          <a:stretch>
            <a:fillRect/>
          </a:stretch>
        </p:blipFill>
        <p:spPr>
          <a:xfrm>
            <a:off x="612648" y="3200400"/>
            <a:ext cx="1744218" cy="733806"/>
          </a:xfrm>
          <a:prstGeom prst="rect">
            <a:avLst/>
          </a:prstGeom>
        </p:spPr>
      </p:pic>
      <p:pic>
        <p:nvPicPr>
          <p:cNvPr id="7" name="b1-eq-250" descr="\lambda = 1,\ 2,\ 4">    </p:cNvPr>
          <p:cNvPicPr>
            <a:picLocks noChangeAspect="1"/>
          </p:cNvPicPr>
          <p:nvPr/>
        </p:nvPicPr>
        <p:blipFill>
          <a:blip r:embed="rId3"/>
          <a:stretch>
            <a:fillRect/>
          </a:stretch>
        </p:blipFill>
        <p:spPr>
          <a:xfrm>
            <a:off x="2743200" y="3273552"/>
            <a:ext cx="1056132" cy="230886"/>
          </a:xfrm>
          <a:prstGeom prst="rect">
            <a:avLst/>
          </a:prstGeom>
        </p:spPr>
      </p:pic>
      <p:sp>
        <p:nvSpPr>
          <p:cNvPr id="8" name="b1-t-251"/>
          <p:cNvSpPr txBox="1"/>
          <p:nvPr/>
        </p:nvSpPr>
        <p:spPr>
          <a:xfrm>
            <a:off x="2743200" y="3593592"/>
            <a:ext cx="3383280" cy="548640"/>
          </a:xfrm>
          <a:prstGeom prst="rect">
            <a:avLst/>
          </a:prstGeom>
          <a:noFill/>
          <a:ln/>
        </p:spPr>
        <p:txBody>
          <a:bodyPr wrap="square" lIns="0" tIns="0" rIns="0" bIns="0" rtlCol="0" anchor="t"/>
          <a:lstStyle/>
          <a:p>
            <a:pPr algn="l" indent="0" marL="0">
              <a:buNone/>
            </a:pPr>
            <a:r>
              <a:rPr lang="en-US" sz="1400" dirty="0">
                <a:solidFill>
                  <a:schemeClr val="tx2"/>
                </a:solidFill>
              </a:rPr>
              <a:t>all positive: H is positive definite,</a:t>
            </a:r>
            <a:endParaRPr lang="en-US" sz="1400" dirty="0"/>
          </a:p>
          <a:p>
            <a:pPr algn="l" indent="0" marL="0">
              <a:buNone/>
            </a:pPr>
            <a:r>
              <a:rPr lang="en-US" sz="1400" dirty="0">
                <a:solidFill>
                  <a:schemeClr val="tx2"/>
                </a:solidFill>
              </a:rPr>
              <a:t>the equilibrium is stable</a:t>
            </a:r>
            <a:endParaRPr lang="en-US" sz="1400" dirty="0"/>
          </a:p>
        </p:txBody>
      </p:sp>
      <p:pic>
        <p:nvPicPr>
          <p:cNvPr id="9" name="b2-eq-252" descr="\omega_i = \sqrt{\lambda_i} = 1,\ \sqrt2,\ 2">    </p:cNvPr>
          <p:cNvPicPr>
            <a:picLocks noChangeAspect="1"/>
          </p:cNvPicPr>
          <p:nvPr/>
        </p:nvPicPr>
        <p:blipFill>
          <a:blip r:embed="rId4"/>
          <a:stretch>
            <a:fillRect/>
          </a:stretch>
        </p:blipFill>
        <p:spPr>
          <a:xfrm>
            <a:off x="612648" y="4224528"/>
            <a:ext cx="1888236" cy="288036"/>
          </a:xfrm>
          <a:prstGeom prst="rect">
            <a:avLst/>
          </a:prstGeom>
        </p:spPr>
      </p:pic>
      <p:pic>
        <p:nvPicPr>
          <p:cNvPr id="10" name="b3-eq-253" descr="E_0 = \tfrac12\,\hbar\,(1 + \sqrt2 + 2) \approx 2.21\,\hbar">    </p:cNvPr>
          <p:cNvPicPr>
            <a:picLocks noChangeAspect="1"/>
          </p:cNvPicPr>
          <p:nvPr/>
        </p:nvPicPr>
        <p:blipFill>
          <a:blip r:embed="rId5"/>
          <a:stretch>
            <a:fillRect/>
          </a:stretch>
        </p:blipFill>
        <p:spPr>
          <a:xfrm>
            <a:off x="612648" y="4800600"/>
            <a:ext cx="2660904" cy="299466"/>
          </a:xfrm>
          <a:prstGeom prst="rect">
            <a:avLst/>
          </a:prstGeom>
        </p:spPr>
      </p:pic>
      <p:sp>
        <p:nvSpPr>
          <p:cNvPr id="11" name="b3-t-254"/>
          <p:cNvSpPr txBox="1"/>
          <p:nvPr/>
        </p:nvSpPr>
        <p:spPr>
          <a:xfrm>
            <a:off x="612648" y="5212080"/>
            <a:ext cx="5577840" cy="548640"/>
          </a:xfrm>
          <a:prstGeom prst="rect">
            <a:avLst/>
          </a:prstGeom>
          <a:noFill/>
          <a:ln/>
        </p:spPr>
        <p:txBody>
          <a:bodyPr wrap="square" lIns="0" tIns="0" rIns="0" bIns="0" rtlCol="0" anchor="t"/>
          <a:lstStyle/>
          <a:p>
            <a:pPr algn="l" indent="0" marL="0">
              <a:buNone/>
            </a:pPr>
            <a:r>
              <a:rPr lang="en-US" sz="1400" dirty="0">
                <a:solidFill>
                  <a:schemeClr val="tx2"/>
                </a:solidFill>
              </a:rPr>
              <a:t>quantum mechanics: every mode keeps the energy ½ħω in its lowest state</a:t>
            </a:r>
            <a:endParaRPr lang="en-US" sz="1400" dirty="0"/>
          </a:p>
        </p:txBody>
      </p:sp>
      <p:pic>
        <p:nvPicPr>
          <p:cNvPr id="12" name="img-255" descr="Three masses in their own wells, joined by springs">    </p:cNvPr>
          <p:cNvPicPr>
            <a:picLocks noChangeAspect="1"/>
          </p:cNvPicPr>
          <p:nvPr/>
        </p:nvPicPr>
        <p:blipFill>
          <a:blip r:embed="rId6"/>
          <a:stretch>
            <a:fillRect/>
          </a:stretch>
        </p:blipFill>
        <p:spPr>
          <a:xfrm>
            <a:off x="6720840" y="1325880"/>
            <a:ext cx="4572000" cy="1172770"/>
          </a:xfrm>
          <a:prstGeom prst="rect">
            <a:avLst/>
          </a:prstGeom>
        </p:spPr>
      </p:pic>
      <p:sp>
        <p:nvSpPr>
          <p:cNvPr id="13" name="b2-t-256"/>
          <p:cNvSpPr txBox="1"/>
          <p:nvPr/>
        </p:nvSpPr>
        <p:spPr>
          <a:xfrm>
            <a:off x="6492240" y="2697480"/>
            <a:ext cx="5093208" cy="274320"/>
          </a:xfrm>
          <a:prstGeom prst="rect">
            <a:avLst/>
          </a:prstGeom>
          <a:noFill/>
          <a:ln/>
        </p:spPr>
        <p:txBody>
          <a:bodyPr wrap="square" lIns="0" tIns="0" rIns="0" bIns="0" rtlCol="0" anchor="t"/>
          <a:lstStyle/>
          <a:p>
            <a:pPr algn="l" indent="0" marL="0">
              <a:buNone/>
            </a:pPr>
            <a:r>
              <a:rPr lang="en-US" sz="1400" dirty="0">
                <a:solidFill>
                  <a:schemeClr val="tx2"/>
                </a:solidFill>
              </a:rPr>
              <a:t>eigenvectors of H: the shapes of the three modes</a:t>
            </a:r>
            <a:endParaRPr lang="en-US" sz="1400" dirty="0"/>
          </a:p>
        </p:txBody>
      </p:sp>
      <p:pic>
        <p:nvPicPr>
          <p:cNvPr id="14" name="b2-img-257" descr="Mode shapes (1,1,1), (1,0,−1), (1,−2,1) with frequencies 1, √2, 2">    </p:cNvPr>
          <p:cNvPicPr>
            <a:picLocks noChangeAspect="1"/>
          </p:cNvPicPr>
          <p:nvPr/>
        </p:nvPicPr>
        <p:blipFill>
          <a:blip r:embed="rId7"/>
          <a:stretch>
            <a:fillRect/>
          </a:stretch>
        </p:blipFill>
        <p:spPr>
          <a:xfrm>
            <a:off x="6492240" y="3017520"/>
            <a:ext cx="5093208" cy="1267488"/>
          </a:xfrm>
          <a:prstGeom prst="rect">
            <a:avLst/>
          </a:prstGeom>
        </p:spPr>
      </p:pic>
      <p:sp>
        <p:nvSpPr>
          <p:cNvPr id="15" name="b4-box-258"/>
          <p:cNvSpPr/>
          <p:nvPr/>
        </p:nvSpPr>
        <p:spPr>
          <a:xfrm>
            <a:off x="6492240" y="4526280"/>
            <a:ext cx="5093208" cy="1188720"/>
          </a:xfrm>
          <a:prstGeom prst="roundRect">
            <a:avLst>
              <a:gd name="adj" fmla="val 4615"/>
            </a:avLst>
          </a:prstGeom>
          <a:solidFill>
            <a:schemeClr val="accent2"/>
          </a:solidFill>
          <a:ln/>
        </p:spPr>
      </p:sp>
      <p:sp>
        <p:nvSpPr>
          <p:cNvPr id="16" name="b4-t-259"/>
          <p:cNvSpPr txBox="1"/>
          <p:nvPr/>
        </p:nvSpPr>
        <p:spPr>
          <a:xfrm>
            <a:off x="6720840" y="4654296"/>
            <a:ext cx="4636008"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7" name="b4-t-260"/>
          <p:cNvSpPr txBox="1"/>
          <p:nvPr/>
        </p:nvSpPr>
        <p:spPr>
          <a:xfrm>
            <a:off x="6720840" y="4946904"/>
            <a:ext cx="4636008" cy="658368"/>
          </a:xfrm>
          <a:prstGeom prst="rect">
            <a:avLst/>
          </a:prstGeom>
          <a:noFill/>
          <a:ln/>
        </p:spPr>
        <p:txBody>
          <a:bodyPr wrap="square" lIns="0" tIns="0" rIns="0" bIns="0" rtlCol="0" anchor="t"/>
          <a:lstStyle/>
          <a:p>
            <a:pPr algn="l" indent="0" marL="0">
              <a:buNone/>
            </a:pPr>
            <a:r>
              <a:rPr lang="en-US" sz="1400" dirty="0">
                <a:solidFill>
                  <a:schemeClr val="tx1"/>
                </a:solidFill>
              </a:rPr>
              <a:t>A negative eigenvalue would make ω imaginary: the motion grows instead of oscillating. Stable means positive definite.</a:t>
            </a:r>
            <a:endParaRPr lang="en-US" sz="1400" dirty="0"/>
          </a:p>
        </p:txBody>
      </p:sp>
      <p:sp>
        <p:nvSpPr>
          <p:cNvPr id="18" name="t-261"/>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Example 3.5 of the notes. The eigenvectors are orthogonal because H is symmetric (Lecture 7).</a:t>
            </a:r>
            <a:endParaRPr lang="en-US" sz="1400" dirty="0"/>
          </a:p>
        </p:txBody>
      </p:sp>
      <p:sp>
        <p:nvSpPr>
          <p:cNvPr id="19"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Physics: no electrostatic trap for a charge</a:t>
            </a:r>
            <a:endParaRPr lang="en-US" sz="2800" dirty="0"/>
          </a:p>
        </p:txBody>
      </p:sp>
      <p:sp>
        <p:nvSpPr>
          <p:cNvPr id="3" name="t-262"/>
          <p:cNvSpPr txBox="1"/>
          <p:nvPr/>
        </p:nvSpPr>
        <p:spPr>
          <a:xfrm>
            <a:off x="612648" y="1298448"/>
            <a:ext cx="5486400"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a charge in an electrostatic field. </a:t>
            </a:r>
            <a:pPr algn="l" indent="0" marL="0">
              <a:buNone/>
            </a:pPr>
            <a:r>
              <a:rPr lang="en-US" sz="1600" b="1" dirty="0">
                <a:solidFill>
                  <a:schemeClr val="tx1"/>
                </a:solidFill>
              </a:rPr>
              <a:t>Find</a:t>
            </a:r>
            <a:pPr algn="l" indent="0" marL="0">
              <a:buNone/>
            </a:pPr>
            <a:r>
              <a:rPr lang="en-US" sz="1600" dirty="0">
                <a:solidFill>
                  <a:schemeClr val="tx1"/>
                </a:solidFill>
              </a:rPr>
              <a:t> a point where it can rest stably.</a:t>
            </a:r>
            <a:endParaRPr lang="en-US" sz="1600" dirty="0"/>
          </a:p>
        </p:txBody>
      </p:sp>
      <p:sp>
        <p:nvSpPr>
          <p:cNvPr id="4" name="t-263"/>
          <p:cNvSpPr txBox="1"/>
          <p:nvPr/>
        </p:nvSpPr>
        <p:spPr>
          <a:xfrm>
            <a:off x="612648" y="2011680"/>
            <a:ext cx="5486400" cy="502920"/>
          </a:xfrm>
          <a:prstGeom prst="rect">
            <a:avLst/>
          </a:prstGeom>
          <a:noFill/>
          <a:ln/>
        </p:spPr>
        <p:txBody>
          <a:bodyPr wrap="square" lIns="0" tIns="0" rIns="0" bIns="0" rtlCol="0" anchor="t"/>
          <a:lstStyle/>
          <a:p>
            <a:pPr algn="l" indent="0" marL="0">
              <a:buNone/>
            </a:pPr>
            <a:r>
              <a:rPr lang="en-US" sz="1400" dirty="0">
                <a:solidFill>
                  <a:schemeClr val="tx2"/>
                </a:solidFill>
              </a:rPr>
              <a:t>In empty space φ obeys Laplace's equation, so its Hessian H has trace zero:</a:t>
            </a:r>
            <a:endParaRPr lang="en-US" sz="1400" dirty="0"/>
          </a:p>
        </p:txBody>
      </p:sp>
      <p:pic>
        <p:nvPicPr>
          <p:cNvPr id="5" name="eq-264" descr="\nabla^2\phi = 0 \quad\Longrightarrow\quad \operatorname{tr}\mat{H} = \lambda_1 + \lambda_2 + \lambda_3 = 0">    </p:cNvPr>
          <p:cNvPicPr>
            <a:picLocks noChangeAspect="1"/>
          </p:cNvPicPr>
          <p:nvPr/>
        </p:nvPicPr>
        <p:blipFill>
          <a:blip r:embed="rId1"/>
          <a:stretch>
            <a:fillRect/>
          </a:stretch>
        </p:blipFill>
        <p:spPr>
          <a:xfrm>
            <a:off x="612648" y="2578608"/>
            <a:ext cx="3989070" cy="290322"/>
          </a:xfrm>
          <a:prstGeom prst="rect">
            <a:avLst/>
          </a:prstGeom>
        </p:spPr>
      </p:pic>
      <p:sp>
        <p:nvSpPr>
          <p:cNvPr id="6" name="b1-t-265"/>
          <p:cNvSpPr txBox="1"/>
          <p:nvPr/>
        </p:nvSpPr>
        <p:spPr>
          <a:xfrm>
            <a:off x="612648" y="3063240"/>
            <a:ext cx="5486400" cy="914400"/>
          </a:xfrm>
          <a:prstGeom prst="rect">
            <a:avLst/>
          </a:prstGeom>
          <a:noFill/>
          <a:ln/>
        </p:spPr>
        <p:txBody>
          <a:bodyPr wrap="square" lIns="0" tIns="0" rIns="0" bIns="0" rtlCol="0" anchor="t"/>
          <a:lstStyle/>
          <a:p>
            <a:pPr algn="l" indent="0" marL="0">
              <a:buNone/>
            </a:pPr>
            <a:r>
              <a:rPr lang="en-US" sz="1600" dirty="0">
                <a:solidFill>
                  <a:schemeClr val="tx1"/>
                </a:solidFill>
              </a:rPr>
              <a:t>If one eigenvalue is positive, another is negative: a saddle, not a bowl. Earnshaw's theorem.</a:t>
            </a:r>
            <a:endParaRPr lang="en-US" sz="1600" dirty="0"/>
          </a:p>
        </p:txBody>
      </p:sp>
      <p:sp>
        <p:nvSpPr>
          <p:cNvPr id="7" name="b3-t-266"/>
          <p:cNvSpPr txBox="1"/>
          <p:nvPr/>
        </p:nvSpPr>
        <p:spPr>
          <a:xfrm>
            <a:off x="612648" y="4114800"/>
            <a:ext cx="5486400" cy="320040"/>
          </a:xfrm>
          <a:prstGeom prst="rect">
            <a:avLst/>
          </a:prstGeom>
          <a:noFill/>
          <a:ln/>
        </p:spPr>
        <p:txBody>
          <a:bodyPr wrap="square" lIns="0" tIns="0" rIns="0" bIns="0" rtlCol="0" anchor="t"/>
          <a:lstStyle/>
          <a:p>
            <a:pPr algn="l" indent="0" marL="0">
              <a:buNone/>
            </a:pPr>
            <a:r>
              <a:rPr lang="en-US" sz="1600" b="1" dirty="0">
                <a:solidFill>
                  <a:schemeClr val="tx1"/>
                </a:solidFill>
              </a:rPr>
              <a:t>The way out.</a:t>
            </a:r>
            <a:pPr algn="l" indent="0" marL="0">
              <a:buNone/>
            </a:pPr>
            <a:r>
              <a:rPr lang="en-US" sz="1600" dirty="0">
                <a:solidFill>
                  <a:schemeClr val="tx1"/>
                </a:solidFill>
              </a:rPr>
              <a:t> Make the saddle oscillate:</a:t>
            </a:r>
            <a:endParaRPr lang="en-US" sz="1600" dirty="0"/>
          </a:p>
        </p:txBody>
      </p:sp>
      <p:pic>
        <p:nvPicPr>
          <p:cNvPr id="8" name="b3-eq-267" descr="\dfrac{d^2u}{d\tau^2} = 2q\cos(2\tau)\,u">    </p:cNvPr>
          <p:cNvPicPr>
            <a:picLocks noChangeAspect="1"/>
          </p:cNvPicPr>
          <p:nvPr/>
        </p:nvPicPr>
        <p:blipFill>
          <a:blip r:embed="rId2"/>
          <a:stretch>
            <a:fillRect/>
          </a:stretch>
        </p:blipFill>
        <p:spPr>
          <a:xfrm>
            <a:off x="612648" y="4498848"/>
            <a:ext cx="1773936" cy="475488"/>
          </a:xfrm>
          <a:prstGeom prst="rect">
            <a:avLst/>
          </a:prstGeom>
        </p:spPr>
      </p:pic>
      <p:sp>
        <p:nvSpPr>
          <p:cNvPr id="9" name="b3-t-268"/>
          <p:cNvSpPr txBox="1"/>
          <p:nvPr/>
        </p:nvSpPr>
        <p:spPr>
          <a:xfrm>
            <a:off x="2606040" y="4517136"/>
            <a:ext cx="3566160" cy="502920"/>
          </a:xfrm>
          <a:prstGeom prst="rect">
            <a:avLst/>
          </a:prstGeom>
          <a:noFill/>
          <a:ln/>
        </p:spPr>
        <p:txBody>
          <a:bodyPr wrap="square" lIns="0" tIns="0" rIns="0" bIns="0" rtlCol="0" anchor="t"/>
          <a:lstStyle/>
          <a:p>
            <a:pPr algn="l" indent="0" marL="0">
              <a:buNone/>
            </a:pPr>
            <a:r>
              <a:rPr lang="en-US" sz="1400" dirty="0">
                <a:solidFill>
                  <a:schemeClr val="tx2"/>
                </a:solidFill>
              </a:rPr>
              <a:t>motion along one axis, in scaled time;</a:t>
            </a:r>
            <a:endParaRPr lang="en-US" sz="1400" dirty="0"/>
          </a:p>
          <a:p>
            <a:pPr algn="l" indent="0" marL="0">
              <a:buNone/>
            </a:pPr>
            <a:r>
              <a:rPr lang="en-US" sz="1400" dirty="0">
                <a:solidFill>
                  <a:schemeClr val="tx2"/>
                </a:solidFill>
              </a:rPr>
              <a:t>q ∝ field strength / frequency²</a:t>
            </a:r>
            <a:endParaRPr lang="en-US" sz="1400" dirty="0"/>
          </a:p>
        </p:txBody>
      </p:sp>
      <p:sp>
        <p:nvSpPr>
          <p:cNvPr id="10" name="b4-t-269"/>
          <p:cNvSpPr txBox="1"/>
          <p:nvPr/>
        </p:nvSpPr>
        <p:spPr>
          <a:xfrm>
            <a:off x="612648" y="5175504"/>
            <a:ext cx="5577840" cy="530352"/>
          </a:xfrm>
          <a:prstGeom prst="rect">
            <a:avLst/>
          </a:prstGeom>
          <a:noFill/>
          <a:ln/>
        </p:spPr>
        <p:txBody>
          <a:bodyPr wrap="square" lIns="0" tIns="0" rIns="0" bIns="0" rtlCol="0" anchor="t"/>
          <a:lstStyle/>
          <a:p>
            <a:pPr algn="l" indent="0" marL="0">
              <a:buNone/>
            </a:pPr>
            <a:r>
              <a:rPr lang="en-US" sz="1400" dirty="0">
                <a:solidFill>
                  <a:schemeClr val="tx1"/>
                </a:solidFill>
              </a:rPr>
              <a:t>Bounded for q &lt; 0.908: the Paul trap. Nobel Prize in Physics 1989 (Paul and Dehmelt, shared with Ramsey).</a:t>
            </a:r>
            <a:endParaRPr lang="en-US" sz="1400" dirty="0"/>
          </a:p>
        </p:txBody>
      </p:sp>
      <p:pic>
        <p:nvPicPr>
          <p:cNvPr id="11" name="b2-img-270" descr="Saddle surface of the potential in the x z plane">    </p:cNvPr>
          <p:cNvPicPr>
            <a:picLocks noChangeAspect="1"/>
          </p:cNvPicPr>
          <p:nvPr/>
        </p:nvPicPr>
        <p:blipFill>
          <a:blip r:embed="rId3"/>
          <a:stretch>
            <a:fillRect/>
          </a:stretch>
        </p:blipFill>
        <p:spPr>
          <a:xfrm>
            <a:off x="6492240" y="1143000"/>
            <a:ext cx="2331720" cy="1907771"/>
          </a:xfrm>
          <a:prstGeom prst="rect">
            <a:avLst/>
          </a:prstGeom>
        </p:spPr>
      </p:pic>
      <p:pic>
        <p:nvPicPr>
          <p:cNvPr id="12" name="b2-eq-271" descr="\phi \propto x^2 + y^2 - 2z^2">    </p:cNvPr>
          <p:cNvPicPr>
            <a:picLocks noChangeAspect="1"/>
          </p:cNvPicPr>
          <p:nvPr/>
        </p:nvPicPr>
        <p:blipFill>
          <a:blip r:embed="rId4"/>
          <a:stretch>
            <a:fillRect/>
          </a:stretch>
        </p:blipFill>
        <p:spPr>
          <a:xfrm>
            <a:off x="9006840" y="1417320"/>
            <a:ext cx="1529334" cy="256032"/>
          </a:xfrm>
          <a:prstGeom prst="rect">
            <a:avLst/>
          </a:prstGeom>
        </p:spPr>
      </p:pic>
      <p:pic>
        <p:nvPicPr>
          <p:cNvPr id="13" name="b2-eq-272" descr="\mat{H} \propto \begin{bmatrix} 2 &amp; 0 &amp; 0 \\ 0 &amp; 2 &amp; 0 \\ 0 &amp; 0 &amp; \red{-4}\end{bmatrix}">    </p:cNvPr>
          <p:cNvPicPr>
            <a:picLocks noChangeAspect="1"/>
          </p:cNvPicPr>
          <p:nvPr/>
        </p:nvPicPr>
        <p:blipFill>
          <a:blip r:embed="rId5"/>
          <a:stretch>
            <a:fillRect/>
          </a:stretch>
        </p:blipFill>
        <p:spPr>
          <a:xfrm>
            <a:off x="9006840" y="1828800"/>
            <a:ext cx="1296162" cy="644652"/>
          </a:xfrm>
          <a:prstGeom prst="rect">
            <a:avLst/>
          </a:prstGeom>
        </p:spPr>
      </p:pic>
      <p:sp>
        <p:nvSpPr>
          <p:cNvPr id="14" name="b2-t-273"/>
          <p:cNvSpPr txBox="1"/>
          <p:nvPr/>
        </p:nvSpPr>
        <p:spPr>
          <a:xfrm>
            <a:off x="9006840" y="2606040"/>
            <a:ext cx="2560320" cy="502920"/>
          </a:xfrm>
          <a:prstGeom prst="rect">
            <a:avLst/>
          </a:prstGeom>
          <a:noFill/>
          <a:ln/>
        </p:spPr>
        <p:txBody>
          <a:bodyPr wrap="square" lIns="0" tIns="0" rIns="0" bIns="0" rtlCol="0" anchor="t"/>
          <a:lstStyle/>
          <a:p>
            <a:pPr algn="l" indent="0" marL="0">
              <a:buNone/>
            </a:pPr>
            <a:r>
              <a:rPr lang="en-US" sz="1300" dirty="0">
                <a:solidFill>
                  <a:schemeClr val="tx2"/>
                </a:solidFill>
              </a:rPr>
              <a:t>the (x, z) section of φ:</a:t>
            </a:r>
            <a:endParaRPr lang="en-US" sz="1300" dirty="0"/>
          </a:p>
          <a:p>
            <a:pPr algn="l" indent="0" marL="0">
              <a:buNone/>
            </a:pPr>
            <a:r>
              <a:rPr lang="en-US" sz="1300" dirty="0">
                <a:solidFill>
                  <a:schemeClr val="tx2"/>
                </a:solidFill>
              </a:rPr>
              <a:t>up along x, down along z</a:t>
            </a:r>
            <a:endParaRPr lang="en-US" sz="1300" dirty="0"/>
          </a:p>
        </p:txBody>
      </p:sp>
      <p:graphicFrame>
        <p:nvGraphicFramePr>
          <p:cNvPr id="15" name="b3-chart-274" descr=""/>
          <p:cNvGraphicFramePr/>
          <p:nvPr/>
        </p:nvGraphicFramePr>
        <p:xfrm>
          <a:off x="6309360" y="3154680"/>
          <a:ext cx="5276088" cy="2651760"/>
        </p:xfrm>
        <a:graphic xmlns:a="http://schemas.openxmlformats.org/drawingml/2006/main">
          <a:graphicData uri="http://schemas.openxmlformats.org/drawingml/2006/chart">
            <c:chart xmlns:c="http://schemas.openxmlformats.org/drawingml/2006/chart" r:id="rId6"/>
          </a:graphicData>
        </a:graphic>
      </p:graphicFrame>
      <p:sp>
        <p:nvSpPr>
          <p:cNvPr id="16" name="b4-t-275"/>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A fixed saddle pushes the charge out along one axis. A saddle that flips sign fast enough holds it, on average.</a:t>
            </a:r>
            <a:endParaRPr lang="en-US" sz="1400" dirty="0"/>
          </a:p>
        </p:txBody>
      </p:sp>
      <p:sp>
        <p:nvSpPr>
          <p:cNvPr id="17"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4" grpId="0" animBg="1"/>
      <p:bldGraphic spid="15" grpId="0">
        <p:bldAsOne/>
      </p:bldGraphic>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Physics: astigmatism is a 2 × 2 Hessian</a:t>
            </a:r>
            <a:endParaRPr lang="en-US" sz="2800" dirty="0"/>
          </a:p>
        </p:txBody>
      </p:sp>
      <p:sp>
        <p:nvSpPr>
          <p:cNvPr id="3" name="t-276"/>
          <p:cNvSpPr txBox="1"/>
          <p:nvPr/>
        </p:nvSpPr>
        <p:spPr>
          <a:xfrm>
            <a:off x="612648" y="1298448"/>
            <a:ext cx="5394960" cy="640080"/>
          </a:xfrm>
          <a:prstGeom prst="rect">
            <a:avLst/>
          </a:prstGeom>
          <a:noFill/>
          <a:ln/>
        </p:spPr>
        <p:txBody>
          <a:bodyPr wrap="square" lIns="0" tIns="0" rIns="0" bIns="0" rtlCol="0" anchor="t"/>
          <a:lstStyle/>
          <a:p>
            <a:pPr algn="l" indent="0" marL="0">
              <a:buNone/>
            </a:pPr>
            <a:r>
              <a:rPr lang="en-US" sz="1600" dirty="0">
                <a:solidFill>
                  <a:schemeClr val="tx1"/>
                </a:solidFill>
              </a:rPr>
              <a:t>A thin lens adds an optical path that is quadratic in the position x on the lens:</a:t>
            </a:r>
            <a:endParaRPr lang="en-US" sz="1600" dirty="0"/>
          </a:p>
        </p:txBody>
      </p:sp>
      <p:pic>
        <p:nvPicPr>
          <p:cNvPr id="4" name="eq-277" descr="W(\vc{x}) = -\tfrac12\,\vc{x}\T\mat{F}\,\vc{x}">    </p:cNvPr>
          <p:cNvPicPr>
            <a:picLocks noChangeAspect="1"/>
          </p:cNvPicPr>
          <p:nvPr/>
        </p:nvPicPr>
        <p:blipFill>
          <a:blip r:embed="rId1"/>
          <a:stretch>
            <a:fillRect/>
          </a:stretch>
        </p:blipFill>
        <p:spPr>
          <a:xfrm>
            <a:off x="612648" y="2011680"/>
            <a:ext cx="1680210" cy="315468"/>
          </a:xfrm>
          <a:prstGeom prst="rect">
            <a:avLst/>
          </a:prstGeom>
        </p:spPr>
      </p:pic>
      <p:sp>
        <p:nvSpPr>
          <p:cNvPr id="5" name="t-278"/>
          <p:cNvSpPr txBox="1"/>
          <p:nvPr/>
        </p:nvSpPr>
        <p:spPr>
          <a:xfrm>
            <a:off x="2560320" y="1938528"/>
            <a:ext cx="3474720" cy="548640"/>
          </a:xfrm>
          <a:prstGeom prst="rect">
            <a:avLst/>
          </a:prstGeom>
          <a:noFill/>
          <a:ln/>
        </p:spPr>
        <p:txBody>
          <a:bodyPr wrap="square" lIns="0" tIns="0" rIns="0" bIns="0" rtlCol="0" anchor="t"/>
          <a:lstStyle/>
          <a:p>
            <a:pPr algn="l" indent="0" marL="0">
              <a:buNone/>
            </a:pPr>
            <a:r>
              <a:rPr lang="en-US" sz="1400" dirty="0">
                <a:solidFill>
                  <a:schemeClr val="tx2"/>
                </a:solidFill>
              </a:rPr>
              <a:t>F is the Hessian of −W: the matrix</a:t>
            </a:r>
            <a:endParaRPr lang="en-US" sz="1400" dirty="0"/>
          </a:p>
          <a:p>
            <a:pPr algn="l" indent="0" marL="0">
              <a:buNone/>
            </a:pPr>
            <a:r>
              <a:rPr lang="en-US" sz="1400" dirty="0">
                <a:solidFill>
                  <a:schemeClr val="tx2"/>
                </a:solidFill>
              </a:rPr>
              <a:t>of lens powers, in dioptres (D)</a:t>
            </a:r>
            <a:endParaRPr lang="en-US" sz="1400" dirty="0"/>
          </a:p>
        </p:txBody>
      </p:sp>
      <p:sp>
        <p:nvSpPr>
          <p:cNvPr id="6" name="b1-t-279"/>
          <p:cNvSpPr txBox="1"/>
          <p:nvPr/>
        </p:nvSpPr>
        <p:spPr>
          <a:xfrm>
            <a:off x="612648" y="2715768"/>
            <a:ext cx="822960" cy="320040"/>
          </a:xfrm>
          <a:prstGeom prst="rect">
            <a:avLst/>
          </a:prstGeom>
          <a:noFill/>
          <a:ln/>
        </p:spPr>
        <p:txBody>
          <a:bodyPr wrap="square" lIns="0" tIns="0" rIns="0" bIns="0" rtlCol="0" anchor="t"/>
          <a:lstStyle/>
          <a:p>
            <a:pPr algn="l" indent="0" marL="0">
              <a:buNone/>
            </a:pPr>
            <a:r>
              <a:rPr lang="en-US" sz="1600" b="1" dirty="0">
                <a:solidFill>
                  <a:schemeClr val="tx1"/>
                </a:solidFill>
              </a:rPr>
              <a:t>Given</a:t>
            </a:r>
            <a:endParaRPr lang="en-US" sz="1600" dirty="0"/>
          </a:p>
        </p:txBody>
      </p:sp>
      <p:pic>
        <p:nvPicPr>
          <p:cNvPr id="7" name="b1-eq-280" descr="\mat{F} = \begin{bmatrix} 3 &amp; 1 \\ 1 &amp; 3\end{bmatrix} \text{ D}">    </p:cNvPr>
          <p:cNvPicPr>
            <a:picLocks noChangeAspect="1"/>
          </p:cNvPicPr>
          <p:nvPr/>
        </p:nvPicPr>
        <p:blipFill>
          <a:blip r:embed="rId2"/>
          <a:stretch>
            <a:fillRect/>
          </a:stretch>
        </p:blipFill>
        <p:spPr>
          <a:xfrm>
            <a:off x="1463040" y="2607183"/>
            <a:ext cx="1323594" cy="537210"/>
          </a:xfrm>
          <a:prstGeom prst="rect">
            <a:avLst/>
          </a:prstGeom>
        </p:spPr>
      </p:pic>
      <p:sp>
        <p:nvSpPr>
          <p:cNvPr id="8" name="b1-t-281"/>
          <p:cNvSpPr txBox="1"/>
          <p:nvPr/>
        </p:nvSpPr>
        <p:spPr>
          <a:xfrm>
            <a:off x="612648" y="3310128"/>
            <a:ext cx="5394960" cy="320040"/>
          </a:xfrm>
          <a:prstGeom prst="rect">
            <a:avLst/>
          </a:prstGeom>
          <a:noFill/>
          <a:ln/>
        </p:spPr>
        <p:txBody>
          <a:bodyPr wrap="square" lIns="0" tIns="0" rIns="0" bIns="0" rtlCol="0" anchor="t"/>
          <a:lstStyle/>
          <a:p>
            <a:pPr algn="l" indent="0" marL="0">
              <a:buNone/>
            </a:pPr>
            <a:r>
              <a:rPr lang="en-US" sz="1600" b="1" dirty="0">
                <a:solidFill>
                  <a:schemeClr val="tx1"/>
                </a:solidFill>
              </a:rPr>
              <a:t>Find</a:t>
            </a:r>
            <a:pPr algn="l" indent="0" marL="0">
              <a:buNone/>
            </a:pPr>
            <a:r>
              <a:rPr lang="en-US" sz="1600" dirty="0">
                <a:solidFill>
                  <a:schemeClr val="tx1"/>
                </a:solidFill>
              </a:rPr>
              <a:t> where a parallel beam is focused.</a:t>
            </a:r>
            <a:endParaRPr lang="en-US" sz="1600" dirty="0"/>
          </a:p>
        </p:txBody>
      </p:sp>
      <p:pic>
        <p:nvPicPr>
          <p:cNvPr id="9" name="b2-eq-282" descr="\lambda = 4 \text{ D along } (1,1), \qquad \lambda = 2 \text{ D along } (1,-1)">    </p:cNvPr>
          <p:cNvPicPr>
            <a:picLocks noChangeAspect="1"/>
          </p:cNvPicPr>
          <p:nvPr/>
        </p:nvPicPr>
        <p:blipFill>
          <a:blip r:embed="rId3"/>
          <a:stretch>
            <a:fillRect/>
          </a:stretch>
        </p:blipFill>
        <p:spPr>
          <a:xfrm>
            <a:off x="612648" y="3822192"/>
            <a:ext cx="4041648" cy="233172"/>
          </a:xfrm>
          <a:prstGeom prst="rect">
            <a:avLst/>
          </a:prstGeom>
        </p:spPr>
      </p:pic>
      <p:sp>
        <p:nvSpPr>
          <p:cNvPr id="10" name="b2-t-283"/>
          <p:cNvSpPr txBox="1"/>
          <p:nvPr/>
        </p:nvSpPr>
        <p:spPr>
          <a:xfrm>
            <a:off x="612648" y="4160520"/>
            <a:ext cx="5394960" cy="548640"/>
          </a:xfrm>
          <a:prstGeom prst="rect">
            <a:avLst/>
          </a:prstGeom>
          <a:noFill/>
          <a:ln/>
        </p:spPr>
        <p:txBody>
          <a:bodyPr wrap="square" lIns="0" tIns="0" rIns="0" bIns="0" rtlCol="0" anchor="t"/>
          <a:lstStyle/>
          <a:p>
            <a:pPr algn="l" indent="0" marL="0">
              <a:buNone/>
            </a:pPr>
            <a:r>
              <a:rPr lang="en-US" sz="1400" dirty="0">
                <a:solidFill>
                  <a:schemeClr val="tx2"/>
                </a:solidFill>
              </a:rPr>
              <a:t>both positive: F is positive definite, and the lens converges in every direction</a:t>
            </a:r>
            <a:endParaRPr lang="en-US" sz="1400" dirty="0"/>
          </a:p>
        </p:txBody>
      </p:sp>
      <p:pic>
        <p:nvPicPr>
          <p:cNvPr id="11" name="b3-eq-284" descr="\vc{x}(z) = (\mat{I} - z\,\mat{F})\,\vc{x}(0)">    </p:cNvPr>
          <p:cNvPicPr>
            <a:picLocks noChangeAspect="1"/>
          </p:cNvPicPr>
          <p:nvPr/>
        </p:nvPicPr>
        <p:blipFill>
          <a:blip r:embed="rId4"/>
          <a:stretch>
            <a:fillRect/>
          </a:stretch>
        </p:blipFill>
        <p:spPr>
          <a:xfrm>
            <a:off x="612648" y="4846320"/>
            <a:ext cx="1952244" cy="269748"/>
          </a:xfrm>
          <a:prstGeom prst="rect">
            <a:avLst/>
          </a:prstGeom>
        </p:spPr>
      </p:pic>
      <p:sp>
        <p:nvSpPr>
          <p:cNvPr id="12" name="b3-t-285"/>
          <p:cNvSpPr txBox="1"/>
          <p:nvPr/>
        </p:nvSpPr>
        <p:spPr>
          <a:xfrm>
            <a:off x="2788920" y="4791456"/>
            <a:ext cx="3291840" cy="548640"/>
          </a:xfrm>
          <a:prstGeom prst="rect">
            <a:avLst/>
          </a:prstGeom>
          <a:noFill/>
          <a:ln/>
        </p:spPr>
        <p:txBody>
          <a:bodyPr wrap="square" lIns="0" tIns="0" rIns="0" bIns="0" rtlCol="0" anchor="t"/>
          <a:lstStyle/>
          <a:p>
            <a:pPr algn="l" indent="0" marL="0">
              <a:buNone/>
            </a:pPr>
            <a:r>
              <a:rPr lang="en-US" sz="1400" dirty="0">
                <a:solidFill>
                  <a:schemeClr val="tx1"/>
                </a:solidFill>
              </a:rPr>
              <a:t>line foci at z = 1/4 m and 1/2 m,</a:t>
            </a:r>
            <a:endParaRPr lang="en-US" sz="1400" dirty="0"/>
          </a:p>
          <a:p>
            <a:pPr algn="l" indent="0" marL="0">
              <a:buNone/>
            </a:pPr>
            <a:r>
              <a:rPr lang="en-US" sz="1400" dirty="0">
                <a:solidFill>
                  <a:schemeClr val="tx1"/>
                </a:solidFill>
              </a:rPr>
              <a:t>round spot at z = 1/3 m</a:t>
            </a:r>
            <a:endParaRPr lang="en-US" sz="1400" dirty="0"/>
          </a:p>
        </p:txBody>
      </p:sp>
      <p:sp>
        <p:nvSpPr>
          <p:cNvPr id="13" name="b3-t-286"/>
          <p:cNvSpPr txBox="1"/>
          <p:nvPr/>
        </p:nvSpPr>
        <p:spPr>
          <a:xfrm>
            <a:off x="6309360" y="1325880"/>
            <a:ext cx="5276088" cy="274320"/>
          </a:xfrm>
          <a:prstGeom prst="rect">
            <a:avLst/>
          </a:prstGeom>
          <a:noFill/>
          <a:ln/>
        </p:spPr>
        <p:txBody>
          <a:bodyPr wrap="square" lIns="0" tIns="0" rIns="0" bIns="0" rtlCol="0" anchor="t"/>
          <a:lstStyle/>
          <a:p>
            <a:pPr algn="l" indent="0" marL="0">
              <a:buNone/>
            </a:pPr>
            <a:r>
              <a:rPr lang="en-US" sz="1400" dirty="0">
                <a:solidFill>
                  <a:schemeClr val="tx2"/>
                </a:solidFill>
              </a:rPr>
              <a:t>cross-section of the beam behind the lens</a:t>
            </a:r>
            <a:endParaRPr lang="en-US" sz="1400" dirty="0"/>
          </a:p>
        </p:txBody>
      </p:sp>
      <p:pic>
        <p:nvPicPr>
          <p:cNvPr id="14" name="b3-img-287" descr="Beam cross-sections at six distances: circle, ellipse, line, small circle, line, ellipse">    </p:cNvPr>
          <p:cNvPicPr>
            <a:picLocks noChangeAspect="1"/>
          </p:cNvPicPr>
          <p:nvPr/>
        </p:nvPicPr>
        <p:blipFill>
          <a:blip r:embed="rId5"/>
          <a:stretch>
            <a:fillRect/>
          </a:stretch>
        </p:blipFill>
        <p:spPr>
          <a:xfrm>
            <a:off x="6236208" y="1645920"/>
            <a:ext cx="5349240" cy="1329805"/>
          </a:xfrm>
          <a:prstGeom prst="rect">
            <a:avLst/>
          </a:prstGeom>
        </p:spPr>
      </p:pic>
      <p:sp>
        <p:nvSpPr>
          <p:cNvPr id="15" name="b4-box-288"/>
          <p:cNvSpPr/>
          <p:nvPr/>
        </p:nvSpPr>
        <p:spPr>
          <a:xfrm>
            <a:off x="6309360" y="3200400"/>
            <a:ext cx="5276088" cy="1371600"/>
          </a:xfrm>
          <a:prstGeom prst="roundRect">
            <a:avLst>
              <a:gd name="adj" fmla="val 4000"/>
            </a:avLst>
          </a:prstGeom>
          <a:solidFill>
            <a:schemeClr val="accent2"/>
          </a:solidFill>
          <a:ln/>
        </p:spPr>
      </p:sp>
      <p:sp>
        <p:nvSpPr>
          <p:cNvPr id="16" name="b4-t-289"/>
          <p:cNvSpPr txBox="1"/>
          <p:nvPr/>
        </p:nvSpPr>
        <p:spPr>
          <a:xfrm>
            <a:off x="6537960" y="3328416"/>
            <a:ext cx="4818888"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7" name="b4-t-290"/>
          <p:cNvSpPr txBox="1"/>
          <p:nvPr/>
        </p:nvSpPr>
        <p:spPr>
          <a:xfrm>
            <a:off x="6537960" y="3621024"/>
            <a:ext cx="4818888" cy="841248"/>
          </a:xfrm>
          <a:prstGeom prst="rect">
            <a:avLst/>
          </a:prstGeom>
          <a:noFill/>
          <a:ln/>
        </p:spPr>
        <p:txBody>
          <a:bodyPr wrap="square" lIns="0" tIns="0" rIns="0" bIns="0" rtlCol="0" anchor="t"/>
          <a:lstStyle/>
          <a:p>
            <a:pPr algn="l" indent="0" marL="0">
              <a:buNone/>
            </a:pPr>
            <a:r>
              <a:rPr lang="en-US" sz="1400" dirty="0">
                <a:solidFill>
                  <a:schemeClr val="tx1"/>
                </a:solidFill>
              </a:rPr>
              <a:t>Positive definite F: converging in every meridian. Indefinite F: converging in one meridian, diverging in the other (mixed astigmatism).</a:t>
            </a:r>
            <a:endParaRPr lang="en-US" sz="1400" dirty="0"/>
          </a:p>
        </p:txBody>
      </p:sp>
      <p:sp>
        <p:nvSpPr>
          <p:cNvPr id="18" name="b5-t-291"/>
          <p:cNvSpPr txBox="1"/>
          <p:nvPr/>
        </p:nvSpPr>
        <p:spPr>
          <a:xfrm>
            <a:off x="6309360" y="4754880"/>
            <a:ext cx="5276088" cy="868680"/>
          </a:xfrm>
          <a:prstGeom prst="rect">
            <a:avLst/>
          </a:prstGeom>
          <a:noFill/>
          <a:ln/>
        </p:spPr>
        <p:txBody>
          <a:bodyPr wrap="square" lIns="0" tIns="0" rIns="0" bIns="0" rtlCol="0" anchor="t"/>
          <a:lstStyle/>
          <a:p>
            <a:pPr algn="l" indent="0" marL="0">
              <a:buNone/>
            </a:pPr>
            <a:r>
              <a:rPr lang="en-US" sz="1400" dirty="0">
                <a:solidFill>
                  <a:schemeClr val="tx2"/>
                </a:solidFill>
              </a:rPr>
              <a:t>On a prescription this lens reads sphere +2.00, cylinder +2.00, axis 135°: the eigenvalues and eigenvectors of F in another notation.</a:t>
            </a:r>
            <a:endParaRPr lang="en-US" sz="1400" dirty="0"/>
          </a:p>
        </p:txBody>
      </p:sp>
      <p:sp>
        <p:nvSpPr>
          <p:cNvPr id="19" name="t-292"/>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A ray that crosses the lens at x leaves with slope −Fx. After a distance z it is at (I − zF)x.</a:t>
            </a:r>
            <a:endParaRPr lang="en-US" sz="1400" dirty="0"/>
          </a:p>
        </p:txBody>
      </p:sp>
      <p:sp>
        <p:nvSpPr>
          <p:cNvPr id="20"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3" grpId="0" animBg="1"/>
      <p:bldP spid="15"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Engineering: the buckling of a column</a:t>
            </a:r>
            <a:endParaRPr lang="en-US" sz="2800" dirty="0"/>
          </a:p>
        </p:txBody>
      </p:sp>
      <p:pic>
        <p:nvPicPr>
          <p:cNvPr id="3" name="img-293" descr="Two-link column with rotational springs and a vertical load P">    </p:cNvPr>
          <p:cNvPicPr>
            <a:picLocks noChangeAspect="1"/>
          </p:cNvPicPr>
          <p:nvPr/>
        </p:nvPicPr>
        <p:blipFill>
          <a:blip r:embed="rId1"/>
          <a:stretch>
            <a:fillRect/>
          </a:stretch>
        </p:blipFill>
        <p:spPr>
          <a:xfrm>
            <a:off x="612648" y="1325880"/>
            <a:ext cx="2057400" cy="2327935"/>
          </a:xfrm>
          <a:prstGeom prst="rect">
            <a:avLst/>
          </a:prstGeom>
        </p:spPr>
      </p:pic>
      <p:sp>
        <p:nvSpPr>
          <p:cNvPr id="4" name="t-294"/>
          <p:cNvSpPr txBox="1"/>
          <p:nvPr/>
        </p:nvSpPr>
        <p:spPr>
          <a:xfrm>
            <a:off x="2926080" y="1298448"/>
            <a:ext cx="8641080"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two rigid links of length L, a rotational spring k at each joint, a vertical load P. </a:t>
            </a:r>
            <a:pPr algn="l" indent="0" marL="0">
              <a:buNone/>
            </a:pPr>
            <a:r>
              <a:rPr lang="en-US" sz="1600" b="1" dirty="0">
                <a:solidFill>
                  <a:schemeClr val="tx1"/>
                </a:solidFill>
              </a:rPr>
              <a:t>Find</a:t>
            </a:r>
            <a:pPr algn="l" indent="0" marL="0">
              <a:buNone/>
            </a:pPr>
            <a:r>
              <a:rPr lang="en-US" sz="1600" dirty="0">
                <a:solidFill>
                  <a:schemeClr val="tx1"/>
                </a:solidFill>
              </a:rPr>
              <a:t> the load at which the straight column stops being stable.</a:t>
            </a:r>
            <a:endParaRPr lang="en-US" sz="1600" dirty="0"/>
          </a:p>
        </p:txBody>
      </p:sp>
      <p:pic>
        <p:nvPicPr>
          <p:cNvPr id="5" name="eq-295" descr="\Pi(\theta_1,\theta_2) = \tfrac12\,k\,\theta_1^2 + \tfrac12\,k\,(\theta_2 - \theta_1)^2 - PL\,(2 - \cos\theta_1 - \cos\theta_2)">    </p:cNvPr>
          <p:cNvPicPr>
            <a:picLocks noChangeAspect="1"/>
          </p:cNvPicPr>
          <p:nvPr/>
        </p:nvPicPr>
        <p:blipFill>
          <a:blip r:embed="rId2"/>
          <a:stretch>
            <a:fillRect/>
          </a:stretch>
        </p:blipFill>
        <p:spPr>
          <a:xfrm>
            <a:off x="2926080" y="2057400"/>
            <a:ext cx="5068062" cy="292608"/>
          </a:xfrm>
          <a:prstGeom prst="rect">
            <a:avLst/>
          </a:prstGeom>
        </p:spPr>
      </p:pic>
      <p:sp>
        <p:nvSpPr>
          <p:cNvPr id="6" name="t-296"/>
          <p:cNvSpPr txBox="1"/>
          <p:nvPr/>
        </p:nvSpPr>
        <p:spPr>
          <a:xfrm>
            <a:off x="8229600" y="2057400"/>
            <a:ext cx="3291840" cy="274320"/>
          </a:xfrm>
          <a:prstGeom prst="rect">
            <a:avLst/>
          </a:prstGeom>
          <a:noFill/>
          <a:ln/>
        </p:spPr>
        <p:txBody>
          <a:bodyPr wrap="square" lIns="0" tIns="0" rIns="0" bIns="0" rtlCol="0" anchor="t"/>
          <a:lstStyle/>
          <a:p>
            <a:pPr algn="l" indent="0" marL="0">
              <a:buNone/>
            </a:pPr>
            <a:r>
              <a:rPr lang="en-US" sz="1400" dirty="0">
                <a:solidFill>
                  <a:schemeClr val="tx2"/>
                </a:solidFill>
              </a:rPr>
              <a:t>springs, minus the work of the load</a:t>
            </a:r>
            <a:endParaRPr lang="en-US" sz="1400" dirty="0"/>
          </a:p>
        </p:txBody>
      </p:sp>
      <p:pic>
        <p:nvPicPr>
          <p:cNvPr id="7" name="b1-eq-297" descr="\mat{H}(\vc{0}) = k\begin{bmatrix} 2 &amp; -1 \\ -1 &amp; 1\end{bmatrix} - PL\begin{bmatrix} 1 &amp; 0 \\ 0 &amp; 1\end{bmatrix}">    </p:cNvPr>
          <p:cNvPicPr>
            <a:picLocks noChangeAspect="1"/>
          </p:cNvPicPr>
          <p:nvPr/>
        </p:nvPicPr>
        <p:blipFill>
          <a:blip r:embed="rId3"/>
          <a:stretch>
            <a:fillRect/>
          </a:stretch>
        </p:blipFill>
        <p:spPr>
          <a:xfrm>
            <a:off x="2926080" y="2560320"/>
            <a:ext cx="2754630" cy="507492"/>
          </a:xfrm>
          <a:prstGeom prst="rect">
            <a:avLst/>
          </a:prstGeom>
        </p:spPr>
      </p:pic>
      <p:sp>
        <p:nvSpPr>
          <p:cNvPr id="8" name="b1-t-298"/>
          <p:cNvSpPr txBox="1"/>
          <p:nvPr/>
        </p:nvSpPr>
        <p:spPr>
          <a:xfrm>
            <a:off x="5943600" y="2697480"/>
            <a:ext cx="4114800" cy="274320"/>
          </a:xfrm>
          <a:prstGeom prst="rect">
            <a:avLst/>
          </a:prstGeom>
          <a:noFill/>
          <a:ln/>
        </p:spPr>
        <p:txBody>
          <a:bodyPr wrap="square" lIns="0" tIns="0" rIns="0" bIns="0" rtlCol="0" anchor="t"/>
          <a:lstStyle/>
          <a:p>
            <a:pPr algn="l" indent="0" marL="0">
              <a:buNone/>
            </a:pPr>
            <a:r>
              <a:rPr lang="en-US" sz="1400" dirty="0">
                <a:solidFill>
                  <a:schemeClr val="tx2"/>
                </a:solidFill>
              </a:rPr>
              <a:t>Hessian at the straight position</a:t>
            </a:r>
            <a:endParaRPr lang="en-US" sz="1400" dirty="0"/>
          </a:p>
        </p:txBody>
      </p:sp>
      <p:pic>
        <p:nvPicPr>
          <p:cNvPr id="9" name="b2-eq-299" descr="\text{positive definite} \iff \dfrac{PL}{k} &lt; \dfrac{3 - \sqrt5}{2} \approx 0.382">    </p:cNvPr>
          <p:cNvPicPr>
            <a:picLocks noChangeAspect="1"/>
          </p:cNvPicPr>
          <p:nvPr/>
        </p:nvPicPr>
        <p:blipFill>
          <a:blip r:embed="rId4"/>
          <a:stretch>
            <a:fillRect/>
          </a:stretch>
        </p:blipFill>
        <p:spPr>
          <a:xfrm>
            <a:off x="2926080" y="3246120"/>
            <a:ext cx="4025646" cy="475488"/>
          </a:xfrm>
          <a:prstGeom prst="rect">
            <a:avLst/>
          </a:prstGeom>
        </p:spPr>
      </p:pic>
      <p:sp>
        <p:nvSpPr>
          <p:cNvPr id="10" name="b2-t-300"/>
          <p:cNvSpPr txBox="1"/>
          <p:nvPr/>
        </p:nvSpPr>
        <p:spPr>
          <a:xfrm>
            <a:off x="7315200" y="3319272"/>
            <a:ext cx="4206240" cy="320040"/>
          </a:xfrm>
          <a:prstGeom prst="rect">
            <a:avLst/>
          </a:prstGeom>
          <a:noFill/>
          <a:ln/>
        </p:spPr>
        <p:txBody>
          <a:bodyPr wrap="square" lIns="0" tIns="0" rIns="0" bIns="0" rtlCol="0" anchor="t"/>
          <a:lstStyle/>
          <a:p>
            <a:pPr algn="l" indent="0" marL="0">
              <a:buNone/>
            </a:pPr>
            <a:r>
              <a:rPr lang="en-US" sz="1600" b="1" dirty="0">
                <a:solidFill>
                  <a:schemeClr val="accent1"/>
                </a:solidFill>
              </a:rPr>
              <a:t>critical load 0.382 k/L</a:t>
            </a:r>
            <a:endParaRPr lang="en-US" sz="1600" dirty="0"/>
          </a:p>
        </p:txBody>
      </p:sp>
      <p:sp>
        <p:nvSpPr>
          <p:cNvPr id="11" name="b3-t-301"/>
          <p:cNvSpPr txBox="1"/>
          <p:nvPr/>
        </p:nvSpPr>
        <p:spPr>
          <a:xfrm>
            <a:off x="2926080" y="3858768"/>
            <a:ext cx="1737360" cy="228600"/>
          </a:xfrm>
          <a:prstGeom prst="rect">
            <a:avLst/>
          </a:prstGeom>
          <a:noFill/>
          <a:ln/>
        </p:spPr>
        <p:txBody>
          <a:bodyPr wrap="square" lIns="0" tIns="0" rIns="0" bIns="0" rtlCol="0" anchor="t"/>
          <a:lstStyle/>
          <a:p>
            <a:pPr algn="ctr" indent="0" marL="0">
              <a:buNone/>
            </a:pPr>
            <a:r>
              <a:rPr lang="en-US" sz="1200" b="1" dirty="0">
                <a:solidFill>
                  <a:schemeClr val="tx2"/>
                </a:solidFill>
              </a:rPr>
              <a:t>PL/k = 0.2</a:t>
            </a:r>
            <a:endParaRPr lang="en-US" sz="1200" dirty="0"/>
          </a:p>
        </p:txBody>
      </p:sp>
      <p:sp>
        <p:nvSpPr>
          <p:cNvPr id="12" name="b3-t-302"/>
          <p:cNvSpPr txBox="1"/>
          <p:nvPr/>
        </p:nvSpPr>
        <p:spPr>
          <a:xfrm>
            <a:off x="5029200" y="3858768"/>
            <a:ext cx="1737360" cy="228600"/>
          </a:xfrm>
          <a:prstGeom prst="rect">
            <a:avLst/>
          </a:prstGeom>
          <a:noFill/>
          <a:ln/>
        </p:spPr>
        <p:txBody>
          <a:bodyPr wrap="square" lIns="0" tIns="0" rIns="0" bIns="0" rtlCol="0" anchor="t"/>
          <a:lstStyle/>
          <a:p>
            <a:pPr algn="ctr" indent="0" marL="0">
              <a:buNone/>
            </a:pPr>
            <a:r>
              <a:rPr lang="en-US" sz="1200" b="1" dirty="0">
                <a:solidFill>
                  <a:schemeClr val="tx2"/>
                </a:solidFill>
              </a:rPr>
              <a:t>PL/k = 0.6</a:t>
            </a:r>
            <a:endParaRPr lang="en-US" sz="1200" dirty="0"/>
          </a:p>
        </p:txBody>
      </p:sp>
      <p:pic>
        <p:nvPicPr>
          <p:cNvPr id="13" name="b3-img-303" descr="Energy contours at PL/k = 0.2: one bowl">    </p:cNvPr>
          <p:cNvPicPr>
            <a:picLocks noChangeAspect="1"/>
          </p:cNvPicPr>
          <p:nvPr/>
        </p:nvPicPr>
        <p:blipFill>
          <a:blip r:embed="rId5"/>
          <a:stretch>
            <a:fillRect/>
          </a:stretch>
        </p:blipFill>
        <p:spPr>
          <a:xfrm>
            <a:off x="2926080" y="4114800"/>
            <a:ext cx="1737360" cy="1783726"/>
          </a:xfrm>
          <a:prstGeom prst="rect">
            <a:avLst/>
          </a:prstGeom>
        </p:spPr>
      </p:pic>
      <p:pic>
        <p:nvPicPr>
          <p:cNvPr id="14" name="b3-img-304" descr="Energy contours at PL/k = 0.6: a saddle at the origin and two minima">    </p:cNvPr>
          <p:cNvPicPr>
            <a:picLocks noChangeAspect="1"/>
          </p:cNvPicPr>
          <p:nvPr/>
        </p:nvPicPr>
        <p:blipFill>
          <a:blip r:embed="rId6"/>
          <a:stretch>
            <a:fillRect/>
          </a:stretch>
        </p:blipFill>
        <p:spPr>
          <a:xfrm>
            <a:off x="5029200" y="4114800"/>
            <a:ext cx="1737360" cy="1783726"/>
          </a:xfrm>
          <a:prstGeom prst="rect">
            <a:avLst/>
          </a:prstGeom>
        </p:spPr>
      </p:pic>
      <p:sp>
        <p:nvSpPr>
          <p:cNvPr id="15" name="b3-t-305"/>
          <p:cNvSpPr txBox="1"/>
          <p:nvPr/>
        </p:nvSpPr>
        <p:spPr>
          <a:xfrm>
            <a:off x="7315200" y="3931920"/>
            <a:ext cx="4270248" cy="1920240"/>
          </a:xfrm>
          <a:prstGeom prst="rect">
            <a:avLst/>
          </a:prstGeom>
          <a:noFill/>
          <a:ln/>
        </p:spPr>
        <p:txBody>
          <a:bodyPr wrap="square" lIns="0" tIns="0" rIns="0" bIns="0" rtlCol="0" anchor="t"/>
          <a:lstStyle/>
          <a:p>
            <a:pPr algn="l" indent="0" marL="0">
              <a:buNone/>
            </a:pPr>
            <a:r>
              <a:rPr lang="en-US" sz="1400" dirty="0">
                <a:solidFill>
                  <a:schemeClr val="tx1"/>
                </a:solidFill>
              </a:rPr>
              <a:t>Below the critical load: one bowl. The eigenvalues of H/k are 0.18 and 2.42.</a:t>
            </a:r>
            <a:endParaRPr lang="en-US" sz="1400" dirty="0"/>
          </a:p>
          <a:p>
            <a:pPr algn="l" indent="0" marL="0">
              <a:buNone/>
            </a:pPr>
            <a:r>
              <a:rPr lang="en-US" sz="1400" dirty="0">
                <a:solidFill>
                  <a:schemeClr val="tx1"/>
                </a:solidFill>
              </a:rPr>
              <a:t> </a:t>
            </a:r>
            <a:endParaRPr lang="en-US" sz="1400" dirty="0"/>
          </a:p>
          <a:p>
            <a:pPr algn="l" indent="0" marL="0">
              <a:buNone/>
            </a:pPr>
            <a:r>
              <a:rPr lang="en-US" sz="1400" dirty="0">
                <a:solidFill>
                  <a:schemeClr val="tx1"/>
                </a:solidFill>
              </a:rPr>
              <a:t>Above it: −0.22 and 2.02. The straight column is a saddle, and two buckled minima appear (red: energy below the straight state).</a:t>
            </a:r>
            <a:endParaRPr lang="en-US" sz="1400" dirty="0"/>
          </a:p>
          <a:p>
            <a:pPr algn="l" indent="0" marL="0">
              <a:buNone/>
            </a:pPr>
            <a:r>
              <a:rPr lang="en-US" sz="1400" dirty="0">
                <a:solidFill>
                  <a:schemeClr val="tx1"/>
                </a:solidFill>
              </a:rPr>
              <a:t> </a:t>
            </a:r>
            <a:endParaRPr lang="en-US" sz="1400" dirty="0"/>
          </a:p>
          <a:p>
            <a:pPr algn="l" indent="0" marL="0">
              <a:buNone/>
            </a:pPr>
            <a:r>
              <a:rPr lang="en-US" sz="1400" b="1" dirty="0">
                <a:solidFill>
                  <a:schemeClr val="tx1"/>
                </a:solidFill>
              </a:rPr>
              <a:t>Buckling is H losing positive definiteness.</a:t>
            </a:r>
            <a:endParaRPr lang="en-US" sz="1400" dirty="0"/>
          </a:p>
        </p:txBody>
      </p:sp>
      <p:sp>
        <p:nvSpPr>
          <p:cNvPr id="16"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Engineering: fitting data, and how sure the fit is</a:t>
            </a:r>
            <a:endParaRPr lang="en-US" sz="2800" dirty="0"/>
          </a:p>
        </p:txBody>
      </p:sp>
      <p:sp>
        <p:nvSpPr>
          <p:cNvPr id="3" name="t-306"/>
          <p:cNvSpPr txBox="1"/>
          <p:nvPr/>
        </p:nvSpPr>
        <p:spPr>
          <a:xfrm>
            <a:off x="612648" y="1298448"/>
            <a:ext cx="5760720"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five measurements y at t = 0, …, 4. </a:t>
            </a:r>
            <a:pPr algn="l" indent="0" marL="0">
              <a:buNone/>
            </a:pPr>
            <a:r>
              <a:rPr lang="en-US" sz="1600" b="1" dirty="0">
                <a:solidFill>
                  <a:schemeClr val="tx1"/>
                </a:solidFill>
              </a:rPr>
              <a:t>Find</a:t>
            </a:r>
            <a:pPr algn="l" indent="0" marL="0">
              <a:buNone/>
            </a:pPr>
            <a:r>
              <a:rPr lang="en-US" sz="1600" dirty="0">
                <a:solidFill>
                  <a:schemeClr val="tx1"/>
                </a:solidFill>
              </a:rPr>
              <a:t> the best line c₀ + c₁t, and its uncertainty.</a:t>
            </a:r>
            <a:endParaRPr lang="en-US" sz="1600" dirty="0"/>
          </a:p>
        </p:txBody>
      </p:sp>
      <p:pic>
        <p:nvPicPr>
          <p:cNvPr id="4" name="eq-307" descr="S(\vc{c}) = \|\vc{y} - \mat{A}\vc{c}\|^2 = \sum_{i=1}^{5}\,(y_i - c_0 - c_1t_i)^2">    </p:cNvPr>
          <p:cNvPicPr>
            <a:picLocks noChangeAspect="1"/>
          </p:cNvPicPr>
          <p:nvPr/>
        </p:nvPicPr>
        <p:blipFill>
          <a:blip r:embed="rId1"/>
          <a:stretch>
            <a:fillRect/>
          </a:stretch>
        </p:blipFill>
        <p:spPr>
          <a:xfrm>
            <a:off x="612648" y="1965960"/>
            <a:ext cx="3424428" cy="660654"/>
          </a:xfrm>
          <a:prstGeom prst="rect">
            <a:avLst/>
          </a:prstGeom>
        </p:spPr>
      </p:pic>
      <p:sp>
        <p:nvSpPr>
          <p:cNvPr id="5" name="t-308"/>
          <p:cNvSpPr txBox="1"/>
          <p:nvPr/>
        </p:nvSpPr>
        <p:spPr>
          <a:xfrm>
            <a:off x="4251960" y="2057400"/>
            <a:ext cx="2103120" cy="548640"/>
          </a:xfrm>
          <a:prstGeom prst="rect">
            <a:avLst/>
          </a:prstGeom>
          <a:noFill/>
          <a:ln/>
        </p:spPr>
        <p:txBody>
          <a:bodyPr wrap="square" lIns="0" tIns="0" rIns="0" bIns="0" rtlCol="0" anchor="t"/>
          <a:lstStyle/>
          <a:p>
            <a:pPr algn="l" indent="0" marL="0">
              <a:buNone/>
            </a:pPr>
            <a:r>
              <a:rPr lang="en-US" sz="1400" dirty="0">
                <a:solidFill>
                  <a:schemeClr val="tx2"/>
                </a:solidFill>
              </a:rPr>
              <a:t>the misfit; row i of A</a:t>
            </a:r>
            <a:endParaRPr lang="en-US" sz="1400" dirty="0"/>
          </a:p>
          <a:p>
            <a:pPr algn="l" indent="0" marL="0">
              <a:buNone/>
            </a:pPr>
            <a:r>
              <a:rPr lang="en-US" sz="1400" dirty="0">
                <a:solidFill>
                  <a:schemeClr val="tx2"/>
                </a:solidFill>
              </a:rPr>
              <a:t>is (1, tᵢ)</a:t>
            </a:r>
            <a:endParaRPr lang="en-US" sz="1400" dirty="0"/>
          </a:p>
        </p:txBody>
      </p:sp>
      <p:pic>
        <p:nvPicPr>
          <p:cNvPr id="6" name="b1-eq-309" descr="\mat{H} = 2\,\mat{A}\T\mat{A} = \begin{bmatrix} 10 &amp; 20 \\ 20 &amp; 60\end{bmatrix}, \qquad \lambda = 2.98,\ 67.02">    </p:cNvPr>
          <p:cNvPicPr>
            <a:picLocks noChangeAspect="1"/>
          </p:cNvPicPr>
          <p:nvPr/>
        </p:nvPicPr>
        <p:blipFill>
          <a:blip r:embed="rId2"/>
          <a:stretch>
            <a:fillRect/>
          </a:stretch>
        </p:blipFill>
        <p:spPr>
          <a:xfrm>
            <a:off x="612648" y="2816352"/>
            <a:ext cx="3982212" cy="507492"/>
          </a:xfrm>
          <a:prstGeom prst="rect">
            <a:avLst/>
          </a:prstGeom>
        </p:spPr>
      </p:pic>
      <p:sp>
        <p:nvSpPr>
          <p:cNvPr id="7" name="b1-t-310"/>
          <p:cNvSpPr txBox="1"/>
          <p:nvPr/>
        </p:nvSpPr>
        <p:spPr>
          <a:xfrm>
            <a:off x="612648" y="3401568"/>
            <a:ext cx="5760720" cy="274320"/>
          </a:xfrm>
          <a:prstGeom prst="rect">
            <a:avLst/>
          </a:prstGeom>
          <a:noFill/>
          <a:ln/>
        </p:spPr>
        <p:txBody>
          <a:bodyPr wrap="square" lIns="0" tIns="0" rIns="0" bIns="0" rtlCol="0" anchor="t"/>
          <a:lstStyle/>
          <a:p>
            <a:pPr algn="l" indent="0" marL="0">
              <a:buNone/>
            </a:pPr>
            <a:r>
              <a:rPr lang="en-US" sz="1400" dirty="0">
                <a:solidFill>
                  <a:schemeClr val="tx2"/>
                </a:solidFill>
              </a:rPr>
              <a:t>both positive: the misfit is a bowl with one lowest point</a:t>
            </a:r>
            <a:endParaRPr lang="en-US" sz="1400" dirty="0"/>
          </a:p>
        </p:txBody>
      </p:sp>
      <p:pic>
        <p:nvPicPr>
          <p:cNvPr id="8" name="b2-eq-311" descr="\text{covariance of } \vc{c} \ =\ s^2\,(\mat{A}\T\mat{A})^{-1} \ =\ 2s^2\,\mat{H}^{-1}">    </p:cNvPr>
          <p:cNvPicPr>
            <a:picLocks noChangeAspect="1"/>
          </p:cNvPicPr>
          <p:nvPr/>
        </p:nvPicPr>
        <p:blipFill>
          <a:blip r:embed="rId3"/>
          <a:stretch>
            <a:fillRect/>
          </a:stretch>
        </p:blipFill>
        <p:spPr>
          <a:xfrm>
            <a:off x="612648" y="3931920"/>
            <a:ext cx="3877056" cy="278892"/>
          </a:xfrm>
          <a:prstGeom prst="rect">
            <a:avLst/>
          </a:prstGeom>
        </p:spPr>
      </p:pic>
      <p:sp>
        <p:nvSpPr>
          <p:cNvPr id="9" name="b2-t-312"/>
          <p:cNvSpPr txBox="1"/>
          <p:nvPr/>
        </p:nvSpPr>
        <p:spPr>
          <a:xfrm>
            <a:off x="612648" y="4279392"/>
            <a:ext cx="5760720" cy="566928"/>
          </a:xfrm>
          <a:prstGeom prst="rect">
            <a:avLst/>
          </a:prstGeom>
          <a:noFill/>
          <a:ln/>
        </p:spPr>
        <p:txBody>
          <a:bodyPr wrap="square" lIns="0" tIns="0" rIns="0" bIns="0" rtlCol="0" anchor="t"/>
          <a:lstStyle/>
          <a:p>
            <a:pPr algn="l" indent="0" marL="0">
              <a:buNone/>
            </a:pPr>
            <a:r>
              <a:rPr lang="en-US" sz="1400" dirty="0">
                <a:solidFill>
                  <a:schemeClr val="tx2"/>
                </a:solidFill>
              </a:rPr>
              <a:t>s² estimates the noise from the residuals. A shallow direction of the bowl is a poorly determined combination of c₀ and c₁.</a:t>
            </a:r>
            <a:endParaRPr lang="en-US" sz="1400" dirty="0"/>
          </a:p>
        </p:txBody>
      </p:sp>
      <p:sp>
        <p:nvSpPr>
          <p:cNvPr id="10" name="b3-box-313"/>
          <p:cNvSpPr/>
          <p:nvPr/>
        </p:nvSpPr>
        <p:spPr>
          <a:xfrm>
            <a:off x="612648" y="5010912"/>
            <a:ext cx="5760720" cy="731520"/>
          </a:xfrm>
          <a:prstGeom prst="roundRect">
            <a:avLst>
              <a:gd name="adj" fmla="val 7500"/>
            </a:avLst>
          </a:prstGeom>
          <a:solidFill>
            <a:schemeClr val="bg2"/>
          </a:solidFill>
          <a:ln/>
        </p:spPr>
      </p:sp>
      <p:sp>
        <p:nvSpPr>
          <p:cNvPr id="11" name="b3-t-314"/>
          <p:cNvSpPr txBox="1"/>
          <p:nvPr/>
        </p:nvSpPr>
        <p:spPr>
          <a:xfrm>
            <a:off x="841248" y="5102352"/>
            <a:ext cx="1828800" cy="201168"/>
          </a:xfrm>
          <a:prstGeom prst="rect">
            <a:avLst/>
          </a:prstGeom>
          <a:noFill/>
          <a:ln/>
        </p:spPr>
        <p:txBody>
          <a:bodyPr wrap="square" lIns="0" tIns="0" rIns="0" bIns="0" rtlCol="0" anchor="t"/>
          <a:lstStyle/>
          <a:p>
            <a:pPr algn="l" indent="0" marL="0">
              <a:buNone/>
            </a:pPr>
            <a:r>
              <a:rPr lang="en-US" sz="1100" b="1" dirty="0">
                <a:solidFill>
                  <a:schemeClr val="tx1"/>
                </a:solidFill>
              </a:rPr>
              <a:t>RESULT</a:t>
            </a:r>
            <a:endParaRPr lang="en-US" sz="1100" dirty="0"/>
          </a:p>
        </p:txBody>
      </p:sp>
      <p:pic>
        <p:nvPicPr>
          <p:cNvPr id="12" name="b3-eq-315" descr="c_0 = 1.04 \pm 0.15, \qquad c_1 = 1.99 \pm 0.06">    </p:cNvPr>
          <p:cNvPicPr>
            <a:picLocks noChangeAspect="1"/>
          </p:cNvPicPr>
          <p:nvPr/>
        </p:nvPicPr>
        <p:blipFill>
          <a:blip r:embed="rId4"/>
          <a:stretch>
            <a:fillRect/>
          </a:stretch>
        </p:blipFill>
        <p:spPr>
          <a:xfrm>
            <a:off x="841248" y="5389245"/>
            <a:ext cx="3474720" cy="230886"/>
          </a:xfrm>
          <a:prstGeom prst="rect">
            <a:avLst/>
          </a:prstGeom>
        </p:spPr>
      </p:pic>
      <p:pic>
        <p:nvPicPr>
          <p:cNvPr id="13" name="img-316" descr="Five data points">    </p:cNvPr>
          <p:cNvPicPr>
            <a:picLocks noChangeAspect="1"/>
          </p:cNvPicPr>
          <p:nvPr/>
        </p:nvPicPr>
        <p:blipFill>
          <a:blip r:embed="rId5"/>
          <a:stretch>
            <a:fillRect/>
          </a:stretch>
        </p:blipFill>
        <p:spPr>
          <a:xfrm>
            <a:off x="6675120" y="1371600"/>
            <a:ext cx="2331720" cy="1948941"/>
          </a:xfrm>
          <a:prstGeom prst="rect">
            <a:avLst/>
          </a:prstGeom>
        </p:spPr>
      </p:pic>
      <p:pic>
        <p:nvPicPr>
          <p:cNvPr id="14" name="b3-img-317" descr="The five data points with the fitted line y = 1.04 + 1.99 t">    </p:cNvPr>
          <p:cNvPicPr>
            <a:picLocks noChangeAspect="1"/>
          </p:cNvPicPr>
          <p:nvPr/>
        </p:nvPicPr>
        <p:blipFill>
          <a:blip r:embed="rId6"/>
          <a:stretch>
            <a:fillRect/>
          </a:stretch>
        </p:blipFill>
        <p:spPr>
          <a:xfrm>
            <a:off x="6675120" y="1371600"/>
            <a:ext cx="2331720" cy="1948941"/>
          </a:xfrm>
          <a:prstGeom prst="rect">
            <a:avLst/>
          </a:prstGeom>
        </p:spPr>
      </p:pic>
      <p:sp>
        <p:nvSpPr>
          <p:cNvPr id="15" name="t-318"/>
          <p:cNvSpPr txBox="1"/>
          <p:nvPr/>
        </p:nvSpPr>
        <p:spPr>
          <a:xfrm>
            <a:off x="6675120" y="3401568"/>
            <a:ext cx="2331720" cy="228600"/>
          </a:xfrm>
          <a:prstGeom prst="rect">
            <a:avLst/>
          </a:prstGeom>
          <a:noFill/>
          <a:ln/>
        </p:spPr>
        <p:txBody>
          <a:bodyPr wrap="square" lIns="0" tIns="0" rIns="0" bIns="0" rtlCol="0" anchor="t"/>
          <a:lstStyle/>
          <a:p>
            <a:pPr algn="ctr" indent="0" marL="0">
              <a:buNone/>
            </a:pPr>
            <a:r>
              <a:rPr lang="en-US" sz="1200" dirty="0">
                <a:solidFill>
                  <a:schemeClr val="tx2"/>
                </a:solidFill>
              </a:rPr>
              <a:t>data, then the best line</a:t>
            </a:r>
            <a:endParaRPr lang="en-US" sz="1200" dirty="0"/>
          </a:p>
        </p:txBody>
      </p:sp>
      <p:pic>
        <p:nvPicPr>
          <p:cNvPr id="16" name="b1-img-319" descr="Elliptical contours of the misfit with its minimum and the two eigenvector directions">    </p:cNvPr>
          <p:cNvPicPr>
            <a:picLocks noChangeAspect="1"/>
          </p:cNvPicPr>
          <p:nvPr/>
        </p:nvPicPr>
        <p:blipFill>
          <a:blip r:embed="rId7"/>
          <a:stretch>
            <a:fillRect/>
          </a:stretch>
        </p:blipFill>
        <p:spPr>
          <a:xfrm>
            <a:off x="9162288" y="1371600"/>
            <a:ext cx="2423160" cy="1872923"/>
          </a:xfrm>
          <a:prstGeom prst="rect">
            <a:avLst/>
          </a:prstGeom>
        </p:spPr>
      </p:pic>
      <p:sp>
        <p:nvSpPr>
          <p:cNvPr id="17" name="b1-t-320"/>
          <p:cNvSpPr txBox="1"/>
          <p:nvPr/>
        </p:nvSpPr>
        <p:spPr>
          <a:xfrm>
            <a:off x="9162288" y="3401568"/>
            <a:ext cx="2423160" cy="228600"/>
          </a:xfrm>
          <a:prstGeom prst="rect">
            <a:avLst/>
          </a:prstGeom>
          <a:noFill/>
          <a:ln/>
        </p:spPr>
        <p:txBody>
          <a:bodyPr wrap="square" lIns="0" tIns="0" rIns="0" bIns="0" rtlCol="0" anchor="t"/>
          <a:lstStyle/>
          <a:p>
            <a:pPr algn="ctr" indent="0" marL="0">
              <a:buNone/>
            </a:pPr>
            <a:r>
              <a:rPr lang="en-US" sz="1200" dirty="0">
                <a:solidFill>
                  <a:schemeClr val="tx2"/>
                </a:solidFill>
              </a:rPr>
              <a:t>contours of the misfit S</a:t>
            </a:r>
            <a:endParaRPr lang="en-US" sz="1200" dirty="0"/>
          </a:p>
        </p:txBody>
      </p:sp>
      <p:sp>
        <p:nvSpPr>
          <p:cNvPr id="18" name="b2-t-321"/>
          <p:cNvSpPr txBox="1"/>
          <p:nvPr/>
        </p:nvSpPr>
        <p:spPr>
          <a:xfrm>
            <a:off x="6675120" y="3931920"/>
            <a:ext cx="4910328" cy="914400"/>
          </a:xfrm>
          <a:prstGeom prst="rect">
            <a:avLst/>
          </a:prstGeom>
          <a:noFill/>
          <a:ln/>
        </p:spPr>
        <p:txBody>
          <a:bodyPr wrap="square" lIns="0" tIns="0" rIns="0" bIns="0" rtlCol="0" anchor="t"/>
          <a:lstStyle/>
          <a:p>
            <a:pPr algn="l" indent="0" marL="0">
              <a:buNone/>
            </a:pPr>
            <a:r>
              <a:rPr lang="en-US" sz="1400" dirty="0">
                <a:solidFill>
                  <a:schemeClr val="tx1"/>
                </a:solidFill>
              </a:rPr>
              <a:t>Red arrows: the eigenvectors of H. The bowl is about 22 times more curved along the short one than along the long one.</a:t>
            </a:r>
            <a:endParaRPr lang="en-US" sz="1400" dirty="0"/>
          </a:p>
        </p:txBody>
      </p:sp>
      <p:sp>
        <p:nvSpPr>
          <p:cNvPr id="19" name="t-322"/>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Least squares returns later in the course. The point today: the Hessian of the misfit carries the error bars.</a:t>
            </a:r>
            <a:endParaRPr lang="en-US" sz="1400" dirty="0"/>
          </a:p>
        </p:txBody>
      </p:sp>
      <p:sp>
        <p:nvSpPr>
          <p:cNvPr id="20"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Chemistry: bond stiffness is a second derivative</a:t>
            </a:r>
            <a:endParaRPr lang="en-US" sz="2800" dirty="0"/>
          </a:p>
        </p:txBody>
      </p:sp>
      <p:pic>
        <p:nvPicPr>
          <p:cNvPr id="3" name="img-323" descr="Bond energy curve V(r) with the parabola that matches it at the minimum r_e">    </p:cNvPr>
          <p:cNvPicPr>
            <a:picLocks noChangeAspect="1"/>
          </p:cNvPicPr>
          <p:nvPr/>
        </p:nvPicPr>
        <p:blipFill>
          <a:blip r:embed="rId1"/>
          <a:stretch>
            <a:fillRect/>
          </a:stretch>
        </p:blipFill>
        <p:spPr>
          <a:xfrm>
            <a:off x="612648" y="1325880"/>
            <a:ext cx="4114800" cy="3114339"/>
          </a:xfrm>
          <a:prstGeom prst="rect">
            <a:avLst/>
          </a:prstGeom>
        </p:spPr>
      </p:pic>
      <p:sp>
        <p:nvSpPr>
          <p:cNvPr id="4" name="t-324"/>
          <p:cNvSpPr txBox="1"/>
          <p:nvPr/>
        </p:nvSpPr>
        <p:spPr>
          <a:xfrm>
            <a:off x="612648" y="4617720"/>
            <a:ext cx="4937760" cy="640080"/>
          </a:xfrm>
          <a:prstGeom prst="rect">
            <a:avLst/>
          </a:prstGeom>
          <a:noFill/>
          <a:ln/>
        </p:spPr>
        <p:txBody>
          <a:bodyPr wrap="square" lIns="0" tIns="0" rIns="0" bIns="0" rtlCol="0" anchor="t"/>
          <a:lstStyle/>
          <a:p>
            <a:pPr algn="l" indent="0" marL="0">
              <a:buNone/>
            </a:pPr>
            <a:r>
              <a:rPr lang="en-US" sz="1500" dirty="0">
                <a:solidFill>
                  <a:schemeClr val="tx1"/>
                </a:solidFill>
              </a:rPr>
              <a:t>Near its minimum the energy of a bond is a parabola. The curvature k is the 1 × 1 Hessian of V.</a:t>
            </a:r>
            <a:endParaRPr lang="en-US" sz="1500" dirty="0"/>
          </a:p>
        </p:txBody>
      </p:sp>
      <p:sp>
        <p:nvSpPr>
          <p:cNvPr id="5" name="t-325"/>
          <p:cNvSpPr txBox="1"/>
          <p:nvPr/>
        </p:nvSpPr>
        <p:spPr>
          <a:xfrm>
            <a:off x="5943600" y="1298448"/>
            <a:ext cx="5641848"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the vibration wavenumber of a two-atom molecule. </a:t>
            </a:r>
            <a:pPr algn="l" indent="0" marL="0">
              <a:buNone/>
            </a:pPr>
            <a:r>
              <a:rPr lang="en-US" sz="1600" b="1" dirty="0">
                <a:solidFill>
                  <a:schemeClr val="tx1"/>
                </a:solidFill>
              </a:rPr>
              <a:t>Find</a:t>
            </a:r>
            <a:pPr algn="l" indent="0" marL="0">
              <a:buNone/>
            </a:pPr>
            <a:r>
              <a:rPr lang="en-US" sz="1600" dirty="0">
                <a:solidFill>
                  <a:schemeClr val="tx1"/>
                </a:solidFill>
              </a:rPr>
              <a:t> the stiffness of its bond.</a:t>
            </a:r>
            <a:endParaRPr lang="en-US" sz="1600" dirty="0"/>
          </a:p>
        </p:txBody>
      </p:sp>
      <p:pic>
        <p:nvPicPr>
          <p:cNvPr id="6" name="eq-326" descr="k = V''(r_e), \qquad \omega = \sqrt{k/\mu}, \qquad k = \mu\,(2\pi c\,\tilde\nu)^2">    </p:cNvPr>
          <p:cNvPicPr>
            <a:picLocks noChangeAspect="1"/>
          </p:cNvPicPr>
          <p:nvPr/>
        </p:nvPicPr>
        <p:blipFill>
          <a:blip r:embed="rId2"/>
          <a:stretch>
            <a:fillRect/>
          </a:stretch>
        </p:blipFill>
        <p:spPr>
          <a:xfrm>
            <a:off x="5943600" y="2011680"/>
            <a:ext cx="4363974" cy="425196"/>
          </a:xfrm>
          <a:prstGeom prst="rect">
            <a:avLst/>
          </a:prstGeom>
        </p:spPr>
      </p:pic>
      <p:sp>
        <p:nvSpPr>
          <p:cNvPr id="7" name="t-327"/>
          <p:cNvSpPr txBox="1"/>
          <p:nvPr/>
        </p:nvSpPr>
        <p:spPr>
          <a:xfrm>
            <a:off x="5943600" y="2560320"/>
            <a:ext cx="5641848" cy="256032"/>
          </a:xfrm>
          <a:prstGeom prst="rect">
            <a:avLst/>
          </a:prstGeom>
          <a:noFill/>
          <a:ln/>
        </p:spPr>
        <p:txBody>
          <a:bodyPr wrap="square" lIns="0" tIns="0" rIns="0" bIns="0" rtlCol="0" anchor="t"/>
          <a:lstStyle/>
          <a:p>
            <a:pPr algn="l" indent="0" marL="0">
              <a:buNone/>
            </a:pPr>
            <a:r>
              <a:rPr lang="en-US" sz="1300" dirty="0">
                <a:solidFill>
                  <a:schemeClr val="tx2"/>
                </a:solidFill>
              </a:rPr>
              <a:t>μ: reduced mass,  c: speed of light,  ν̃: harmonic wavenumber</a:t>
            </a:r>
            <a:endParaRPr lang="en-US" sz="1300" dirty="0"/>
          </a:p>
        </p:txBody>
      </p:sp>
      <p:graphicFrame>
        <p:nvGraphicFramePr>
          <p:cNvPr id="8" name="b1-chart-328" descr=""/>
          <p:cNvGraphicFramePr/>
          <p:nvPr/>
        </p:nvGraphicFramePr>
        <p:xfrm>
          <a:off x="5943600" y="2880360"/>
          <a:ext cx="5641848" cy="2286000"/>
        </p:xfrm>
        <a:graphic xmlns:a="http://schemas.openxmlformats.org/drawingml/2006/main">
          <a:graphicData uri="http://schemas.openxmlformats.org/drawingml/2006/chart">
            <c:chart xmlns:c="http://schemas.openxmlformats.org/drawingml/2006/chart" r:id="rId3"/>
          </a:graphicData>
        </a:graphic>
      </p:graphicFrame>
      <p:sp>
        <p:nvSpPr>
          <p:cNvPr id="9" name="b2-t-329"/>
          <p:cNvSpPr txBox="1"/>
          <p:nvPr/>
        </p:nvSpPr>
        <p:spPr>
          <a:xfrm>
            <a:off x="5943600" y="5248656"/>
            <a:ext cx="5641848" cy="548640"/>
          </a:xfrm>
          <a:prstGeom prst="rect">
            <a:avLst/>
          </a:prstGeom>
          <a:noFill/>
          <a:ln/>
        </p:spPr>
        <p:txBody>
          <a:bodyPr wrap="square" lIns="0" tIns="0" rIns="0" bIns="0" rtlCol="0" anchor="t"/>
          <a:lstStyle/>
          <a:p>
            <a:pPr algn="l" indent="0" marL="0">
              <a:buNone/>
            </a:pPr>
            <a:r>
              <a:rPr lang="en-US" sz="1400" b="1" dirty="0">
                <a:solidFill>
                  <a:schemeClr val="tx1"/>
                </a:solidFill>
              </a:rPr>
              <a:t>Here the single bonds are near 500 N/m and the triple bonds near 2000 N/m.</a:t>
            </a:r>
            <a:endParaRPr lang="en-US" sz="1400" dirty="0"/>
          </a:p>
        </p:txBody>
      </p:sp>
      <p:sp>
        <p:nvSpPr>
          <p:cNvPr id="10" name="t-330"/>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k = V″(rₑ) &gt; 0 is the one-variable second derivative test: the bond length rₑ is a minimum of V.</a:t>
            </a:r>
            <a:endParaRPr lang="en-US" sz="1400" dirty="0"/>
          </a:p>
        </p:txBody>
      </p:sp>
      <p:sp>
        <p:nvSpPr>
          <p:cNvPr id="11"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Chemistry: stable molecule or transition state?</a:t>
            </a:r>
            <a:endParaRPr lang="en-US" sz="2800" dirty="0"/>
          </a:p>
        </p:txBody>
      </p:sp>
      <p:sp>
        <p:nvSpPr>
          <p:cNvPr id="3" name="t-331"/>
          <p:cNvSpPr txBox="1"/>
          <p:nvPr/>
        </p:nvSpPr>
        <p:spPr>
          <a:xfrm>
            <a:off x="612648" y="1298448"/>
            <a:ext cx="5394960"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an energy surface with two valleys and a pass. </a:t>
            </a:r>
            <a:pPr algn="l" indent="0" marL="0">
              <a:buNone/>
            </a:pPr>
            <a:r>
              <a:rPr lang="en-US" sz="1600" b="1" dirty="0">
                <a:solidFill>
                  <a:schemeClr val="tx1"/>
                </a:solidFill>
              </a:rPr>
              <a:t>Find</a:t>
            </a:r>
            <a:pPr algn="l" indent="0" marL="0">
              <a:buNone/>
            </a:pPr>
            <a:r>
              <a:rPr lang="en-US" sz="1600" dirty="0">
                <a:solidFill>
                  <a:schemeClr val="tx1"/>
                </a:solidFill>
              </a:rPr>
              <a:t> what each critical point is.</a:t>
            </a:r>
            <a:endParaRPr lang="en-US" sz="1600" dirty="0"/>
          </a:p>
        </p:txBody>
      </p:sp>
      <p:pic>
        <p:nvPicPr>
          <p:cNvPr id="4" name="eq-332" descr="V(x,y) = (x^2 - 1)^2 + y^2">    </p:cNvPr>
          <p:cNvPicPr>
            <a:picLocks noChangeAspect="1"/>
          </p:cNvPicPr>
          <p:nvPr/>
        </p:nvPicPr>
        <p:blipFill>
          <a:blip r:embed="rId1"/>
          <a:stretch>
            <a:fillRect/>
          </a:stretch>
        </p:blipFill>
        <p:spPr>
          <a:xfrm>
            <a:off x="612648" y="2057400"/>
            <a:ext cx="2292858" cy="301752"/>
          </a:xfrm>
          <a:prstGeom prst="rect">
            <a:avLst/>
          </a:prstGeom>
        </p:spPr>
      </p:pic>
      <p:pic>
        <p:nvPicPr>
          <p:cNvPr id="5" name="b1-eq-333" descr="\mat{H}(\pm1,0) = \begin{bmatrix} 8 &amp; 0 \\ 0 &amp; 2\end{bmatrix}">    </p:cNvPr>
          <p:cNvPicPr>
            <a:picLocks noChangeAspect="1"/>
          </p:cNvPicPr>
          <p:nvPr/>
        </p:nvPicPr>
        <p:blipFill>
          <a:blip r:embed="rId2"/>
          <a:stretch>
            <a:fillRect/>
          </a:stretch>
        </p:blipFill>
        <p:spPr>
          <a:xfrm>
            <a:off x="612648" y="2606040"/>
            <a:ext cx="1620774" cy="507492"/>
          </a:xfrm>
          <a:prstGeom prst="rect">
            <a:avLst/>
          </a:prstGeom>
        </p:spPr>
      </p:pic>
      <p:sp>
        <p:nvSpPr>
          <p:cNvPr id="6" name="b1-t-334"/>
          <p:cNvSpPr txBox="1"/>
          <p:nvPr/>
        </p:nvSpPr>
        <p:spPr>
          <a:xfrm>
            <a:off x="2514600" y="2606040"/>
            <a:ext cx="3566160" cy="566928"/>
          </a:xfrm>
          <a:prstGeom prst="rect">
            <a:avLst/>
          </a:prstGeom>
          <a:noFill/>
          <a:ln/>
        </p:spPr>
        <p:txBody>
          <a:bodyPr wrap="square" lIns="0" tIns="0" rIns="0" bIns="0" rtlCol="0" anchor="t"/>
          <a:lstStyle/>
          <a:p>
            <a:pPr algn="l" indent="0" marL="0">
              <a:buNone/>
            </a:pPr>
            <a:r>
              <a:rPr lang="en-US" sz="1500" b="1" dirty="0">
                <a:solidFill>
                  <a:schemeClr val="tx1"/>
                </a:solidFill>
              </a:rPr>
              <a:t>positive definite</a:t>
            </a:r>
            <a:endParaRPr lang="en-US" sz="1500" dirty="0"/>
          </a:p>
          <a:p>
            <a:pPr algn="l" indent="0" marL="0">
              <a:buNone/>
            </a:pPr>
            <a:r>
              <a:rPr lang="en-US" sz="1500" dirty="0">
                <a:solidFill>
                  <a:schemeClr val="tx1"/>
                </a:solidFill>
              </a:rPr>
              <a:t>a minimum: a stable molecule</a:t>
            </a:r>
            <a:endParaRPr lang="en-US" sz="1500" dirty="0"/>
          </a:p>
        </p:txBody>
      </p:sp>
      <p:pic>
        <p:nvPicPr>
          <p:cNvPr id="7" name="b2-eq-335" descr="\mat{H}(0,0) = \begin{bmatrix} \red{-4} &amp; 0 \\ 0 &amp; 2\end{bmatrix}">    </p:cNvPr>
          <p:cNvPicPr>
            <a:picLocks noChangeAspect="1"/>
          </p:cNvPicPr>
          <p:nvPr/>
        </p:nvPicPr>
        <p:blipFill>
          <a:blip r:embed="rId3"/>
          <a:stretch>
            <a:fillRect/>
          </a:stretch>
        </p:blipFill>
        <p:spPr>
          <a:xfrm>
            <a:off x="612648" y="3383280"/>
            <a:ext cx="1620774" cy="507492"/>
          </a:xfrm>
          <a:prstGeom prst="rect">
            <a:avLst/>
          </a:prstGeom>
        </p:spPr>
      </p:pic>
      <p:sp>
        <p:nvSpPr>
          <p:cNvPr id="8" name="b2-t-336"/>
          <p:cNvSpPr txBox="1"/>
          <p:nvPr/>
        </p:nvSpPr>
        <p:spPr>
          <a:xfrm>
            <a:off x="2514600" y="3383280"/>
            <a:ext cx="3566160" cy="566928"/>
          </a:xfrm>
          <a:prstGeom prst="rect">
            <a:avLst/>
          </a:prstGeom>
          <a:noFill/>
          <a:ln/>
        </p:spPr>
        <p:txBody>
          <a:bodyPr wrap="square" lIns="0" tIns="0" rIns="0" bIns="0" rtlCol="0" anchor="t"/>
          <a:lstStyle/>
          <a:p>
            <a:pPr algn="l" indent="0" marL="0">
              <a:buNone/>
            </a:pPr>
            <a:r>
              <a:rPr lang="en-US" sz="1500" b="1" dirty="0">
                <a:solidFill>
                  <a:schemeClr val="accent1"/>
                </a:solidFill>
              </a:rPr>
              <a:t>one negative eigenvalue</a:t>
            </a:r>
            <a:endParaRPr lang="en-US" sz="1500" dirty="0"/>
          </a:p>
          <a:p>
            <a:pPr algn="l" indent="0" marL="0">
              <a:buNone/>
            </a:pPr>
            <a:r>
              <a:rPr lang="en-US" sz="1500" dirty="0">
                <a:solidFill>
                  <a:schemeClr val="tx1"/>
                </a:solidFill>
              </a:rPr>
              <a:t>a saddle: a transition state</a:t>
            </a:r>
            <a:endParaRPr lang="en-US" sz="1500" dirty="0"/>
          </a:p>
        </p:txBody>
      </p:sp>
      <p:sp>
        <p:nvSpPr>
          <p:cNvPr id="9" name="b3-box-337"/>
          <p:cNvSpPr/>
          <p:nvPr/>
        </p:nvSpPr>
        <p:spPr>
          <a:xfrm>
            <a:off x="612648" y="4206240"/>
            <a:ext cx="5394960" cy="1508760"/>
          </a:xfrm>
          <a:prstGeom prst="roundRect">
            <a:avLst>
              <a:gd name="adj" fmla="val 3636"/>
            </a:avLst>
          </a:prstGeom>
          <a:solidFill>
            <a:schemeClr val="accent2"/>
          </a:solidFill>
          <a:ln/>
        </p:spPr>
      </p:sp>
      <p:sp>
        <p:nvSpPr>
          <p:cNvPr id="10" name="b3-t-338"/>
          <p:cNvSpPr txBox="1"/>
          <p:nvPr/>
        </p:nvSpPr>
        <p:spPr>
          <a:xfrm>
            <a:off x="841248" y="4334256"/>
            <a:ext cx="4937760"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11" name="b3-t-339"/>
          <p:cNvSpPr txBox="1"/>
          <p:nvPr/>
        </p:nvSpPr>
        <p:spPr>
          <a:xfrm>
            <a:off x="841248" y="4626864"/>
            <a:ext cx="4937760" cy="978408"/>
          </a:xfrm>
          <a:prstGeom prst="rect">
            <a:avLst/>
          </a:prstGeom>
          <a:noFill/>
          <a:ln/>
        </p:spPr>
        <p:txBody>
          <a:bodyPr wrap="square" lIns="0" tIns="0" rIns="0" bIns="0" rtlCol="0" anchor="t"/>
          <a:lstStyle/>
          <a:p>
            <a:pPr algn="l" indent="0" marL="0">
              <a:buNone/>
            </a:pPr>
            <a:r>
              <a:rPr lang="en-US" sz="1400" dirty="0">
                <a:solidFill>
                  <a:schemeClr val="tx1"/>
                </a:solidFill>
              </a:rPr>
              <a:t>Chemists count the negative eigenvalues of the Hessian at each stationary geometry.</a:t>
            </a:r>
            <a:endParaRPr lang="en-US" sz="1400" dirty="0"/>
          </a:p>
          <a:p>
            <a:pPr algn="l" indent="0" marL="0">
              <a:buNone/>
            </a:pPr>
            <a:r>
              <a:rPr lang="en-US" sz="1400" dirty="0">
                <a:solidFill>
                  <a:schemeClr val="tx1"/>
                </a:solidFill>
              </a:rPr>
              <a:t>None: a stable structure.</a:t>
            </a:r>
            <a:endParaRPr lang="en-US" sz="1400" dirty="0"/>
          </a:p>
          <a:p>
            <a:pPr algn="l" indent="0" marL="0">
              <a:buNone/>
            </a:pPr>
            <a:r>
              <a:rPr lang="en-US" sz="1400" dirty="0">
                <a:solidFill>
                  <a:schemeClr val="tx1"/>
                </a:solidFill>
              </a:rPr>
              <a:t>Exactly one: a transition state.</a:t>
            </a:r>
            <a:endParaRPr lang="en-US" sz="1400" dirty="0"/>
          </a:p>
        </p:txBody>
      </p:sp>
      <p:pic>
        <p:nvPicPr>
          <p:cNvPr id="12" name="img-340" descr="Contours of the double-well surface with its three critical points">    </p:cNvPr>
          <p:cNvPicPr>
            <a:picLocks noChangeAspect="1"/>
          </p:cNvPicPr>
          <p:nvPr/>
        </p:nvPicPr>
        <p:blipFill>
          <a:blip r:embed="rId4"/>
          <a:stretch>
            <a:fillRect/>
          </a:stretch>
        </p:blipFill>
        <p:spPr>
          <a:xfrm>
            <a:off x="6400800" y="1298448"/>
            <a:ext cx="4983480" cy="3441716"/>
          </a:xfrm>
          <a:prstGeom prst="rect">
            <a:avLst/>
          </a:prstGeom>
        </p:spPr>
      </p:pic>
      <p:pic>
        <p:nvPicPr>
          <p:cNvPr id="13" name="b2-img-341" descr="The same contours with the two minima and the transition state labelled">    </p:cNvPr>
          <p:cNvPicPr>
            <a:picLocks noChangeAspect="1"/>
          </p:cNvPicPr>
          <p:nvPr/>
        </p:nvPicPr>
        <p:blipFill>
          <a:blip r:embed="rId5"/>
          <a:stretch>
            <a:fillRect/>
          </a:stretch>
        </p:blipFill>
        <p:spPr>
          <a:xfrm>
            <a:off x="6400800" y="1298448"/>
            <a:ext cx="4983480" cy="3441716"/>
          </a:xfrm>
          <a:prstGeom prst="rect">
            <a:avLst/>
          </a:prstGeom>
        </p:spPr>
      </p:pic>
      <p:sp>
        <p:nvSpPr>
          <p:cNvPr id="14" name="b4-t-342"/>
          <p:cNvSpPr txBox="1"/>
          <p:nvPr/>
        </p:nvSpPr>
        <p:spPr>
          <a:xfrm>
            <a:off x="6400800" y="4846320"/>
            <a:ext cx="5184648" cy="914400"/>
          </a:xfrm>
          <a:prstGeom prst="rect">
            <a:avLst/>
          </a:prstGeom>
          <a:noFill/>
          <a:ln/>
        </p:spPr>
        <p:txBody>
          <a:bodyPr wrap="square" lIns="0" tIns="0" rIns="0" bIns="0" rtlCol="0" anchor="t"/>
          <a:lstStyle/>
          <a:p>
            <a:pPr algn="l" indent="0" marL="0">
              <a:buNone/>
            </a:pPr>
            <a:r>
              <a:rPr lang="en-US" sz="1400" dirty="0">
                <a:solidFill>
                  <a:schemeClr val="tx1"/>
                </a:solidFill>
              </a:rPr>
              <a:t>Ammonia: the pyramid is a minimum, with a mirror-image twin. The flat molecule between them is the transition state, 24.2 kJ/mol higher.</a:t>
            </a:r>
            <a:endParaRPr lang="en-US" sz="1400" dirty="0"/>
          </a:p>
        </p:txBody>
      </p:sp>
      <p:sp>
        <p:nvSpPr>
          <p:cNvPr id="15" name="t-343"/>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Lecture 7 met the same double well: the ammonia molecule tunnelling between its two minima.</a:t>
            </a:r>
            <a:endParaRPr lang="en-US" sz="1400" dirty="0"/>
          </a:p>
        </p:txBody>
      </p:sp>
      <p:sp>
        <p:nvSpPr>
          <p:cNvPr id="16"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Chemistry: three atoms, a 9 × 9 Hessian</a:t>
            </a:r>
            <a:endParaRPr lang="en-US" sz="2800" dirty="0"/>
          </a:p>
        </p:txBody>
      </p:sp>
      <p:sp>
        <p:nvSpPr>
          <p:cNvPr id="3" name="t-344"/>
          <p:cNvSpPr txBox="1"/>
          <p:nvPr/>
        </p:nvSpPr>
        <p:spPr>
          <a:xfrm>
            <a:off x="612648" y="1298448"/>
            <a:ext cx="5212080" cy="640080"/>
          </a:xfrm>
          <a:prstGeom prst="rect">
            <a:avLst/>
          </a:prstGeom>
          <a:noFill/>
          <a:ln/>
        </p:spPr>
        <p:txBody>
          <a:bodyPr wrap="square" lIns="0" tIns="0" rIns="0" bIns="0" rtlCol="0" anchor="t"/>
          <a:lstStyle/>
          <a:p>
            <a:pPr algn="l" indent="0" marL="0">
              <a:buNone/>
            </a:pPr>
            <a:r>
              <a:rPr lang="en-US" sz="1600" b="1" dirty="0">
                <a:solidFill>
                  <a:schemeClr val="tx1"/>
                </a:solidFill>
              </a:rPr>
              <a:t>Given</a:t>
            </a:r>
            <a:pPr algn="l" indent="0" marL="0">
              <a:buNone/>
            </a:pPr>
            <a:r>
              <a:rPr lang="en-US" sz="1600" dirty="0">
                <a:solidFill>
                  <a:schemeClr val="tx1"/>
                </a:solidFill>
              </a:rPr>
              <a:t> three atoms at rest in an equilateral triangle, with the energy below for each pair.</a:t>
            </a:r>
            <a:endParaRPr lang="en-US" sz="1600" dirty="0"/>
          </a:p>
        </p:txBody>
      </p:sp>
      <p:pic>
        <p:nvPicPr>
          <p:cNvPr id="4" name="eq-345" descr="E = \sum_{i&lt;j} 4\epsilon\left[\left(\dfrac{\sigma}{r_{ij}}\right)^{12} - \left(\dfrac{\sigma}{r_{ij}}\right)^{6}\right]">    </p:cNvPr>
          <p:cNvPicPr>
            <a:picLocks noChangeAspect="1"/>
          </p:cNvPicPr>
          <p:nvPr/>
        </p:nvPicPr>
        <p:blipFill>
          <a:blip r:embed="rId1"/>
          <a:stretch>
            <a:fillRect/>
          </a:stretch>
        </p:blipFill>
        <p:spPr>
          <a:xfrm>
            <a:off x="612648" y="2057400"/>
            <a:ext cx="2489454" cy="626364"/>
          </a:xfrm>
          <a:prstGeom prst="rect">
            <a:avLst/>
          </a:prstGeom>
        </p:spPr>
      </p:pic>
      <p:pic>
        <p:nvPicPr>
          <p:cNvPr id="5" name="img-346" descr="Three atoms in a triangle, arrows pointing outward: the breathing mode">    </p:cNvPr>
          <p:cNvPicPr>
            <a:picLocks noChangeAspect="1"/>
          </p:cNvPicPr>
          <p:nvPr/>
        </p:nvPicPr>
        <p:blipFill>
          <a:blip r:embed="rId2"/>
          <a:stretch>
            <a:fillRect/>
          </a:stretch>
        </p:blipFill>
        <p:spPr>
          <a:xfrm>
            <a:off x="3703320" y="1828800"/>
            <a:ext cx="1828800" cy="1745533"/>
          </a:xfrm>
          <a:prstGeom prst="rect">
            <a:avLst/>
          </a:prstGeom>
        </p:spPr>
      </p:pic>
      <p:sp>
        <p:nvSpPr>
          <p:cNvPr id="6" name="t-347"/>
          <p:cNvSpPr txBox="1"/>
          <p:nvPr/>
        </p:nvSpPr>
        <p:spPr>
          <a:xfrm>
            <a:off x="612648" y="2761488"/>
            <a:ext cx="3017520" cy="457200"/>
          </a:xfrm>
          <a:prstGeom prst="rect">
            <a:avLst/>
          </a:prstGeom>
          <a:noFill/>
          <a:ln/>
        </p:spPr>
        <p:txBody>
          <a:bodyPr wrap="square" lIns="0" tIns="0" rIns="0" bIns="0" rtlCol="0" anchor="t"/>
          <a:lstStyle/>
          <a:p>
            <a:pPr algn="l" indent="0" marL="0">
              <a:buNone/>
            </a:pPr>
            <a:r>
              <a:rPr lang="en-US" sz="1200" dirty="0">
                <a:solidFill>
                  <a:schemeClr val="tx2"/>
                </a:solidFill>
              </a:rPr>
              <a:t>rᵢⱼ: distance between atoms i and j.</a:t>
            </a:r>
            <a:endParaRPr lang="en-US" sz="1200" dirty="0"/>
          </a:p>
          <a:p>
            <a:pPr algn="l" indent="0" marL="0">
              <a:buNone/>
            </a:pPr>
            <a:r>
              <a:rPr lang="en-US" sz="1200" dirty="0">
                <a:solidFill>
                  <a:schemeClr val="tx2"/>
                </a:solidFill>
              </a:rPr>
              <a:t>ε, σ: depth and size of the pair energy.</a:t>
            </a:r>
            <a:endParaRPr lang="en-US" sz="1200" dirty="0"/>
          </a:p>
        </p:txBody>
      </p:sp>
      <p:sp>
        <p:nvSpPr>
          <p:cNvPr id="7" name="t-348"/>
          <p:cNvSpPr txBox="1"/>
          <p:nvPr/>
        </p:nvSpPr>
        <p:spPr>
          <a:xfrm>
            <a:off x="612648" y="3364992"/>
            <a:ext cx="3017520" cy="685800"/>
          </a:xfrm>
          <a:prstGeom prst="rect">
            <a:avLst/>
          </a:prstGeom>
          <a:noFill/>
          <a:ln/>
        </p:spPr>
        <p:txBody>
          <a:bodyPr wrap="square" lIns="0" tIns="0" rIns="0" bIns="0" rtlCol="0" anchor="t"/>
          <a:lstStyle/>
          <a:p>
            <a:pPr algn="l" indent="0" marL="0">
              <a:buNone/>
            </a:pPr>
            <a:r>
              <a:rPr lang="en-US" sz="1600" b="1" dirty="0">
                <a:solidFill>
                  <a:schemeClr val="tx1"/>
                </a:solidFill>
              </a:rPr>
              <a:t>Find</a:t>
            </a:r>
            <a:pPr algn="l" indent="0" marL="0">
              <a:buNone/>
            </a:pPr>
            <a:r>
              <a:rPr lang="en-US" sz="1600" dirty="0">
                <a:solidFill>
                  <a:schemeClr val="tx1"/>
                </a:solidFill>
              </a:rPr>
              <a:t> the eigenvalues of its 9 × 9 Hessian.</a:t>
            </a:r>
            <a:endParaRPr lang="en-US" sz="1600" dirty="0"/>
          </a:p>
        </p:txBody>
      </p:sp>
      <p:sp>
        <p:nvSpPr>
          <p:cNvPr id="8" name="b2-t-349"/>
          <p:cNvSpPr txBox="1"/>
          <p:nvPr/>
        </p:nvSpPr>
        <p:spPr>
          <a:xfrm>
            <a:off x="612648" y="4224528"/>
            <a:ext cx="5212080" cy="1554480"/>
          </a:xfrm>
          <a:prstGeom prst="rect">
            <a:avLst/>
          </a:prstGeom>
          <a:noFill/>
          <a:ln/>
        </p:spPr>
        <p:txBody>
          <a:bodyPr wrap="square" lIns="0" tIns="0" rIns="0" bIns="0" rtlCol="0" anchor="t"/>
          <a:lstStyle/>
          <a:p>
            <a:pPr algn="l" indent="0" marL="0">
              <a:buNone/>
            </a:pPr>
            <a:r>
              <a:rPr lang="en-US" sz="1400" b="1" dirty="0">
                <a:solidFill>
                  <a:schemeClr val="tx1"/>
                </a:solidFill>
              </a:rPr>
              <a:t>Six zeros.</a:t>
            </a:r>
            <a:pPr algn="l" indent="0" marL="0">
              <a:buNone/>
            </a:pPr>
            <a:r>
              <a:rPr lang="en-US" sz="1400" dirty="0">
                <a:solidFill>
                  <a:schemeClr val="tx1"/>
                </a:solidFill>
              </a:rPr>
              <a:t> Three translations and three rotations cost no energy, so H is only positive semi-definite. On the three vibrations it is positive definite.</a:t>
            </a:r>
            <a:endParaRPr lang="en-US" sz="1400" dirty="0"/>
          </a:p>
          <a:p>
            <a:pPr algn="l" indent="0" marL="0">
              <a:buNone/>
            </a:pPr>
            <a:r>
              <a:rPr lang="en-US" sz="1400" dirty="0">
                <a:solidFill>
                  <a:schemeClr val="tx1"/>
                </a:solidFill>
              </a:rPr>
              <a:t> </a:t>
            </a:r>
            <a:endParaRPr lang="en-US" sz="1400" dirty="0"/>
          </a:p>
          <a:p>
            <a:pPr algn="l" indent="0" marL="0">
              <a:buNone/>
            </a:pPr>
            <a:r>
              <a:rPr lang="en-US" sz="1400" b="1" dirty="0">
                <a:solidFill>
                  <a:schemeClr val="tx1"/>
                </a:solidFill>
              </a:rPr>
              <a:t>Three positive.</a:t>
            </a:r>
            <a:pPr algn="l" indent="0" marL="0">
              <a:buNone/>
            </a:pPr>
            <a:r>
              <a:rPr lang="en-US" sz="1400" dirty="0">
                <a:solidFill>
                  <a:schemeClr val="tx1"/>
                </a:solidFill>
              </a:rPr>
              <a:t> The vibrations. The largest is the breathing mode.</a:t>
            </a:r>
            <a:endParaRPr lang="en-US" sz="1400" dirty="0"/>
          </a:p>
        </p:txBody>
      </p:sp>
      <p:graphicFrame>
        <p:nvGraphicFramePr>
          <p:cNvPr id="9" name="b1-chart-350" descr=""/>
          <p:cNvGraphicFramePr/>
          <p:nvPr/>
        </p:nvGraphicFramePr>
        <p:xfrm>
          <a:off x="6035040" y="1280160"/>
          <a:ext cx="5550408" cy="2971800"/>
        </p:xfrm>
        <a:graphic xmlns:a="http://schemas.openxmlformats.org/drawingml/2006/main">
          <a:graphicData uri="http://schemas.openxmlformats.org/drawingml/2006/chart">
            <c:chart xmlns:c="http://schemas.openxmlformats.org/drawingml/2006/chart" r:id="rId3"/>
          </a:graphicData>
        </a:graphic>
      </p:graphicFrame>
      <p:pic>
        <p:nvPicPr>
          <p:cNvPr id="10" name="b2-eq-351" descr="3N - 6 = 3 \text{ vibrations for } N = 3 \text{ atoms}">    </p:cNvPr>
          <p:cNvPicPr>
            <a:picLocks noChangeAspect="1"/>
          </p:cNvPicPr>
          <p:nvPr/>
        </p:nvPicPr>
        <p:blipFill>
          <a:blip r:embed="rId4"/>
          <a:stretch>
            <a:fillRect/>
          </a:stretch>
        </p:blipFill>
        <p:spPr>
          <a:xfrm>
            <a:off x="6035040" y="4434840"/>
            <a:ext cx="3557016" cy="210312"/>
          </a:xfrm>
          <a:prstGeom prst="rect">
            <a:avLst/>
          </a:prstGeom>
        </p:spPr>
      </p:pic>
      <p:sp>
        <p:nvSpPr>
          <p:cNvPr id="11" name="b3-t-352"/>
          <p:cNvSpPr txBox="1"/>
          <p:nvPr/>
        </p:nvSpPr>
        <p:spPr>
          <a:xfrm>
            <a:off x="6035040" y="4846320"/>
            <a:ext cx="5550408" cy="914400"/>
          </a:xfrm>
          <a:prstGeom prst="rect">
            <a:avLst/>
          </a:prstGeom>
          <a:noFill/>
          <a:ln/>
        </p:spPr>
        <p:txBody>
          <a:bodyPr wrap="square" lIns="0" tIns="0" rIns="0" bIns="0" rtlCol="0" anchor="t"/>
          <a:lstStyle/>
          <a:p>
            <a:pPr algn="l" indent="0" marL="0">
              <a:spcAft>
                <a:spcPts val="400"/>
              </a:spcAft>
              <a:buNone/>
            </a:pPr>
            <a:r>
              <a:rPr lang="en-US" sz="1400" dirty="0">
                <a:solidFill>
                  <a:schemeClr val="tx2"/>
                </a:solidFill>
              </a:rPr>
              <a:t>Water also has three atoms and three vibrations, observed at 1595, 3657 and 3756 cm⁻¹.</a:t>
            </a:r>
            <a:endParaRPr lang="en-US" sz="1400" dirty="0"/>
          </a:p>
          <a:p>
            <a:pPr algn="l" indent="0" marL="0">
              <a:spcAft>
                <a:spcPts val="400"/>
              </a:spcAft>
              <a:buNone/>
            </a:pPr>
            <a:r>
              <a:rPr lang="en-US" sz="1400" dirty="0">
                <a:solidFill>
                  <a:schemeClr val="tx2"/>
                </a:solidFill>
              </a:rPr>
              <a:t>Finding the geometry is Newton's method with an approximate Hessian (quasi-Newton).</a:t>
            </a:r>
            <a:endParaRPr lang="en-US" sz="1400" dirty="0"/>
          </a:p>
        </p:txBody>
      </p:sp>
      <p:sp>
        <p:nvSpPr>
          <p:cNvPr id="12" name="t-353"/>
          <p:cNvSpPr txBox="1"/>
          <p:nvPr/>
        </p:nvSpPr>
        <p:spPr>
          <a:xfrm>
            <a:off x="612648" y="5897880"/>
            <a:ext cx="10972800" cy="384048"/>
          </a:xfrm>
          <a:prstGeom prst="rect">
            <a:avLst/>
          </a:prstGeom>
          <a:noFill/>
          <a:ln/>
        </p:spPr>
        <p:txBody>
          <a:bodyPr wrap="square" lIns="0" tIns="0" rIns="0" bIns="0" rtlCol="0" anchor="t"/>
          <a:lstStyle/>
          <a:p>
            <a:pPr algn="l" indent="0" marL="0">
              <a:buNone/>
            </a:pPr>
            <a:r>
              <a:rPr lang="en-US" sz="1400" i="1" dirty="0">
                <a:solidFill>
                  <a:schemeClr val="tx2"/>
                </a:solidFill>
              </a:rPr>
              <a:t>The Hessian comes from hessian_fd: 180 evaluations of the energy.</a:t>
            </a:r>
            <a:endParaRPr lang="en-US" sz="1400" dirty="0"/>
          </a:p>
        </p:txBody>
      </p:sp>
      <p:sp>
        <p:nvSpPr>
          <p:cNvPr id="13"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9" grpId="0">
        <p:bldAsOne/>
      </p:bldGraphic>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The same question in every field</a:t>
            </a:r>
            <a:endParaRPr lang="en-US" sz="2800" dirty="0"/>
          </a:p>
        </p:txBody>
      </p:sp>
      <p:graphicFrame>
        <p:nvGraphicFramePr>
          <p:cNvPr id="3" name="table-354"/>
          <p:cNvGraphicFramePr>
            <a:graphicFrameLocks noGrp="1"/>
          </p:cNvGraphicFramePr>
          <p:nvPr>
            <p:extLst>
              <p:ext uri="{D42A27DB-BD31-4B8C-83A1-F6EECF244321}">
                <p14:modId xmlns:p14="http://schemas.microsoft.com/office/powerpoint/2010/main" val="1579011935"/>
              </p:ext>
            </p:extLst>
          </p:nvPr>
        </p:nvGraphicFramePr>
        <p:xfrm>
          <a:off x="612648" y="1325880"/>
          <a:ext cx="10972800" cy="914400"/>
        </p:xfrm>
        <a:graphic>
          <a:graphicData uri="http://schemas.openxmlformats.org/drawingml/2006/table">
            <a:tbl>
              <a:tblPr/>
              <a:tblGrid>
                <a:gridCol w="1600200"/>
                <a:gridCol w="2926080"/>
                <a:gridCol w="3886200"/>
                <a:gridCol w="2560320"/>
              </a:tblGrid>
              <a:tr h="457200">
                <a:tc>
                  <a:txBody>
                    <a:bodyPr/>
                    <a:lstStyle/>
                    <a:p>
                      <a:pPr indent="0" marL="0">
                        <a:buNone/>
                      </a:pPr>
                      <a:r>
                        <a:rPr lang="en-US" sz="1400" b="1" dirty="0">
                          <a:solidFill>
                            <a:schemeClr val="bg1"/>
                          </a:solidFill>
                        </a:rPr>
                        <a:t>Field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Function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H positive definite means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Its eigenvalues give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indent="0" marL="0">
                        <a:buNone/>
                      </a:pPr>
                      <a:r>
                        <a:rPr lang="en-US" sz="1400" b="1" dirty="0">
                          <a:solidFill>
                            <a:schemeClr val="tx1"/>
                          </a:solidFill>
                        </a:rPr>
                        <a:t>Mechanics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potential energy V(x)</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stable equilibrium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squared frequencies ω²</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tx1"/>
                          </a:solidFill>
                        </a:rPr>
                        <a:t>Electrostatics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potential φ in empty space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1"/>
                          </a:solidFill>
                        </a:rPr>
                        <a:t>never: the trace is zero</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which directions expel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b="1" dirty="0">
                          <a:solidFill>
                            <a:schemeClr val="tx1"/>
                          </a:solidFill>
                        </a:rPr>
                        <a:t>Optics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minus the optical path, −W</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focusing in every meridian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principal powers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tx1"/>
                          </a:solidFill>
                        </a:rPr>
                        <a:t>Structures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energy of the loaded column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no buckling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margin to buckling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b="1" dirty="0">
                          <a:solidFill>
                            <a:schemeClr val="tx1"/>
                          </a:solidFill>
                        </a:rPr>
                        <a:t>Data fitting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misfit S(c)</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 single best fit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error bars, through H⁻¹</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tx1"/>
                          </a:solidFill>
                        </a:rPr>
                        <a:t>Chemistry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energy of a molecule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stable structure, rigid motions aside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stiffness and vibrations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box-355"/>
          <p:cNvSpPr/>
          <p:nvPr/>
        </p:nvSpPr>
        <p:spPr>
          <a:xfrm>
            <a:off x="612648" y="4800600"/>
            <a:ext cx="10972800" cy="896112"/>
          </a:xfrm>
          <a:prstGeom prst="roundRect">
            <a:avLst>
              <a:gd name="adj" fmla="val 6122"/>
            </a:avLst>
          </a:prstGeom>
          <a:solidFill>
            <a:schemeClr val="accent2"/>
          </a:solidFill>
          <a:ln/>
        </p:spPr>
      </p:sp>
      <p:sp>
        <p:nvSpPr>
          <p:cNvPr id="5" name="t-356"/>
          <p:cNvSpPr txBox="1"/>
          <p:nvPr/>
        </p:nvSpPr>
        <p:spPr>
          <a:xfrm>
            <a:off x="841248" y="4928616"/>
            <a:ext cx="10515600" cy="201168"/>
          </a:xfrm>
          <a:prstGeom prst="rect">
            <a:avLst/>
          </a:prstGeom>
          <a:noFill/>
          <a:ln/>
        </p:spPr>
        <p:txBody>
          <a:bodyPr wrap="square" lIns="0" tIns="0" rIns="0" bIns="0" rtlCol="0" anchor="t"/>
          <a:lstStyle/>
          <a:p>
            <a:pPr algn="l" indent="0" marL="0">
              <a:buNone/>
            </a:pPr>
            <a:r>
              <a:rPr lang="en-US" sz="1100" b="1" dirty="0">
                <a:solidFill>
                  <a:schemeClr val="tx1"/>
                </a:solidFill>
              </a:rPr>
              <a:t>KEY IDEA</a:t>
            </a:r>
            <a:endParaRPr lang="en-US" sz="1100" dirty="0"/>
          </a:p>
        </p:txBody>
      </p:sp>
      <p:sp>
        <p:nvSpPr>
          <p:cNvPr id="6" name="t-357"/>
          <p:cNvSpPr txBox="1"/>
          <p:nvPr/>
        </p:nvSpPr>
        <p:spPr>
          <a:xfrm>
            <a:off x="841248" y="5221224"/>
            <a:ext cx="10515600" cy="365760"/>
          </a:xfrm>
          <a:prstGeom prst="rect">
            <a:avLst/>
          </a:prstGeom>
          <a:noFill/>
          <a:ln/>
        </p:spPr>
        <p:txBody>
          <a:bodyPr wrap="square" lIns="0" tIns="0" rIns="0" bIns="0" rtlCol="0" anchor="t"/>
          <a:lstStyle/>
          <a:p>
            <a:pPr algn="l" indent="0" marL="0">
              <a:buNone/>
            </a:pPr>
            <a:r>
              <a:rPr lang="en-US" sz="1600" dirty="0">
                <a:solidFill>
                  <a:schemeClr val="tx1"/>
                </a:solidFill>
              </a:rPr>
              <a:t>Find the critical point. Form the Hessian. Read the signs of its eigenvalues.</a:t>
            </a:r>
            <a:endParaRPr lang="en-US" sz="1600" dirty="0"/>
          </a:p>
        </p:txBody>
      </p:sp>
      <p:sp>
        <p:nvSpPr>
          <p:cNvPr id="7"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Questions for the room</a:t>
            </a:r>
            <a:endParaRPr lang="en-US" sz="2800" dirty="0"/>
          </a:p>
        </p:txBody>
      </p:sp>
      <p:sp>
        <p:nvSpPr>
          <p:cNvPr id="3" name="box-358"/>
          <p:cNvSpPr/>
          <p:nvPr/>
        </p:nvSpPr>
        <p:spPr>
          <a:xfrm>
            <a:off x="612648" y="1298448"/>
            <a:ext cx="5376672" cy="2103120"/>
          </a:xfrm>
          <a:prstGeom prst="roundRect">
            <a:avLst>
              <a:gd name="adj" fmla="val 2609"/>
            </a:avLst>
          </a:prstGeom>
          <a:solidFill>
            <a:schemeClr val="bg2"/>
          </a:solidFill>
          <a:ln/>
        </p:spPr>
      </p:sp>
      <p:sp>
        <p:nvSpPr>
          <p:cNvPr id="4" name="badge-359"/>
          <p:cNvSpPr/>
          <p:nvPr/>
        </p:nvSpPr>
        <p:spPr>
          <a:xfrm>
            <a:off x="841248" y="1527048"/>
            <a:ext cx="457200" cy="457200"/>
          </a:xfrm>
          <a:prstGeom prst="ellipse">
            <a:avLst/>
          </a:prstGeom>
          <a:solidFill>
            <a:schemeClr val="tx1"/>
          </a:solidFill>
          <a:ln/>
        </p:spPr>
      </p:sp>
      <p:sp>
        <p:nvSpPr>
          <p:cNvPr id="5" name="t-360"/>
          <p:cNvSpPr txBox="1"/>
          <p:nvPr/>
        </p:nvSpPr>
        <p:spPr>
          <a:xfrm>
            <a:off x="841248" y="1527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361"/>
          <p:cNvSpPr txBox="1"/>
          <p:nvPr/>
        </p:nvSpPr>
        <p:spPr>
          <a:xfrm>
            <a:off x="1481328" y="1499616"/>
            <a:ext cx="4279392" cy="868680"/>
          </a:xfrm>
          <a:prstGeom prst="rect">
            <a:avLst/>
          </a:prstGeom>
          <a:noFill/>
          <a:ln/>
        </p:spPr>
        <p:txBody>
          <a:bodyPr wrap="square" lIns="0" tIns="0" rIns="0" bIns="0" rtlCol="0" anchor="t"/>
          <a:lstStyle/>
          <a:p>
            <a:pPr algn="l" indent="0" marL="0">
              <a:buNone/>
            </a:pPr>
            <a:r>
              <a:rPr lang="en-US" sz="1400" dirty="0">
                <a:solidFill>
                  <a:schemeClr val="tx1"/>
                </a:solidFill>
              </a:rPr>
              <a:t>At a critical point the Hessian is the matrix below. Minimum, maximum or saddle?</a:t>
            </a:r>
            <a:endParaRPr lang="en-US" sz="1400" dirty="0"/>
          </a:p>
        </p:txBody>
      </p:sp>
      <p:pic>
        <p:nvPicPr>
          <p:cNvPr id="7" name="eq-362" descr="\mat{H} = \begin{bmatrix} 2 &amp; 0 \\ 0 &amp; -1\end{bmatrix}">    </p:cNvPr>
          <p:cNvPicPr>
            <a:picLocks noChangeAspect="1"/>
          </p:cNvPicPr>
          <p:nvPr/>
        </p:nvPicPr>
        <p:blipFill>
          <a:blip r:embed="rId1"/>
          <a:stretch>
            <a:fillRect/>
          </a:stretch>
        </p:blipFill>
        <p:spPr>
          <a:xfrm>
            <a:off x="1481328" y="2294001"/>
            <a:ext cx="1120140" cy="477774"/>
          </a:xfrm>
          <a:prstGeom prst="rect">
            <a:avLst/>
          </a:prstGeom>
        </p:spPr>
      </p:pic>
      <p:sp>
        <p:nvSpPr>
          <p:cNvPr id="8" name="b1-t-363"/>
          <p:cNvSpPr txBox="1"/>
          <p:nvPr/>
        </p:nvSpPr>
        <p:spPr>
          <a:xfrm>
            <a:off x="1481328" y="2871216"/>
            <a:ext cx="4279392" cy="411480"/>
          </a:xfrm>
          <a:prstGeom prst="rect">
            <a:avLst/>
          </a:prstGeom>
          <a:noFill/>
          <a:ln/>
        </p:spPr>
        <p:txBody>
          <a:bodyPr wrap="square" lIns="0" tIns="0" rIns="0" bIns="0" rtlCol="0" anchor="ctr"/>
          <a:lstStyle/>
          <a:p>
            <a:pPr algn="l" indent="0" marL="0">
              <a:buNone/>
            </a:pPr>
            <a:r>
              <a:rPr lang="en-US" sz="1400" b="1" dirty="0">
                <a:solidFill>
                  <a:schemeClr val="accent1"/>
                </a:solidFill>
              </a:rPr>
              <a:t>Saddle: one positive and one negative eigenvalue.</a:t>
            </a:r>
            <a:endParaRPr lang="en-US" sz="1400" dirty="0"/>
          </a:p>
        </p:txBody>
      </p:sp>
      <p:sp>
        <p:nvSpPr>
          <p:cNvPr id="9" name="box-364"/>
          <p:cNvSpPr/>
          <p:nvPr/>
        </p:nvSpPr>
        <p:spPr>
          <a:xfrm>
            <a:off x="6208776" y="1298448"/>
            <a:ext cx="5376672" cy="2103120"/>
          </a:xfrm>
          <a:prstGeom prst="roundRect">
            <a:avLst>
              <a:gd name="adj" fmla="val 2609"/>
            </a:avLst>
          </a:prstGeom>
          <a:solidFill>
            <a:schemeClr val="bg2"/>
          </a:solidFill>
          <a:ln/>
        </p:spPr>
      </p:sp>
      <p:sp>
        <p:nvSpPr>
          <p:cNvPr id="10" name="badge-365"/>
          <p:cNvSpPr/>
          <p:nvPr/>
        </p:nvSpPr>
        <p:spPr>
          <a:xfrm>
            <a:off x="6437376" y="1527048"/>
            <a:ext cx="457200" cy="457200"/>
          </a:xfrm>
          <a:prstGeom prst="ellipse">
            <a:avLst/>
          </a:prstGeom>
          <a:solidFill>
            <a:schemeClr val="tx1"/>
          </a:solidFill>
          <a:ln/>
        </p:spPr>
      </p:sp>
      <p:sp>
        <p:nvSpPr>
          <p:cNvPr id="11" name="t-366"/>
          <p:cNvSpPr txBox="1"/>
          <p:nvPr/>
        </p:nvSpPr>
        <p:spPr>
          <a:xfrm>
            <a:off x="6437376" y="1527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367"/>
          <p:cNvSpPr txBox="1"/>
          <p:nvPr/>
        </p:nvSpPr>
        <p:spPr>
          <a:xfrm>
            <a:off x="7077456" y="1499616"/>
            <a:ext cx="4279392" cy="868680"/>
          </a:xfrm>
          <a:prstGeom prst="rect">
            <a:avLst/>
          </a:prstGeom>
          <a:noFill/>
          <a:ln/>
        </p:spPr>
        <p:txBody>
          <a:bodyPr wrap="square" lIns="0" tIns="0" rIns="0" bIns="0" rtlCol="0" anchor="t"/>
          <a:lstStyle/>
          <a:p>
            <a:pPr algn="l" indent="0" marL="0">
              <a:buNone/>
            </a:pPr>
            <a:r>
              <a:rPr lang="en-US" sz="1400" dirty="0">
                <a:solidFill>
                  <a:schemeClr val="tx1"/>
                </a:solidFill>
              </a:rPr>
              <a:t>What kind of point is the origin for the function below?</a:t>
            </a:r>
            <a:endParaRPr lang="en-US" sz="1400" dirty="0"/>
          </a:p>
        </p:txBody>
      </p:sp>
      <p:pic>
        <p:nvPicPr>
          <p:cNvPr id="13" name="eq-368" descr="f = x_1^2 + 3x_1x_2 + x_2^2">    </p:cNvPr>
          <p:cNvPicPr>
            <a:picLocks noChangeAspect="1"/>
          </p:cNvPicPr>
          <p:nvPr/>
        </p:nvPicPr>
        <p:blipFill>
          <a:blip r:embed="rId2"/>
          <a:stretch>
            <a:fillRect/>
          </a:stretch>
        </p:blipFill>
        <p:spPr>
          <a:xfrm>
            <a:off x="7077456" y="2400300"/>
            <a:ext cx="1666494" cy="265176"/>
          </a:xfrm>
          <a:prstGeom prst="rect">
            <a:avLst/>
          </a:prstGeom>
        </p:spPr>
      </p:pic>
      <p:sp>
        <p:nvSpPr>
          <p:cNvPr id="14" name="b2-t-369"/>
          <p:cNvSpPr txBox="1"/>
          <p:nvPr/>
        </p:nvSpPr>
        <p:spPr>
          <a:xfrm>
            <a:off x="7077456" y="2871216"/>
            <a:ext cx="4279392" cy="411480"/>
          </a:xfrm>
          <a:prstGeom prst="rect">
            <a:avLst/>
          </a:prstGeom>
          <a:noFill/>
          <a:ln/>
        </p:spPr>
        <p:txBody>
          <a:bodyPr wrap="square" lIns="0" tIns="0" rIns="0" bIns="0" rtlCol="0" anchor="ctr"/>
          <a:lstStyle/>
          <a:p>
            <a:pPr algn="l" indent="0" marL="0">
              <a:buNone/>
            </a:pPr>
            <a:r>
              <a:rPr lang="en-US" sz="1400" b="1" dirty="0">
                <a:solidFill>
                  <a:schemeClr val="accent1"/>
                </a:solidFill>
              </a:rPr>
              <a:t>Saddle: H has eigenvalues −1 and 5, and f(1, −1) = −1.</a:t>
            </a:r>
            <a:endParaRPr lang="en-US" sz="1400" dirty="0"/>
          </a:p>
        </p:txBody>
      </p:sp>
      <p:sp>
        <p:nvSpPr>
          <p:cNvPr id="15" name="box-370"/>
          <p:cNvSpPr/>
          <p:nvPr/>
        </p:nvSpPr>
        <p:spPr>
          <a:xfrm>
            <a:off x="612648" y="3584448"/>
            <a:ext cx="5376672" cy="2103120"/>
          </a:xfrm>
          <a:prstGeom prst="roundRect">
            <a:avLst>
              <a:gd name="adj" fmla="val 2609"/>
            </a:avLst>
          </a:prstGeom>
          <a:solidFill>
            <a:schemeClr val="bg2"/>
          </a:solidFill>
          <a:ln/>
        </p:spPr>
      </p:sp>
      <p:sp>
        <p:nvSpPr>
          <p:cNvPr id="16" name="badge-371"/>
          <p:cNvSpPr/>
          <p:nvPr/>
        </p:nvSpPr>
        <p:spPr>
          <a:xfrm>
            <a:off x="841248" y="3813048"/>
            <a:ext cx="457200" cy="457200"/>
          </a:xfrm>
          <a:prstGeom prst="ellipse">
            <a:avLst/>
          </a:prstGeom>
          <a:solidFill>
            <a:schemeClr val="tx1"/>
          </a:solidFill>
          <a:ln/>
        </p:spPr>
      </p:sp>
      <p:sp>
        <p:nvSpPr>
          <p:cNvPr id="17" name="t-372"/>
          <p:cNvSpPr txBox="1"/>
          <p:nvPr/>
        </p:nvSpPr>
        <p:spPr>
          <a:xfrm>
            <a:off x="841248" y="3813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373"/>
          <p:cNvSpPr txBox="1"/>
          <p:nvPr/>
        </p:nvSpPr>
        <p:spPr>
          <a:xfrm>
            <a:off x="1481328" y="3785616"/>
            <a:ext cx="4279392" cy="868680"/>
          </a:xfrm>
          <a:prstGeom prst="rect">
            <a:avLst/>
          </a:prstGeom>
          <a:noFill/>
          <a:ln/>
        </p:spPr>
        <p:txBody>
          <a:bodyPr wrap="square" lIns="0" tIns="0" rIns="0" bIns="0" rtlCol="0" anchor="t"/>
          <a:lstStyle/>
          <a:p>
            <a:pPr algn="l" indent="0" marL="0">
              <a:buNone/>
            </a:pPr>
            <a:r>
              <a:rPr lang="en-US" sz="1400" dirty="0">
                <a:solidFill>
                  <a:schemeClr val="tx1"/>
                </a:solidFill>
              </a:rPr>
              <a:t>A potential in empty space has Hessian eigenvalues 3 and 1 in two directions. What is the third?</a:t>
            </a:r>
            <a:endParaRPr lang="en-US" sz="1400" dirty="0"/>
          </a:p>
        </p:txBody>
      </p:sp>
      <p:sp>
        <p:nvSpPr>
          <p:cNvPr id="19" name="b3-t-374"/>
          <p:cNvSpPr txBox="1"/>
          <p:nvPr/>
        </p:nvSpPr>
        <p:spPr>
          <a:xfrm>
            <a:off x="1481328" y="5157216"/>
            <a:ext cx="4279392" cy="411480"/>
          </a:xfrm>
          <a:prstGeom prst="rect">
            <a:avLst/>
          </a:prstGeom>
          <a:noFill/>
          <a:ln/>
        </p:spPr>
        <p:txBody>
          <a:bodyPr wrap="square" lIns="0" tIns="0" rIns="0" bIns="0" rtlCol="0" anchor="ctr"/>
          <a:lstStyle/>
          <a:p>
            <a:pPr algn="l" indent="0" marL="0">
              <a:buNone/>
            </a:pPr>
            <a:r>
              <a:rPr lang="en-US" sz="1400" b="1" dirty="0">
                <a:solidFill>
                  <a:schemeClr val="accent1"/>
                </a:solidFill>
              </a:rPr>
              <a:t>−4: the trace is zero. No trap.</a:t>
            </a:r>
            <a:endParaRPr lang="en-US" sz="1400" dirty="0"/>
          </a:p>
        </p:txBody>
      </p:sp>
      <p:sp>
        <p:nvSpPr>
          <p:cNvPr id="20" name="box-375"/>
          <p:cNvSpPr/>
          <p:nvPr/>
        </p:nvSpPr>
        <p:spPr>
          <a:xfrm>
            <a:off x="6208776" y="3584448"/>
            <a:ext cx="5376672" cy="2103120"/>
          </a:xfrm>
          <a:prstGeom prst="roundRect">
            <a:avLst>
              <a:gd name="adj" fmla="val 2609"/>
            </a:avLst>
          </a:prstGeom>
          <a:solidFill>
            <a:schemeClr val="bg2"/>
          </a:solidFill>
          <a:ln/>
        </p:spPr>
      </p:sp>
      <p:sp>
        <p:nvSpPr>
          <p:cNvPr id="21" name="badge-376"/>
          <p:cNvSpPr/>
          <p:nvPr/>
        </p:nvSpPr>
        <p:spPr>
          <a:xfrm>
            <a:off x="6437376" y="3813048"/>
            <a:ext cx="457200" cy="457200"/>
          </a:xfrm>
          <a:prstGeom prst="ellipse">
            <a:avLst/>
          </a:prstGeom>
          <a:solidFill>
            <a:schemeClr val="tx1"/>
          </a:solidFill>
          <a:ln/>
        </p:spPr>
      </p:sp>
      <p:sp>
        <p:nvSpPr>
          <p:cNvPr id="22" name="t-377"/>
          <p:cNvSpPr txBox="1"/>
          <p:nvPr/>
        </p:nvSpPr>
        <p:spPr>
          <a:xfrm>
            <a:off x="6437376" y="3813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378"/>
          <p:cNvSpPr txBox="1"/>
          <p:nvPr/>
        </p:nvSpPr>
        <p:spPr>
          <a:xfrm>
            <a:off x="7077456" y="3785616"/>
            <a:ext cx="4279392" cy="868680"/>
          </a:xfrm>
          <a:prstGeom prst="rect">
            <a:avLst/>
          </a:prstGeom>
          <a:noFill/>
          <a:ln/>
        </p:spPr>
        <p:txBody>
          <a:bodyPr wrap="square" lIns="0" tIns="0" rIns="0" bIns="0" rtlCol="0" anchor="t"/>
          <a:lstStyle/>
          <a:p>
            <a:pPr algn="l" indent="0" marL="0">
              <a:buNone/>
            </a:pPr>
            <a:r>
              <a:rPr lang="en-US" sz="1400" dirty="0">
                <a:solidFill>
                  <a:schemeClr val="tx1"/>
                </a:solidFill>
              </a:rPr>
              <a:t>A molecule has four atoms, not all on one line. How large is its Hessian, and how many eigenvalues are zero?</a:t>
            </a:r>
            <a:endParaRPr lang="en-US" sz="1400" dirty="0"/>
          </a:p>
        </p:txBody>
      </p:sp>
      <p:sp>
        <p:nvSpPr>
          <p:cNvPr id="24" name="b4-t-379"/>
          <p:cNvSpPr txBox="1"/>
          <p:nvPr/>
        </p:nvSpPr>
        <p:spPr>
          <a:xfrm>
            <a:off x="7077456" y="5157216"/>
            <a:ext cx="4279392" cy="411480"/>
          </a:xfrm>
          <a:prstGeom prst="rect">
            <a:avLst/>
          </a:prstGeom>
          <a:noFill/>
          <a:ln/>
        </p:spPr>
        <p:txBody>
          <a:bodyPr wrap="square" lIns="0" tIns="0" rIns="0" bIns="0" rtlCol="0" anchor="ctr"/>
          <a:lstStyle/>
          <a:p>
            <a:pPr algn="l" indent="0" marL="0">
              <a:buNone/>
            </a:pPr>
            <a:r>
              <a:rPr lang="en-US" sz="1400" b="1" dirty="0">
                <a:solidFill>
                  <a:schemeClr val="accent1"/>
                </a:solidFill>
              </a:rPr>
              <a:t>12 × 12, with 6 zeros. The other 6 are vibrations.</a:t>
            </a:r>
            <a:endParaRPr lang="en-US" sz="1400" dirty="0"/>
          </a:p>
        </p:txBody>
      </p:sp>
      <p:sp>
        <p:nvSpPr>
          <p:cNvPr id="2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19"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A: L08_hessian.py, the Hessian test</a:t>
            </a:r>
            <a:endParaRPr lang="en-US" sz="2800" dirty="0"/>
          </a:p>
        </p:txBody>
      </p:sp>
      <p:sp>
        <p:nvSpPr>
          <p:cNvPr id="3" name="box-380"/>
          <p:cNvSpPr/>
          <p:nvPr/>
        </p:nvSpPr>
        <p:spPr>
          <a:xfrm>
            <a:off x="612648" y="1143000"/>
            <a:ext cx="10972800" cy="5184648"/>
          </a:xfrm>
          <a:prstGeom prst="roundRect">
            <a:avLst>
              <a:gd name="adj" fmla="val 529"/>
            </a:avLst>
          </a:prstGeom>
          <a:solidFill>
            <a:schemeClr val="bg2"/>
          </a:solidFill>
          <a:ln/>
        </p:spPr>
      </p:sp>
      <p:sp>
        <p:nvSpPr>
          <p:cNvPr id="4" name="t-381"/>
          <p:cNvSpPr txBox="1"/>
          <p:nvPr/>
        </p:nvSpPr>
        <p:spPr>
          <a:xfrm>
            <a:off x="795528" y="1243584"/>
            <a:ext cx="10607040" cy="4992624"/>
          </a:xfrm>
          <a:prstGeom prst="rect">
            <a:avLst/>
          </a:prstGeom>
          <a:noFill/>
          <a:ln/>
        </p:spPr>
        <p:txBody>
          <a:bodyPr wrap="square" lIns="0" tIns="0" rIns="0" bIns="0" rtlCol="0" anchor="t"/>
          <a:lstStyle/>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"""18.085 Lecture 8: the Hessian on the computer (slides 9 to 12)."""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import numpy as np</a:t>
            </a:r>
            <a:endParaRPr lang="en-US" sz="1100" dirty="0"/>
          </a:p>
          <a:p>
            <a:pPr algn="l" indent="0" marL="0">
              <a:lnSpc>
                <a:spcPct val="108000"/>
              </a:lnSpc>
              <a:buNone/>
            </a:pP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hessian_fd(f, x, h=1e-4):</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"""Hessian of f at x by central differences (error ~ h^2)."""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x = np.asarray(x, float); n = x.size</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H = np.zeros((n, n)); I = np.eye(n)</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for i in range(n):</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for j in range(i, n):</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ei, ej = h * I[i], h * I[j]                      # steps along x_i and x_j</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H[i, j] = (f(x + ei + ej) - f(x + ei - ej)</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f(x - ei + ej) + f(x - ei - ej)) / (4 * h * h)</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H[j, i] = H[i, j]                                # the Hessian is symmetric</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H</a:t>
            </a:r>
            <a:endParaRPr lang="en-US" sz="1100" dirty="0"/>
          </a:p>
          <a:p>
            <a:pPr algn="l" indent="0" marL="0">
              <a:lnSpc>
                <a:spcPct val="108000"/>
              </a:lnSpc>
              <a:buNone/>
            </a:pP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classify(H, rtol=1e-6):</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"""Read the kind of critical point off the eigenvalues of H."""</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lam = np.linalg.eigvalsh(H)                              # real, ascending; H must be symmetric</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tol = rtol * np.abs(lam).max()                           # a computed zero is zero only up to the error in H</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if lam.min() &gt; tol:  return "local minimum (positive definite)"</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if lam.max() &lt; -tol: return "local maximum (negative definite)"</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if lam.min() &lt; -tol and lam.max() &gt; tol: return "saddle (indefinite)"</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"no verdict (semi-definite)"</a:t>
            </a:r>
            <a:endParaRPr lang="en-US" sz="1100" dirty="0"/>
          </a:p>
        </p:txBody>
      </p:sp>
      <p:sp>
        <p:nvSpPr>
          <p:cNvPr id="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B: L08_hessian.py, Newton's method</a:t>
            </a:r>
            <a:endParaRPr lang="en-US" sz="2800" dirty="0"/>
          </a:p>
        </p:txBody>
      </p:sp>
      <p:sp>
        <p:nvSpPr>
          <p:cNvPr id="3" name="box-382"/>
          <p:cNvSpPr/>
          <p:nvPr/>
        </p:nvSpPr>
        <p:spPr>
          <a:xfrm>
            <a:off x="612648" y="1143000"/>
            <a:ext cx="10972800" cy="5184648"/>
          </a:xfrm>
          <a:prstGeom prst="roundRect">
            <a:avLst>
              <a:gd name="adj" fmla="val 529"/>
            </a:avLst>
          </a:prstGeom>
          <a:solidFill>
            <a:schemeClr val="bg2"/>
          </a:solidFill>
          <a:ln/>
        </p:spPr>
      </p:sp>
      <p:sp>
        <p:nvSpPr>
          <p:cNvPr id="4" name="t-383"/>
          <p:cNvSpPr txBox="1"/>
          <p:nvPr/>
        </p:nvSpPr>
        <p:spPr>
          <a:xfrm>
            <a:off x="795528" y="1243584"/>
            <a:ext cx="10607040" cy="4992624"/>
          </a:xfrm>
          <a:prstGeom prst="rect">
            <a:avLst/>
          </a:prstGeom>
          <a:noFill/>
          <a:ln/>
        </p:spPr>
        <p:txBody>
          <a:bodyPr wrap="square" lIns="0" tIns="0" rIns="0" bIns="0" rtlCol="0" anchor="t"/>
          <a:lstStyle/>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f    = lambda x: x[0]**3 - 3*x[0] + x[1]**2                  # Example 3.4 of the notes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grad = lambda x: np.array([3*x[0]**2 - 3, 2*x[1]])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hess = lambda x: np.array([[6*x[0], 0.0], [0.0, 2.0]])</a:t>
            </a:r>
            <a:endParaRPr lang="en-US" sz="1000" dirty="0"/>
          </a:p>
          <a:p>
            <a:pPr algn="l" indent="0" marL="0">
              <a:lnSpc>
                <a:spcPct val="108000"/>
              </a:lnSpc>
              <a:buNone/>
            </a:pP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def newton(x, steps=5):</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"""Newton's method: solve H s = -grad, then step."""</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path = [np.array(x, float)]</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for _ in range(steps):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s = np.linalg.solve(hess(path[-1]), -grad(path[-1]))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path.append(path[-1] + 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return np.array(path)</a:t>
            </a:r>
            <a:endParaRPr lang="en-US" sz="1000" dirty="0"/>
          </a:p>
          <a:p>
            <a:pPr algn="l" indent="0" marL="0">
              <a:lnSpc>
                <a:spcPct val="108000"/>
              </a:lnSpc>
              <a:buNone/>
            </a:pP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def newton_shifted(x, steps=8, floor=1.0):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"""Newton with H replaced by H + shift*I whenever H is not safely positive 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path = [np.array(x, float)]</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for _ in range(steps):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hess(path[-1])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shift = max(0.0, floor - np.linalg.eigvalsh(H)[0])   # lift the smallest eigenvalue to 'floor'</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s = np.linalg.solve(H + shift * np.eye(len(H)), -grad(path[-1]))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path.append(path[-1] + 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return np.array(path)</a:t>
            </a:r>
            <a:endParaRPr lang="en-US" sz="1000" dirty="0"/>
          </a:p>
          <a:p>
            <a:pPr algn="l" indent="0" marL="0">
              <a:lnSpc>
                <a:spcPct val="108000"/>
              </a:lnSpc>
              <a:buNone/>
            </a:pP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def descent(x, steps=200, alpha=0.1):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"""Gradient descent with a fixed step: no Hessian."""</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path = [np.array(x, float)]</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for _ in range(steps):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path.append(path[-1] - alpha * grad(path[-1]))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return np.array(path)</a:t>
            </a:r>
            <a:endParaRPr lang="en-US" sz="1000" dirty="0"/>
          </a:p>
        </p:txBody>
      </p:sp>
      <p:sp>
        <p:nvSpPr>
          <p:cNvPr id="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C: what the two scripts print</a:t>
            </a:r>
            <a:endParaRPr lang="en-US" sz="2800" dirty="0"/>
          </a:p>
        </p:txBody>
      </p:sp>
      <p:sp>
        <p:nvSpPr>
          <p:cNvPr id="3" name="box-384"/>
          <p:cNvSpPr/>
          <p:nvPr/>
        </p:nvSpPr>
        <p:spPr>
          <a:xfrm>
            <a:off x="612648" y="1143000"/>
            <a:ext cx="5257800" cy="5184648"/>
          </a:xfrm>
          <a:prstGeom prst="roundRect">
            <a:avLst>
              <a:gd name="adj" fmla="val 529"/>
            </a:avLst>
          </a:prstGeom>
          <a:solidFill>
            <a:schemeClr val="bg2"/>
          </a:solidFill>
          <a:ln/>
        </p:spPr>
      </p:sp>
      <p:sp>
        <p:nvSpPr>
          <p:cNvPr id="4" name="t-385"/>
          <p:cNvSpPr txBox="1"/>
          <p:nvPr/>
        </p:nvSpPr>
        <p:spPr>
          <a:xfrm>
            <a:off x="749808" y="1243584"/>
            <a:ext cx="5029200" cy="4992624"/>
          </a:xfrm>
          <a:prstGeom prst="rect">
            <a:avLst/>
          </a:prstGeom>
          <a:noFill/>
          <a:ln/>
        </p:spPr>
        <p:txBody>
          <a:bodyPr wrap="square" lIns="0" tIns="0" rIns="0" bIns="0" rtlCol="0" anchor="t"/>
          <a:lstStyle/>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finite-difference Hessian, largest error in any entry</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1e-1:  3.3e-03</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1e-2:  3.3e-05</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1e-3:  3.3e-07</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1e-4:  5.0e-09</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1e-5:  1.3e-06</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1e-6:  7.2e-05</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1e-7:  9.5e-03</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 = 1e-8:  3.3e-01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[1.0, 0.0] local minimum (positive 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[-1.0, 0.0] saddle (indefinite)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Newton from (2, 1): distance to the local minimum (1, 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k = 0:  x = (2.0000000000, 1.0)   error 1.4e+00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k = 1:  x = (1.2500000000, 0.0)   error 2.5e-01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k = 2:  x = (1.0250000000, 0.0)   error 2.5e-02</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k = 3:  x = (1.0003048780, 0.0)   error 3.0e-04</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k = 4:  x = (1.0000000465, 0.0)   error 4.6e-08</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k = 5:  x = (1.0000000000, 0.0)   error 1.1e-15</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first k with error &lt; 1e-8:  Newton 5   gradient descent, step 0.1: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83</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from (-0.5, 1): Newton ends at [-1.  0.]  descent ends at [1. 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shifted Newton ends at [1. 0.]  first k with error &lt; 1e-8: 5</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eigvalsh of the free-free matrix: [3.92505363e-17 1.00000000e+00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3.00000000e+00] -&gt; no verdict (semi-definite)</a:t>
            </a:r>
            <a:endParaRPr lang="en-US" sz="1000" dirty="0"/>
          </a:p>
        </p:txBody>
      </p:sp>
      <p:sp>
        <p:nvSpPr>
          <p:cNvPr id="5" name="box-386"/>
          <p:cNvSpPr/>
          <p:nvPr/>
        </p:nvSpPr>
        <p:spPr>
          <a:xfrm>
            <a:off x="6035040" y="1143000"/>
            <a:ext cx="5550408" cy="5184648"/>
          </a:xfrm>
          <a:prstGeom prst="roundRect">
            <a:avLst>
              <a:gd name="adj" fmla="val 529"/>
            </a:avLst>
          </a:prstGeom>
          <a:solidFill>
            <a:schemeClr val="bg2"/>
          </a:solidFill>
          <a:ln/>
        </p:spPr>
      </p:sp>
      <p:sp>
        <p:nvSpPr>
          <p:cNvPr id="6" name="t-387"/>
          <p:cNvSpPr txBox="1"/>
          <p:nvPr/>
        </p:nvSpPr>
        <p:spPr>
          <a:xfrm>
            <a:off x="6172200" y="1243584"/>
            <a:ext cx="5303520" cy="4992624"/>
          </a:xfrm>
          <a:prstGeom prst="rect">
            <a:avLst/>
          </a:prstGeom>
          <a:noFill/>
          <a:ln/>
        </p:spPr>
        <p:txBody>
          <a:bodyPr wrap="square" lIns="0" tIns="0" rIns="0" bIns="0" rtlCol="0" anchor="t"/>
          <a:lstStyle/>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oscillators: H = [[2, -1, 0], [-1, 3, -1], [0, -1, 2]]  eigenvalues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[1. 2. 4.]</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frequencies [1.     1.4142 2.    ]  zero-point energy 2.2071 hbar</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lens: powers [2. 4.] D, line foci [0.5  0.25] m, circle 0.3333 m</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+2.00 / +2.00 x 135 gives F: True   +4.00 / -2.00 x 45 gives F:</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True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Paul trap: bounded for q below 0.908 ;  q = 0.4: largest |u| = 1.54 ;</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static saddle at tau = 3: 7.35</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column: critical load 0.382 k/L</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PL/k = 0.2: eigenvalues [0.18 2.42] local minimum (positive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PL/k = 0.6: eigenvalues [-0.22  2.02] saddle (indefinite)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buckled state at PL/k = 0.6 (degrees): [65.1 99.1] local minimum</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(positive 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fit: intercept 1.04 +- 0.15, slope 1.99 +- 0.06</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eigenvalues of the Hessian 2 A^T A: [ 2.98 67.02]  ratio 22</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H2   4401.21 cm^-1  -&gt;  k =    575 N/m</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HCl  2990.95 cm^-1  -&gt;  k =    516 N/m</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CO   2169.81 cm^-1  -&gt;  k =   1902 N/m</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N2   2358.57 cm^-1  -&gt;  k =   2295 N/m</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surface at [1, 0] : eigenvalues [2. 8.] local minimum (positive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surface at [-1, 0] : eigenvalues [2. 8.] local minimum (positive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surface at [0, 0] : eigenvalues [-4.  2.] saddle (indefinite)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three atoms: Hessian eigenvalues [  0.     0.     0.     0.     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0.    85.72  85.72 171.44] no verdict (semi-definite)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largest computed 'zero': 6.8e-06   pair stiffness 57.15   1.5 k and</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3 k: 85.72 171.44</a:t>
            </a:r>
            <a:endParaRPr lang="en-US" sz="1000" dirty="0"/>
          </a:p>
        </p:txBody>
      </p:sp>
      <p:sp>
        <p:nvSpPr>
          <p:cNvPr id="7"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D: L08_applications.py, modes and lens</a:t>
            </a:r>
            <a:endParaRPr lang="en-US" sz="2800" dirty="0"/>
          </a:p>
        </p:txBody>
      </p:sp>
      <p:sp>
        <p:nvSpPr>
          <p:cNvPr id="3" name="box-388"/>
          <p:cNvSpPr/>
          <p:nvPr/>
        </p:nvSpPr>
        <p:spPr>
          <a:xfrm>
            <a:off x="612648" y="1143000"/>
            <a:ext cx="10972800" cy="5184648"/>
          </a:xfrm>
          <a:prstGeom prst="roundRect">
            <a:avLst>
              <a:gd name="adj" fmla="val 529"/>
            </a:avLst>
          </a:prstGeom>
          <a:solidFill>
            <a:schemeClr val="bg2"/>
          </a:solidFill>
          <a:ln/>
        </p:spPr>
      </p:sp>
      <p:sp>
        <p:nvSpPr>
          <p:cNvPr id="4" name="t-389"/>
          <p:cNvSpPr txBox="1"/>
          <p:nvPr/>
        </p:nvSpPr>
        <p:spPr>
          <a:xfrm>
            <a:off x="795528" y="1243584"/>
            <a:ext cx="10607040" cy="4992624"/>
          </a:xfrm>
          <a:prstGeom prst="rect">
            <a:avLst/>
          </a:prstGeom>
          <a:noFill/>
          <a:ln/>
        </p:spPr>
        <p:txBody>
          <a:bodyPr wrap="square" lIns="0" tIns="0" rIns="0" bIns="0" rtlCol="0" anchor="t"/>
          <a:lstStyle/>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"""18.085 Lecture 8: where the Hessian is used (slides 14 to 21)."""</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import numpy as np</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from L08_hessian import hessian_fd, classify</a:t>
            </a:r>
            <a:endParaRPr lang="en-US" sz="1100" dirty="0"/>
          </a:p>
          <a:p>
            <a:pPr algn="l" indent="0" marL="0">
              <a:lnSpc>
                <a:spcPct val="108000"/>
              </a:lnSpc>
              <a:buNone/>
            </a:pP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physics: three coupled oscillators (Example 3.5 of the notes) -------------------</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V = lambda x: 0.5 * (x[0]**2 + x[1]**2 + x[2]**2 + (x[0] - x[1])**2 + (x[1] - x[2])**2)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H = hessian_fd(V, np.zeros(3))                               # [[2,-1,0],[-1,3,-1],[0,-1,2]]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lam, Q = np.linalg.eigh(H)                                   # eigenvalues 1, 2, 4</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omega = np.sqrt(lam)                                         # frequencies 1, sqrt(2), 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E0 = 0.5 * omega.sum()                                       # zero-point energy in units of hbar</a:t>
            </a:r>
            <a:endParaRPr lang="en-US" sz="1100" dirty="0"/>
          </a:p>
          <a:p>
            <a:pPr algn="l" indent="0" marL="0">
              <a:lnSpc>
                <a:spcPct val="108000"/>
              </a:lnSpc>
              <a:buNone/>
            </a:pP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optics: an astigmatic lens, power matrix in dioptres -----------------------------</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F = np.array([[3.0, 1.0], [1.0, 3.0]])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powers, axes = np.linalg.eigh(F)                             # 2 D along (1,-1), 4 D along (1,1)</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focal_lines = 1.0 / powers                                   # 0.50 m and 0.25 m</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z_circle = 2.0 / powers.sum()                                # circle of least confusion, 1/3 m</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prescription(S, C, axis_deg):</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"""Power matrix of a lens written as sphere S, cylinder C, axis in degrees."""</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a = np.deg2rad(axis_deg); n = np.array([-np.sin(a), np.cos(a)])   # unit vector across the axis</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S * np.eye(2) + C * np.outer(n, n)</a:t>
            </a:r>
            <a:endParaRPr lang="en-US" sz="1100" dirty="0"/>
          </a:p>
        </p:txBody>
      </p:sp>
      <p:sp>
        <p:nvSpPr>
          <p:cNvPr id="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E: L08_applications.py, the Paul trap</a:t>
            </a:r>
            <a:endParaRPr lang="en-US" sz="2800" dirty="0"/>
          </a:p>
        </p:txBody>
      </p:sp>
      <p:sp>
        <p:nvSpPr>
          <p:cNvPr id="3" name="box-390"/>
          <p:cNvSpPr/>
          <p:nvPr/>
        </p:nvSpPr>
        <p:spPr>
          <a:xfrm>
            <a:off x="612648" y="1143000"/>
            <a:ext cx="10972800" cy="5184648"/>
          </a:xfrm>
          <a:prstGeom prst="roundRect">
            <a:avLst>
              <a:gd name="adj" fmla="val 529"/>
            </a:avLst>
          </a:prstGeom>
          <a:solidFill>
            <a:schemeClr val="bg2"/>
          </a:solidFill>
          <a:ln/>
        </p:spPr>
      </p:sp>
      <p:sp>
        <p:nvSpPr>
          <p:cNvPr id="4" name="t-391"/>
          <p:cNvSpPr txBox="1"/>
          <p:nvPr/>
        </p:nvSpPr>
        <p:spPr>
          <a:xfrm>
            <a:off x="795528" y="1243584"/>
            <a:ext cx="10607040" cy="4992624"/>
          </a:xfrm>
          <a:prstGeom prst="rect">
            <a:avLst/>
          </a:prstGeom>
          <a:noFill/>
          <a:ln/>
        </p:spPr>
        <p:txBody>
          <a:bodyPr wrap="square" lIns="0" tIns="0" rIns="0" bIns="0" rtlCol="0" anchor="t"/>
          <a:lstStyle/>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physics: a charge in an oscillating saddle (Paul trap) --------------------------</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rk4(rhs, y, t0, t1, n):</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"""Classical Runge-Kutta from t0 to t1 in n steps; returns every y on the way."""</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out = [np.array(y, float)]; dt = (t1 - t0) / n; t = t0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for _ in range(n):</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y = out[-1]</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k1 = rhs(t, y); k2 = rhs(t + dt/2, y + dt/2*k1)</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k3 = rhs(t + dt/2, y + dt/2*k2); k4 = rhs(t + dt, y + dt*k3)</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out.append(y + dt/6 * (k1 + 2*k2 + 2*k3 + k4)); t += dt</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np.array(out)</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trap_path(q, static=False, T=60.0, n=6000):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"""u(tau) for u'' = 2 q cos(2 tau) u from u = 1, u' = 0.  static=True freezes the saddle (cos -&gt; 1)."""</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rhs = lambda t, y: np.array([y[1], 2 * q * (1.0 if static else np.cos(2 * t)) * y[0]])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rk4(rhs, [1.0, 0.0], 0.0, T, n)[:, 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mathieu_trace(q, n=1000):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"""Trace of the one-period map of the trap equation.  |trace| &lt; 2 means bounded motion."""</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rhs = lambda t, y: np.array([y[1], 2 * q * np.cos(2 * t) * y[0]])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sum(rk4(rhs, np.eye(2)[c], 0.0, np.pi, n)[-1, c] for c in range(2))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q_limit():</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lo, hi = 0.5, 1.2                                        # bisection on |trace| = 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for _ in range(40):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mid = 0.5 * (lo + hi)</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lo, hi = (mid, hi) if abs(mathieu_trace(mid)) &lt; 2 else (lo, mid)</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0.5 * (lo + hi)</a:t>
            </a:r>
            <a:endParaRPr lang="en-US" sz="1100" dirty="0"/>
          </a:p>
        </p:txBody>
      </p:sp>
      <p:sp>
        <p:nvSpPr>
          <p:cNvPr id="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F: L08_applications.py, engineering</a:t>
            </a:r>
            <a:endParaRPr lang="en-US" sz="2800" dirty="0"/>
          </a:p>
        </p:txBody>
      </p:sp>
      <p:sp>
        <p:nvSpPr>
          <p:cNvPr id="3" name="box-392"/>
          <p:cNvSpPr/>
          <p:nvPr/>
        </p:nvSpPr>
        <p:spPr>
          <a:xfrm>
            <a:off x="612648" y="1143000"/>
            <a:ext cx="10972800" cy="5184648"/>
          </a:xfrm>
          <a:prstGeom prst="roundRect">
            <a:avLst>
              <a:gd name="adj" fmla="val 529"/>
            </a:avLst>
          </a:prstGeom>
          <a:solidFill>
            <a:schemeClr val="bg2"/>
          </a:solidFill>
          <a:ln/>
        </p:spPr>
      </p:sp>
      <p:sp>
        <p:nvSpPr>
          <p:cNvPr id="4" name="t-393"/>
          <p:cNvSpPr txBox="1"/>
          <p:nvPr/>
        </p:nvSpPr>
        <p:spPr>
          <a:xfrm>
            <a:off x="795528" y="1243584"/>
            <a:ext cx="10607040" cy="4992624"/>
          </a:xfrm>
          <a:prstGeom prst="rect">
            <a:avLst/>
          </a:prstGeom>
          <a:noFill/>
          <a:ln/>
        </p:spPr>
        <p:txBody>
          <a:bodyPr wrap="square" lIns="0" tIns="0" rIns="0" bIns="0" rtlCol="0" anchor="t"/>
          <a:lstStyle/>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 engineering: a two-link column under load P (k = L = 1) -------------------------</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T2 = np.array([[2.0, -1.0], [-1.0, 1.0]])                    # fixed-free second difference matrix</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P_cr = np.linalg.eigvalsh(T2).min()                          # Hessian k*T2 - P*L*I loses definiteness here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Pi = lambda th, p: 0.5*th[0]**2 + 0.5*(th[1]-th[0])**2 - p*(2 - np.cos(th[0]) - np.cos(th[1]))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def buckled(p, th=(0.8, 1.3)):</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"""A buckled equilibrium for p = PL/k above the critical load, by Newton's method."""</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th = np.array(th); g = lambda t: np.array([t[0] + (t[0]-t[1]) - p*np.sin(t[0]), (t[1]-t[0]) - p*np.sin(t[1])])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for _ in range(30):</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th = th - np.linalg.solve(hessian_fd(lambda t: Pi(t, p), th), g(th))</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return th</a:t>
            </a:r>
            <a:endParaRPr lang="en-US" sz="1000" dirty="0"/>
          </a:p>
          <a:p>
            <a:pPr algn="l" indent="0" marL="0">
              <a:lnSpc>
                <a:spcPct val="108000"/>
              </a:lnSpc>
              <a:buNone/>
            </a:pP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 --- engineering: fitting a line, error bars from the Hessian ------------------------</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t = np.arange(5.0); y = np.array([1.1, 2.9, 5.2, 6.8, 9.1])</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A = np.column_stack([np.ones(5), t])                         # misfit S = |y - A c|^2, Hessian 2 A^T A</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c = np.linalg.solve(A.T @ A, A.T @ y)                        # best intercept and slope</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s2 = np.sum((y - A @ c)**2) / (5 - 2)                        # noise variance from the residuals</a:t>
            </a:r>
            <a:endParaRPr lang="en-US" sz="1000" dirty="0"/>
          </a:p>
          <a:p>
            <a:pPr algn="l" indent="0" marL="0">
              <a:lnSpc>
                <a:spcPct val="108000"/>
              </a:lnSpc>
              <a:buNone/>
            </a:pPr>
            <a:r>
              <a:rPr lang="en-US" sz="1000" dirty="0">
                <a:solidFill>
                  <a:schemeClr val="tx1"/>
                </a:solidFill>
                <a:latin typeface="DejaVu Sans Mono" pitchFamily="34" charset="0"/>
                <a:ea typeface="DejaVu Sans Mono" pitchFamily="34" charset="-122"/>
                <a:cs typeface="DejaVu Sans Mono" pitchFamily="34" charset="-120"/>
              </a:rPr>
              <a:t>cov = s2 * np.linalg.inv(A.T @ A)                            # covariance = 2 s2 * (Hessian)^-1</a:t>
            </a:r>
            <a:endParaRPr lang="en-US" sz="1000" dirty="0"/>
          </a:p>
        </p:txBody>
      </p:sp>
      <p:sp>
        <p:nvSpPr>
          <p:cNvPr id="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612648" y="402336"/>
            <a:ext cx="10972800" cy="566928"/>
          </a:xfrm>
          <a:prstGeom prst="rect">
            <a:avLst/>
          </a:prstGeom>
          <a:noFill/>
          <a:ln/>
        </p:spPr>
        <p:txBody>
          <a:bodyPr wrap="square" lIns="0" tIns="0" rIns="0" bIns="0" rtlCol="0" anchor="ctr"/>
          <a:lstStyle/>
          <a:p>
            <a:pPr algn="l" indent="0" marL="0">
              <a:buNone/>
            </a:pPr>
            <a:r>
              <a:rPr lang="en-US" sz="2800" b="1" dirty="0">
                <a:solidFill>
                  <a:schemeClr val="tx1"/>
                </a:solidFill>
              </a:rPr>
              <a:t>Appendix G: L08_applications.py, chemistry</a:t>
            </a:r>
            <a:endParaRPr lang="en-US" sz="2800" dirty="0"/>
          </a:p>
        </p:txBody>
      </p:sp>
      <p:sp>
        <p:nvSpPr>
          <p:cNvPr id="3" name="box-394"/>
          <p:cNvSpPr/>
          <p:nvPr/>
        </p:nvSpPr>
        <p:spPr>
          <a:xfrm>
            <a:off x="612648" y="1143000"/>
            <a:ext cx="10972800" cy="5184648"/>
          </a:xfrm>
          <a:prstGeom prst="roundRect">
            <a:avLst>
              <a:gd name="adj" fmla="val 529"/>
            </a:avLst>
          </a:prstGeom>
          <a:solidFill>
            <a:schemeClr val="bg2"/>
          </a:solidFill>
          <a:ln/>
        </p:spPr>
      </p:sp>
      <p:sp>
        <p:nvSpPr>
          <p:cNvPr id="4" name="t-395"/>
          <p:cNvSpPr txBox="1"/>
          <p:nvPr/>
        </p:nvSpPr>
        <p:spPr>
          <a:xfrm>
            <a:off x="795528" y="1243584"/>
            <a:ext cx="10607040" cy="4992624"/>
          </a:xfrm>
          <a:prstGeom prst="rect">
            <a:avLst/>
          </a:prstGeom>
          <a:noFill/>
          <a:ln/>
        </p:spPr>
        <p:txBody>
          <a:bodyPr wrap="square" lIns="0" tIns="0" rIns="0" bIns="0" rtlCol="0" anchor="t"/>
          <a:lstStyle/>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chemistry: bond stiffness k = V''(r_e) from the vibration wavenumber ------------</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u, c_cm = 1.66053907e-27, 2.99792458e10                      # atomic mass unit (kg), speed of light (cm/s)</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bonds = {"H2": (4401.21, 1.00783, 1.00783), "HCl": (2990.95, 1.00783, 34.96885),</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"CO": (2169.81, 12.0, 15.99491),   "N2":  (2358.57, 14.00307, 14.00307)}</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stiffness(nu, m1, m2):</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mu = m1 * m2 / (m1 + m2) * u                             # reduced mass</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mu * (2 * np.pi * c_cm * nu)**2                   # k = mu * omega^2, in N/m</a:t>
            </a:r>
            <a:endParaRPr lang="en-US" sz="1100" dirty="0"/>
          </a:p>
          <a:p>
            <a:pPr algn="l" indent="0" marL="0">
              <a:lnSpc>
                <a:spcPct val="108000"/>
              </a:lnSpc>
              <a:buNone/>
            </a:pP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chemistry: a model energy surface with two wells --------------------------------</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surface = lambda x: (x[0]**2 - 1)**2 + x[1]**2</a:t>
            </a:r>
            <a:endParaRPr lang="en-US" sz="1100" dirty="0"/>
          </a:p>
          <a:p>
            <a:pPr algn="l" indent="0" marL="0">
              <a:lnSpc>
                <a:spcPct val="108000"/>
              </a:lnSpc>
              <a:buNone/>
            </a:pP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 chemistry: three atoms, nine coordinates (Lennard-Jones, eps = sigma = m = 1) ---</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def lj(X):</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P = X.reshape(3, 3); e = 0.0</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for i in range(3):</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for j in range(i + 1, 3):</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 = np.linalg.norm(P[i] - P[j]); e += 4 * (r**-12 - r**-6)</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    return e</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r0 = 2**(1/6)                                                # bond length at the minimum</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k_pair = 36 * 2**(2/3)                                       # stiffness of one pair there, 57.15</a:t>
            </a:r>
            <a:endParaRPr lang="en-US" sz="1100" dirty="0"/>
          </a:p>
          <a:p>
            <a:pPr algn="l" indent="0" marL="0">
              <a:lnSpc>
                <a:spcPct val="108000"/>
              </a:lnSpc>
              <a:buNone/>
            </a:pPr>
            <a:r>
              <a:rPr lang="en-US" sz="1100" dirty="0">
                <a:solidFill>
                  <a:schemeClr val="tx1"/>
                </a:solidFill>
                <a:latin typeface="DejaVu Sans Mono" pitchFamily="34" charset="0"/>
                <a:ea typeface="DejaVu Sans Mono" pitchFamily="34" charset="-122"/>
                <a:cs typeface="DejaVu Sans Mono" pitchFamily="34" charset="-120"/>
              </a:rPr>
              <a:t>tri = np.array([[0, 0, 0], [r0, 0, 0], [r0/2, r0*np.sqrt(3)/2, 0]]).ravel()</a:t>
            </a:r>
            <a:endParaRPr lang="en-US" sz="1100" dirty="0"/>
          </a:p>
        </p:txBody>
      </p:sp>
      <p:sp>
        <p:nvSpPr>
          <p:cNvPr id="5" name="Slide Number Placeholder 0"/>
          <p:cNvSpPr>
            <a:spLocks noGrp="1"/>
          </p:cNvSpPr>
          <p:nvPr>
            <p:ph type="sldNum" sz="quarter" idx="4294967295"/>
          </p:nvPr>
        </p:nvSpPr>
        <p:spPr>
          <a:xfrm>
            <a:off x="10853928" y="646480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18.085 Fall 2026">
  <a:themeElements>
    <a:clrScheme name="18.085 Fall 2026">
      <a:dk1>
        <a:srgbClr val="152D42"/>
      </a:dk1>
      <a:lt1>
        <a:srgbClr val="FFFFFF"/>
      </a:lt1>
      <a:dk2>
        <a:srgbClr val="506476"/>
      </a:dk2>
      <a:lt2>
        <a:srgbClr val="F5F7F9"/>
      </a:lt2>
      <a:accent1>
        <a:srgbClr val="A31F34"/>
      </a:accent1>
      <a:accent2>
        <a:srgbClr val="EAF0F5"/>
      </a:accent2>
      <a:accent3>
        <a:srgbClr val="F8ECEE"/>
      </a:accent3>
      <a:accent4>
        <a:srgbClr val="B8C4D0"/>
      </a:accent4>
      <a:accent5>
        <a:srgbClr val="2F6690"/>
      </a:accent5>
      <a:accent6>
        <a:srgbClr val="8A99A8"/>
      </a:accent6>
      <a:hlink>
        <a:srgbClr val="A31F34"/>
      </a:hlink>
      <a:folHlink>
        <a:srgbClr val="506476"/>
      </a:folHlink>
    </a:clrScheme>
    <a:fontScheme name="18.085 Fall 2026">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18.085 Lecture 8: Positive definite matrices and the Hessian</dc:title>
  <dc:subject>Computational Science and Engineering I, Fall 2026</dc:subject>
  <dc:creator>18.085 staff</dc:creator>
  <cp:lastModifiedBy>18.085 staff</cp:lastModifiedBy>
  <cp:revision>1</cp:revision>
  <dcterms:created xsi:type="dcterms:W3CDTF">2026-10-05T03:44:15Z</dcterms:created>
  <dcterms:modified xsi:type="dcterms:W3CDTF">2026-10-05T03:44:15Z</dcterms:modified>
</cp:coreProperties>
</file>