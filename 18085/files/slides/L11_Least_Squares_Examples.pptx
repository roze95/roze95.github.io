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8.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5.xml" ContentType="application/vnd.openxmlformats-officedocument.drawingml.chart+xml"/>
  <Override PartName="/ppt/notesSlides/notesSlide21.xml" ContentType="application/vnd.openxmlformats-officedocument.presentationml.notesSlide+xml"/>
  <Override PartName="/ppt/charts/chart16.xml" ContentType="application/vnd.openxmlformats-officedocument.drawingml.chart+xml"/>
  <Override PartName="/ppt/notesSlides/notesSlide22.xml" ContentType="application/vnd.openxmlformats-officedocument.presentationml.notesSlide+xml"/>
  <Override PartName="/ppt/charts/chart17.xml" ContentType="application/vnd.openxmlformats-officedocument.drawingml.chart+xml"/>
  <Override PartName="/ppt/notesSlides/notesSlide23.xml" ContentType="application/vnd.openxmlformats-officedocument.presentationml.notesSlide+xml"/>
  <Override PartName="/ppt/charts/chart18.xml" ContentType="application/vnd.openxmlformats-officedocument.drawingml.chart+xml"/>
  <Override PartName="/ppt/notesSlides/notesSlide24.xml" ContentType="application/vnd.openxmlformats-officedocument.presentationml.notesSlide+xml"/>
  <Override PartName="/ppt/charts/chart19.xml" ContentType="application/vnd.openxmlformats-officedocument.drawingml.chart+xml"/>
  <Override PartName="/ppt/notesSlides/notesSlide25.xml" ContentType="application/vnd.openxmlformats-officedocument.presentationml.notesSlide+xml"/>
  <Override PartName="/ppt/charts/chart20.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91"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102055-E2CA-4AB0-8539-BF5033CE6D16}">
          <p14:sldIdLst>
            <p14:sldId id="256"/>
            <p14:sldId id="257"/>
          </p14:sldIdLst>
        </p14:section>
        <p14:section name="Five points by hand" id="{5D436505-EED3-40CE-AC38-AEF3436DF2BE}">
          <p14:sldIdLst>
            <p14:sldId id="258"/>
            <p14:sldId id="259"/>
            <p14:sldId id="260"/>
            <p14:sldId id="261"/>
            <p14:sldId id="262"/>
            <p14:sldId id="263"/>
            <p14:sldId id="264"/>
            <p14:sldId id="265"/>
            <p14:sldId id="266"/>
          </p14:sldIdLst>
        </p14:section>
        <p14:section name="On the computer" id="{4484302D-FF73-4A53-8A6C-681712069B52}">
          <p14:sldIdLst>
            <p14:sldId id="267"/>
            <p14:sldId id="268"/>
          </p14:sldIdLst>
        </p14:section>
        <p14:section name="Four experiments" id="{D4DB8FB1-264A-49E5-A6DD-45B4561C8972}">
          <p14:sldIdLst>
            <p14:sldId id="269"/>
            <p14:sldId id="270"/>
            <p14:sldId id="271"/>
            <p14:sldId id="272"/>
            <p14:sldId id="273"/>
          </p14:sldIdLst>
        </p14:section>
        <p14:section name="Six fits from the lab" id="{C7C50EB3-20AE-4C1B-AB06-114AD1CBE4CB}">
          <p14:sldIdLst>
            <p14:sldId id="274"/>
            <p14:sldId id="275"/>
            <p14:sldId id="276"/>
            <p14:sldId id="277"/>
            <p14:sldId id="291"/>
            <p14:sldId id="278"/>
            <p14:sldId id="279"/>
            <p14:sldId id="280"/>
          </p14:sldIdLst>
        </p14:section>
        <p14:section name="Wrap-up" id="{983FF9F4-F344-4DE8-8547-AE7CDE447AE8}">
          <p14:sldIdLst>
            <p14:sldId id="281"/>
            <p14:sldId id="282"/>
          </p14:sldIdLst>
        </p14:section>
        <p14:section name="Python appendix" id="{F33151A3-F599-4013-85EA-66BAEEBED66F}">
          <p14:sldIdLst>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2"/>
    <p:restoredTop sz="94610"/>
  </p:normalViewPr>
  <p:slideViewPr>
    <p:cSldViewPr snapToGrid="0" snapToObjects="1">
      <p:cViewPr varScale="1">
        <p:scale>
          <a:sx n="149" d="100"/>
          <a:sy n="149" d="100"/>
        </p:scale>
        <p:origin x="19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E0B4-DC43-876B-926B071C6BE6}"/>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79BD-4541-8F07-02881F8A35C4}"/>
            </c:ext>
          </c:extLst>
        </c:ser>
        <c:ser>
          <c:idx val="1"/>
          <c:order val="1"/>
          <c:tx>
            <c:strRef>
              <c:f>Sheet1!$B$8</c:f>
              <c:strCache>
                <c:ptCount val="1"/>
                <c:pt idx="0">
                  <c:v>guess y = 2x + 1</c:v>
                </c:pt>
              </c:strCache>
            </c:strRef>
          </c:tx>
          <c:spPr>
            <a:ln w="28575">
              <a:solidFill>
                <a:srgbClr val="506476"/>
              </a:solidFill>
              <a:prstDash val="dash"/>
            </a:ln>
          </c:spPr>
          <c:marker>
            <c:symbol val="none"/>
          </c:marker>
          <c:xVal>
            <c:numRef>
              <c:f>Sheet1!$A$9:$A$10</c:f>
              <c:numCache>
                <c:formatCode>General</c:formatCode>
                <c:ptCount val="2"/>
                <c:pt idx="0">
                  <c:v>0</c:v>
                </c:pt>
                <c:pt idx="1">
                  <c:v>8</c:v>
                </c:pt>
              </c:numCache>
            </c:numRef>
          </c:xVal>
          <c:yVal>
            <c:numRef>
              <c:f>Sheet1!$B$9:$B$10</c:f>
              <c:numCache>
                <c:formatCode>General</c:formatCode>
                <c:ptCount val="2"/>
                <c:pt idx="0">
                  <c:v>1</c:v>
                </c:pt>
                <c:pt idx="1">
                  <c:v>17</c:v>
                </c:pt>
              </c:numCache>
            </c:numRef>
          </c:yVal>
          <c:smooth val="0"/>
          <c:extLst>
            <c:ext xmlns:c16="http://schemas.microsoft.com/office/drawing/2014/chart" uri="{C3380CC4-5D6E-409C-BE32-E72D297353CC}">
              <c16:uniqueId val="{00000001-79BD-4541-8F07-02881F8A35C4}"/>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FFE5-C645-BF9E-4D9E7FD02B9D}"/>
            </c:ext>
          </c:extLst>
        </c:ser>
        <c:ser>
          <c:idx val="1"/>
          <c:order val="1"/>
          <c:tx>
            <c:strRef>
              <c:f>Sheet1!$B$8</c:f>
              <c:strCache>
                <c:ptCount val="1"/>
                <c:pt idx="0">
                  <c:v>guess y = 2x + 1</c:v>
                </c:pt>
              </c:strCache>
            </c:strRef>
          </c:tx>
          <c:spPr>
            <a:ln w="28575">
              <a:solidFill>
                <a:srgbClr val="506476"/>
              </a:solidFill>
              <a:prstDash val="dash"/>
            </a:ln>
          </c:spPr>
          <c:marker>
            <c:symbol val="none"/>
          </c:marker>
          <c:xVal>
            <c:numRef>
              <c:f>Sheet1!$A$9:$A$10</c:f>
              <c:numCache>
                <c:formatCode>General</c:formatCode>
                <c:ptCount val="2"/>
                <c:pt idx="0">
                  <c:v>0</c:v>
                </c:pt>
                <c:pt idx="1">
                  <c:v>8</c:v>
                </c:pt>
              </c:numCache>
            </c:numRef>
          </c:xVal>
          <c:yVal>
            <c:numRef>
              <c:f>Sheet1!$B$9:$B$10</c:f>
              <c:numCache>
                <c:formatCode>General</c:formatCode>
                <c:ptCount val="2"/>
                <c:pt idx="0">
                  <c:v>1</c:v>
                </c:pt>
                <c:pt idx="1">
                  <c:v>17</c:v>
                </c:pt>
              </c:numCache>
            </c:numRef>
          </c:yVal>
          <c:smooth val="0"/>
          <c:extLst>
            <c:ext xmlns:c16="http://schemas.microsoft.com/office/drawing/2014/chart" uri="{C3380CC4-5D6E-409C-BE32-E72D297353CC}">
              <c16:uniqueId val="{00000001-FFE5-C645-BF9E-4D9E7FD02B9D}"/>
            </c:ext>
          </c:extLst>
        </c:ser>
        <c:ser>
          <c:idx val="2"/>
          <c:order val="2"/>
          <c:tx>
            <c:strRef>
              <c:f>Sheet1!$B$12</c:f>
              <c:strCache>
                <c:ptCount val="1"/>
                <c:pt idx="0">
                  <c:v>errors of the guess</c:v>
                </c:pt>
              </c:strCache>
            </c:strRef>
          </c:tx>
          <c:spPr>
            <a:ln w="22225">
              <a:solidFill>
                <a:srgbClr val="A31F34"/>
              </a:solidFill>
            </a:ln>
          </c:spPr>
          <c:marker>
            <c:symbol val="none"/>
          </c:marker>
          <c:xVal>
            <c:numRef>
              <c:f>Sheet1!$A$13:$A$14</c:f>
              <c:numCache>
                <c:formatCode>General</c:formatCode>
                <c:ptCount val="2"/>
                <c:pt idx="0">
                  <c:v>5</c:v>
                </c:pt>
                <c:pt idx="1">
                  <c:v>5</c:v>
                </c:pt>
              </c:numCache>
            </c:numRef>
          </c:xVal>
          <c:yVal>
            <c:numRef>
              <c:f>Sheet1!$B$13:$B$14</c:f>
              <c:numCache>
                <c:formatCode>General</c:formatCode>
                <c:ptCount val="2"/>
                <c:pt idx="0">
                  <c:v>16</c:v>
                </c:pt>
                <c:pt idx="1">
                  <c:v>11</c:v>
                </c:pt>
              </c:numCache>
            </c:numRef>
          </c:yVal>
          <c:smooth val="0"/>
          <c:extLst>
            <c:ext xmlns:c16="http://schemas.microsoft.com/office/drawing/2014/chart" uri="{C3380CC4-5D6E-409C-BE32-E72D297353CC}">
              <c16:uniqueId val="{00000002-FFE5-C645-BF9E-4D9E7FD02B9D}"/>
            </c:ext>
          </c:extLst>
        </c:ser>
        <c:ser>
          <c:idx val="3"/>
          <c:order val="3"/>
          <c:tx>
            <c:strRef>
              <c:f>Sheet1!$B$16</c:f>
              <c:strCache>
                <c:ptCount val="1"/>
                <c:pt idx="0">
                  <c:v>errors of the guess 1</c:v>
                </c:pt>
              </c:strCache>
            </c:strRef>
          </c:tx>
          <c:spPr>
            <a:ln w="22225">
              <a:solidFill>
                <a:srgbClr val="A31F34"/>
              </a:solidFill>
            </a:ln>
          </c:spPr>
          <c:marker>
            <c:symbol val="none"/>
          </c:marker>
          <c:xVal>
            <c:numRef>
              <c:f>Sheet1!$A$17:$A$18</c:f>
              <c:numCache>
                <c:formatCode>General</c:formatCode>
                <c:ptCount val="2"/>
                <c:pt idx="0">
                  <c:v>7</c:v>
                </c:pt>
                <c:pt idx="1">
                  <c:v>7</c:v>
                </c:pt>
              </c:numCache>
            </c:numRef>
          </c:xVal>
          <c:yVal>
            <c:numRef>
              <c:f>Sheet1!$B$17:$B$18</c:f>
              <c:numCache>
                <c:formatCode>General</c:formatCode>
                <c:ptCount val="2"/>
                <c:pt idx="0">
                  <c:v>20</c:v>
                </c:pt>
                <c:pt idx="1">
                  <c:v>15</c:v>
                </c:pt>
              </c:numCache>
            </c:numRef>
          </c:yVal>
          <c:smooth val="0"/>
          <c:extLst>
            <c:ext xmlns:c16="http://schemas.microsoft.com/office/drawing/2014/chart" uri="{C3380CC4-5D6E-409C-BE32-E72D297353CC}">
              <c16:uniqueId val="{00000003-FFE5-C645-BF9E-4D9E7FD02B9D}"/>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legend>
      <c:legendPos val="b"/>
      <c:legendEntry>
        <c:idx val="3"/>
        <c:delete val="1"/>
      </c:legendEntry>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F200-8149-9AE5-D77B870E6929}"/>
            </c:ext>
          </c:extLst>
        </c:ser>
        <c:ser>
          <c:idx val="1"/>
          <c:order val="1"/>
          <c:tx>
            <c:strRef>
              <c:f>Sheet1!$B$8</c:f>
              <c:strCache>
                <c:ptCount val="1"/>
                <c:pt idx="0">
                  <c:v>guess y = 2x + 1</c:v>
                </c:pt>
              </c:strCache>
            </c:strRef>
          </c:tx>
          <c:spPr>
            <a:ln w="28575">
              <a:solidFill>
                <a:srgbClr val="506476"/>
              </a:solidFill>
              <a:prstDash val="dash"/>
            </a:ln>
          </c:spPr>
          <c:marker>
            <c:symbol val="none"/>
          </c:marker>
          <c:xVal>
            <c:numRef>
              <c:f>Sheet1!$A$9:$A$10</c:f>
              <c:numCache>
                <c:formatCode>General</c:formatCode>
                <c:ptCount val="2"/>
                <c:pt idx="0">
                  <c:v>0</c:v>
                </c:pt>
                <c:pt idx="1">
                  <c:v>8</c:v>
                </c:pt>
              </c:numCache>
            </c:numRef>
          </c:xVal>
          <c:yVal>
            <c:numRef>
              <c:f>Sheet1!$B$9:$B$10</c:f>
              <c:numCache>
                <c:formatCode>General</c:formatCode>
                <c:ptCount val="2"/>
                <c:pt idx="0">
                  <c:v>1</c:v>
                </c:pt>
                <c:pt idx="1">
                  <c:v>17</c:v>
                </c:pt>
              </c:numCache>
            </c:numRef>
          </c:yVal>
          <c:smooth val="0"/>
          <c:extLst>
            <c:ext xmlns:c16="http://schemas.microsoft.com/office/drawing/2014/chart" uri="{C3380CC4-5D6E-409C-BE32-E72D297353CC}">
              <c16:uniqueId val="{00000001-F200-8149-9AE5-D77B870E6929}"/>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3CA8-3F45-B824-81D554783CD0}"/>
            </c:ext>
          </c:extLst>
        </c:ser>
        <c:ser>
          <c:idx val="1"/>
          <c:order val="1"/>
          <c:tx>
            <c:strRef>
              <c:f>Sheet1!$B$8</c:f>
              <c:strCache>
                <c:ptCount val="1"/>
                <c:pt idx="0">
                  <c:v>guess y = 2x + 1</c:v>
                </c:pt>
              </c:strCache>
            </c:strRef>
          </c:tx>
          <c:spPr>
            <a:ln w="28575">
              <a:solidFill>
                <a:srgbClr val="506476"/>
              </a:solidFill>
              <a:prstDash val="dash"/>
            </a:ln>
          </c:spPr>
          <c:marker>
            <c:symbol val="none"/>
          </c:marker>
          <c:xVal>
            <c:numRef>
              <c:f>Sheet1!$A$9:$A$10</c:f>
              <c:numCache>
                <c:formatCode>General</c:formatCode>
                <c:ptCount val="2"/>
                <c:pt idx="0">
                  <c:v>0</c:v>
                </c:pt>
                <c:pt idx="1">
                  <c:v>8</c:v>
                </c:pt>
              </c:numCache>
            </c:numRef>
          </c:xVal>
          <c:yVal>
            <c:numRef>
              <c:f>Sheet1!$B$9:$B$10</c:f>
              <c:numCache>
                <c:formatCode>General</c:formatCode>
                <c:ptCount val="2"/>
                <c:pt idx="0">
                  <c:v>1</c:v>
                </c:pt>
                <c:pt idx="1">
                  <c:v>17</c:v>
                </c:pt>
              </c:numCache>
            </c:numRef>
          </c:yVal>
          <c:smooth val="0"/>
          <c:extLst>
            <c:ext xmlns:c16="http://schemas.microsoft.com/office/drawing/2014/chart" uri="{C3380CC4-5D6E-409C-BE32-E72D297353CC}">
              <c16:uniqueId val="{00000001-3CA8-3F45-B824-81D554783CD0}"/>
            </c:ext>
          </c:extLst>
        </c:ser>
        <c:ser>
          <c:idx val="2"/>
          <c:order val="2"/>
          <c:tx>
            <c:strRef>
              <c:f>Sheet1!$B$12</c:f>
              <c:strCache>
                <c:ptCount val="1"/>
                <c:pt idx="0">
                  <c:v>best y = 3x − 1</c:v>
                </c:pt>
              </c:strCache>
            </c:strRef>
          </c:tx>
          <c:spPr>
            <a:ln w="31750">
              <a:solidFill>
                <a:srgbClr val="A31F34"/>
              </a:solidFill>
            </a:ln>
          </c:spPr>
          <c:marker>
            <c:symbol val="none"/>
          </c:marker>
          <c:xVal>
            <c:numRef>
              <c:f>Sheet1!$A$13:$A$14</c:f>
              <c:numCache>
                <c:formatCode>General</c:formatCode>
                <c:ptCount val="2"/>
                <c:pt idx="0">
                  <c:v>0</c:v>
                </c:pt>
                <c:pt idx="1">
                  <c:v>8</c:v>
                </c:pt>
              </c:numCache>
            </c:numRef>
          </c:xVal>
          <c:yVal>
            <c:numRef>
              <c:f>Sheet1!$B$13:$B$14</c:f>
              <c:numCache>
                <c:formatCode>General</c:formatCode>
                <c:ptCount val="2"/>
                <c:pt idx="0">
                  <c:v>-1</c:v>
                </c:pt>
                <c:pt idx="1">
                  <c:v>23</c:v>
                </c:pt>
              </c:numCache>
            </c:numRef>
          </c:yVal>
          <c:smooth val="0"/>
          <c:extLst>
            <c:ext xmlns:c16="http://schemas.microsoft.com/office/drawing/2014/chart" uri="{C3380CC4-5D6E-409C-BE32-E72D297353CC}">
              <c16:uniqueId val="{00000002-3CA8-3F45-B824-81D554783CD0}"/>
            </c:ext>
          </c:extLst>
        </c:ser>
        <c:ser>
          <c:idx val="3"/>
          <c:order val="3"/>
          <c:tx>
            <c:strRef>
              <c:f>Sheet1!$B$16</c:f>
              <c:strCache>
                <c:ptCount val="1"/>
                <c:pt idx="0">
                  <c:v>residuals</c:v>
                </c:pt>
              </c:strCache>
            </c:strRef>
          </c:tx>
          <c:spPr>
            <a:ln w="22225">
              <a:solidFill>
                <a:srgbClr val="A31F34"/>
              </a:solidFill>
            </a:ln>
          </c:spPr>
          <c:marker>
            <c:symbol val="none"/>
          </c:marker>
          <c:xVal>
            <c:numRef>
              <c:f>Sheet1!$A$17:$A$18</c:f>
              <c:numCache>
                <c:formatCode>General</c:formatCode>
                <c:ptCount val="2"/>
                <c:pt idx="0">
                  <c:v>1</c:v>
                </c:pt>
                <c:pt idx="1">
                  <c:v>1</c:v>
                </c:pt>
              </c:numCache>
            </c:numRef>
          </c:xVal>
          <c:yVal>
            <c:numRef>
              <c:f>Sheet1!$B$17:$B$18</c:f>
              <c:numCache>
                <c:formatCode>General</c:formatCode>
                <c:ptCount val="2"/>
                <c:pt idx="0">
                  <c:v>3</c:v>
                </c:pt>
                <c:pt idx="1">
                  <c:v>2</c:v>
                </c:pt>
              </c:numCache>
            </c:numRef>
          </c:yVal>
          <c:smooth val="0"/>
          <c:extLst>
            <c:ext xmlns:c16="http://schemas.microsoft.com/office/drawing/2014/chart" uri="{C3380CC4-5D6E-409C-BE32-E72D297353CC}">
              <c16:uniqueId val="{00000003-3CA8-3F45-B824-81D554783CD0}"/>
            </c:ext>
          </c:extLst>
        </c:ser>
        <c:ser>
          <c:idx val="4"/>
          <c:order val="4"/>
          <c:tx>
            <c:strRef>
              <c:f>Sheet1!$B$20</c:f>
              <c:strCache>
                <c:ptCount val="1"/>
                <c:pt idx="0">
                  <c:v>residuals 1</c:v>
                </c:pt>
              </c:strCache>
            </c:strRef>
          </c:tx>
          <c:spPr>
            <a:ln w="22225">
              <a:solidFill>
                <a:srgbClr val="A31F34"/>
              </a:solidFill>
            </a:ln>
          </c:spPr>
          <c:marker>
            <c:symbol val="none"/>
          </c:marker>
          <c:xVal>
            <c:numRef>
              <c:f>Sheet1!$A$21:$A$22</c:f>
              <c:numCache>
                <c:formatCode>General</c:formatCode>
                <c:ptCount val="2"/>
                <c:pt idx="0">
                  <c:v>3</c:v>
                </c:pt>
                <c:pt idx="1">
                  <c:v>3</c:v>
                </c:pt>
              </c:numCache>
            </c:numRef>
          </c:xVal>
          <c:yVal>
            <c:numRef>
              <c:f>Sheet1!$B$21:$B$22</c:f>
              <c:numCache>
                <c:formatCode>General</c:formatCode>
                <c:ptCount val="2"/>
                <c:pt idx="0">
                  <c:v>7</c:v>
                </c:pt>
                <c:pt idx="1">
                  <c:v>8</c:v>
                </c:pt>
              </c:numCache>
            </c:numRef>
          </c:yVal>
          <c:smooth val="0"/>
          <c:extLst>
            <c:ext xmlns:c16="http://schemas.microsoft.com/office/drawing/2014/chart" uri="{C3380CC4-5D6E-409C-BE32-E72D297353CC}">
              <c16:uniqueId val="{00000004-3CA8-3F45-B824-81D554783CD0}"/>
            </c:ext>
          </c:extLst>
        </c:ser>
        <c:ser>
          <c:idx val="5"/>
          <c:order val="5"/>
          <c:tx>
            <c:strRef>
              <c:f>Sheet1!$B$24</c:f>
              <c:strCache>
                <c:ptCount val="1"/>
                <c:pt idx="0">
                  <c:v>residuals 2</c:v>
                </c:pt>
              </c:strCache>
            </c:strRef>
          </c:tx>
          <c:spPr>
            <a:ln w="22225">
              <a:solidFill>
                <a:srgbClr val="A31F34"/>
              </a:solidFill>
            </a:ln>
          </c:spPr>
          <c:marker>
            <c:symbol val="none"/>
          </c:marker>
          <c:xVal>
            <c:numRef>
              <c:f>Sheet1!$A$25:$A$26</c:f>
              <c:numCache>
                <c:formatCode>General</c:formatCode>
                <c:ptCount val="2"/>
                <c:pt idx="0">
                  <c:v>4</c:v>
                </c:pt>
                <c:pt idx="1">
                  <c:v>4</c:v>
                </c:pt>
              </c:numCache>
            </c:numRef>
          </c:xVal>
          <c:yVal>
            <c:numRef>
              <c:f>Sheet1!$B$25:$B$26</c:f>
              <c:numCache>
                <c:formatCode>General</c:formatCode>
                <c:ptCount val="2"/>
                <c:pt idx="0">
                  <c:v>9</c:v>
                </c:pt>
                <c:pt idx="1">
                  <c:v>11</c:v>
                </c:pt>
              </c:numCache>
            </c:numRef>
          </c:yVal>
          <c:smooth val="0"/>
          <c:extLst>
            <c:ext xmlns:c16="http://schemas.microsoft.com/office/drawing/2014/chart" uri="{C3380CC4-5D6E-409C-BE32-E72D297353CC}">
              <c16:uniqueId val="{00000005-3CA8-3F45-B824-81D554783CD0}"/>
            </c:ext>
          </c:extLst>
        </c:ser>
        <c:ser>
          <c:idx val="6"/>
          <c:order val="6"/>
          <c:tx>
            <c:strRef>
              <c:f>Sheet1!$B$28</c:f>
              <c:strCache>
                <c:ptCount val="1"/>
                <c:pt idx="0">
                  <c:v>residuals 3</c:v>
                </c:pt>
              </c:strCache>
            </c:strRef>
          </c:tx>
          <c:spPr>
            <a:ln w="22225">
              <a:solidFill>
                <a:srgbClr val="A31F34"/>
              </a:solidFill>
            </a:ln>
          </c:spPr>
          <c:marker>
            <c:symbol val="none"/>
          </c:marker>
          <c:xVal>
            <c:numRef>
              <c:f>Sheet1!$A$29:$A$30</c:f>
              <c:numCache>
                <c:formatCode>General</c:formatCode>
                <c:ptCount val="2"/>
                <c:pt idx="0">
                  <c:v>5</c:v>
                </c:pt>
                <c:pt idx="1">
                  <c:v>5</c:v>
                </c:pt>
              </c:numCache>
            </c:numRef>
          </c:xVal>
          <c:yVal>
            <c:numRef>
              <c:f>Sheet1!$B$29:$B$30</c:f>
              <c:numCache>
                <c:formatCode>General</c:formatCode>
                <c:ptCount val="2"/>
                <c:pt idx="0">
                  <c:v>16</c:v>
                </c:pt>
                <c:pt idx="1">
                  <c:v>14</c:v>
                </c:pt>
              </c:numCache>
            </c:numRef>
          </c:yVal>
          <c:smooth val="0"/>
          <c:extLst>
            <c:ext xmlns:c16="http://schemas.microsoft.com/office/drawing/2014/chart" uri="{C3380CC4-5D6E-409C-BE32-E72D297353CC}">
              <c16:uniqueId val="{00000006-3CA8-3F45-B824-81D554783CD0}"/>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legend>
      <c:legendPos val="b"/>
      <c:legendEntry>
        <c:idx val="4"/>
        <c:delete val="1"/>
      </c:legendEntry>
      <c:legendEntry>
        <c:idx val="5"/>
        <c:delete val="1"/>
      </c:legendEntry>
      <c:legendEntry>
        <c:idx val="6"/>
        <c:delete val="1"/>
      </c:legendEntry>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
          <c:y val="0.05"/>
          <c:w val="0.86"/>
          <c:h val="0.72"/>
        </c:manualLayout>
      </c:layout>
      <c:scatterChart>
        <c:scatterStyle val="lineMarker"/>
        <c:varyColors val="0"/>
        <c:ser>
          <c:idx val="0"/>
          <c:order val="0"/>
          <c:tx>
            <c:strRef>
              <c:f>Sheet1!$B$1</c:f>
              <c:strCache>
                <c:ptCount val="1"/>
                <c:pt idx="0">
                  <c:v>data</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1</c:v>
                </c:pt>
                <c:pt idx="1">
                  <c:v>3</c:v>
                </c:pt>
                <c:pt idx="2">
                  <c:v>4</c:v>
                </c:pt>
                <c:pt idx="3">
                  <c:v>5</c:v>
                </c:pt>
                <c:pt idx="4">
                  <c:v>7</c:v>
                </c:pt>
              </c:numCache>
            </c:numRef>
          </c:xVal>
          <c:yVal>
            <c:numRef>
              <c:f>Sheet1!$B$2:$B$6</c:f>
              <c:numCache>
                <c:formatCode>General</c:formatCode>
                <c:ptCount val="5"/>
                <c:pt idx="0">
                  <c:v>3</c:v>
                </c:pt>
                <c:pt idx="1">
                  <c:v>7</c:v>
                </c:pt>
                <c:pt idx="2">
                  <c:v>9</c:v>
                </c:pt>
                <c:pt idx="3">
                  <c:v>16</c:v>
                </c:pt>
                <c:pt idx="4">
                  <c:v>20</c:v>
                </c:pt>
              </c:numCache>
            </c:numRef>
          </c:yVal>
          <c:smooth val="0"/>
          <c:extLst>
            <c:ext xmlns:c16="http://schemas.microsoft.com/office/drawing/2014/chart" uri="{C3380CC4-5D6E-409C-BE32-E72D297353CC}">
              <c16:uniqueId val="{00000000-2B76-1546-987B-A5C349E4A125}"/>
            </c:ext>
          </c:extLst>
        </c:ser>
        <c:ser>
          <c:idx val="1"/>
          <c:order val="1"/>
          <c:tx>
            <c:strRef>
              <c:f>Sheet1!$B$8</c:f>
              <c:strCache>
                <c:ptCount val="1"/>
                <c:pt idx="0">
                  <c:v>best y = 3x − 1</c:v>
                </c:pt>
              </c:strCache>
            </c:strRef>
          </c:tx>
          <c:spPr>
            <a:ln w="31750">
              <a:solidFill>
                <a:srgbClr val="A31F34"/>
              </a:solidFill>
            </a:ln>
          </c:spPr>
          <c:marker>
            <c:symbol val="none"/>
          </c:marker>
          <c:xVal>
            <c:numRef>
              <c:f>Sheet1!$A$9:$A$10</c:f>
              <c:numCache>
                <c:formatCode>General</c:formatCode>
                <c:ptCount val="2"/>
                <c:pt idx="0">
                  <c:v>0</c:v>
                </c:pt>
                <c:pt idx="1">
                  <c:v>8</c:v>
                </c:pt>
              </c:numCache>
            </c:numRef>
          </c:xVal>
          <c:yVal>
            <c:numRef>
              <c:f>Sheet1!$B$9:$B$10</c:f>
              <c:numCache>
                <c:formatCode>General</c:formatCode>
                <c:ptCount val="2"/>
                <c:pt idx="0">
                  <c:v>-1</c:v>
                </c:pt>
                <c:pt idx="1">
                  <c:v>23</c:v>
                </c:pt>
              </c:numCache>
            </c:numRef>
          </c:yVal>
          <c:smooth val="0"/>
          <c:extLst>
            <c:ext xmlns:c16="http://schemas.microsoft.com/office/drawing/2014/chart" uri="{C3380CC4-5D6E-409C-BE32-E72D297353CC}">
              <c16:uniqueId val="{00000001-2B76-1546-987B-A5C349E4A125}"/>
            </c:ext>
          </c:extLst>
        </c:ser>
        <c:ser>
          <c:idx val="2"/>
          <c:order val="2"/>
          <c:tx>
            <c:strRef>
              <c:f>Sheet1!$B$12</c:f>
              <c:strCache>
                <c:ptCount val="1"/>
                <c:pt idx="0">
                  <c:v>mean point (4, 11)</c:v>
                </c:pt>
              </c:strCache>
            </c:strRef>
          </c:tx>
          <c:spPr>
            <a:ln>
              <a:noFill/>
            </a:ln>
          </c:spPr>
          <c:marker>
            <c:symbol val="diamond"/>
            <c:size val="12"/>
            <c:spPr>
              <a:solidFill>
                <a:srgbClr val="506476"/>
              </a:solidFill>
              <a:ln>
                <a:solidFill>
                  <a:srgbClr val="506476"/>
                </a:solidFill>
              </a:ln>
            </c:spPr>
          </c:marker>
          <c:xVal>
            <c:numRef>
              <c:f>Sheet1!$A$13:$A$13</c:f>
              <c:numCache>
                <c:formatCode>General</c:formatCode>
                <c:ptCount val="1"/>
                <c:pt idx="0">
                  <c:v>4</c:v>
                </c:pt>
              </c:numCache>
            </c:numRef>
          </c:xVal>
          <c:yVal>
            <c:numRef>
              <c:f>Sheet1!$B$13:$B$13</c:f>
              <c:numCache>
                <c:formatCode>General</c:formatCode>
                <c:ptCount val="1"/>
                <c:pt idx="0">
                  <c:v>11</c:v>
                </c:pt>
              </c:numCache>
            </c:numRef>
          </c:yVal>
          <c:smooth val="0"/>
          <c:extLst>
            <c:ext xmlns:c16="http://schemas.microsoft.com/office/drawing/2014/chart" uri="{C3380CC4-5D6E-409C-BE32-E72D297353CC}">
              <c16:uniqueId val="{00000002-2B76-1546-987B-A5C349E4A125}"/>
            </c:ext>
          </c:extLst>
        </c:ser>
        <c:dLbls>
          <c:showLegendKey val="0"/>
          <c:showVal val="0"/>
          <c:showCatName val="0"/>
          <c:showSerName val="0"/>
          <c:showPercent val="0"/>
          <c:showBubbleSize val="0"/>
        </c:dLbls>
        <c:axId val="-2128940872"/>
        <c:axId val="-2129643912"/>
      </c:scatterChart>
      <c:valAx>
        <c:axId val="-2128940872"/>
        <c:scaling>
          <c:orientation val="minMax"/>
          <c:max val="8"/>
          <c:min val="0"/>
        </c:scaling>
        <c:delete val="0"/>
        <c:axPos val="b"/>
        <c:majorGridlines>
          <c:spPr>
            <a:ln w="9525">
              <a:solidFill>
                <a:srgbClr val="E3E8ED"/>
              </a:solidFill>
            </a:ln>
          </c:spPr>
        </c:majorGridlines>
        <c:title>
          <c:tx>
            <c:rich>
              <a:bodyPr/>
              <a:lstStyle/>
              <a:p>
                <a:pPr>
                  <a:defRPr/>
                </a:pPr>
                <a:r>
                  <a:rPr lang="en-US" sz="1200" b="0" i="0">
                    <a:solidFill>
                      <a:srgbClr val="506476"/>
                    </a:solidFill>
                  </a:rPr>
                  <a:t>x</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4"/>
          <c:min val="-4"/>
        </c:scaling>
        <c:delete val="0"/>
        <c:axPos val="l"/>
        <c:majorGridlines>
          <c:spPr>
            <a:ln w="9525">
              <a:solidFill>
                <a:srgbClr val="E3E8ED"/>
              </a:solidFill>
            </a:ln>
          </c:spPr>
        </c:majorGridlines>
        <c:title>
          <c:tx>
            <c:rich>
              <a:bodyPr/>
              <a:lstStyle/>
              <a:p>
                <a:pPr>
                  <a:defRPr/>
                </a:pPr>
                <a:r>
                  <a:rPr lang="en-US" sz="1200" b="0" i="0">
                    <a:solidFill>
                      <a:srgbClr val="506476"/>
                    </a:solidFill>
                  </a:rPr>
                  <a:t>y</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4"/>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4000000000000001"/>
          <c:y val="0.05"/>
          <c:w val="0.82"/>
          <c:h val="0.68"/>
        </c:manualLayout>
      </c:layout>
      <c:scatterChart>
        <c:scatterStyle val="lineMarker"/>
        <c:varyColors val="0"/>
        <c:ser>
          <c:idx val="0"/>
          <c:order val="0"/>
          <c:tx>
            <c:strRef>
              <c:f>Sheet1!$B$1</c:f>
              <c:strCache>
                <c:ptCount val="1"/>
                <c:pt idx="0">
                  <c:v>measured</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-20</c:v>
                </c:pt>
                <c:pt idx="1">
                  <c:v>-10</c:v>
                </c:pt>
                <c:pt idx="2">
                  <c:v>0</c:v>
                </c:pt>
                <c:pt idx="3">
                  <c:v>10</c:v>
                </c:pt>
                <c:pt idx="4">
                  <c:v>20</c:v>
                </c:pt>
              </c:numCache>
            </c:numRef>
          </c:xVal>
          <c:yVal>
            <c:numRef>
              <c:f>Sheet1!$B$2:$B$6</c:f>
              <c:numCache>
                <c:formatCode>General</c:formatCode>
                <c:ptCount val="5"/>
                <c:pt idx="0">
                  <c:v>274</c:v>
                </c:pt>
                <c:pt idx="1">
                  <c:v>673</c:v>
                </c:pt>
                <c:pt idx="2">
                  <c:v>887</c:v>
                </c:pt>
                <c:pt idx="3">
                  <c:v>861</c:v>
                </c:pt>
                <c:pt idx="4">
                  <c:v>680</c:v>
                </c:pt>
              </c:numCache>
            </c:numRef>
          </c:yVal>
          <c:smooth val="0"/>
          <c:extLst>
            <c:ext xmlns:c16="http://schemas.microsoft.com/office/drawing/2014/chart" uri="{C3380CC4-5D6E-409C-BE32-E72D297353CC}">
              <c16:uniqueId val="{00000000-4194-DE42-AC57-811C2D8F7F5C}"/>
            </c:ext>
          </c:extLst>
        </c:ser>
        <c:dLbls>
          <c:showLegendKey val="0"/>
          <c:showVal val="0"/>
          <c:showCatName val="0"/>
          <c:showSerName val="0"/>
          <c:showPercent val="0"/>
          <c:showBubbleSize val="0"/>
        </c:dLbls>
        <c:axId val="-2128940872"/>
        <c:axId val="-2129643912"/>
      </c:scatterChart>
      <c:valAx>
        <c:axId val="-2128940872"/>
        <c:scaling>
          <c:orientation val="minMax"/>
          <c:max val="40"/>
          <c:min val="-30"/>
        </c:scaling>
        <c:delete val="0"/>
        <c:axPos val="b"/>
        <c:majorGridlines>
          <c:spPr>
            <a:ln w="9525">
              <a:solidFill>
                <a:srgbClr val="E3E8ED"/>
              </a:solidFill>
            </a:ln>
          </c:spPr>
        </c:majorGridlines>
        <c:title>
          <c:tx>
            <c:rich>
              <a:bodyPr/>
              <a:lstStyle/>
              <a:p>
                <a:pPr>
                  <a:defRPr/>
                </a:pPr>
                <a:r>
                  <a:rPr lang="en-US" sz="1200" b="0" i="0">
                    <a:solidFill>
                      <a:srgbClr val="506476"/>
                    </a:solidFill>
                  </a:rPr>
                  <a:t>x (cm)</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0"/>
      </c:valAx>
      <c:valAx>
        <c:axId val="-2129643912"/>
        <c:scaling>
          <c:orientation val="minMax"/>
          <c:max val="1000"/>
          <c:min val="0"/>
        </c:scaling>
        <c:delete val="0"/>
        <c:axPos val="l"/>
        <c:majorGridlines>
          <c:spPr>
            <a:ln w="9525">
              <a:solidFill>
                <a:srgbClr val="E3E8ED"/>
              </a:solidFill>
            </a:ln>
          </c:spPr>
        </c:majorGridlines>
        <c:title>
          <c:tx>
            <c:rich>
              <a:bodyPr/>
              <a:lstStyle/>
              <a:p>
                <a:pPr>
                  <a:defRPr/>
                </a:pPr>
                <a:r>
                  <a:rPr lang="en-US" sz="1200" b="0" i="0">
                    <a:solidFill>
                      <a:srgbClr val="506476"/>
                    </a:solidFill>
                  </a:rPr>
                  <a:t>y (mJ)</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200"/>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4000000000000001"/>
          <c:y val="0.05"/>
          <c:w val="0.82"/>
          <c:h val="0.68"/>
        </c:manualLayout>
      </c:layout>
      <c:scatterChart>
        <c:scatterStyle val="lineMarker"/>
        <c:varyColors val="0"/>
        <c:ser>
          <c:idx val="0"/>
          <c:order val="0"/>
          <c:tx>
            <c:strRef>
              <c:f>Sheet1!$B$1</c:f>
              <c:strCache>
                <c:ptCount val="1"/>
                <c:pt idx="0">
                  <c:v>fit</c:v>
                </c:pt>
              </c:strCache>
            </c:strRef>
          </c:tx>
          <c:spPr>
            <a:ln w="28575">
              <a:solidFill>
                <a:srgbClr val="A31F34"/>
              </a:solidFill>
            </a:ln>
          </c:spPr>
          <c:marker>
            <c:symbol val="none"/>
          </c:marker>
          <c:xVal>
            <c:numRef>
              <c:f>Sheet1!$A$2:$A$62</c:f>
              <c:numCache>
                <c:formatCode>General</c:formatCode>
                <c:ptCount val="61"/>
                <c:pt idx="0">
                  <c:v>-25</c:v>
                </c:pt>
                <c:pt idx="1">
                  <c:v>-24</c:v>
                </c:pt>
                <c:pt idx="2">
                  <c:v>-23</c:v>
                </c:pt>
                <c:pt idx="3">
                  <c:v>-22</c:v>
                </c:pt>
                <c:pt idx="4">
                  <c:v>-21</c:v>
                </c:pt>
                <c:pt idx="5">
                  <c:v>-20</c:v>
                </c:pt>
                <c:pt idx="6">
                  <c:v>-19</c:v>
                </c:pt>
                <c:pt idx="7">
                  <c:v>-18</c:v>
                </c:pt>
                <c:pt idx="8">
                  <c:v>-17</c:v>
                </c:pt>
                <c:pt idx="9">
                  <c:v>-16</c:v>
                </c:pt>
                <c:pt idx="10">
                  <c:v>-15</c:v>
                </c:pt>
                <c:pt idx="11">
                  <c:v>-14</c:v>
                </c:pt>
                <c:pt idx="12">
                  <c:v>-13</c:v>
                </c:pt>
                <c:pt idx="13">
                  <c:v>-12</c:v>
                </c:pt>
                <c:pt idx="14">
                  <c:v>-11</c:v>
                </c:pt>
                <c:pt idx="15">
                  <c:v>-10</c:v>
                </c:pt>
                <c:pt idx="16">
                  <c:v>-9</c:v>
                </c:pt>
                <c:pt idx="17">
                  <c:v>-8</c:v>
                </c:pt>
                <c:pt idx="18">
                  <c:v>-7</c:v>
                </c:pt>
                <c:pt idx="19">
                  <c:v>-6</c:v>
                </c:pt>
                <c:pt idx="20">
                  <c:v>-5</c:v>
                </c:pt>
                <c:pt idx="21">
                  <c:v>-4</c:v>
                </c:pt>
                <c:pt idx="22">
                  <c:v>-3</c:v>
                </c:pt>
                <c:pt idx="23">
                  <c:v>-2</c:v>
                </c:pt>
                <c:pt idx="24">
                  <c:v>-1</c:v>
                </c:pt>
                <c:pt idx="25">
                  <c:v>0</c:v>
                </c:pt>
                <c:pt idx="26">
                  <c:v>1</c:v>
                </c:pt>
                <c:pt idx="27">
                  <c:v>2</c:v>
                </c:pt>
                <c:pt idx="28">
                  <c:v>3</c:v>
                </c:pt>
                <c:pt idx="29">
                  <c:v>4</c:v>
                </c:pt>
                <c:pt idx="30">
                  <c:v>5</c:v>
                </c:pt>
                <c:pt idx="31">
                  <c:v>6</c:v>
                </c:pt>
                <c:pt idx="32">
                  <c:v>7</c:v>
                </c:pt>
                <c:pt idx="33">
                  <c:v>8</c:v>
                </c:pt>
                <c:pt idx="34">
                  <c:v>9</c:v>
                </c:pt>
                <c:pt idx="35">
                  <c:v>10</c:v>
                </c:pt>
                <c:pt idx="36">
                  <c:v>11</c:v>
                </c:pt>
                <c:pt idx="37">
                  <c:v>12</c:v>
                </c:pt>
                <c:pt idx="38">
                  <c:v>13</c:v>
                </c:pt>
                <c:pt idx="39">
                  <c:v>14</c:v>
                </c:pt>
                <c:pt idx="40">
                  <c:v>15</c:v>
                </c:pt>
                <c:pt idx="41">
                  <c:v>16</c:v>
                </c:pt>
                <c:pt idx="42">
                  <c:v>17</c:v>
                </c:pt>
                <c:pt idx="43">
                  <c:v>18</c:v>
                </c:pt>
                <c:pt idx="44">
                  <c:v>19</c:v>
                </c:pt>
                <c:pt idx="45">
                  <c:v>20</c:v>
                </c:pt>
                <c:pt idx="46">
                  <c:v>21</c:v>
                </c:pt>
                <c:pt idx="47">
                  <c:v>22</c:v>
                </c:pt>
                <c:pt idx="48">
                  <c:v>23</c:v>
                </c:pt>
                <c:pt idx="49">
                  <c:v>24</c:v>
                </c:pt>
                <c:pt idx="50">
                  <c:v>25</c:v>
                </c:pt>
                <c:pt idx="51">
                  <c:v>26</c:v>
                </c:pt>
                <c:pt idx="52">
                  <c:v>27</c:v>
                </c:pt>
                <c:pt idx="53">
                  <c:v>28</c:v>
                </c:pt>
                <c:pt idx="54">
                  <c:v>29</c:v>
                </c:pt>
                <c:pt idx="55">
                  <c:v>30</c:v>
                </c:pt>
                <c:pt idx="56">
                  <c:v>31</c:v>
                </c:pt>
                <c:pt idx="57">
                  <c:v>32</c:v>
                </c:pt>
                <c:pt idx="58">
                  <c:v>33</c:v>
                </c:pt>
                <c:pt idx="59">
                  <c:v>34</c:v>
                </c:pt>
                <c:pt idx="60">
                  <c:v>35</c:v>
                </c:pt>
              </c:numCache>
            </c:numRef>
          </c:xVal>
          <c:yVal>
            <c:numRef>
              <c:f>Sheet1!$B$2:$B$62</c:f>
              <c:numCache>
                <c:formatCode>General</c:formatCode>
                <c:ptCount val="61"/>
                <c:pt idx="0">
                  <c:v>1.1368683772161603E-13</c:v>
                </c:pt>
                <c:pt idx="1">
                  <c:v>59.000000000000114</c:v>
                </c:pt>
                <c:pt idx="2">
                  <c:v>116.00000000000011</c:v>
                </c:pt>
                <c:pt idx="3">
                  <c:v>171.00000000000011</c:v>
                </c:pt>
                <c:pt idx="4">
                  <c:v>224.00000000000011</c:v>
                </c:pt>
                <c:pt idx="5">
                  <c:v>275</c:v>
                </c:pt>
                <c:pt idx="6">
                  <c:v>324</c:v>
                </c:pt>
                <c:pt idx="7">
                  <c:v>371</c:v>
                </c:pt>
                <c:pt idx="8">
                  <c:v>416</c:v>
                </c:pt>
                <c:pt idx="9">
                  <c:v>459</c:v>
                </c:pt>
                <c:pt idx="10">
                  <c:v>500</c:v>
                </c:pt>
                <c:pt idx="11">
                  <c:v>539</c:v>
                </c:pt>
                <c:pt idx="12">
                  <c:v>576</c:v>
                </c:pt>
                <c:pt idx="13">
                  <c:v>611</c:v>
                </c:pt>
                <c:pt idx="14">
                  <c:v>644</c:v>
                </c:pt>
                <c:pt idx="15">
                  <c:v>674.99999999999989</c:v>
                </c:pt>
                <c:pt idx="16">
                  <c:v>703.99999999999989</c:v>
                </c:pt>
                <c:pt idx="17">
                  <c:v>730.99999999999989</c:v>
                </c:pt>
                <c:pt idx="18">
                  <c:v>755.99999999999989</c:v>
                </c:pt>
                <c:pt idx="19">
                  <c:v>778.99999999999989</c:v>
                </c:pt>
                <c:pt idx="20">
                  <c:v>799.99999999999989</c:v>
                </c:pt>
                <c:pt idx="21">
                  <c:v>818.99999999999989</c:v>
                </c:pt>
                <c:pt idx="22">
                  <c:v>835.99999999999989</c:v>
                </c:pt>
                <c:pt idx="23">
                  <c:v>850.99999999999989</c:v>
                </c:pt>
                <c:pt idx="24">
                  <c:v>863.99999999999989</c:v>
                </c:pt>
                <c:pt idx="25">
                  <c:v>874.99999999999989</c:v>
                </c:pt>
                <c:pt idx="26">
                  <c:v>883.99999999999989</c:v>
                </c:pt>
                <c:pt idx="27">
                  <c:v>890.99999999999989</c:v>
                </c:pt>
                <c:pt idx="28">
                  <c:v>895.99999999999989</c:v>
                </c:pt>
                <c:pt idx="29">
                  <c:v>898.99999999999989</c:v>
                </c:pt>
                <c:pt idx="30">
                  <c:v>899.99999999999989</c:v>
                </c:pt>
                <c:pt idx="31">
                  <c:v>898.99999999999989</c:v>
                </c:pt>
                <c:pt idx="32">
                  <c:v>895.99999999999989</c:v>
                </c:pt>
                <c:pt idx="33">
                  <c:v>890.99999999999989</c:v>
                </c:pt>
                <c:pt idx="34">
                  <c:v>883.99999999999989</c:v>
                </c:pt>
                <c:pt idx="35">
                  <c:v>874.99999999999989</c:v>
                </c:pt>
                <c:pt idx="36">
                  <c:v>863.99999999999989</c:v>
                </c:pt>
                <c:pt idx="37">
                  <c:v>851</c:v>
                </c:pt>
                <c:pt idx="38">
                  <c:v>836</c:v>
                </c:pt>
                <c:pt idx="39">
                  <c:v>819</c:v>
                </c:pt>
                <c:pt idx="40">
                  <c:v>800</c:v>
                </c:pt>
                <c:pt idx="41">
                  <c:v>779</c:v>
                </c:pt>
                <c:pt idx="42">
                  <c:v>756</c:v>
                </c:pt>
                <c:pt idx="43">
                  <c:v>731</c:v>
                </c:pt>
                <c:pt idx="44">
                  <c:v>704</c:v>
                </c:pt>
                <c:pt idx="45">
                  <c:v>675</c:v>
                </c:pt>
                <c:pt idx="46">
                  <c:v>644</c:v>
                </c:pt>
                <c:pt idx="47">
                  <c:v>611</c:v>
                </c:pt>
                <c:pt idx="48">
                  <c:v>576.00000000000011</c:v>
                </c:pt>
                <c:pt idx="49">
                  <c:v>539.00000000000011</c:v>
                </c:pt>
                <c:pt idx="50">
                  <c:v>500.00000000000011</c:v>
                </c:pt>
                <c:pt idx="51">
                  <c:v>459.00000000000011</c:v>
                </c:pt>
                <c:pt idx="52">
                  <c:v>416.00000000000011</c:v>
                </c:pt>
                <c:pt idx="53">
                  <c:v>371.00000000000011</c:v>
                </c:pt>
                <c:pt idx="54">
                  <c:v>324.00000000000011</c:v>
                </c:pt>
                <c:pt idx="55">
                  <c:v>275.00000000000023</c:v>
                </c:pt>
                <c:pt idx="56">
                  <c:v>224.00000000000023</c:v>
                </c:pt>
                <c:pt idx="57">
                  <c:v>171.00000000000023</c:v>
                </c:pt>
                <c:pt idx="58">
                  <c:v>116.00000000000034</c:v>
                </c:pt>
                <c:pt idx="59">
                  <c:v>59.000000000000341</c:v>
                </c:pt>
                <c:pt idx="60">
                  <c:v>3.4106051316484809E-13</c:v>
                </c:pt>
              </c:numCache>
            </c:numRef>
          </c:yVal>
          <c:smooth val="0"/>
          <c:extLst>
            <c:ext xmlns:c16="http://schemas.microsoft.com/office/drawing/2014/chart" uri="{C3380CC4-5D6E-409C-BE32-E72D297353CC}">
              <c16:uniqueId val="{00000000-2259-9341-9347-6DAFA0F38356}"/>
            </c:ext>
          </c:extLst>
        </c:ser>
        <c:ser>
          <c:idx val="1"/>
          <c:order val="1"/>
          <c:tx>
            <c:strRef>
              <c:f>Sheet1!$B$64</c:f>
              <c:strCache>
                <c:ptCount val="1"/>
                <c:pt idx="0">
                  <c:v>measured</c:v>
                </c:pt>
              </c:strCache>
            </c:strRef>
          </c:tx>
          <c:spPr>
            <a:ln>
              <a:noFill/>
            </a:ln>
          </c:spPr>
          <c:marker>
            <c:symbol val="circle"/>
            <c:size val="9"/>
            <c:spPr>
              <a:solidFill>
                <a:srgbClr val="152D42"/>
              </a:solidFill>
              <a:ln>
                <a:solidFill>
                  <a:srgbClr val="152D42"/>
                </a:solidFill>
              </a:ln>
            </c:spPr>
          </c:marker>
          <c:xVal>
            <c:numRef>
              <c:f>Sheet1!$A$65:$A$69</c:f>
              <c:numCache>
                <c:formatCode>General</c:formatCode>
                <c:ptCount val="5"/>
                <c:pt idx="0">
                  <c:v>-20</c:v>
                </c:pt>
                <c:pt idx="1">
                  <c:v>-10</c:v>
                </c:pt>
                <c:pt idx="2">
                  <c:v>0</c:v>
                </c:pt>
                <c:pt idx="3">
                  <c:v>10</c:v>
                </c:pt>
                <c:pt idx="4">
                  <c:v>20</c:v>
                </c:pt>
              </c:numCache>
            </c:numRef>
          </c:xVal>
          <c:yVal>
            <c:numRef>
              <c:f>Sheet1!$B$65:$B$69</c:f>
              <c:numCache>
                <c:formatCode>General</c:formatCode>
                <c:ptCount val="5"/>
                <c:pt idx="0">
                  <c:v>274</c:v>
                </c:pt>
                <c:pt idx="1">
                  <c:v>673</c:v>
                </c:pt>
                <c:pt idx="2">
                  <c:v>887</c:v>
                </c:pt>
                <c:pt idx="3">
                  <c:v>861</c:v>
                </c:pt>
                <c:pt idx="4">
                  <c:v>680</c:v>
                </c:pt>
              </c:numCache>
            </c:numRef>
          </c:yVal>
          <c:smooth val="0"/>
          <c:extLst>
            <c:ext xmlns:c16="http://schemas.microsoft.com/office/drawing/2014/chart" uri="{C3380CC4-5D6E-409C-BE32-E72D297353CC}">
              <c16:uniqueId val="{00000001-2259-9341-9347-6DAFA0F38356}"/>
            </c:ext>
          </c:extLst>
        </c:ser>
        <c:dLbls>
          <c:showLegendKey val="0"/>
          <c:showVal val="0"/>
          <c:showCatName val="0"/>
          <c:showSerName val="0"/>
          <c:showPercent val="0"/>
          <c:showBubbleSize val="0"/>
        </c:dLbls>
        <c:axId val="-2128940872"/>
        <c:axId val="-2129643912"/>
      </c:scatterChart>
      <c:valAx>
        <c:axId val="-2128940872"/>
        <c:scaling>
          <c:orientation val="minMax"/>
          <c:max val="40"/>
          <c:min val="-30"/>
        </c:scaling>
        <c:delete val="0"/>
        <c:axPos val="b"/>
        <c:majorGridlines>
          <c:spPr>
            <a:ln w="9525">
              <a:solidFill>
                <a:srgbClr val="E3E8ED"/>
              </a:solidFill>
            </a:ln>
          </c:spPr>
        </c:majorGridlines>
        <c:title>
          <c:tx>
            <c:rich>
              <a:bodyPr/>
              <a:lstStyle/>
              <a:p>
                <a:pPr>
                  <a:defRPr/>
                </a:pPr>
                <a:r>
                  <a:rPr lang="en-US" sz="1200" b="0" i="0">
                    <a:solidFill>
                      <a:srgbClr val="506476"/>
                    </a:solidFill>
                  </a:rPr>
                  <a:t>x (cm)</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0"/>
      </c:valAx>
      <c:valAx>
        <c:axId val="-2129643912"/>
        <c:scaling>
          <c:orientation val="minMax"/>
          <c:max val="1000"/>
          <c:min val="0"/>
        </c:scaling>
        <c:delete val="0"/>
        <c:axPos val="l"/>
        <c:majorGridlines>
          <c:spPr>
            <a:ln w="9525">
              <a:solidFill>
                <a:srgbClr val="E3E8ED"/>
              </a:solidFill>
            </a:ln>
          </c:spPr>
        </c:majorGridlines>
        <c:title>
          <c:tx>
            <c:rich>
              <a:bodyPr/>
              <a:lstStyle/>
              <a:p>
                <a:pPr>
                  <a:defRPr/>
                </a:pPr>
                <a:r>
                  <a:rPr lang="en-US" sz="1200" b="0" i="0">
                    <a:solidFill>
                      <a:srgbClr val="506476"/>
                    </a:solidFill>
                  </a:rPr>
                  <a:t>y (mJ)</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200"/>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measured</c:v>
                </c:pt>
              </c:strCache>
            </c:strRef>
          </c:tx>
          <c:spPr>
            <a:ln>
              <a:noFill/>
            </a:ln>
          </c:spPr>
          <c:marker>
            <c:symbol val="circle"/>
            <c:size val="9"/>
            <c:spPr>
              <a:solidFill>
                <a:srgbClr val="152D42"/>
              </a:solidFill>
              <a:ln>
                <a:solidFill>
                  <a:srgbClr val="152D42"/>
                </a:solidFill>
              </a:ln>
            </c:spPr>
          </c:marker>
          <c:xVal>
            <c:numRef>
              <c:f>Sheet1!$A$2:$A$7</c:f>
              <c:numCache>
                <c:formatCode>General</c:formatCode>
                <c:ptCount val="6"/>
                <c:pt idx="0">
                  <c:v>50</c:v>
                </c:pt>
                <c:pt idx="1">
                  <c:v>100</c:v>
                </c:pt>
                <c:pt idx="2">
                  <c:v>150</c:v>
                </c:pt>
                <c:pt idx="3">
                  <c:v>200</c:v>
                </c:pt>
                <c:pt idx="4">
                  <c:v>250</c:v>
                </c:pt>
                <c:pt idx="5">
                  <c:v>300</c:v>
                </c:pt>
              </c:numCache>
            </c:numRef>
          </c:xVal>
          <c:yVal>
            <c:numRef>
              <c:f>Sheet1!$B$2:$B$7</c:f>
              <c:numCache>
                <c:formatCode>General</c:formatCode>
                <c:ptCount val="6"/>
                <c:pt idx="0">
                  <c:v>0.23619599999999999</c:v>
                </c:pt>
                <c:pt idx="1">
                  <c:v>0.43428100000000003</c:v>
                </c:pt>
                <c:pt idx="2">
                  <c:v>0.63043600000000011</c:v>
                </c:pt>
                <c:pt idx="3">
                  <c:v>0.82810000000000006</c:v>
                </c:pt>
                <c:pt idx="4">
                  <c:v>1.0261689999999999</c:v>
                </c:pt>
                <c:pt idx="5">
                  <c:v>1.221025</c:v>
                </c:pt>
              </c:numCache>
            </c:numRef>
          </c:yVal>
          <c:smooth val="0"/>
          <c:extLst>
            <c:ext xmlns:c16="http://schemas.microsoft.com/office/drawing/2014/chart" uri="{C3380CC4-5D6E-409C-BE32-E72D297353CC}">
              <c16:uniqueId val="{00000000-0ADA-A345-8FBE-297183CC5FBA}"/>
            </c:ext>
          </c:extLst>
        </c:ser>
        <c:dLbls>
          <c:showLegendKey val="0"/>
          <c:showVal val="0"/>
          <c:showCatName val="0"/>
          <c:showSerName val="0"/>
          <c:showPercent val="0"/>
          <c:showBubbleSize val="0"/>
        </c:dLbls>
        <c:axId val="-2128940872"/>
        <c:axId val="-2129643912"/>
      </c:scatterChart>
      <c:valAx>
        <c:axId val="-2128940872"/>
        <c:scaling>
          <c:orientation val="minMax"/>
          <c:max val="350"/>
          <c:min val="-50"/>
        </c:scaling>
        <c:delete val="0"/>
        <c:axPos val="b"/>
        <c:majorGridlines>
          <c:spPr>
            <a:ln w="9525">
              <a:solidFill>
                <a:srgbClr val="E3E8ED"/>
              </a:solidFill>
            </a:ln>
          </c:spPr>
        </c:majorGridlines>
        <c:title>
          <c:tx>
            <c:rich>
              <a:bodyPr/>
              <a:lstStyle/>
              <a:p>
                <a:pPr>
                  <a:defRPr/>
                </a:pPr>
                <a:r>
                  <a:rPr lang="en-US" sz="1200" b="0" i="0">
                    <a:solidFill>
                      <a:srgbClr val="506476"/>
                    </a:solidFill>
                  </a:rPr>
                  <a:t>M (g)</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50"/>
      </c:valAx>
      <c:valAx>
        <c:axId val="-2129643912"/>
        <c:scaling>
          <c:orientation val="minMax"/>
          <c:max val="1.4"/>
          <c:min val="0"/>
        </c:scaling>
        <c:delete val="0"/>
        <c:axPos val="l"/>
        <c:majorGridlines>
          <c:spPr>
            <a:ln w="9525">
              <a:solidFill>
                <a:srgbClr val="E3E8ED"/>
              </a:solidFill>
            </a:ln>
          </c:spPr>
        </c:majorGridlines>
        <c:title>
          <c:tx>
            <c:rich>
              <a:bodyPr/>
              <a:lstStyle/>
              <a:p>
                <a:pPr>
                  <a:defRPr/>
                </a:pPr>
                <a:r>
                  <a:rPr lang="en-US" sz="1200" b="0" i="0">
                    <a:solidFill>
                      <a:srgbClr val="506476"/>
                    </a:solidFill>
                  </a:rPr>
                  <a:t>T² (s²)</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2"/>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measured</c:v>
                </c:pt>
              </c:strCache>
            </c:strRef>
          </c:tx>
          <c:spPr>
            <a:ln>
              <a:noFill/>
            </a:ln>
          </c:spPr>
          <c:marker>
            <c:symbol val="circle"/>
            <c:size val="9"/>
            <c:spPr>
              <a:solidFill>
                <a:srgbClr val="152D42"/>
              </a:solidFill>
              <a:ln>
                <a:solidFill>
                  <a:srgbClr val="152D42"/>
                </a:solidFill>
              </a:ln>
            </c:spPr>
          </c:marker>
          <c:xVal>
            <c:numRef>
              <c:f>Sheet1!$A$2:$A$7</c:f>
              <c:numCache>
                <c:formatCode>General</c:formatCode>
                <c:ptCount val="6"/>
                <c:pt idx="0">
                  <c:v>50</c:v>
                </c:pt>
                <c:pt idx="1">
                  <c:v>100</c:v>
                </c:pt>
                <c:pt idx="2">
                  <c:v>150</c:v>
                </c:pt>
                <c:pt idx="3">
                  <c:v>200</c:v>
                </c:pt>
                <c:pt idx="4">
                  <c:v>250</c:v>
                </c:pt>
                <c:pt idx="5">
                  <c:v>300</c:v>
                </c:pt>
              </c:numCache>
            </c:numRef>
          </c:xVal>
          <c:yVal>
            <c:numRef>
              <c:f>Sheet1!$B$2:$B$7</c:f>
              <c:numCache>
                <c:formatCode>General</c:formatCode>
                <c:ptCount val="6"/>
                <c:pt idx="0">
                  <c:v>0.23619599999999999</c:v>
                </c:pt>
                <c:pt idx="1">
                  <c:v>0.43428100000000003</c:v>
                </c:pt>
                <c:pt idx="2">
                  <c:v>0.63043600000000011</c:v>
                </c:pt>
                <c:pt idx="3">
                  <c:v>0.82810000000000006</c:v>
                </c:pt>
                <c:pt idx="4">
                  <c:v>1.0261689999999999</c:v>
                </c:pt>
                <c:pt idx="5">
                  <c:v>1.221025</c:v>
                </c:pt>
              </c:numCache>
            </c:numRef>
          </c:yVal>
          <c:smooth val="0"/>
          <c:extLst>
            <c:ext xmlns:c16="http://schemas.microsoft.com/office/drawing/2014/chart" uri="{C3380CC4-5D6E-409C-BE32-E72D297353CC}">
              <c16:uniqueId val="{00000000-F558-9343-9A20-69C811EBF0E4}"/>
            </c:ext>
          </c:extLst>
        </c:ser>
        <c:ser>
          <c:idx val="1"/>
          <c:order val="1"/>
          <c:tx>
            <c:strRef>
              <c:f>Sheet1!$B$9</c:f>
              <c:strCache>
                <c:ptCount val="1"/>
                <c:pt idx="0">
                  <c:v>fit</c:v>
                </c:pt>
              </c:strCache>
            </c:strRef>
          </c:tx>
          <c:spPr>
            <a:ln w="28575">
              <a:solidFill>
                <a:srgbClr val="A31F34"/>
              </a:solidFill>
            </a:ln>
          </c:spPr>
          <c:marker>
            <c:symbol val="none"/>
          </c:marker>
          <c:xVal>
            <c:numRef>
              <c:f>Sheet1!$A$10:$A$11</c:f>
              <c:numCache>
                <c:formatCode>General</c:formatCode>
                <c:ptCount val="2"/>
                <c:pt idx="0">
                  <c:v>-10.052367487822442</c:v>
                </c:pt>
                <c:pt idx="1">
                  <c:v>320</c:v>
                </c:pt>
              </c:numCache>
            </c:numRef>
          </c:xVal>
          <c:yVal>
            <c:numRef>
              <c:f>Sheet1!$B$10:$B$11</c:f>
              <c:numCache>
                <c:formatCode>General</c:formatCode>
                <c:ptCount val="2"/>
                <c:pt idx="0">
                  <c:v>0</c:v>
                </c:pt>
                <c:pt idx="1">
                  <c:v>1.3008727390476191</c:v>
                </c:pt>
              </c:numCache>
            </c:numRef>
          </c:yVal>
          <c:smooth val="0"/>
          <c:extLst>
            <c:ext xmlns:c16="http://schemas.microsoft.com/office/drawing/2014/chart" uri="{C3380CC4-5D6E-409C-BE32-E72D297353CC}">
              <c16:uniqueId val="{00000001-F558-9343-9A20-69C811EBF0E4}"/>
            </c:ext>
          </c:extLst>
        </c:ser>
        <c:dLbls>
          <c:showLegendKey val="0"/>
          <c:showVal val="0"/>
          <c:showCatName val="0"/>
          <c:showSerName val="0"/>
          <c:showPercent val="0"/>
          <c:showBubbleSize val="0"/>
        </c:dLbls>
        <c:axId val="-2128940872"/>
        <c:axId val="-2129643912"/>
      </c:scatterChart>
      <c:valAx>
        <c:axId val="-2128940872"/>
        <c:scaling>
          <c:orientation val="minMax"/>
          <c:max val="350"/>
          <c:min val="-50"/>
        </c:scaling>
        <c:delete val="0"/>
        <c:axPos val="b"/>
        <c:majorGridlines>
          <c:spPr>
            <a:ln w="9525">
              <a:solidFill>
                <a:srgbClr val="E3E8ED"/>
              </a:solidFill>
            </a:ln>
          </c:spPr>
        </c:majorGridlines>
        <c:title>
          <c:tx>
            <c:rich>
              <a:bodyPr/>
              <a:lstStyle/>
              <a:p>
                <a:pPr>
                  <a:defRPr/>
                </a:pPr>
                <a:r>
                  <a:rPr lang="en-US" sz="1200" b="0" i="0">
                    <a:solidFill>
                      <a:srgbClr val="506476"/>
                    </a:solidFill>
                  </a:rPr>
                  <a:t>M (g)</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50"/>
      </c:valAx>
      <c:valAx>
        <c:axId val="-2129643912"/>
        <c:scaling>
          <c:orientation val="minMax"/>
          <c:max val="1.4"/>
          <c:min val="0"/>
        </c:scaling>
        <c:delete val="0"/>
        <c:axPos val="l"/>
        <c:majorGridlines>
          <c:spPr>
            <a:ln w="9525">
              <a:solidFill>
                <a:srgbClr val="E3E8ED"/>
              </a:solidFill>
            </a:ln>
          </c:spPr>
        </c:majorGridlines>
        <c:title>
          <c:tx>
            <c:rich>
              <a:bodyPr/>
              <a:lstStyle/>
              <a:p>
                <a:pPr>
                  <a:defRPr/>
                </a:pPr>
                <a:r>
                  <a:rPr lang="en-US" sz="1200" b="0" i="0">
                    <a:solidFill>
                      <a:srgbClr val="506476"/>
                    </a:solidFill>
                  </a:rPr>
                  <a:t>T² (s²)</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2"/>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Balmer lines</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0.1111111111111111</c:v>
                </c:pt>
                <c:pt idx="1">
                  <c:v>6.25E-2</c:v>
                </c:pt>
                <c:pt idx="2">
                  <c:v>0.04</c:v>
                </c:pt>
                <c:pt idx="3">
                  <c:v>2.7777777777777776E-2</c:v>
                </c:pt>
                <c:pt idx="4">
                  <c:v>2.0408163265306121E-2</c:v>
                </c:pt>
              </c:numCache>
            </c:numRef>
          </c:xVal>
          <c:yVal>
            <c:numRef>
              <c:f>Sheet1!$B$2:$B$6</c:f>
              <c:numCache>
                <c:formatCode>General</c:formatCode>
                <c:ptCount val="5"/>
                <c:pt idx="0">
                  <c:v>1.5233190487343944</c:v>
                </c:pt>
                <c:pt idx="1">
                  <c:v>2.0564884421782335</c:v>
                </c:pt>
                <c:pt idx="2">
                  <c:v>2.30323448727902</c:v>
                </c:pt>
                <c:pt idx="3">
                  <c:v>2.4373256192602279</c:v>
                </c:pt>
                <c:pt idx="4">
                  <c:v>2.5181158208421328</c:v>
                </c:pt>
              </c:numCache>
            </c:numRef>
          </c:yVal>
          <c:smooth val="0"/>
          <c:extLst>
            <c:ext xmlns:c16="http://schemas.microsoft.com/office/drawing/2014/chart" uri="{C3380CC4-5D6E-409C-BE32-E72D297353CC}">
              <c16:uniqueId val="{00000000-E0EF-724E-B52B-3D8F7145D99F}"/>
            </c:ext>
          </c:extLst>
        </c:ser>
        <c:dLbls>
          <c:showLegendKey val="0"/>
          <c:showVal val="0"/>
          <c:showCatName val="0"/>
          <c:showSerName val="0"/>
          <c:showPercent val="0"/>
          <c:showBubbleSize val="0"/>
        </c:dLbls>
        <c:axId val="-2128940872"/>
        <c:axId val="-2129643912"/>
      </c:scatterChart>
      <c:valAx>
        <c:axId val="-2128940872"/>
        <c:scaling>
          <c:orientation val="minMax"/>
          <c:max val="0.12"/>
          <c:min val="0"/>
        </c:scaling>
        <c:delete val="0"/>
        <c:axPos val="b"/>
        <c:majorGridlines>
          <c:spPr>
            <a:ln w="9525">
              <a:solidFill>
                <a:srgbClr val="E3E8ED"/>
              </a:solidFill>
            </a:ln>
          </c:spPr>
        </c:majorGridlines>
        <c:title>
          <c:tx>
            <c:rich>
              <a:bodyPr/>
              <a:lstStyle/>
              <a:p>
                <a:pPr>
                  <a:defRPr/>
                </a:pPr>
                <a:r>
                  <a:rPr lang="en-US" sz="1200" b="0" i="0">
                    <a:solidFill>
                      <a:srgbClr val="506476"/>
                    </a:solidFill>
                  </a:rPr>
                  <a:t>1/n²</a:t>
                </a:r>
              </a:p>
            </c:rich>
          </c:tx>
          <c:overlay val="0"/>
        </c:title>
        <c:numFmt formatCode="0.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0.02"/>
      </c:valAx>
      <c:valAx>
        <c:axId val="-2129643912"/>
        <c:scaling>
          <c:orientation val="minMax"/>
          <c:max val="2.8"/>
          <c:min val="1.4"/>
        </c:scaling>
        <c:delete val="0"/>
        <c:axPos val="l"/>
        <c:majorGridlines>
          <c:spPr>
            <a:ln w="9525">
              <a:solidFill>
                <a:srgbClr val="E3E8ED"/>
              </a:solidFill>
            </a:ln>
          </c:spPr>
        </c:majorGridlines>
        <c:title>
          <c:tx>
            <c:rich>
              <a:bodyPr/>
              <a:lstStyle/>
              <a:p>
                <a:pPr>
                  <a:defRPr/>
                </a:pPr>
                <a:r>
                  <a:rPr lang="el-GR" sz="1200" b="0" i="0">
                    <a:solidFill>
                      <a:srgbClr val="506476"/>
                    </a:solidFill>
                  </a:rPr>
                  <a:t>1/λ (µ</a:t>
                </a:r>
                <a:r>
                  <a:rPr lang="en-US" sz="1200" b="0" i="0">
                    <a:solidFill>
                      <a:srgbClr val="506476"/>
                    </a:solidFill>
                  </a:rPr>
                  <a:t>m⁻¹)</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2"/>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Balmer lines</c:v>
                </c:pt>
              </c:strCache>
            </c:strRef>
          </c:tx>
          <c:spPr>
            <a:ln>
              <a:noFill/>
            </a:ln>
          </c:spPr>
          <c:marker>
            <c:symbol val="circle"/>
            <c:size val="9"/>
            <c:spPr>
              <a:solidFill>
                <a:srgbClr val="152D42"/>
              </a:solidFill>
              <a:ln>
                <a:solidFill>
                  <a:srgbClr val="152D42"/>
                </a:solidFill>
              </a:ln>
            </c:spPr>
          </c:marker>
          <c:xVal>
            <c:numRef>
              <c:f>Sheet1!$A$2:$A$6</c:f>
              <c:numCache>
                <c:formatCode>General</c:formatCode>
                <c:ptCount val="5"/>
                <c:pt idx="0">
                  <c:v>0.1111111111111111</c:v>
                </c:pt>
                <c:pt idx="1">
                  <c:v>6.25E-2</c:v>
                </c:pt>
                <c:pt idx="2">
                  <c:v>0.04</c:v>
                </c:pt>
                <c:pt idx="3">
                  <c:v>2.7777777777777776E-2</c:v>
                </c:pt>
                <c:pt idx="4">
                  <c:v>2.0408163265306121E-2</c:v>
                </c:pt>
              </c:numCache>
            </c:numRef>
          </c:xVal>
          <c:yVal>
            <c:numRef>
              <c:f>Sheet1!$B$2:$B$6</c:f>
              <c:numCache>
                <c:formatCode>General</c:formatCode>
                <c:ptCount val="5"/>
                <c:pt idx="0">
                  <c:v>1.5233190487343944</c:v>
                </c:pt>
                <c:pt idx="1">
                  <c:v>2.0564884421782335</c:v>
                </c:pt>
                <c:pt idx="2">
                  <c:v>2.30323448727902</c:v>
                </c:pt>
                <c:pt idx="3">
                  <c:v>2.4373256192602279</c:v>
                </c:pt>
                <c:pt idx="4">
                  <c:v>2.5181158208421328</c:v>
                </c:pt>
              </c:numCache>
            </c:numRef>
          </c:yVal>
          <c:smooth val="0"/>
          <c:extLst>
            <c:ext xmlns:c16="http://schemas.microsoft.com/office/drawing/2014/chart" uri="{C3380CC4-5D6E-409C-BE32-E72D297353CC}">
              <c16:uniqueId val="{00000000-5A24-0542-BE49-C002005FAE04}"/>
            </c:ext>
          </c:extLst>
        </c:ser>
        <c:ser>
          <c:idx val="1"/>
          <c:order val="1"/>
          <c:tx>
            <c:strRef>
              <c:f>Sheet1!$B$8</c:f>
              <c:strCache>
                <c:ptCount val="1"/>
                <c:pt idx="0">
                  <c:v>fit</c:v>
                </c:pt>
              </c:strCache>
            </c:strRef>
          </c:tx>
          <c:spPr>
            <a:ln w="28575">
              <a:solidFill>
                <a:srgbClr val="A31F34"/>
              </a:solidFill>
            </a:ln>
          </c:spPr>
          <c:marker>
            <c:symbol val="none"/>
          </c:marker>
          <c:xVal>
            <c:numRef>
              <c:f>Sheet1!$A$9:$A$10</c:f>
              <c:numCache>
                <c:formatCode>General</c:formatCode>
                <c:ptCount val="2"/>
                <c:pt idx="0">
                  <c:v>0</c:v>
                </c:pt>
                <c:pt idx="1">
                  <c:v>0.12</c:v>
                </c:pt>
              </c:numCache>
            </c:numRef>
          </c:xVal>
          <c:yVal>
            <c:numRef>
              <c:f>Sheet1!$B$9:$B$10</c:f>
              <c:numCache>
                <c:formatCode>General</c:formatCode>
                <c:ptCount val="2"/>
                <c:pt idx="0">
                  <c:v>2.7419618187629458</c:v>
                </c:pt>
                <c:pt idx="1">
                  <c:v>1.4258313343771023</c:v>
                </c:pt>
              </c:numCache>
            </c:numRef>
          </c:yVal>
          <c:smooth val="0"/>
          <c:extLst>
            <c:ext xmlns:c16="http://schemas.microsoft.com/office/drawing/2014/chart" uri="{C3380CC4-5D6E-409C-BE32-E72D297353CC}">
              <c16:uniqueId val="{00000001-5A24-0542-BE49-C002005FAE04}"/>
            </c:ext>
          </c:extLst>
        </c:ser>
        <c:dLbls>
          <c:showLegendKey val="0"/>
          <c:showVal val="0"/>
          <c:showCatName val="0"/>
          <c:showSerName val="0"/>
          <c:showPercent val="0"/>
          <c:showBubbleSize val="0"/>
        </c:dLbls>
        <c:axId val="-2128940872"/>
        <c:axId val="-2129643912"/>
      </c:scatterChart>
      <c:valAx>
        <c:axId val="-2128940872"/>
        <c:scaling>
          <c:orientation val="minMax"/>
          <c:max val="0.12"/>
          <c:min val="0"/>
        </c:scaling>
        <c:delete val="0"/>
        <c:axPos val="b"/>
        <c:majorGridlines>
          <c:spPr>
            <a:ln w="9525">
              <a:solidFill>
                <a:srgbClr val="E3E8ED"/>
              </a:solidFill>
            </a:ln>
          </c:spPr>
        </c:majorGridlines>
        <c:title>
          <c:tx>
            <c:rich>
              <a:bodyPr/>
              <a:lstStyle/>
              <a:p>
                <a:pPr>
                  <a:defRPr/>
                </a:pPr>
                <a:r>
                  <a:rPr lang="en-US" sz="1200" b="0" i="0">
                    <a:solidFill>
                      <a:srgbClr val="506476"/>
                    </a:solidFill>
                  </a:rPr>
                  <a:t>1/n²</a:t>
                </a:r>
              </a:p>
            </c:rich>
          </c:tx>
          <c:overlay val="0"/>
        </c:title>
        <c:numFmt formatCode="0.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0.02"/>
      </c:valAx>
      <c:valAx>
        <c:axId val="-2129643912"/>
        <c:scaling>
          <c:orientation val="minMax"/>
          <c:max val="2.8"/>
          <c:min val="1.4"/>
        </c:scaling>
        <c:delete val="0"/>
        <c:axPos val="l"/>
        <c:majorGridlines>
          <c:spPr>
            <a:ln w="9525">
              <a:solidFill>
                <a:srgbClr val="E3E8ED"/>
              </a:solidFill>
            </a:ln>
          </c:spPr>
        </c:majorGridlines>
        <c:title>
          <c:tx>
            <c:rich>
              <a:bodyPr/>
              <a:lstStyle/>
              <a:p>
                <a:pPr>
                  <a:defRPr/>
                </a:pPr>
                <a:r>
                  <a:rPr lang="el-GR" sz="1200" b="0" i="0">
                    <a:solidFill>
                      <a:srgbClr val="506476"/>
                    </a:solidFill>
                  </a:rPr>
                  <a:t>1/λ (µ</a:t>
                </a:r>
                <a:r>
                  <a:rPr lang="en-US" sz="1200" b="0" i="0">
                    <a:solidFill>
                      <a:srgbClr val="506476"/>
                    </a:solidFill>
                  </a:rPr>
                  <a:t>m⁻¹)</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2"/>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measured</c:v>
                </c:pt>
              </c:strCache>
            </c:strRef>
          </c:tx>
          <c:spPr>
            <a:ln>
              <a:noFill/>
            </a:ln>
          </c:spPr>
          <c:marker>
            <c:symbol val="circle"/>
            <c:size val="9"/>
            <c:spPr>
              <a:solidFill>
                <a:srgbClr val="152D42"/>
              </a:solidFill>
              <a:ln>
                <a:solidFill>
                  <a:srgbClr val="152D42"/>
                </a:solidFill>
              </a:ln>
            </c:spPr>
          </c:marker>
          <c:xVal>
            <c:numRef>
              <c:f>Sheet1!$A$2:$A$5</c:f>
              <c:numCache>
                <c:formatCode>General</c:formatCode>
                <c:ptCount val="4"/>
                <c:pt idx="0">
                  <c:v>8.2131634734610621</c:v>
                </c:pt>
                <c:pt idx="1">
                  <c:v>7.4085737988380753</c:v>
                </c:pt>
                <c:pt idx="2">
                  <c:v>6.8786116602513614</c:v>
                </c:pt>
                <c:pt idx="3">
                  <c:v>5.4899602984210931</c:v>
                </c:pt>
              </c:numCache>
            </c:numRef>
          </c:xVal>
          <c:yVal>
            <c:numRef>
              <c:f>Sheet1!$B$2:$B$5</c:f>
              <c:numCache>
                <c:formatCode>General</c:formatCode>
                <c:ptCount val="4"/>
                <c:pt idx="0">
                  <c:v>1.51</c:v>
                </c:pt>
                <c:pt idx="1">
                  <c:v>1.175</c:v>
                </c:pt>
                <c:pt idx="2">
                  <c:v>0.94399999999999995</c:v>
                </c:pt>
                <c:pt idx="3">
                  <c:v>0.38</c:v>
                </c:pt>
              </c:numCache>
            </c:numRef>
          </c:yVal>
          <c:smooth val="0"/>
          <c:extLst>
            <c:ext xmlns:c16="http://schemas.microsoft.com/office/drawing/2014/chart" uri="{C3380CC4-5D6E-409C-BE32-E72D297353CC}">
              <c16:uniqueId val="{00000000-4B1F-054E-88E2-B0BFF57EBC5A}"/>
            </c:ext>
          </c:extLst>
        </c:ser>
        <c:dLbls>
          <c:showLegendKey val="0"/>
          <c:showVal val="0"/>
          <c:showCatName val="0"/>
          <c:showSerName val="0"/>
          <c:showPercent val="0"/>
          <c:showBubbleSize val="0"/>
        </c:dLbls>
        <c:axId val="-2128940872"/>
        <c:axId val="-2129643912"/>
      </c:scatterChart>
      <c:valAx>
        <c:axId val="-2128940872"/>
        <c:scaling>
          <c:orientation val="minMax"/>
          <c:max val="9"/>
          <c:min val="4"/>
        </c:scaling>
        <c:delete val="0"/>
        <c:axPos val="b"/>
        <c:majorGridlines>
          <c:spPr>
            <a:ln w="9525">
              <a:solidFill>
                <a:srgbClr val="E3E8ED"/>
              </a:solidFill>
            </a:ln>
          </c:spPr>
        </c:majorGridlines>
        <c:title>
          <c:tx>
            <c:rich>
              <a:bodyPr/>
              <a:lstStyle/>
              <a:p>
                <a:pPr>
                  <a:defRPr/>
                </a:pPr>
                <a:r>
                  <a:rPr lang="en-US" sz="1200" b="0" i="0">
                    <a:solidFill>
                      <a:srgbClr val="506476"/>
                    </a:solidFill>
                  </a:rPr>
                  <a:t>frequency f (10¹⁴ Hz)</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1.8"/>
          <c:min val="0"/>
        </c:scaling>
        <c:delete val="0"/>
        <c:axPos val="l"/>
        <c:majorGridlines>
          <c:spPr>
            <a:ln w="9525">
              <a:solidFill>
                <a:srgbClr val="E3E8ED"/>
              </a:solidFill>
            </a:ln>
          </c:spPr>
        </c:majorGridlines>
        <c:title>
          <c:tx>
            <c:rich>
              <a:bodyPr/>
              <a:lstStyle/>
              <a:p>
                <a:pPr>
                  <a:defRPr/>
                </a:pPr>
                <a:r>
                  <a:rPr lang="en-US" sz="1200" b="0" i="0">
                    <a:solidFill>
                      <a:srgbClr val="506476"/>
                    </a:solidFill>
                  </a:rPr>
                  <a:t>stopping voltage Vₛ (V)</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3"/>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8"/>
        </c:manualLayout>
      </c:layout>
      <c:scatterChart>
        <c:scatterStyle val="lineMarker"/>
        <c:varyColors val="0"/>
        <c:ser>
          <c:idx val="0"/>
          <c:order val="0"/>
          <c:tx>
            <c:strRef>
              <c:f>Sheet1!$B$1</c:f>
              <c:strCache>
                <c:ptCount val="1"/>
                <c:pt idx="0">
                  <c:v>measured</c:v>
                </c:pt>
              </c:strCache>
            </c:strRef>
          </c:tx>
          <c:spPr>
            <a:ln>
              <a:noFill/>
            </a:ln>
          </c:spPr>
          <c:marker>
            <c:symbol val="circle"/>
            <c:size val="9"/>
            <c:spPr>
              <a:solidFill>
                <a:srgbClr val="152D42"/>
              </a:solidFill>
              <a:ln>
                <a:solidFill>
                  <a:srgbClr val="152D42"/>
                </a:solidFill>
              </a:ln>
            </c:spPr>
          </c:marker>
          <c:xVal>
            <c:numRef>
              <c:f>Sheet1!$A$2:$A$5</c:f>
              <c:numCache>
                <c:formatCode>General</c:formatCode>
                <c:ptCount val="4"/>
                <c:pt idx="0">
                  <c:v>8.2131634734610621</c:v>
                </c:pt>
                <c:pt idx="1">
                  <c:v>7.4085737988380753</c:v>
                </c:pt>
                <c:pt idx="2">
                  <c:v>6.8786116602513614</c:v>
                </c:pt>
                <c:pt idx="3">
                  <c:v>5.4899602984210931</c:v>
                </c:pt>
              </c:numCache>
            </c:numRef>
          </c:xVal>
          <c:yVal>
            <c:numRef>
              <c:f>Sheet1!$B$2:$B$5</c:f>
              <c:numCache>
                <c:formatCode>General</c:formatCode>
                <c:ptCount val="4"/>
                <c:pt idx="0">
                  <c:v>1.51</c:v>
                </c:pt>
                <c:pt idx="1">
                  <c:v>1.175</c:v>
                </c:pt>
                <c:pt idx="2">
                  <c:v>0.94399999999999995</c:v>
                </c:pt>
                <c:pt idx="3">
                  <c:v>0.38</c:v>
                </c:pt>
              </c:numCache>
            </c:numRef>
          </c:yVal>
          <c:smooth val="0"/>
          <c:extLst>
            <c:ext xmlns:c16="http://schemas.microsoft.com/office/drawing/2014/chart" uri="{C3380CC4-5D6E-409C-BE32-E72D297353CC}">
              <c16:uniqueId val="{00000000-88E4-F64B-BA11-E1ADC204F282}"/>
            </c:ext>
          </c:extLst>
        </c:ser>
        <c:ser>
          <c:idx val="1"/>
          <c:order val="1"/>
          <c:tx>
            <c:strRef>
              <c:f>Sheet1!$B$7</c:f>
              <c:strCache>
                <c:ptCount val="1"/>
                <c:pt idx="0">
                  <c:v>fit</c:v>
                </c:pt>
              </c:strCache>
            </c:strRef>
          </c:tx>
          <c:spPr>
            <a:ln w="28575">
              <a:solidFill>
                <a:srgbClr val="A31F34"/>
              </a:solidFill>
            </a:ln>
          </c:spPr>
          <c:marker>
            <c:symbol val="none"/>
          </c:marker>
          <c:xVal>
            <c:numRef>
              <c:f>Sheet1!$A$8:$A$9</c:f>
              <c:numCache>
                <c:formatCode>General</c:formatCode>
                <c:ptCount val="2"/>
                <c:pt idx="0">
                  <c:v>4.5837024051981157</c:v>
                </c:pt>
                <c:pt idx="1">
                  <c:v>9</c:v>
                </c:pt>
              </c:numCache>
            </c:numRef>
          </c:xVal>
          <c:yVal>
            <c:numRef>
              <c:f>Sheet1!$B$8:$B$9</c:f>
              <c:numCache>
                <c:formatCode>General</c:formatCode>
                <c:ptCount val="2"/>
                <c:pt idx="0">
                  <c:v>0</c:v>
                </c:pt>
                <c:pt idx="1">
                  <c:v>1.8336634842691788</c:v>
                </c:pt>
              </c:numCache>
            </c:numRef>
          </c:yVal>
          <c:smooth val="0"/>
          <c:extLst>
            <c:ext xmlns:c16="http://schemas.microsoft.com/office/drawing/2014/chart" uri="{C3380CC4-5D6E-409C-BE32-E72D297353CC}">
              <c16:uniqueId val="{00000001-88E4-F64B-BA11-E1ADC204F282}"/>
            </c:ext>
          </c:extLst>
        </c:ser>
        <c:dLbls>
          <c:showLegendKey val="0"/>
          <c:showVal val="0"/>
          <c:showCatName val="0"/>
          <c:showSerName val="0"/>
          <c:showPercent val="0"/>
          <c:showBubbleSize val="0"/>
        </c:dLbls>
        <c:axId val="-2128940872"/>
        <c:axId val="-2129643912"/>
      </c:scatterChart>
      <c:valAx>
        <c:axId val="-2128940872"/>
        <c:scaling>
          <c:orientation val="minMax"/>
          <c:max val="9"/>
          <c:min val="4"/>
        </c:scaling>
        <c:delete val="0"/>
        <c:axPos val="b"/>
        <c:majorGridlines>
          <c:spPr>
            <a:ln w="9525">
              <a:solidFill>
                <a:srgbClr val="E3E8ED"/>
              </a:solidFill>
            </a:ln>
          </c:spPr>
        </c:majorGridlines>
        <c:title>
          <c:tx>
            <c:rich>
              <a:bodyPr/>
              <a:lstStyle/>
              <a:p>
                <a:pPr>
                  <a:defRPr/>
                </a:pPr>
                <a:r>
                  <a:rPr lang="en-US" sz="1200" b="0" i="0">
                    <a:solidFill>
                      <a:srgbClr val="506476"/>
                    </a:solidFill>
                  </a:rPr>
                  <a:t>frequency f (10¹⁴ Hz)</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1.8"/>
          <c:min val="0"/>
        </c:scaling>
        <c:delete val="0"/>
        <c:axPos val="l"/>
        <c:majorGridlines>
          <c:spPr>
            <a:ln w="9525">
              <a:solidFill>
                <a:srgbClr val="E3E8ED"/>
              </a:solidFill>
            </a:ln>
          </c:spPr>
        </c:majorGridlines>
        <c:title>
          <c:tx>
            <c:rich>
              <a:bodyPr/>
              <a:lstStyle/>
              <a:p>
                <a:pPr>
                  <a:defRPr/>
                </a:pPr>
                <a:r>
                  <a:rPr lang="en-US" sz="1200" b="0" i="0">
                    <a:solidFill>
                      <a:srgbClr val="506476"/>
                    </a:solidFill>
                  </a:rPr>
                  <a:t>stopping voltage Vₛ (V)</a:t>
                </a:r>
              </a:p>
            </c:rich>
          </c:tx>
          <c:overlay val="0"/>
        </c:title>
        <c:numFmt formatCode="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3"/>
      </c:valAx>
    </c:plotArea>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ln V, measured</c:v>
                </c:pt>
              </c:strCache>
            </c:strRef>
          </c:tx>
          <c:spPr>
            <a:ln>
              <a:noFill/>
            </a:ln>
          </c:spPr>
          <c:marker>
            <c:symbol val="circle"/>
            <c:size val="8"/>
            <c:spPr>
              <a:solidFill>
                <a:srgbClr val="152D42"/>
              </a:solidFill>
              <a:ln>
                <a:solidFill>
                  <a:srgbClr val="152D42"/>
                </a:solidFill>
              </a:ln>
            </c:spPr>
          </c:marker>
          <c:xVal>
            <c:numRef>
              <c:f>Sheet1!$A$2:$A$17</c:f>
              <c:numCache>
                <c:formatCode>General</c:formatCode>
                <c:ptCount val="1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numCache>
            </c:numRef>
          </c:xVal>
          <c:yVal>
            <c:numRef>
              <c:f>Sheet1!$B$2:$B$17</c:f>
              <c:numCache>
                <c:formatCode>General</c:formatCode>
                <c:ptCount val="16"/>
                <c:pt idx="0">
                  <c:v>1.6296416271406871</c:v>
                </c:pt>
                <c:pt idx="1">
                  <c:v>1.3707830605660867</c:v>
                </c:pt>
                <c:pt idx="2">
                  <c:v>1.1880782699614731</c:v>
                </c:pt>
                <c:pt idx="3">
                  <c:v>0.96544616464595745</c:v>
                </c:pt>
                <c:pt idx="4">
                  <c:v>0.75383731413670063</c:v>
                </c:pt>
                <c:pt idx="5">
                  <c:v>0.54344982611644033</c:v>
                </c:pt>
                <c:pt idx="6">
                  <c:v>0.31243549954378197</c:v>
                </c:pt>
                <c:pt idx="7">
                  <c:v>0.1177541927326106</c:v>
                </c:pt>
                <c:pt idx="8">
                  <c:v>-0.10137952489491037</c:v>
                </c:pt>
                <c:pt idx="9">
                  <c:v>-0.27276589144261665</c:v>
                </c:pt>
                <c:pt idx="10">
                  <c:v>-0.51596634105109007</c:v>
                </c:pt>
                <c:pt idx="11">
                  <c:v>-0.73452015950319827</c:v>
                </c:pt>
                <c:pt idx="12">
                  <c:v>-0.94657041467411351</c:v>
                </c:pt>
                <c:pt idx="13">
                  <c:v>-1.1632224120120243</c:v>
                </c:pt>
                <c:pt idx="14">
                  <c:v>-1.3798930591741583</c:v>
                </c:pt>
                <c:pt idx="15">
                  <c:v>-1.5859671152641386</c:v>
                </c:pt>
              </c:numCache>
            </c:numRef>
          </c:yVal>
          <c:smooth val="0"/>
          <c:extLst>
            <c:ext xmlns:c16="http://schemas.microsoft.com/office/drawing/2014/chart" uri="{C3380CC4-5D6E-409C-BE32-E72D297353CC}">
              <c16:uniqueId val="{00000000-A993-8D4F-A767-652AD7C3B8C6}"/>
            </c:ext>
          </c:extLst>
        </c:ser>
        <c:ser>
          <c:idx val="1"/>
          <c:order val="1"/>
          <c:tx>
            <c:strRef>
              <c:f>Sheet1!$B$19</c:f>
              <c:strCache>
                <c:ptCount val="1"/>
                <c:pt idx="0">
                  <c:v>straight-line fit</c:v>
                </c:pt>
              </c:strCache>
            </c:strRef>
          </c:tx>
          <c:spPr>
            <a:ln w="28575">
              <a:solidFill>
                <a:srgbClr val="A31F34"/>
              </a:solidFill>
            </a:ln>
          </c:spPr>
          <c:marker>
            <c:symbol val="none"/>
          </c:marker>
          <c:xVal>
            <c:numRef>
              <c:f>Sheet1!$A$20:$A$21</c:f>
              <c:numCache>
                <c:formatCode>General</c:formatCode>
                <c:ptCount val="2"/>
                <c:pt idx="0">
                  <c:v>0</c:v>
                </c:pt>
                <c:pt idx="1">
                  <c:v>150</c:v>
                </c:pt>
              </c:numCache>
            </c:numRef>
          </c:xVal>
          <c:yVal>
            <c:numRef>
              <c:f>Sheet1!$B$20:$B$21</c:f>
              <c:numCache>
                <c:formatCode>General</c:formatCode>
                <c:ptCount val="2"/>
                <c:pt idx="0">
                  <c:v>1.6078915182964413</c:v>
                </c:pt>
                <c:pt idx="1">
                  <c:v>-1.5852488886930067</c:v>
                </c:pt>
              </c:numCache>
            </c:numRef>
          </c:yVal>
          <c:smooth val="0"/>
          <c:extLst>
            <c:ext xmlns:c16="http://schemas.microsoft.com/office/drawing/2014/chart" uri="{C3380CC4-5D6E-409C-BE32-E72D297353CC}">
              <c16:uniqueId val="{00000001-A993-8D4F-A767-652AD7C3B8C6}"/>
            </c:ext>
          </c:extLst>
        </c:ser>
        <c:dLbls>
          <c:showLegendKey val="0"/>
          <c:showVal val="0"/>
          <c:showCatName val="0"/>
          <c:showSerName val="0"/>
          <c:showPercent val="0"/>
          <c:showBubbleSize val="0"/>
        </c:dLbls>
        <c:axId val="-2128940872"/>
        <c:axId val="-2129643912"/>
      </c:scatterChart>
      <c:valAx>
        <c:axId val="-2128940872"/>
        <c:scaling>
          <c:orientation val="minMax"/>
          <c:max val="150"/>
          <c:min val="0"/>
        </c:scaling>
        <c:delete val="0"/>
        <c:axPos val="b"/>
        <c:majorGridlines>
          <c:spPr>
            <a:ln w="9525">
              <a:solidFill>
                <a:srgbClr val="E3E8ED"/>
              </a:solidFill>
            </a:ln>
          </c:spPr>
        </c:majorGridlines>
        <c:title>
          <c:tx>
            <c:rich>
              <a:bodyPr/>
              <a:lstStyle/>
              <a:p>
                <a:pPr>
                  <a:defRPr/>
                </a:pPr>
                <a:r>
                  <a:rPr lang="en-US" sz="1200" b="0" i="0">
                    <a:solidFill>
                      <a:srgbClr val="506476"/>
                    </a:solidFill>
                  </a:rPr>
                  <a:t>t (ms)</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25"/>
      </c:valAx>
      <c:valAx>
        <c:axId val="-2129643912"/>
        <c:scaling>
          <c:orientation val="minMax"/>
          <c:max val="2"/>
          <c:min val="-2"/>
        </c:scaling>
        <c:delete val="0"/>
        <c:axPos val="l"/>
        <c:majorGridlines>
          <c:spPr>
            <a:ln w="9525">
              <a:solidFill>
                <a:srgbClr val="E3E8ED"/>
              </a:solidFill>
            </a:ln>
          </c:spPr>
        </c:majorGridlines>
        <c:title>
          <c:tx>
            <c:rich>
              <a:bodyPr/>
              <a:lstStyle/>
              <a:p>
                <a:pPr>
                  <a:defRPr/>
                </a:pPr>
                <a:r>
                  <a:rPr lang="en-US" sz="1200" b="0" i="0">
                    <a:solidFill>
                      <a:srgbClr val="506476"/>
                    </a:solidFill>
                  </a:rPr>
                  <a:t>ln V  (V in volts)</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0.5"/>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8"/>
          <c:y val="0.04"/>
          <c:w val="0.78"/>
          <c:h val="0.7"/>
        </c:manualLayout>
      </c:layout>
      <c:scatterChart>
        <c:scatterStyle val="lineMarker"/>
        <c:varyColors val="0"/>
        <c:ser>
          <c:idx val="0"/>
          <c:order val="0"/>
          <c:tx>
            <c:strRef>
              <c:f>Sheet1!$B$1</c:f>
              <c:strCache>
                <c:ptCount val="1"/>
                <c:pt idx="0">
                  <c:v>Cauchy fit</c:v>
                </c:pt>
              </c:strCache>
            </c:strRef>
          </c:tx>
          <c:spPr>
            <a:ln w="28575">
              <a:solidFill>
                <a:srgbClr val="A31F34"/>
              </a:solidFill>
            </a:ln>
          </c:spPr>
          <c:marker>
            <c:symbol val="none"/>
          </c:marker>
          <c:xVal>
            <c:numRef>
              <c:f>Sheet1!$A$2:$A$72</c:f>
              <c:numCache>
                <c:formatCode>General</c:formatCode>
                <c:ptCount val="71"/>
                <c:pt idx="0">
                  <c:v>400</c:v>
                </c:pt>
                <c:pt idx="1">
                  <c:v>410.00000000000006</c:v>
                </c:pt>
                <c:pt idx="2">
                  <c:v>420.00000000000006</c:v>
                </c:pt>
                <c:pt idx="3">
                  <c:v>430.00000000000006</c:v>
                </c:pt>
                <c:pt idx="4">
                  <c:v>440</c:v>
                </c:pt>
                <c:pt idx="5">
                  <c:v>450</c:v>
                </c:pt>
                <c:pt idx="6">
                  <c:v>460</c:v>
                </c:pt>
                <c:pt idx="7">
                  <c:v>470.00000000000006</c:v>
                </c:pt>
                <c:pt idx="8">
                  <c:v>480.00000000000006</c:v>
                </c:pt>
                <c:pt idx="9">
                  <c:v>490</c:v>
                </c:pt>
                <c:pt idx="10">
                  <c:v>500</c:v>
                </c:pt>
                <c:pt idx="11">
                  <c:v>510</c:v>
                </c:pt>
                <c:pt idx="12">
                  <c:v>520</c:v>
                </c:pt>
                <c:pt idx="13">
                  <c:v>530</c:v>
                </c:pt>
                <c:pt idx="14">
                  <c:v>540</c:v>
                </c:pt>
                <c:pt idx="15">
                  <c:v>550</c:v>
                </c:pt>
                <c:pt idx="16">
                  <c:v>560</c:v>
                </c:pt>
                <c:pt idx="17">
                  <c:v>570.00000000000011</c:v>
                </c:pt>
                <c:pt idx="18">
                  <c:v>580.00000000000011</c:v>
                </c:pt>
                <c:pt idx="19">
                  <c:v>590.00000000000011</c:v>
                </c:pt>
                <c:pt idx="20">
                  <c:v>600.00000000000011</c:v>
                </c:pt>
                <c:pt idx="21">
                  <c:v>610</c:v>
                </c:pt>
                <c:pt idx="22">
                  <c:v>620</c:v>
                </c:pt>
                <c:pt idx="23">
                  <c:v>630</c:v>
                </c:pt>
                <c:pt idx="24">
                  <c:v>640</c:v>
                </c:pt>
                <c:pt idx="25">
                  <c:v>650</c:v>
                </c:pt>
                <c:pt idx="26">
                  <c:v>660</c:v>
                </c:pt>
                <c:pt idx="27">
                  <c:v>670</c:v>
                </c:pt>
                <c:pt idx="28">
                  <c:v>680</c:v>
                </c:pt>
                <c:pt idx="29">
                  <c:v>690</c:v>
                </c:pt>
                <c:pt idx="30">
                  <c:v>700</c:v>
                </c:pt>
                <c:pt idx="31">
                  <c:v>710</c:v>
                </c:pt>
                <c:pt idx="32">
                  <c:v>720</c:v>
                </c:pt>
                <c:pt idx="33">
                  <c:v>730</c:v>
                </c:pt>
                <c:pt idx="34">
                  <c:v>740</c:v>
                </c:pt>
                <c:pt idx="35">
                  <c:v>750</c:v>
                </c:pt>
                <c:pt idx="36">
                  <c:v>760</c:v>
                </c:pt>
                <c:pt idx="37">
                  <c:v>770</c:v>
                </c:pt>
                <c:pt idx="38">
                  <c:v>780</c:v>
                </c:pt>
                <c:pt idx="39">
                  <c:v>790</c:v>
                </c:pt>
                <c:pt idx="40">
                  <c:v>800</c:v>
                </c:pt>
                <c:pt idx="41">
                  <c:v>810</c:v>
                </c:pt>
                <c:pt idx="42">
                  <c:v>820.00000000000011</c:v>
                </c:pt>
                <c:pt idx="43">
                  <c:v>830.00000000000011</c:v>
                </c:pt>
                <c:pt idx="44">
                  <c:v>840.00000000000011</c:v>
                </c:pt>
                <c:pt idx="45">
                  <c:v>850.00000000000011</c:v>
                </c:pt>
                <c:pt idx="46">
                  <c:v>860.00000000000011</c:v>
                </c:pt>
                <c:pt idx="47">
                  <c:v>870.00000000000011</c:v>
                </c:pt>
                <c:pt idx="48">
                  <c:v>880</c:v>
                </c:pt>
                <c:pt idx="49">
                  <c:v>890</c:v>
                </c:pt>
                <c:pt idx="50">
                  <c:v>900</c:v>
                </c:pt>
                <c:pt idx="51">
                  <c:v>910</c:v>
                </c:pt>
                <c:pt idx="52">
                  <c:v>920</c:v>
                </c:pt>
                <c:pt idx="53">
                  <c:v>930</c:v>
                </c:pt>
                <c:pt idx="54">
                  <c:v>940.00000000000011</c:v>
                </c:pt>
                <c:pt idx="55">
                  <c:v>950.00000000000011</c:v>
                </c:pt>
                <c:pt idx="56">
                  <c:v>960.00000000000011</c:v>
                </c:pt>
                <c:pt idx="57">
                  <c:v>970.00000000000011</c:v>
                </c:pt>
                <c:pt idx="58">
                  <c:v>980</c:v>
                </c:pt>
                <c:pt idx="59">
                  <c:v>990</c:v>
                </c:pt>
                <c:pt idx="60">
                  <c:v>1000</c:v>
                </c:pt>
                <c:pt idx="61">
                  <c:v>1010</c:v>
                </c:pt>
                <c:pt idx="62">
                  <c:v>1020</c:v>
                </c:pt>
                <c:pt idx="63">
                  <c:v>1030</c:v>
                </c:pt>
                <c:pt idx="64">
                  <c:v>1040</c:v>
                </c:pt>
                <c:pt idx="65">
                  <c:v>1050</c:v>
                </c:pt>
                <c:pt idx="66">
                  <c:v>1060</c:v>
                </c:pt>
                <c:pt idx="67">
                  <c:v>1070</c:v>
                </c:pt>
                <c:pt idx="68">
                  <c:v>1080</c:v>
                </c:pt>
                <c:pt idx="69">
                  <c:v>1090</c:v>
                </c:pt>
                <c:pt idx="70">
                  <c:v>1100</c:v>
                </c:pt>
              </c:numCache>
            </c:numRef>
          </c:xVal>
          <c:yVal>
            <c:numRef>
              <c:f>Sheet1!$B$2:$B$72</c:f>
              <c:numCache>
                <c:formatCode>General</c:formatCode>
                <c:ptCount val="71"/>
                <c:pt idx="0">
                  <c:v>1.5308602926088892</c:v>
                </c:pt>
                <c:pt idx="1">
                  <c:v>1.5295934023939002</c:v>
                </c:pt>
                <c:pt idx="2">
                  <c:v>1.5284159226162446</c:v>
                </c:pt>
                <c:pt idx="3">
                  <c:v>1.5273196335245809</c:v>
                </c:pt>
                <c:pt idx="4">
                  <c:v>1.5262972386879292</c:v>
                </c:pt>
                <c:pt idx="5">
                  <c:v>1.5253422432758998</c:v>
                </c:pt>
                <c:pt idx="6">
                  <c:v>1.5244488506562142</c:v>
                </c:pt>
                <c:pt idx="7">
                  <c:v>1.5236118742256166</c:v>
                </c:pt>
                <c:pt idx="8">
                  <c:v>1.5228266619623312</c:v>
                </c:pt>
                <c:pt idx="9">
                  <c:v>1.5220890316447397</c:v>
                </c:pt>
                <c:pt idx="10">
                  <c:v>1.5213952150471262</c:v>
                </c:pt>
                <c:pt idx="11">
                  <c:v>1.5207418097184147</c:v>
                </c:pt>
                <c:pt idx="12">
                  <c:v>1.5201257371887438</c:v>
                </c:pt>
                <c:pt idx="13">
                  <c:v>1.5195442066429745</c:v>
                </c:pt>
                <c:pt idx="14">
                  <c:v>1.5189946832588663</c:v>
                </c:pt>
                <c:pt idx="15">
                  <c:v>1.5184748605377116</c:v>
                </c:pt>
                <c:pt idx="16">
                  <c:v>1.5179826360622728</c:v>
                </c:pt>
                <c:pt idx="17">
                  <c:v>1.5175160902052887</c:v>
                </c:pt>
                <c:pt idx="18">
                  <c:v>1.5170734673851558</c:v>
                </c:pt>
                <c:pt idx="19">
                  <c:v>1.5166531595263808</c:v>
                </c:pt>
                <c:pt idx="20">
                  <c:v>1.5162536914333289</c:v>
                </c:pt>
                <c:pt idx="21">
                  <c:v>1.5158737078284394</c:v>
                </c:pt>
                <c:pt idx="22">
                  <c:v>1.5155119618418957</c:v>
                </c:pt>
                <c:pt idx="23">
                  <c:v>1.5151673047699312</c:v>
                </c:pt>
                <c:pt idx="24">
                  <c:v>1.5148386769444466</c:v>
                </c:pt>
                <c:pt idx="25">
                  <c:v>1.5145250995782331</c:v>
                </c:pt>
                <c:pt idx="26">
                  <c:v>1.5142256674684578</c:v>
                </c:pt>
                <c:pt idx="27">
                  <c:v>1.5139395424567064</c:v>
                </c:pt>
                <c:pt idx="28">
                  <c:v>1.5136659475572436</c:v>
                </c:pt>
                <c:pt idx="29">
                  <c:v>1.5134041616765845</c:v>
                </c:pt>
                <c:pt idx="30">
                  <c:v>1.5131535148572917</c:v>
                </c:pt>
                <c:pt idx="31">
                  <c:v>1.5129133839873488</c:v>
                </c:pt>
                <c:pt idx="32">
                  <c:v>1.5126831889237475</c:v>
                </c:pt>
                <c:pt idx="33">
                  <c:v>1.5124623889852082</c:v>
                </c:pt>
                <c:pt idx="34">
                  <c:v>1.5122504797744025</c:v>
                </c:pt>
                <c:pt idx="35">
                  <c:v>1.5120469902947675</c:v>
                </c:pt>
                <c:pt idx="36">
                  <c:v>1.5118514803311103</c:v>
                </c:pt>
                <c:pt idx="37">
                  <c:v>1.511663538066774</c:v>
                </c:pt>
                <c:pt idx="38">
                  <c:v>1.5114827779132642</c:v>
                </c:pt>
                <c:pt idx="39">
                  <c:v>1.5113088385309537</c:v>
                </c:pt>
                <c:pt idx="40">
                  <c:v>1.5111413810218828</c:v>
                </c:pt>
                <c:pt idx="41">
                  <c:v>1.5109800872777632</c:v>
                </c:pt>
                <c:pt idx="42">
                  <c:v>1.5108246584681355</c:v>
                </c:pt>
                <c:pt idx="43">
                  <c:v>1.5106748136552575</c:v>
                </c:pt>
                <c:pt idx="44">
                  <c:v>1.5105302885237217</c:v>
                </c:pt>
                <c:pt idx="45">
                  <c:v>1.5103908342140728</c:v>
                </c:pt>
                <c:pt idx="46">
                  <c:v>1.5102562162508057</c:v>
                </c:pt>
                <c:pt idx="47">
                  <c:v>1.5101262135561142</c:v>
                </c:pt>
                <c:pt idx="48">
                  <c:v>1.5100006175416427</c:v>
                </c:pt>
                <c:pt idx="49">
                  <c:v>1.509879231271269</c:v>
                </c:pt>
                <c:pt idx="50">
                  <c:v>1.5097618686886356</c:v>
                </c:pt>
                <c:pt idx="51">
                  <c:v>1.5096483539037748</c:v>
                </c:pt>
                <c:pt idx="52">
                  <c:v>1.5095385205337142</c:v>
                </c:pt>
                <c:pt idx="53">
                  <c:v>1.509432211092443</c:v>
                </c:pt>
                <c:pt idx="54">
                  <c:v>1.5093292764260646</c:v>
                </c:pt>
                <c:pt idx="55">
                  <c:v>1.5092295751893476</c:v>
                </c:pt>
                <c:pt idx="56">
                  <c:v>1.5091329733602432</c:v>
                </c:pt>
                <c:pt idx="57">
                  <c:v>1.509039343789258</c:v>
                </c:pt>
                <c:pt idx="58">
                  <c:v>1.5089485657808455</c:v>
                </c:pt>
                <c:pt idx="59">
                  <c:v>1.5088605247042484</c:v>
                </c:pt>
                <c:pt idx="60">
                  <c:v>1.5087751116314421</c:v>
                </c:pt>
                <c:pt idx="61">
                  <c:v>1.5086922230000481</c:v>
                </c:pt>
                <c:pt idx="62">
                  <c:v>1.5086117602992641</c:v>
                </c:pt>
                <c:pt idx="63">
                  <c:v>1.5085336297770369</c:v>
                </c:pt>
                <c:pt idx="64">
                  <c:v>1.5084577421668466</c:v>
                </c:pt>
                <c:pt idx="65">
                  <c:v>1.5083840124326189</c:v>
                </c:pt>
                <c:pt idx="66">
                  <c:v>1.5083123595304042</c:v>
                </c:pt>
                <c:pt idx="67">
                  <c:v>1.5082427061855712</c:v>
                </c:pt>
                <c:pt idx="68">
                  <c:v>1.508174978684377</c:v>
                </c:pt>
                <c:pt idx="69">
                  <c:v>1.5081091066788594</c:v>
                </c:pt>
                <c:pt idx="70">
                  <c:v>1.5080450230040885</c:v>
                </c:pt>
              </c:numCache>
            </c:numRef>
          </c:yVal>
          <c:smooth val="0"/>
          <c:extLst>
            <c:ext xmlns:c16="http://schemas.microsoft.com/office/drawing/2014/chart" uri="{C3380CC4-5D6E-409C-BE32-E72D297353CC}">
              <c16:uniqueId val="{00000000-DE01-0D47-8939-7E815E243251}"/>
            </c:ext>
          </c:extLst>
        </c:ser>
        <c:ser>
          <c:idx val="1"/>
          <c:order val="1"/>
          <c:tx>
            <c:strRef>
              <c:f>Sheet1!$B$74</c:f>
              <c:strCache>
                <c:ptCount val="1"/>
                <c:pt idx="0">
                  <c:v>data sheet, 11 lines</c:v>
                </c:pt>
              </c:strCache>
            </c:strRef>
          </c:tx>
          <c:spPr>
            <a:ln>
              <a:noFill/>
            </a:ln>
          </c:spPr>
          <c:marker>
            <c:symbol val="circle"/>
            <c:size val="8"/>
            <c:spPr>
              <a:solidFill>
                <a:srgbClr val="152D42"/>
              </a:solidFill>
              <a:ln>
                <a:solidFill>
                  <a:srgbClr val="152D42"/>
                </a:solidFill>
              </a:ln>
            </c:spPr>
          </c:marker>
          <c:xVal>
            <c:numRef>
              <c:f>Sheet1!$A$75:$A$85</c:f>
              <c:numCache>
                <c:formatCode>General</c:formatCode>
                <c:ptCount val="11"/>
                <c:pt idx="0">
                  <c:v>404.7</c:v>
                </c:pt>
                <c:pt idx="1">
                  <c:v>435.8</c:v>
                </c:pt>
                <c:pt idx="2">
                  <c:v>480</c:v>
                </c:pt>
                <c:pt idx="3">
                  <c:v>486.1</c:v>
                </c:pt>
                <c:pt idx="4">
                  <c:v>546.1</c:v>
                </c:pt>
                <c:pt idx="5">
                  <c:v>587.6</c:v>
                </c:pt>
                <c:pt idx="6">
                  <c:v>589.29999999999995</c:v>
                </c:pt>
                <c:pt idx="7">
                  <c:v>632.79999999999995</c:v>
                </c:pt>
                <c:pt idx="8">
                  <c:v>643.79999999999995</c:v>
                </c:pt>
                <c:pt idx="9">
                  <c:v>656.3</c:v>
                </c:pt>
                <c:pt idx="10">
                  <c:v>706.5</c:v>
                </c:pt>
              </c:numCache>
            </c:numRef>
          </c:xVal>
          <c:yVal>
            <c:numRef>
              <c:f>Sheet1!$B$75:$B$85</c:f>
              <c:numCache>
                <c:formatCode>General</c:formatCode>
                <c:ptCount val="11"/>
                <c:pt idx="0">
                  <c:v>1.53024</c:v>
                </c:pt>
                <c:pt idx="1">
                  <c:v>1.52668</c:v>
                </c:pt>
                <c:pt idx="2">
                  <c:v>1.5228299999999999</c:v>
                </c:pt>
                <c:pt idx="3">
                  <c:v>1.5223800000000001</c:v>
                </c:pt>
                <c:pt idx="4">
                  <c:v>1.5187200000000001</c:v>
                </c:pt>
                <c:pt idx="5">
                  <c:v>1.5167999999999999</c:v>
                </c:pt>
                <c:pt idx="6">
                  <c:v>1.5167299999999999</c:v>
                </c:pt>
                <c:pt idx="7">
                  <c:v>1.51509</c:v>
                </c:pt>
                <c:pt idx="8">
                  <c:v>1.5147200000000001</c:v>
                </c:pt>
                <c:pt idx="9">
                  <c:v>1.5143200000000001</c:v>
                </c:pt>
                <c:pt idx="10">
                  <c:v>1.5128900000000001</c:v>
                </c:pt>
              </c:numCache>
            </c:numRef>
          </c:yVal>
          <c:smooth val="0"/>
          <c:extLst>
            <c:ext xmlns:c16="http://schemas.microsoft.com/office/drawing/2014/chart" uri="{C3380CC4-5D6E-409C-BE32-E72D297353CC}">
              <c16:uniqueId val="{00000001-DE01-0D47-8939-7E815E243251}"/>
            </c:ext>
          </c:extLst>
        </c:ser>
        <c:ser>
          <c:idx val="2"/>
          <c:order val="2"/>
          <c:tx>
            <c:strRef>
              <c:f>Sheet1!$B$87</c:f>
              <c:strCache>
                <c:ptCount val="1"/>
                <c:pt idx="0">
                  <c:v>data sheet, 1060 nm</c:v>
                </c:pt>
              </c:strCache>
            </c:strRef>
          </c:tx>
          <c:spPr>
            <a:ln>
              <a:noFill/>
            </a:ln>
          </c:spPr>
          <c:marker>
            <c:symbol val="diamond"/>
            <c:size val="10"/>
            <c:spPr>
              <a:solidFill>
                <a:srgbClr val="506476"/>
              </a:solidFill>
              <a:ln>
                <a:solidFill>
                  <a:srgbClr val="506476"/>
                </a:solidFill>
              </a:ln>
            </c:spPr>
          </c:marker>
          <c:xVal>
            <c:numRef>
              <c:f>Sheet1!$A$88:$A$88</c:f>
              <c:numCache>
                <c:formatCode>General</c:formatCode>
                <c:ptCount val="1"/>
                <c:pt idx="0">
                  <c:v>1060</c:v>
                </c:pt>
              </c:numCache>
            </c:numRef>
          </c:xVal>
          <c:yVal>
            <c:numRef>
              <c:f>Sheet1!$B$88:$B$88</c:f>
              <c:numCache>
                <c:formatCode>General</c:formatCode>
                <c:ptCount val="1"/>
                <c:pt idx="0">
                  <c:v>1.5066900000000001</c:v>
                </c:pt>
              </c:numCache>
            </c:numRef>
          </c:yVal>
          <c:smooth val="0"/>
          <c:extLst>
            <c:ext xmlns:c16="http://schemas.microsoft.com/office/drawing/2014/chart" uri="{C3380CC4-5D6E-409C-BE32-E72D297353CC}">
              <c16:uniqueId val="{00000002-DE01-0D47-8939-7E815E243251}"/>
            </c:ext>
          </c:extLst>
        </c:ser>
        <c:dLbls>
          <c:showLegendKey val="0"/>
          <c:showVal val="0"/>
          <c:showCatName val="0"/>
          <c:showSerName val="0"/>
          <c:showPercent val="0"/>
          <c:showBubbleSize val="0"/>
        </c:dLbls>
        <c:axId val="-2128940872"/>
        <c:axId val="-2129643912"/>
      </c:scatterChart>
      <c:valAx>
        <c:axId val="-2128940872"/>
        <c:scaling>
          <c:orientation val="minMax"/>
          <c:max val="1100"/>
          <c:min val="400"/>
        </c:scaling>
        <c:delete val="0"/>
        <c:axPos val="b"/>
        <c:majorGridlines>
          <c:spPr>
            <a:ln w="9525">
              <a:solidFill>
                <a:srgbClr val="E3E8ED"/>
              </a:solidFill>
            </a:ln>
          </c:spPr>
        </c:majorGridlines>
        <c:title>
          <c:tx>
            <c:rich>
              <a:bodyPr/>
              <a:lstStyle/>
              <a:p>
                <a:pPr>
                  <a:defRPr/>
                </a:pPr>
                <a:r>
                  <a:rPr lang="en-US" sz="1200" b="0" i="0">
                    <a:solidFill>
                      <a:srgbClr val="506476"/>
                    </a:solidFill>
                  </a:rPr>
                  <a:t>wavelength (nm)</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00"/>
      </c:valAx>
      <c:valAx>
        <c:axId val="-2129643912"/>
        <c:scaling>
          <c:orientation val="minMax"/>
          <c:max val="1.5349999999999999"/>
          <c:min val="1.5049999999999999"/>
        </c:scaling>
        <c:delete val="0"/>
        <c:axPos val="l"/>
        <c:majorGridlines>
          <c:spPr>
            <a:ln w="9525">
              <a:solidFill>
                <a:srgbClr val="E3E8ED"/>
              </a:solidFill>
            </a:ln>
          </c:spPr>
        </c:majorGridlines>
        <c:title>
          <c:tx>
            <c:rich>
              <a:bodyPr/>
              <a:lstStyle/>
              <a:p>
                <a:pPr>
                  <a:defRPr/>
                </a:pPr>
                <a:r>
                  <a:rPr lang="en-US" sz="1200" b="0" i="0">
                    <a:solidFill>
                      <a:srgbClr val="506476"/>
                    </a:solidFill>
                  </a:rPr>
                  <a:t>refractive index n</a:t>
                </a:r>
              </a:p>
            </c:rich>
          </c:tx>
          <c:overlay val="0"/>
        </c:title>
        <c:numFmt formatCode="0.0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5.0000000000000001E-3"/>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4"/>
          <c:w val="0.83"/>
          <c:h val="0.7"/>
        </c:manualLayout>
      </c:layout>
      <c:scatterChart>
        <c:scatterStyle val="lineMarker"/>
        <c:varyColors val="0"/>
        <c:ser>
          <c:idx val="0"/>
          <c:order val="0"/>
          <c:tx>
            <c:strRef>
              <c:f>Sheet1!$B$1</c:f>
              <c:strCache>
                <c:ptCount val="1"/>
                <c:pt idx="0">
                  <c:v>measured</c:v>
                </c:pt>
              </c:strCache>
            </c:strRef>
          </c:tx>
          <c:spPr>
            <a:ln>
              <a:noFill/>
            </a:ln>
          </c:spPr>
          <c:marker>
            <c:symbol val="circle"/>
            <c:size val="8"/>
            <c:spPr>
              <a:solidFill>
                <a:srgbClr val="152D42"/>
              </a:solidFill>
              <a:ln>
                <a:solidFill>
                  <a:srgbClr val="152D42"/>
                </a:solidFill>
              </a:ln>
            </c:spPr>
          </c:marker>
          <c:xVal>
            <c:numRef>
              <c:f>Sheet1!$A$2:$A$9</c:f>
              <c:numCache>
                <c:formatCode>General</c:formatCode>
                <c:ptCount val="8"/>
                <c:pt idx="0">
                  <c:v>2.710525034824636E-2</c:v>
                </c:pt>
                <c:pt idx="1">
                  <c:v>3.8630371575775632E-2</c:v>
                </c:pt>
                <c:pt idx="2">
                  <c:v>5.0549456308038317E-2</c:v>
                </c:pt>
                <c:pt idx="3">
                  <c:v>6.3265704514445145E-2</c:v>
                </c:pt>
                <c:pt idx="4">
                  <c:v>7.6654370483052389E-2</c:v>
                </c:pt>
                <c:pt idx="5">
                  <c:v>9.1670869963186644E-2</c:v>
                </c:pt>
                <c:pt idx="6">
                  <c:v>0.10744176102808198</c:v>
                </c:pt>
                <c:pt idx="7">
                  <c:v>0.12382383148377095</c:v>
                </c:pt>
              </c:numCache>
            </c:numRef>
          </c:xVal>
          <c:yVal>
            <c:numRef>
              <c:f>Sheet1!$B$2:$B$9</c:f>
              <c:numCache>
                <c:formatCode>General</c:formatCode>
                <c:ptCount val="8"/>
                <c:pt idx="0">
                  <c:v>67.239999999999995</c:v>
                </c:pt>
                <c:pt idx="1">
                  <c:v>77.440000000000012</c:v>
                </c:pt>
                <c:pt idx="2">
                  <c:v>88.360000000000014</c:v>
                </c:pt>
                <c:pt idx="3">
                  <c:v>100</c:v>
                </c:pt>
                <c:pt idx="4">
                  <c:v>112.36</c:v>
                </c:pt>
                <c:pt idx="5">
                  <c:v>125.43999999999998</c:v>
                </c:pt>
                <c:pt idx="6">
                  <c:v>139.24</c:v>
                </c:pt>
                <c:pt idx="7">
                  <c:v>153.76000000000002</c:v>
                </c:pt>
              </c:numCache>
            </c:numRef>
          </c:yVal>
          <c:smooth val="0"/>
          <c:extLst>
            <c:ext xmlns:c16="http://schemas.microsoft.com/office/drawing/2014/chart" uri="{C3380CC4-5D6E-409C-BE32-E72D297353CC}">
              <c16:uniqueId val="{00000000-1331-4D4F-A5F9-2213C4A79439}"/>
            </c:ext>
          </c:extLst>
        </c:ser>
        <c:ser>
          <c:idx val="1"/>
          <c:order val="1"/>
          <c:tx>
            <c:strRef>
              <c:f>Sheet1!$B$11</c:f>
              <c:strCache>
                <c:ptCount val="1"/>
                <c:pt idx="0">
                  <c:v>straight-line fit</c:v>
                </c:pt>
              </c:strCache>
            </c:strRef>
          </c:tx>
          <c:spPr>
            <a:ln w="28575">
              <a:solidFill>
                <a:srgbClr val="A31F34"/>
              </a:solidFill>
            </a:ln>
          </c:spPr>
          <c:marker>
            <c:symbol val="none"/>
          </c:marker>
          <c:xVal>
            <c:numRef>
              <c:f>Sheet1!$A$12:$A$13</c:f>
              <c:numCache>
                <c:formatCode>General</c:formatCode>
                <c:ptCount val="2"/>
                <c:pt idx="0">
                  <c:v>0</c:v>
                </c:pt>
                <c:pt idx="1">
                  <c:v>0.14000000000000001</c:v>
                </c:pt>
              </c:numCache>
            </c:numRef>
          </c:xVal>
          <c:yVal>
            <c:numRef>
              <c:f>Sheet1!$B$12:$B$13</c:f>
              <c:numCache>
                <c:formatCode>General</c:formatCode>
                <c:ptCount val="2"/>
                <c:pt idx="0">
                  <c:v>43.100185651969504</c:v>
                </c:pt>
                <c:pt idx="1">
                  <c:v>168.57103785689654</c:v>
                </c:pt>
              </c:numCache>
            </c:numRef>
          </c:yVal>
          <c:smooth val="0"/>
          <c:extLst>
            <c:ext xmlns:c16="http://schemas.microsoft.com/office/drawing/2014/chart" uri="{C3380CC4-5D6E-409C-BE32-E72D297353CC}">
              <c16:uniqueId val="{00000001-1331-4D4F-A5F9-2213C4A79439}"/>
            </c:ext>
          </c:extLst>
        </c:ser>
        <c:dLbls>
          <c:showLegendKey val="0"/>
          <c:showVal val="0"/>
          <c:showCatName val="0"/>
          <c:showSerName val="0"/>
          <c:showPercent val="0"/>
          <c:showBubbleSize val="0"/>
        </c:dLbls>
        <c:axId val="-2128940872"/>
        <c:axId val="-2129643912"/>
      </c:scatterChart>
      <c:valAx>
        <c:axId val="-2128940872"/>
        <c:scaling>
          <c:orientation val="minMax"/>
          <c:max val="0.14000000000000001"/>
          <c:min val="0"/>
        </c:scaling>
        <c:delete val="0"/>
        <c:axPos val="b"/>
        <c:majorGridlines>
          <c:spPr>
            <a:ln w="9525">
              <a:solidFill>
                <a:srgbClr val="E3E8ED"/>
              </a:solidFill>
            </a:ln>
          </c:spPr>
        </c:majorGridlines>
        <c:title>
          <c:tx>
            <c:rich>
              <a:bodyPr/>
              <a:lstStyle/>
              <a:p>
                <a:pPr>
                  <a:defRPr/>
                </a:pPr>
                <a:r>
                  <a:rPr lang="el-GR" sz="1200" b="0" i="0">
                    <a:solidFill>
                      <a:srgbClr val="506476"/>
                    </a:solidFill>
                  </a:rPr>
                  <a:t>1/λ</a:t>
                </a:r>
                <a:r>
                  <a:rPr lang="en-US" sz="1200" b="0" i="0">
                    <a:solidFill>
                      <a:srgbClr val="506476"/>
                    </a:solidFill>
                  </a:rPr>
                  <a:t>g²  (cm⁻²)</a:t>
                </a:r>
              </a:p>
            </c:rich>
          </c:tx>
          <c:overlay val="0"/>
        </c:title>
        <c:numFmt formatCode="0.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0.02"/>
      </c:valAx>
      <c:valAx>
        <c:axId val="-2129643912"/>
        <c:scaling>
          <c:orientation val="minMax"/>
          <c:max val="180"/>
          <c:min val="0"/>
        </c:scaling>
        <c:delete val="0"/>
        <c:axPos val="l"/>
        <c:majorGridlines>
          <c:spPr>
            <a:ln w="9525">
              <a:solidFill>
                <a:srgbClr val="E3E8ED"/>
              </a:solidFill>
            </a:ln>
          </c:spPr>
        </c:majorGridlines>
        <c:title>
          <c:tx>
            <c:rich>
              <a:bodyPr/>
              <a:lstStyle/>
              <a:p>
                <a:pPr>
                  <a:defRPr/>
                </a:pPr>
                <a:r>
                  <a:rPr lang="en-US" sz="1200" b="0" i="0">
                    <a:solidFill>
                      <a:srgbClr val="506476"/>
                    </a:solidFill>
                  </a:rPr>
                  <a:t>f²  (GHz²)</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30"/>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3"/>
          <c:y val="0.05"/>
          <c:w val="0.83"/>
          <c:h val="0.56000000000000005"/>
        </c:manualLayout>
      </c:layout>
      <c:scatterChart>
        <c:scatterStyle val="lineMarker"/>
        <c:varyColors val="0"/>
        <c:ser>
          <c:idx val="0"/>
          <c:order val="0"/>
          <c:tx>
            <c:strRef>
              <c:f>Sheet1!$B$1</c:f>
              <c:strCache>
                <c:ptCount val="1"/>
                <c:pt idx="0">
                  <c:v>hourly height</c:v>
                </c:pt>
              </c:strCache>
            </c:strRef>
          </c:tx>
          <c:spPr>
            <a:ln>
              <a:noFill/>
            </a:ln>
          </c:spPr>
          <c:marker>
            <c:symbol val="circle"/>
            <c:size val="4"/>
            <c:spPr>
              <a:solidFill>
                <a:srgbClr val="152D42"/>
              </a:solidFill>
              <a:ln>
                <a:solidFill>
                  <a:srgbClr val="152D42"/>
                </a:solidFill>
              </a:ln>
            </c:spPr>
          </c:marker>
          <c:xVal>
            <c:numRef>
              <c:f>Sheet1!$A$2:$A$97</c:f>
              <c:numCache>
                <c:formatCode>General</c:formatCode>
                <c:ptCount val="96"/>
                <c:pt idx="0">
                  <c:v>0</c:v>
                </c:pt>
                <c:pt idx="1">
                  <c:v>4.1666666666666664E-2</c:v>
                </c:pt>
                <c:pt idx="2">
                  <c:v>8.3333333333333329E-2</c:v>
                </c:pt>
                <c:pt idx="3">
                  <c:v>0.125</c:v>
                </c:pt>
                <c:pt idx="4">
                  <c:v>0.16666666666666666</c:v>
                </c:pt>
                <c:pt idx="5">
                  <c:v>0.20833333333333334</c:v>
                </c:pt>
                <c:pt idx="6">
                  <c:v>0.25</c:v>
                </c:pt>
                <c:pt idx="7">
                  <c:v>0.29166666666666669</c:v>
                </c:pt>
                <c:pt idx="8">
                  <c:v>0.33333333333333331</c:v>
                </c:pt>
                <c:pt idx="9">
                  <c:v>0.375</c:v>
                </c:pt>
                <c:pt idx="10">
                  <c:v>0.41666666666666669</c:v>
                </c:pt>
                <c:pt idx="11">
                  <c:v>0.45833333333333331</c:v>
                </c:pt>
                <c:pt idx="12">
                  <c:v>0.5</c:v>
                </c:pt>
                <c:pt idx="13">
                  <c:v>0.54166666666666663</c:v>
                </c:pt>
                <c:pt idx="14">
                  <c:v>0.58333333333333337</c:v>
                </c:pt>
                <c:pt idx="15">
                  <c:v>0.625</c:v>
                </c:pt>
                <c:pt idx="16">
                  <c:v>0.66666666666666663</c:v>
                </c:pt>
                <c:pt idx="17">
                  <c:v>0.70833333333333337</c:v>
                </c:pt>
                <c:pt idx="18">
                  <c:v>0.75</c:v>
                </c:pt>
                <c:pt idx="19">
                  <c:v>0.79166666666666663</c:v>
                </c:pt>
                <c:pt idx="20">
                  <c:v>0.83333333333333337</c:v>
                </c:pt>
                <c:pt idx="21">
                  <c:v>0.875</c:v>
                </c:pt>
                <c:pt idx="22">
                  <c:v>0.91666666666666663</c:v>
                </c:pt>
                <c:pt idx="23">
                  <c:v>0.95833333333333337</c:v>
                </c:pt>
                <c:pt idx="24">
                  <c:v>1</c:v>
                </c:pt>
                <c:pt idx="25">
                  <c:v>1.0416666666666667</c:v>
                </c:pt>
                <c:pt idx="26">
                  <c:v>1.0833333333333333</c:v>
                </c:pt>
                <c:pt idx="27">
                  <c:v>1.125</c:v>
                </c:pt>
                <c:pt idx="28">
                  <c:v>1.1666666666666667</c:v>
                </c:pt>
                <c:pt idx="29">
                  <c:v>1.2083333333333333</c:v>
                </c:pt>
                <c:pt idx="30">
                  <c:v>1.25</c:v>
                </c:pt>
                <c:pt idx="31">
                  <c:v>1.2916666666666667</c:v>
                </c:pt>
                <c:pt idx="32">
                  <c:v>1.3333333333333333</c:v>
                </c:pt>
                <c:pt idx="33">
                  <c:v>1.375</c:v>
                </c:pt>
                <c:pt idx="34">
                  <c:v>1.4166666666666667</c:v>
                </c:pt>
                <c:pt idx="35">
                  <c:v>1.4583333333333333</c:v>
                </c:pt>
                <c:pt idx="36">
                  <c:v>1.5</c:v>
                </c:pt>
                <c:pt idx="37">
                  <c:v>1.5416666666666667</c:v>
                </c:pt>
                <c:pt idx="38">
                  <c:v>1.5833333333333333</c:v>
                </c:pt>
                <c:pt idx="39">
                  <c:v>1.625</c:v>
                </c:pt>
                <c:pt idx="40">
                  <c:v>1.6666666666666667</c:v>
                </c:pt>
                <c:pt idx="41">
                  <c:v>1.7083333333333333</c:v>
                </c:pt>
                <c:pt idx="42">
                  <c:v>1.75</c:v>
                </c:pt>
                <c:pt idx="43">
                  <c:v>1.7916666666666667</c:v>
                </c:pt>
                <c:pt idx="44">
                  <c:v>1.8333333333333333</c:v>
                </c:pt>
                <c:pt idx="45">
                  <c:v>1.875</c:v>
                </c:pt>
                <c:pt idx="46">
                  <c:v>1.9166666666666667</c:v>
                </c:pt>
                <c:pt idx="47">
                  <c:v>1.9583333333333333</c:v>
                </c:pt>
                <c:pt idx="48">
                  <c:v>2</c:v>
                </c:pt>
                <c:pt idx="49">
                  <c:v>2.0416666666666665</c:v>
                </c:pt>
                <c:pt idx="50">
                  <c:v>2.0833333333333335</c:v>
                </c:pt>
                <c:pt idx="51">
                  <c:v>2.125</c:v>
                </c:pt>
                <c:pt idx="52">
                  <c:v>2.1666666666666665</c:v>
                </c:pt>
                <c:pt idx="53">
                  <c:v>2.2083333333333335</c:v>
                </c:pt>
                <c:pt idx="54">
                  <c:v>2.25</c:v>
                </c:pt>
                <c:pt idx="55">
                  <c:v>2.2916666666666665</c:v>
                </c:pt>
                <c:pt idx="56">
                  <c:v>2.3333333333333335</c:v>
                </c:pt>
                <c:pt idx="57">
                  <c:v>2.375</c:v>
                </c:pt>
                <c:pt idx="58">
                  <c:v>2.4166666666666665</c:v>
                </c:pt>
                <c:pt idx="59">
                  <c:v>2.4583333333333335</c:v>
                </c:pt>
                <c:pt idx="60">
                  <c:v>2.5</c:v>
                </c:pt>
                <c:pt idx="61">
                  <c:v>2.5416666666666665</c:v>
                </c:pt>
                <c:pt idx="62">
                  <c:v>2.5833333333333335</c:v>
                </c:pt>
                <c:pt idx="63">
                  <c:v>2.625</c:v>
                </c:pt>
                <c:pt idx="64">
                  <c:v>2.6666666666666665</c:v>
                </c:pt>
                <c:pt idx="65">
                  <c:v>2.7083333333333335</c:v>
                </c:pt>
                <c:pt idx="66">
                  <c:v>2.75</c:v>
                </c:pt>
                <c:pt idx="67">
                  <c:v>2.7916666666666665</c:v>
                </c:pt>
                <c:pt idx="68">
                  <c:v>2.8333333333333335</c:v>
                </c:pt>
                <c:pt idx="69">
                  <c:v>2.875</c:v>
                </c:pt>
                <c:pt idx="70">
                  <c:v>2.9166666666666665</c:v>
                </c:pt>
                <c:pt idx="71">
                  <c:v>2.9583333333333335</c:v>
                </c:pt>
                <c:pt idx="72">
                  <c:v>3</c:v>
                </c:pt>
                <c:pt idx="73">
                  <c:v>3.0416666666666665</c:v>
                </c:pt>
                <c:pt idx="74">
                  <c:v>3.0833333333333335</c:v>
                </c:pt>
                <c:pt idx="75">
                  <c:v>3.125</c:v>
                </c:pt>
                <c:pt idx="76">
                  <c:v>3.1666666666666665</c:v>
                </c:pt>
                <c:pt idx="77">
                  <c:v>3.2083333333333335</c:v>
                </c:pt>
                <c:pt idx="78">
                  <c:v>3.25</c:v>
                </c:pt>
                <c:pt idx="79">
                  <c:v>3.2916666666666665</c:v>
                </c:pt>
                <c:pt idx="80">
                  <c:v>3.3333333333333335</c:v>
                </c:pt>
                <c:pt idx="81">
                  <c:v>3.375</c:v>
                </c:pt>
                <c:pt idx="82">
                  <c:v>3.4166666666666665</c:v>
                </c:pt>
                <c:pt idx="83">
                  <c:v>3.4583333333333335</c:v>
                </c:pt>
                <c:pt idx="84">
                  <c:v>3.5</c:v>
                </c:pt>
                <c:pt idx="85">
                  <c:v>3.5416666666666665</c:v>
                </c:pt>
                <c:pt idx="86">
                  <c:v>3.5833333333333335</c:v>
                </c:pt>
                <c:pt idx="87">
                  <c:v>3.625</c:v>
                </c:pt>
                <c:pt idx="88">
                  <c:v>3.6666666666666665</c:v>
                </c:pt>
                <c:pt idx="89">
                  <c:v>3.7083333333333335</c:v>
                </c:pt>
                <c:pt idx="90">
                  <c:v>3.75</c:v>
                </c:pt>
                <c:pt idx="91">
                  <c:v>3.7916666666666665</c:v>
                </c:pt>
                <c:pt idx="92">
                  <c:v>3.8333333333333335</c:v>
                </c:pt>
                <c:pt idx="93">
                  <c:v>3.875</c:v>
                </c:pt>
                <c:pt idx="94">
                  <c:v>3.9166666666666665</c:v>
                </c:pt>
                <c:pt idx="95">
                  <c:v>3.9583333333333335</c:v>
                </c:pt>
              </c:numCache>
            </c:numRef>
          </c:xVal>
          <c:yVal>
            <c:numRef>
              <c:f>Sheet1!$B$2:$B$97</c:f>
              <c:numCache>
                <c:formatCode>General</c:formatCode>
                <c:ptCount val="96"/>
                <c:pt idx="0">
                  <c:v>1.2685787320081339</c:v>
                </c:pt>
                <c:pt idx="1">
                  <c:v>0.65173024272362945</c:v>
                </c:pt>
                <c:pt idx="2">
                  <c:v>-0.19944778232223176</c:v>
                </c:pt>
                <c:pt idx="3">
                  <c:v>-0.99455607677818314</c:v>
                </c:pt>
                <c:pt idx="4">
                  <c:v>-1.5197436149987427</c:v>
                </c:pt>
                <c:pt idx="5">
                  <c:v>-1.6859114522814136</c:v>
                </c:pt>
                <c:pt idx="6">
                  <c:v>-1.3388132337101608</c:v>
                </c:pt>
                <c:pt idx="7">
                  <c:v>-0.67944028932145795</c:v>
                </c:pt>
                <c:pt idx="8">
                  <c:v>0.27339365865411902</c:v>
                </c:pt>
                <c:pt idx="9">
                  <c:v>1.0721816008160763</c:v>
                </c:pt>
                <c:pt idx="10">
                  <c:v>1.7608099762565987</c:v>
                </c:pt>
                <c:pt idx="11">
                  <c:v>1.9835700889683585</c:v>
                </c:pt>
                <c:pt idx="12">
                  <c:v>1.7055014633253962</c:v>
                </c:pt>
                <c:pt idx="13">
                  <c:v>1.0161475683804373</c:v>
                </c:pt>
                <c:pt idx="14">
                  <c:v>0.27435734537733386</c:v>
                </c:pt>
                <c:pt idx="15">
                  <c:v>-0.78273732721441314</c:v>
                </c:pt>
                <c:pt idx="16">
                  <c:v>-1.5877940570259403</c:v>
                </c:pt>
                <c:pt idx="17">
                  <c:v>-2.0179536475122606</c:v>
                </c:pt>
                <c:pt idx="18">
                  <c:v>-1.9138637374471965</c:v>
                </c:pt>
                <c:pt idx="19">
                  <c:v>-1.4238023060370144</c:v>
                </c:pt>
                <c:pt idx="20">
                  <c:v>-0.60878471080529106</c:v>
                </c:pt>
                <c:pt idx="21">
                  <c:v>0.33720571616349376</c:v>
                </c:pt>
                <c:pt idx="22">
                  <c:v>1.3159881070161168</c:v>
                </c:pt>
                <c:pt idx="23">
                  <c:v>1.5993715367759789</c:v>
                </c:pt>
                <c:pt idx="24">
                  <c:v>1.6497700756165699</c:v>
                </c:pt>
                <c:pt idx="25">
                  <c:v>1.0789307970970088</c:v>
                </c:pt>
                <c:pt idx="26">
                  <c:v>0.39472486141224294</c:v>
                </c:pt>
                <c:pt idx="27">
                  <c:v>-0.16672043666776393</c:v>
                </c:pt>
                <c:pt idx="28">
                  <c:v>-0.91088431511131429</c:v>
                </c:pt>
                <c:pt idx="29">
                  <c:v>-1.5898218519116922</c:v>
                </c:pt>
                <c:pt idx="30">
                  <c:v>-1.6975426924954997</c:v>
                </c:pt>
                <c:pt idx="31">
                  <c:v>-1.2559630772597261</c:v>
                </c:pt>
                <c:pt idx="32">
                  <c:v>-0.70645136581929102</c:v>
                </c:pt>
                <c:pt idx="33">
                  <c:v>0.35260577438901497</c:v>
                </c:pt>
                <c:pt idx="34">
                  <c:v>1.249879718573339</c:v>
                </c:pt>
                <c:pt idx="35">
                  <c:v>2.033540386628216</c:v>
                </c:pt>
                <c:pt idx="36">
                  <c:v>1.9954384625670771</c:v>
                </c:pt>
                <c:pt idx="37">
                  <c:v>1.7997974457172443</c:v>
                </c:pt>
                <c:pt idx="38">
                  <c:v>1.1082528993116529</c:v>
                </c:pt>
                <c:pt idx="39">
                  <c:v>0.17028731206014586</c:v>
                </c:pt>
                <c:pt idx="40">
                  <c:v>-0.9318218492480429</c:v>
                </c:pt>
                <c:pt idx="41">
                  <c:v>-1.7142029340304785</c:v>
                </c:pt>
                <c:pt idx="42">
                  <c:v>-2.1957317393363227</c:v>
                </c:pt>
                <c:pt idx="43">
                  <c:v>-1.8121664160052038</c:v>
                </c:pt>
                <c:pt idx="44">
                  <c:v>-1.2499458721737464</c:v>
                </c:pt>
                <c:pt idx="45">
                  <c:v>-0.5291325166203481</c:v>
                </c:pt>
                <c:pt idx="46">
                  <c:v>0.4602838469881767</c:v>
                </c:pt>
                <c:pt idx="47">
                  <c:v>1.1047030388264127</c:v>
                </c:pt>
                <c:pt idx="48">
                  <c:v>1.6253705567700454</c:v>
                </c:pt>
                <c:pt idx="49">
                  <c:v>1.6759098460145367</c:v>
                </c:pt>
                <c:pt idx="50">
                  <c:v>1.1186832727265905</c:v>
                </c:pt>
                <c:pt idx="51">
                  <c:v>0.39156225474020417</c:v>
                </c:pt>
                <c:pt idx="52">
                  <c:v>-0.40235123890836805</c:v>
                </c:pt>
                <c:pt idx="53">
                  <c:v>-1.1938392758872651</c:v>
                </c:pt>
                <c:pt idx="54">
                  <c:v>-1.717654375163155</c:v>
                </c:pt>
                <c:pt idx="55">
                  <c:v>-1.5246449396143686</c:v>
                </c:pt>
                <c:pt idx="56">
                  <c:v>-1.05117605122989</c:v>
                </c:pt>
                <c:pt idx="57">
                  <c:v>-0.31590308723761185</c:v>
                </c:pt>
                <c:pt idx="58">
                  <c:v>0.58890347864575676</c:v>
                </c:pt>
                <c:pt idx="59">
                  <c:v>1.4415079492174891</c:v>
                </c:pt>
                <c:pt idx="60">
                  <c:v>1.9919889061696401</c:v>
                </c:pt>
                <c:pt idx="61">
                  <c:v>1.9133660473151608</c:v>
                </c:pt>
                <c:pt idx="62">
                  <c:v>1.7206277335143474</c:v>
                </c:pt>
                <c:pt idx="63">
                  <c:v>0.80172216213327829</c:v>
                </c:pt>
                <c:pt idx="64">
                  <c:v>-8.2744605821136713E-2</c:v>
                </c:pt>
                <c:pt idx="65">
                  <c:v>-1.0444875876740298</c:v>
                </c:pt>
                <c:pt idx="66">
                  <c:v>-1.6824079598265773</c:v>
                </c:pt>
                <c:pt idx="67">
                  <c:v>-1.8489727176884811</c:v>
                </c:pt>
                <c:pt idx="68">
                  <c:v>-1.7442850558903771</c:v>
                </c:pt>
                <c:pt idx="69">
                  <c:v>-1.1807272737447148</c:v>
                </c:pt>
                <c:pt idx="70">
                  <c:v>-0.24917076442554373</c:v>
                </c:pt>
                <c:pt idx="71">
                  <c:v>0.60747697506624487</c:v>
                </c:pt>
                <c:pt idx="72">
                  <c:v>1.1740897984403644</c:v>
                </c:pt>
                <c:pt idx="73">
                  <c:v>1.5032969732704382</c:v>
                </c:pt>
                <c:pt idx="74">
                  <c:v>1.5019474326892657</c:v>
                </c:pt>
                <c:pt idx="75">
                  <c:v>1.1896835672044386</c:v>
                </c:pt>
                <c:pt idx="76">
                  <c:v>0.22195267624932316</c:v>
                </c:pt>
                <c:pt idx="77">
                  <c:v>-0.55361936456964156</c:v>
                </c:pt>
                <c:pt idx="78">
                  <c:v>-1.1959643714400492</c:v>
                </c:pt>
                <c:pt idx="79">
                  <c:v>-1.7562420091648299</c:v>
                </c:pt>
                <c:pt idx="80">
                  <c:v>-1.4580175521454626</c:v>
                </c:pt>
                <c:pt idx="81">
                  <c:v>-0.9938119612925943</c:v>
                </c:pt>
                <c:pt idx="82">
                  <c:v>-0.21775212131516669</c:v>
                </c:pt>
                <c:pt idx="83">
                  <c:v>0.7162860440106249</c:v>
                </c:pt>
                <c:pt idx="84">
                  <c:v>1.2478321582024132</c:v>
                </c:pt>
                <c:pt idx="85">
                  <c:v>1.8793098760182587</c:v>
                </c:pt>
                <c:pt idx="86">
                  <c:v>1.7575032799086499</c:v>
                </c:pt>
                <c:pt idx="87">
                  <c:v>1.4798892746875878</c:v>
                </c:pt>
                <c:pt idx="88">
                  <c:v>0.66571725777926472</c:v>
                </c:pt>
                <c:pt idx="89">
                  <c:v>-0.28505826542709983</c:v>
                </c:pt>
                <c:pt idx="90">
                  <c:v>-1.0677054645239961</c:v>
                </c:pt>
                <c:pt idx="91">
                  <c:v>-1.8472834086370324</c:v>
                </c:pt>
                <c:pt idx="92">
                  <c:v>-1.8790179937978151</c:v>
                </c:pt>
                <c:pt idx="93">
                  <c:v>-1.4437444247025146</c:v>
                </c:pt>
                <c:pt idx="94">
                  <c:v>-0.89576922092648181</c:v>
                </c:pt>
                <c:pt idx="95">
                  <c:v>-0.20760146687051495</c:v>
                </c:pt>
              </c:numCache>
            </c:numRef>
          </c:yVal>
          <c:smooth val="0"/>
          <c:extLst>
            <c:ext xmlns:c16="http://schemas.microsoft.com/office/drawing/2014/chart" uri="{C3380CC4-5D6E-409C-BE32-E72D297353CC}">
              <c16:uniqueId val="{00000000-E815-D145-99BF-1024E150C1B4}"/>
            </c:ext>
          </c:extLst>
        </c:ser>
        <c:ser>
          <c:idx val="1"/>
          <c:order val="1"/>
          <c:tx>
            <c:strRef>
              <c:f>Sheet1!$B$99</c:f>
              <c:strCache>
                <c:ptCount val="1"/>
                <c:pt idx="0">
                  <c:v>five-constituent fit</c:v>
                </c:pt>
              </c:strCache>
            </c:strRef>
          </c:tx>
          <c:spPr>
            <a:ln w="22225">
              <a:solidFill>
                <a:srgbClr val="A31F34"/>
              </a:solidFill>
            </a:ln>
          </c:spPr>
          <c:marker>
            <c:symbol val="none"/>
          </c:marker>
          <c:xVal>
            <c:numRef>
              <c:f>Sheet1!$A$100:$A$195</c:f>
              <c:numCache>
                <c:formatCode>General</c:formatCode>
                <c:ptCount val="96"/>
                <c:pt idx="0">
                  <c:v>0</c:v>
                </c:pt>
                <c:pt idx="1">
                  <c:v>4.1666666666666664E-2</c:v>
                </c:pt>
                <c:pt idx="2">
                  <c:v>8.3333333333333329E-2</c:v>
                </c:pt>
                <c:pt idx="3">
                  <c:v>0.125</c:v>
                </c:pt>
                <c:pt idx="4">
                  <c:v>0.16666666666666666</c:v>
                </c:pt>
                <c:pt idx="5">
                  <c:v>0.20833333333333334</c:v>
                </c:pt>
                <c:pt idx="6">
                  <c:v>0.25</c:v>
                </c:pt>
                <c:pt idx="7">
                  <c:v>0.29166666666666669</c:v>
                </c:pt>
                <c:pt idx="8">
                  <c:v>0.33333333333333331</c:v>
                </c:pt>
                <c:pt idx="9">
                  <c:v>0.375</c:v>
                </c:pt>
                <c:pt idx="10">
                  <c:v>0.41666666666666669</c:v>
                </c:pt>
                <c:pt idx="11">
                  <c:v>0.45833333333333331</c:v>
                </c:pt>
                <c:pt idx="12">
                  <c:v>0.5</c:v>
                </c:pt>
                <c:pt idx="13">
                  <c:v>0.54166666666666663</c:v>
                </c:pt>
                <c:pt idx="14">
                  <c:v>0.58333333333333337</c:v>
                </c:pt>
                <c:pt idx="15">
                  <c:v>0.625</c:v>
                </c:pt>
                <c:pt idx="16">
                  <c:v>0.66666666666666663</c:v>
                </c:pt>
                <c:pt idx="17">
                  <c:v>0.70833333333333337</c:v>
                </c:pt>
                <c:pt idx="18">
                  <c:v>0.75</c:v>
                </c:pt>
                <c:pt idx="19">
                  <c:v>0.79166666666666663</c:v>
                </c:pt>
                <c:pt idx="20">
                  <c:v>0.83333333333333337</c:v>
                </c:pt>
                <c:pt idx="21">
                  <c:v>0.875</c:v>
                </c:pt>
                <c:pt idx="22">
                  <c:v>0.91666666666666663</c:v>
                </c:pt>
                <c:pt idx="23">
                  <c:v>0.95833333333333337</c:v>
                </c:pt>
                <c:pt idx="24">
                  <c:v>1</c:v>
                </c:pt>
                <c:pt idx="25">
                  <c:v>1.0416666666666667</c:v>
                </c:pt>
                <c:pt idx="26">
                  <c:v>1.0833333333333333</c:v>
                </c:pt>
                <c:pt idx="27">
                  <c:v>1.125</c:v>
                </c:pt>
                <c:pt idx="28">
                  <c:v>1.1666666666666667</c:v>
                </c:pt>
                <c:pt idx="29">
                  <c:v>1.2083333333333333</c:v>
                </c:pt>
                <c:pt idx="30">
                  <c:v>1.25</c:v>
                </c:pt>
                <c:pt idx="31">
                  <c:v>1.2916666666666667</c:v>
                </c:pt>
                <c:pt idx="32">
                  <c:v>1.3333333333333333</c:v>
                </c:pt>
                <c:pt idx="33">
                  <c:v>1.375</c:v>
                </c:pt>
                <c:pt idx="34">
                  <c:v>1.4166666666666667</c:v>
                </c:pt>
                <c:pt idx="35">
                  <c:v>1.4583333333333333</c:v>
                </c:pt>
                <c:pt idx="36">
                  <c:v>1.5</c:v>
                </c:pt>
                <c:pt idx="37">
                  <c:v>1.5416666666666667</c:v>
                </c:pt>
                <c:pt idx="38">
                  <c:v>1.5833333333333333</c:v>
                </c:pt>
                <c:pt idx="39">
                  <c:v>1.625</c:v>
                </c:pt>
                <c:pt idx="40">
                  <c:v>1.6666666666666667</c:v>
                </c:pt>
                <c:pt idx="41">
                  <c:v>1.7083333333333333</c:v>
                </c:pt>
                <c:pt idx="42">
                  <c:v>1.75</c:v>
                </c:pt>
                <c:pt idx="43">
                  <c:v>1.7916666666666667</c:v>
                </c:pt>
                <c:pt idx="44">
                  <c:v>1.8333333333333333</c:v>
                </c:pt>
                <c:pt idx="45">
                  <c:v>1.875</c:v>
                </c:pt>
                <c:pt idx="46">
                  <c:v>1.9166666666666667</c:v>
                </c:pt>
                <c:pt idx="47">
                  <c:v>1.9583333333333333</c:v>
                </c:pt>
                <c:pt idx="48">
                  <c:v>2</c:v>
                </c:pt>
                <c:pt idx="49">
                  <c:v>2.0416666666666665</c:v>
                </c:pt>
                <c:pt idx="50">
                  <c:v>2.0833333333333335</c:v>
                </c:pt>
                <c:pt idx="51">
                  <c:v>2.125</c:v>
                </c:pt>
                <c:pt idx="52">
                  <c:v>2.1666666666666665</c:v>
                </c:pt>
                <c:pt idx="53">
                  <c:v>2.2083333333333335</c:v>
                </c:pt>
                <c:pt idx="54">
                  <c:v>2.25</c:v>
                </c:pt>
                <c:pt idx="55">
                  <c:v>2.2916666666666665</c:v>
                </c:pt>
                <c:pt idx="56">
                  <c:v>2.3333333333333335</c:v>
                </c:pt>
                <c:pt idx="57">
                  <c:v>2.375</c:v>
                </c:pt>
                <c:pt idx="58">
                  <c:v>2.4166666666666665</c:v>
                </c:pt>
                <c:pt idx="59">
                  <c:v>2.4583333333333335</c:v>
                </c:pt>
                <c:pt idx="60">
                  <c:v>2.5</c:v>
                </c:pt>
                <c:pt idx="61">
                  <c:v>2.5416666666666665</c:v>
                </c:pt>
                <c:pt idx="62">
                  <c:v>2.5833333333333335</c:v>
                </c:pt>
                <c:pt idx="63">
                  <c:v>2.625</c:v>
                </c:pt>
                <c:pt idx="64">
                  <c:v>2.6666666666666665</c:v>
                </c:pt>
                <c:pt idx="65">
                  <c:v>2.7083333333333335</c:v>
                </c:pt>
                <c:pt idx="66">
                  <c:v>2.75</c:v>
                </c:pt>
                <c:pt idx="67">
                  <c:v>2.7916666666666665</c:v>
                </c:pt>
                <c:pt idx="68">
                  <c:v>2.8333333333333335</c:v>
                </c:pt>
                <c:pt idx="69">
                  <c:v>2.875</c:v>
                </c:pt>
                <c:pt idx="70">
                  <c:v>2.9166666666666665</c:v>
                </c:pt>
                <c:pt idx="71">
                  <c:v>2.9583333333333335</c:v>
                </c:pt>
                <c:pt idx="72">
                  <c:v>3</c:v>
                </c:pt>
                <c:pt idx="73">
                  <c:v>3.0416666666666665</c:v>
                </c:pt>
                <c:pt idx="74">
                  <c:v>3.0833333333333335</c:v>
                </c:pt>
                <c:pt idx="75">
                  <c:v>3.125</c:v>
                </c:pt>
                <c:pt idx="76">
                  <c:v>3.1666666666666665</c:v>
                </c:pt>
                <c:pt idx="77">
                  <c:v>3.2083333333333335</c:v>
                </c:pt>
                <c:pt idx="78">
                  <c:v>3.25</c:v>
                </c:pt>
                <c:pt idx="79">
                  <c:v>3.2916666666666665</c:v>
                </c:pt>
                <c:pt idx="80">
                  <c:v>3.3333333333333335</c:v>
                </c:pt>
                <c:pt idx="81">
                  <c:v>3.375</c:v>
                </c:pt>
                <c:pt idx="82">
                  <c:v>3.4166666666666665</c:v>
                </c:pt>
                <c:pt idx="83">
                  <c:v>3.4583333333333335</c:v>
                </c:pt>
                <c:pt idx="84">
                  <c:v>3.5</c:v>
                </c:pt>
                <c:pt idx="85">
                  <c:v>3.5416666666666665</c:v>
                </c:pt>
                <c:pt idx="86">
                  <c:v>3.5833333333333335</c:v>
                </c:pt>
                <c:pt idx="87">
                  <c:v>3.625</c:v>
                </c:pt>
                <c:pt idx="88">
                  <c:v>3.6666666666666665</c:v>
                </c:pt>
                <c:pt idx="89">
                  <c:v>3.7083333333333335</c:v>
                </c:pt>
                <c:pt idx="90">
                  <c:v>3.75</c:v>
                </c:pt>
                <c:pt idx="91">
                  <c:v>3.7916666666666665</c:v>
                </c:pt>
                <c:pt idx="92">
                  <c:v>3.8333333333333335</c:v>
                </c:pt>
                <c:pt idx="93">
                  <c:v>3.875</c:v>
                </c:pt>
                <c:pt idx="94">
                  <c:v>3.9166666666666665</c:v>
                </c:pt>
                <c:pt idx="95">
                  <c:v>3.9583333333333335</c:v>
                </c:pt>
              </c:numCache>
            </c:numRef>
          </c:xVal>
          <c:yVal>
            <c:numRef>
              <c:f>Sheet1!$B$100:$B$195</c:f>
              <c:numCache>
                <c:formatCode>General</c:formatCode>
                <c:ptCount val="96"/>
                <c:pt idx="0">
                  <c:v>1.2857831533157067</c:v>
                </c:pt>
                <c:pt idx="1">
                  <c:v>0.63348958553754975</c:v>
                </c:pt>
                <c:pt idx="2">
                  <c:v>-0.19749343741439079</c:v>
                </c:pt>
                <c:pt idx="3">
                  <c:v>-0.98687342260864663</c:v>
                </c:pt>
                <c:pt idx="4">
                  <c:v>-1.5236796891616247</c:v>
                </c:pt>
                <c:pt idx="5">
                  <c:v>-1.6601680145326201</c:v>
                </c:pt>
                <c:pt idx="6">
                  <c:v>-1.3499793119240897</c:v>
                </c:pt>
                <c:pt idx="7">
                  <c:v>-0.66083914884168693</c:v>
                </c:pt>
                <c:pt idx="8">
                  <c:v>0.24153254480867806</c:v>
                </c:pt>
                <c:pt idx="9">
                  <c:v>1.1343848710942848</c:v>
                </c:pt>
                <c:pt idx="10">
                  <c:v>1.7935678699466462</c:v>
                </c:pt>
                <c:pt idx="11">
                  <c:v>2.0498888648146933</c:v>
                </c:pt>
                <c:pt idx="12">
                  <c:v>1.8320099184089842</c:v>
                </c:pt>
                <c:pt idx="13">
                  <c:v>1.1850364113200367</c:v>
                </c:pt>
                <c:pt idx="14">
                  <c:v>0.26002443727861002</c:v>
                </c:pt>
                <c:pt idx="15">
                  <c:v>-0.7230661301162683</c:v>
                </c:pt>
                <c:pt idx="16">
                  <c:v>-1.5297608641677796</c:v>
                </c:pt>
                <c:pt idx="17">
                  <c:v>-1.9692050876151845</c:v>
                </c:pt>
                <c:pt idx="18">
                  <c:v>-1.9414717375703963</c:v>
                </c:pt>
                <c:pt idx="19">
                  <c:v>-1.4621618911977883</c:v>
                </c:pt>
                <c:pt idx="20">
                  <c:v>-0.65810344436496526</c:v>
                </c:pt>
                <c:pt idx="21">
                  <c:v>0.2647901700543871</c:v>
                </c:pt>
                <c:pt idx="22">
                  <c:v>1.073437571449338</c:v>
                </c:pt>
                <c:pt idx="23">
                  <c:v>1.5662367510023998</c:v>
                </c:pt>
                <c:pt idx="24">
                  <c:v>1.6236902413028669</c:v>
                </c:pt>
                <c:pt idx="25">
                  <c:v>1.2382635095867718</c:v>
                </c:pt>
                <c:pt idx="26">
                  <c:v>0.51595166635459133</c:v>
                </c:pt>
                <c:pt idx="27">
                  <c:v>-0.35084885128660798</c:v>
                </c:pt>
                <c:pt idx="28">
                  <c:v>-1.1323354967447847</c:v>
                </c:pt>
                <c:pt idx="29">
                  <c:v>-1.6198144008102864</c:v>
                </c:pt>
                <c:pt idx="30">
                  <c:v>-1.6789734013937885</c:v>
                </c:pt>
                <c:pt idx="31">
                  <c:v>-1.2844551728632065</c:v>
                </c:pt>
                <c:pt idx="32">
                  <c:v>-0.52696844036766199</c:v>
                </c:pt>
                <c:pt idx="33">
                  <c:v>0.40891537453966248</c:v>
                </c:pt>
                <c:pt idx="34">
                  <c:v>1.2907487638792094</c:v>
                </c:pt>
                <c:pt idx="35">
                  <c:v>1.8964478651639776</c:v>
                </c:pt>
                <c:pt idx="36">
                  <c:v>2.0701536999547216</c:v>
                </c:pt>
                <c:pt idx="37">
                  <c:v>1.7616624222845185</c:v>
                </c:pt>
                <c:pt idx="38">
                  <c:v>1.0394883235360843</c:v>
                </c:pt>
                <c:pt idx="39">
                  <c:v>7.424224120110641E-2</c:v>
                </c:pt>
                <c:pt idx="40">
                  <c:v>-0.90353551452404535</c:v>
                </c:pt>
                <c:pt idx="41">
                  <c:v>-1.6605309005088882</c:v>
                </c:pt>
                <c:pt idx="42">
                  <c:v>-2.0184796927761632</c:v>
                </c:pt>
                <c:pt idx="43">
                  <c:v>-1.8981743175897077</c:v>
                </c:pt>
                <c:pt idx="44">
                  <c:v>-1.3386462765525584</c:v>
                </c:pt>
                <c:pt idx="45">
                  <c:v>-0.48675766733152231</c:v>
                </c:pt>
                <c:pt idx="46">
                  <c:v>0.44013066296766135</c:v>
                </c:pt>
                <c:pt idx="47">
                  <c:v>1.2089905850165596</c:v>
                </c:pt>
                <c:pt idx="48">
                  <c:v>1.6296542746323859</c:v>
                </c:pt>
                <c:pt idx="49">
                  <c:v>1.6023301799343157</c:v>
                </c:pt>
                <c:pt idx="50">
                  <c:v>1.1421942591640135</c:v>
                </c:pt>
                <c:pt idx="51">
                  <c:v>0.37492924487066787</c:v>
                </c:pt>
                <c:pt idx="52">
                  <c:v>-0.49559761403006947</c:v>
                </c:pt>
                <c:pt idx="53">
                  <c:v>-1.2393212044559039</c:v>
                </c:pt>
                <c:pt idx="54">
                  <c:v>-1.6584987394470003</c:v>
                </c:pt>
                <c:pt idx="55">
                  <c:v>-1.6380095439349909</c:v>
                </c:pt>
                <c:pt idx="56">
                  <c:v>-1.1747708751953447</c:v>
                </c:pt>
                <c:pt idx="57">
                  <c:v>-0.37887808313784876</c:v>
                </c:pt>
                <c:pt idx="58">
                  <c:v>0.55380049133615739</c:v>
                </c:pt>
                <c:pt idx="59">
                  <c:v>1.390665248122321</c:v>
                </c:pt>
                <c:pt idx="60">
                  <c:v>1.920725361214898</c:v>
                </c:pt>
                <c:pt idx="61">
                  <c:v>2.0075789501119985</c:v>
                </c:pt>
                <c:pt idx="62">
                  <c:v>1.6237418462918338</c:v>
                </c:pt>
                <c:pt idx="63">
                  <c:v>0.8577351823235746</c:v>
                </c:pt>
                <c:pt idx="64">
                  <c:v>-0.1078096655777184</c:v>
                </c:pt>
                <c:pt idx="65">
                  <c:v>-1.0415004079115338</c:v>
                </c:pt>
                <c:pt idx="66">
                  <c:v>-1.7205940509083906</c:v>
                </c:pt>
                <c:pt idx="67">
                  <c:v>-1.986082852784407</c:v>
                </c:pt>
                <c:pt idx="68">
                  <c:v>-1.7816950584068367</c:v>
                </c:pt>
                <c:pt idx="69">
                  <c:v>-1.1671219108475441</c:v>
                </c:pt>
                <c:pt idx="70">
                  <c:v>-0.30227038967390452</c:v>
                </c:pt>
                <c:pt idx="71">
                  <c:v>0.59339121692556906</c:v>
                </c:pt>
                <c:pt idx="72">
                  <c:v>1.2961062979252833</c:v>
                </c:pt>
                <c:pt idx="73">
                  <c:v>1.6338142886823828</c:v>
                </c:pt>
                <c:pt idx="74">
                  <c:v>1.528821422010084</c:v>
                </c:pt>
                <c:pt idx="75">
                  <c:v>1.0165316974653837</c:v>
                </c:pt>
                <c:pt idx="76">
                  <c:v>0.23566089384414673</c:v>
                </c:pt>
                <c:pt idx="77">
                  <c:v>-0.60747233884566709</c:v>
                </c:pt>
                <c:pt idx="78">
                  <c:v>-1.2914939993502605</c:v>
                </c:pt>
                <c:pt idx="79">
                  <c:v>-1.6360919781255496</c:v>
                </c:pt>
                <c:pt idx="80">
                  <c:v>-1.5475946969649437</c:v>
                </c:pt>
                <c:pt idx="81">
                  <c:v>-1.0426044829650258</c:v>
                </c:pt>
                <c:pt idx="82">
                  <c:v>-0.24382889252330395</c:v>
                </c:pt>
                <c:pt idx="83">
                  <c:v>0.65075256999510445</c:v>
                </c:pt>
                <c:pt idx="84">
                  <c:v>1.4175697721434086</c:v>
                </c:pt>
                <c:pt idx="85">
                  <c:v>1.8634829356930351</c:v>
                </c:pt>
                <c:pt idx="86">
                  <c:v>1.8740965942793628</c:v>
                </c:pt>
                <c:pt idx="87">
                  <c:v>1.4423054232018924</c:v>
                </c:pt>
                <c:pt idx="88">
                  <c:v>0.67000615320453039</c:v>
                </c:pt>
                <c:pt idx="89">
                  <c:v>-0.25735048506729008</c:v>
                </c:pt>
                <c:pt idx="90">
                  <c:v>-1.1169052086098374</c:v>
                </c:pt>
                <c:pt idx="91">
                  <c:v>-1.7036316896092245</c:v>
                </c:pt>
                <c:pt idx="92">
                  <c:v>-1.8808605447930269</c:v>
                </c:pt>
                <c:pt idx="93">
                  <c:v>-1.6135237578166033</c:v>
                </c:pt>
                <c:pt idx="94">
                  <c:v>-0.97594046325925277</c:v>
                </c:pt>
                <c:pt idx="95">
                  <c:v>-0.13236578638921226</c:v>
                </c:pt>
              </c:numCache>
            </c:numRef>
          </c:yVal>
          <c:smooth val="0"/>
          <c:extLst>
            <c:ext xmlns:c16="http://schemas.microsoft.com/office/drawing/2014/chart" uri="{C3380CC4-5D6E-409C-BE32-E72D297353CC}">
              <c16:uniqueId val="{00000001-E815-D145-99BF-1024E150C1B4}"/>
            </c:ext>
          </c:extLst>
        </c:ser>
        <c:dLbls>
          <c:showLegendKey val="0"/>
          <c:showVal val="0"/>
          <c:showCatName val="0"/>
          <c:showSerName val="0"/>
          <c:showPercent val="0"/>
          <c:showBubbleSize val="0"/>
        </c:dLbls>
        <c:axId val="-2128940872"/>
        <c:axId val="-2129643912"/>
      </c:scatterChart>
      <c:valAx>
        <c:axId val="-2128940872"/>
        <c:scaling>
          <c:orientation val="minMax"/>
          <c:max val="4"/>
          <c:min val="0"/>
        </c:scaling>
        <c:delete val="0"/>
        <c:axPos val="b"/>
        <c:majorGridlines>
          <c:spPr>
            <a:ln w="9525">
              <a:solidFill>
                <a:srgbClr val="E3E8ED"/>
              </a:solidFill>
            </a:ln>
          </c:spPr>
        </c:majorGridlines>
        <c:title>
          <c:tx>
            <c:rich>
              <a:bodyPr/>
              <a:lstStyle/>
              <a:p>
                <a:pPr>
                  <a:defRPr/>
                </a:pPr>
                <a:r>
                  <a:rPr lang="en-US" sz="1200" b="0" i="0">
                    <a:solidFill>
                      <a:srgbClr val="506476"/>
                    </a:solidFill>
                  </a:rPr>
                  <a:t>days</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1"/>
      </c:valAx>
      <c:valAx>
        <c:axId val="-2129643912"/>
        <c:scaling>
          <c:orientation val="minMax"/>
          <c:max val="2.5"/>
          <c:min val="-2.5"/>
        </c:scaling>
        <c:delete val="0"/>
        <c:axPos val="l"/>
        <c:majorGridlines>
          <c:spPr>
            <a:ln w="9525">
              <a:solidFill>
                <a:srgbClr val="E3E8ED"/>
              </a:solidFill>
            </a:ln>
          </c:spPr>
        </c:majorGridlines>
        <c:title>
          <c:tx>
            <c:rich>
              <a:bodyPr/>
              <a:lstStyle/>
              <a:p>
                <a:pPr>
                  <a:defRPr/>
                </a:pPr>
                <a:r>
                  <a:rPr lang="en-US" sz="1200" b="0" i="0">
                    <a:solidFill>
                      <a:srgbClr val="506476"/>
                    </a:solidFill>
                  </a:rPr>
                  <a:t>height (m)</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1"/>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2"/>
          <c:y val="0.04"/>
          <c:w val="0.76"/>
          <c:h val="0.66"/>
        </c:manualLayout>
      </c:layout>
      <c:scatterChart>
        <c:scatterStyle val="lineMarker"/>
        <c:varyColors val="0"/>
        <c:ser>
          <c:idx val="0"/>
          <c:order val="0"/>
          <c:tx>
            <c:strRef>
              <c:f>Sheet1!$B$1</c:f>
              <c:strCache>
                <c:ptCount val="1"/>
                <c:pt idx="0">
                  <c:v>P &lt; 0.4 W</c:v>
                </c:pt>
              </c:strCache>
            </c:strRef>
          </c:tx>
          <c:spPr>
            <a:ln>
              <a:noFill/>
            </a:ln>
          </c:spPr>
          <c:marker>
            <c:symbol val="circle"/>
            <c:size val="8"/>
            <c:spPr>
              <a:solidFill>
                <a:srgbClr val="152D42"/>
              </a:solidFill>
              <a:ln>
                <a:solidFill>
                  <a:srgbClr val="152D42"/>
                </a:solidFill>
              </a:ln>
            </c:spPr>
          </c:marker>
          <c:xVal>
            <c:numRef>
              <c:f>Sheet1!$A$2:$A$11</c:f>
              <c:numCache>
                <c:formatCode>General</c:formatCode>
                <c:ptCount val="10"/>
                <c:pt idx="0">
                  <c:v>0.01</c:v>
                </c:pt>
                <c:pt idx="1">
                  <c:v>1.4909760458230987E-2</c:v>
                </c:pt>
                <c:pt idx="2">
                  <c:v>2.223009569218283E-2</c:v>
                </c:pt>
                <c:pt idx="3">
                  <c:v>3.3144540173399878E-2</c:v>
                </c:pt>
                <c:pt idx="4">
                  <c:v>4.9417715448360593E-2</c:v>
                </c:pt>
                <c:pt idx="5">
                  <c:v>7.3680629972807735E-2</c:v>
                </c:pt>
                <c:pt idx="6">
                  <c:v>0.10985605433061182</c:v>
                </c:pt>
                <c:pt idx="7">
                  <c:v>0.16379274549558315</c:v>
                </c:pt>
                <c:pt idx="8">
                  <c:v>0.24421106001351373</c:v>
                </c:pt>
                <c:pt idx="9">
                  <c:v>0.36411284060521615</c:v>
                </c:pt>
              </c:numCache>
            </c:numRef>
          </c:xVal>
          <c:yVal>
            <c:numRef>
              <c:f>Sheet1!$B$2:$B$11</c:f>
              <c:numCache>
                <c:formatCode>General</c:formatCode>
                <c:ptCount val="10"/>
                <c:pt idx="0">
                  <c:v>2.4959313363823262E-5</c:v>
                </c:pt>
                <c:pt idx="1">
                  <c:v>5.5934278643897035E-5</c:v>
                </c:pt>
                <c:pt idx="2">
                  <c:v>1.2207570007440803E-4</c:v>
                </c:pt>
                <c:pt idx="3">
                  <c:v>2.6583266911606179E-4</c:v>
                </c:pt>
                <c:pt idx="4">
                  <c:v>5.972745875383375E-4</c:v>
                </c:pt>
                <c:pt idx="5">
                  <c:v>1.3008290091779994E-3</c:v>
                </c:pt>
                <c:pt idx="6">
                  <c:v>2.9680404566843469E-3</c:v>
                </c:pt>
                <c:pt idx="7">
                  <c:v>6.7905531591101916E-3</c:v>
                </c:pt>
                <c:pt idx="8">
                  <c:v>1.4111752654751061E-2</c:v>
                </c:pt>
                <c:pt idx="9">
                  <c:v>3.0650829205469365E-2</c:v>
                </c:pt>
              </c:numCache>
            </c:numRef>
          </c:yVal>
          <c:smooth val="0"/>
          <c:extLst>
            <c:ext xmlns:c16="http://schemas.microsoft.com/office/drawing/2014/chart" uri="{C3380CC4-5D6E-409C-BE32-E72D297353CC}">
              <c16:uniqueId val="{00000000-5A75-994C-8165-4D3C18983A8C}"/>
            </c:ext>
          </c:extLst>
        </c:ser>
        <c:ser>
          <c:idx val="1"/>
          <c:order val="1"/>
          <c:tx>
            <c:strRef>
              <c:f>Sheet1!$B$13</c:f>
              <c:strCache>
                <c:ptCount val="1"/>
                <c:pt idx="0">
                  <c:v>P ≥ 0.4 W</c:v>
                </c:pt>
              </c:strCache>
            </c:strRef>
          </c:tx>
          <c:spPr>
            <a:ln>
              <a:noFill/>
            </a:ln>
          </c:spPr>
          <c:marker>
            <c:symbol val="square"/>
            <c:size val="8"/>
            <c:spPr>
              <a:solidFill>
                <a:srgbClr val="506476"/>
              </a:solidFill>
              <a:ln>
                <a:solidFill>
                  <a:srgbClr val="506476"/>
                </a:solidFill>
              </a:ln>
            </c:spPr>
          </c:marker>
          <c:xVal>
            <c:numRef>
              <c:f>Sheet1!$A$14:$A$19</c:f>
              <c:numCache>
                <c:formatCode>General</c:formatCode>
                <c:ptCount val="6"/>
                <c:pt idx="0">
                  <c:v>0.54288352331898138</c:v>
                </c:pt>
                <c:pt idx="1">
                  <c:v>0.80942632894064737</c:v>
                </c:pt>
                <c:pt idx="2">
                  <c:v>1.2068352673090339</c:v>
                </c:pt>
                <c:pt idx="3">
                  <c:v>1.7993624748122847</c:v>
                </c:pt>
                <c:pt idx="4">
                  <c:v>2.682806347698087</c:v>
                </c:pt>
                <c:pt idx="5">
                  <c:v>4</c:v>
                </c:pt>
              </c:numCache>
            </c:numRef>
          </c:xVal>
          <c:yVal>
            <c:numRef>
              <c:f>Sheet1!$B$14:$B$19</c:f>
              <c:numCache>
                <c:formatCode>General</c:formatCode>
                <c:ptCount val="6"/>
                <c:pt idx="0">
                  <c:v>6.8484542657591754E-2</c:v>
                </c:pt>
                <c:pt idx="1">
                  <c:v>0.14552903659348826</c:v>
                </c:pt>
                <c:pt idx="2">
                  <c:v>0.30263945712368701</c:v>
                </c:pt>
                <c:pt idx="3">
                  <c:v>0.59950096755240057</c:v>
                </c:pt>
                <c:pt idx="4">
                  <c:v>1.2194920575831967</c:v>
                </c:pt>
                <c:pt idx="5">
                  <c:v>2.3684978767211202</c:v>
                </c:pt>
              </c:numCache>
            </c:numRef>
          </c:yVal>
          <c:smooth val="0"/>
          <c:extLst>
            <c:ext xmlns:c16="http://schemas.microsoft.com/office/drawing/2014/chart" uri="{C3380CC4-5D6E-409C-BE32-E72D297353CC}">
              <c16:uniqueId val="{00000001-5A75-994C-8165-4D3C18983A8C}"/>
            </c:ext>
          </c:extLst>
        </c:ser>
        <c:ser>
          <c:idx val="2"/>
          <c:order val="2"/>
          <c:tx>
            <c:strRef>
              <c:f>Sheet1!$B$21</c:f>
              <c:strCache>
                <c:ptCount val="1"/>
                <c:pt idx="0">
                  <c:v>fit, P &lt; 0.4 W</c:v>
                </c:pt>
              </c:strCache>
            </c:strRef>
          </c:tx>
          <c:spPr>
            <a:ln w="28575">
              <a:solidFill>
                <a:srgbClr val="A31F34"/>
              </a:solidFill>
            </a:ln>
          </c:spPr>
          <c:marker>
            <c:symbol val="none"/>
          </c:marker>
          <c:xVal>
            <c:numRef>
              <c:f>Sheet1!$A$22:$A$23</c:f>
              <c:numCache>
                <c:formatCode>General</c:formatCode>
                <c:ptCount val="2"/>
                <c:pt idx="0">
                  <c:v>0.01</c:v>
                </c:pt>
                <c:pt idx="1">
                  <c:v>4</c:v>
                </c:pt>
              </c:numCache>
            </c:numRef>
          </c:xVal>
          <c:yVal>
            <c:numRef>
              <c:f>Sheet1!$B$22:$B$23</c:f>
              <c:numCache>
                <c:formatCode>General</c:formatCode>
                <c:ptCount val="2"/>
                <c:pt idx="0">
                  <c:v>2.5057785865670055E-5</c:v>
                </c:pt>
                <c:pt idx="1">
                  <c:v>3.6709680089575722</c:v>
                </c:pt>
              </c:numCache>
            </c:numRef>
          </c:yVal>
          <c:smooth val="0"/>
          <c:extLst>
            <c:ext xmlns:c16="http://schemas.microsoft.com/office/drawing/2014/chart" uri="{C3380CC4-5D6E-409C-BE32-E72D297353CC}">
              <c16:uniqueId val="{00000002-5A75-994C-8165-4D3C18983A8C}"/>
            </c:ext>
          </c:extLst>
        </c:ser>
        <c:dLbls>
          <c:showLegendKey val="0"/>
          <c:showVal val="0"/>
          <c:showCatName val="0"/>
          <c:showSerName val="0"/>
          <c:showPercent val="0"/>
          <c:showBubbleSize val="0"/>
        </c:dLbls>
        <c:axId val="-2128940872"/>
        <c:axId val="-2129643912"/>
      </c:scatterChart>
      <c:valAx>
        <c:axId val="-2128940872"/>
        <c:scaling>
          <c:logBase val="10"/>
          <c:orientation val="minMax"/>
          <c:max val="10"/>
          <c:min val="0.01"/>
        </c:scaling>
        <c:delete val="0"/>
        <c:axPos val="b"/>
        <c:majorGridlines>
          <c:spPr>
            <a:ln w="9525">
              <a:solidFill>
                <a:srgbClr val="E3E8ED"/>
              </a:solidFill>
            </a:ln>
          </c:spPr>
        </c:majorGridlines>
        <c:title>
          <c:tx>
            <c:rich>
              <a:bodyPr/>
              <a:lstStyle/>
              <a:p>
                <a:pPr>
                  <a:defRPr/>
                </a:pPr>
                <a:r>
                  <a:rPr lang="en-US" sz="1200" b="0" i="0">
                    <a:solidFill>
                      <a:srgbClr val="506476"/>
                    </a:solidFill>
                  </a:rPr>
                  <a:t>pump power P (W)</a:t>
                </a:r>
              </a:p>
            </c:rich>
          </c:tx>
          <c:overlay val="0"/>
        </c:title>
        <c:numFmt formatCode="[&lt;1]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valAx>
      <c:valAx>
        <c:axId val="-2129643912"/>
        <c:scaling>
          <c:logBase val="10"/>
          <c:orientation val="minMax"/>
          <c:max val="10"/>
          <c:min val="1.0000000000000001E-5"/>
        </c:scaling>
        <c:delete val="0"/>
        <c:axPos val="l"/>
        <c:majorGridlines>
          <c:spPr>
            <a:ln w="9525">
              <a:solidFill>
                <a:srgbClr val="E3E8ED"/>
              </a:solidFill>
            </a:ln>
          </c:spPr>
        </c:majorGridlines>
        <c:title>
          <c:tx>
            <c:rich>
              <a:bodyPr/>
              <a:lstStyle/>
              <a:p>
                <a:pPr>
                  <a:defRPr/>
                </a:pPr>
                <a:r>
                  <a:rPr lang="en-US" sz="1200" b="0" i="0">
                    <a:solidFill>
                      <a:srgbClr val="506476"/>
                    </a:solidFill>
                  </a:rPr>
                  <a:t>second-harmonic power P₂ (W)</a:t>
                </a:r>
              </a:p>
            </c:rich>
          </c:tx>
          <c:overlay val="0"/>
        </c:title>
        <c:numFmt formatCode="[&lt;1]0.#####;0"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6"/>
          <c:y val="0.04"/>
          <c:w val="0.72"/>
          <c:h val="0.7"/>
        </c:manualLayout>
      </c:layout>
      <c:scatterChart>
        <c:scatterStyle val="lineMarker"/>
        <c:varyColors val="0"/>
        <c:ser>
          <c:idx val="0"/>
          <c:order val="0"/>
          <c:tx>
            <c:strRef>
              <c:f>Sheet1!$B$1</c:f>
              <c:strCache>
                <c:ptCount val="1"/>
                <c:pt idx="0">
                  <c:v>fitted circle</c:v>
                </c:pt>
              </c:strCache>
            </c:strRef>
          </c:tx>
          <c:spPr>
            <a:ln w="25400">
              <a:solidFill>
                <a:srgbClr val="A31F34"/>
              </a:solidFill>
            </a:ln>
          </c:spPr>
          <c:marker>
            <c:symbol val="none"/>
          </c:marker>
          <c:xVal>
            <c:numRef>
              <c:f>Sheet1!$A$2:$A$122</c:f>
              <c:numCache>
                <c:formatCode>General</c:formatCode>
                <c:ptCount val="121"/>
                <c:pt idx="0">
                  <c:v>397.18436442119759</c:v>
                </c:pt>
                <c:pt idx="1">
                  <c:v>397.0684999366988</c:v>
                </c:pt>
                <c:pt idx="2">
                  <c:v>396.72122405970066</c:v>
                </c:pt>
                <c:pt idx="3">
                  <c:v>396.14348864924324</c:v>
                </c:pt>
                <c:pt idx="4">
                  <c:v>395.33687723792872</c:v>
                </c:pt>
                <c:pt idx="5">
                  <c:v>394.30360069156865</c:v>
                </c:pt>
                <c:pt idx="6">
                  <c:v>393.04649114935432</c:v>
                </c:pt>
                <c:pt idx="7">
                  <c:v>391.56899426116053</c:v>
                </c:pt>
                <c:pt idx="8">
                  <c:v>389.87515974325805</c:v>
                </c:pt>
                <c:pt idx="9">
                  <c:v>387.96963027832362</c:v>
                </c:pt>
                <c:pt idx="10">
                  <c:v>385.8576287901688</c:v>
                </c:pt>
                <c:pt idx="11">
                  <c:v>383.54494412806923</c:v>
                </c:pt>
                <c:pt idx="12">
                  <c:v>381.03791519993104</c:v>
                </c:pt>
                <c:pt idx="13">
                  <c:v>378.34341359778466</c:v>
                </c:pt>
                <c:pt idx="14">
                  <c:v>375.46882476322924</c:v>
                </c:pt>
                <c:pt idx="15">
                  <c:v>372.42202774444996</c:v>
                </c:pt>
                <c:pt idx="16">
                  <c:v>369.21137360029513</c:v>
                </c:pt>
                <c:pt idx="17">
                  <c:v>365.84566251060392</c:v>
                </c:pt>
                <c:pt idx="18">
                  <c:v>362.33411965552557</c:v>
                </c:pt>
                <c:pt idx="19">
                  <c:v>358.68636992994141</c:v>
                </c:pt>
                <c:pt idx="20">
                  <c:v>354.91241156229739</c:v>
                </c:pt>
                <c:pt idx="21">
                  <c:v>351.02258871015448</c:v>
                </c:pt>
                <c:pt idx="22">
                  <c:v>347.02756310757229</c:v>
                </c:pt>
                <c:pt idx="23">
                  <c:v>342.93828484203647</c:v>
                </c:pt>
                <c:pt idx="24">
                  <c:v>338.76596234103079</c:v>
                </c:pt>
                <c:pt idx="25">
                  <c:v>334.52203165051583</c:v>
                </c:pt>
                <c:pt idx="26">
                  <c:v>330.21812508952229</c:v>
                </c:pt>
                <c:pt idx="27">
                  <c:v>325.86603936677295</c:v>
                </c:pt>
                <c:pt idx="28">
                  <c:v>321.47770324672422</c:v>
                </c:pt>
                <c:pt idx="29">
                  <c:v>317.06514485365153</c:v>
                </c:pt>
                <c:pt idx="30">
                  <c:v>312.64045870339714</c:v>
                </c:pt>
                <c:pt idx="31">
                  <c:v>308.21577255314281</c:v>
                </c:pt>
                <c:pt idx="32">
                  <c:v>303.80321416007007</c:v>
                </c:pt>
                <c:pt idx="33">
                  <c:v>299.41487804002134</c:v>
                </c:pt>
                <c:pt idx="34">
                  <c:v>295.06279231727206</c:v>
                </c:pt>
                <c:pt idx="35">
                  <c:v>290.75888575627852</c:v>
                </c:pt>
                <c:pt idx="36">
                  <c:v>286.5149550657635</c:v>
                </c:pt>
                <c:pt idx="37">
                  <c:v>282.34263256475782</c:v>
                </c:pt>
                <c:pt idx="38">
                  <c:v>278.25335429922205</c:v>
                </c:pt>
                <c:pt idx="39">
                  <c:v>274.25832869663981</c:v>
                </c:pt>
                <c:pt idx="40">
                  <c:v>270.36850584449695</c:v>
                </c:pt>
                <c:pt idx="41">
                  <c:v>266.59454747685288</c:v>
                </c:pt>
                <c:pt idx="42">
                  <c:v>262.94679775126872</c:v>
                </c:pt>
                <c:pt idx="43">
                  <c:v>259.43525489619037</c:v>
                </c:pt>
                <c:pt idx="44">
                  <c:v>256.06954380649921</c:v>
                </c:pt>
                <c:pt idx="45">
                  <c:v>252.85888966234432</c:v>
                </c:pt>
                <c:pt idx="46">
                  <c:v>249.81209264356505</c:v>
                </c:pt>
                <c:pt idx="47">
                  <c:v>246.93750380900963</c:v>
                </c:pt>
                <c:pt idx="48">
                  <c:v>244.24300220686331</c:v>
                </c:pt>
                <c:pt idx="49">
                  <c:v>241.73597327872506</c:v>
                </c:pt>
                <c:pt idx="50">
                  <c:v>239.42328861662551</c:v>
                </c:pt>
                <c:pt idx="51">
                  <c:v>237.31128712847067</c:v>
                </c:pt>
                <c:pt idx="52">
                  <c:v>235.40575766353624</c:v>
                </c:pt>
                <c:pt idx="53">
                  <c:v>233.71192314563379</c:v>
                </c:pt>
                <c:pt idx="54">
                  <c:v>232.23442625743994</c:v>
                </c:pt>
                <c:pt idx="55">
                  <c:v>230.97731671522564</c:v>
                </c:pt>
                <c:pt idx="56">
                  <c:v>229.94404016886557</c:v>
                </c:pt>
                <c:pt idx="57">
                  <c:v>229.13742875755105</c:v>
                </c:pt>
                <c:pt idx="58">
                  <c:v>228.55969334709363</c:v>
                </c:pt>
                <c:pt idx="59">
                  <c:v>228.21241747009552</c:v>
                </c:pt>
                <c:pt idx="60">
                  <c:v>228.0965529855967</c:v>
                </c:pt>
                <c:pt idx="61">
                  <c:v>228.21241747009552</c:v>
                </c:pt>
                <c:pt idx="62">
                  <c:v>228.55969334709363</c:v>
                </c:pt>
                <c:pt idx="63">
                  <c:v>229.13742875755105</c:v>
                </c:pt>
                <c:pt idx="64">
                  <c:v>229.94404016886557</c:v>
                </c:pt>
                <c:pt idx="65">
                  <c:v>230.97731671522564</c:v>
                </c:pt>
                <c:pt idx="66">
                  <c:v>232.23442625743991</c:v>
                </c:pt>
                <c:pt idx="67">
                  <c:v>233.71192314563376</c:v>
                </c:pt>
                <c:pt idx="68">
                  <c:v>235.40575766353621</c:v>
                </c:pt>
                <c:pt idx="69">
                  <c:v>237.31128712847067</c:v>
                </c:pt>
                <c:pt idx="70">
                  <c:v>239.42328861662548</c:v>
                </c:pt>
                <c:pt idx="71">
                  <c:v>241.73597327872503</c:v>
                </c:pt>
                <c:pt idx="72">
                  <c:v>244.24300220686328</c:v>
                </c:pt>
                <c:pt idx="73">
                  <c:v>246.9375038090096</c:v>
                </c:pt>
                <c:pt idx="74">
                  <c:v>249.81209264356502</c:v>
                </c:pt>
                <c:pt idx="75">
                  <c:v>252.8588896623443</c:v>
                </c:pt>
                <c:pt idx="76">
                  <c:v>256.06954380649915</c:v>
                </c:pt>
                <c:pt idx="77">
                  <c:v>259.43525489619032</c:v>
                </c:pt>
                <c:pt idx="78">
                  <c:v>262.94679775126872</c:v>
                </c:pt>
                <c:pt idx="79">
                  <c:v>266.59454747685282</c:v>
                </c:pt>
                <c:pt idx="80">
                  <c:v>270.36850584449689</c:v>
                </c:pt>
                <c:pt idx="81">
                  <c:v>274.25832869663975</c:v>
                </c:pt>
                <c:pt idx="82">
                  <c:v>278.253354299222</c:v>
                </c:pt>
                <c:pt idx="83">
                  <c:v>282.34263256475776</c:v>
                </c:pt>
                <c:pt idx="84">
                  <c:v>286.5149550657635</c:v>
                </c:pt>
                <c:pt idx="85">
                  <c:v>290.7588857562784</c:v>
                </c:pt>
                <c:pt idx="86">
                  <c:v>295.062792317272</c:v>
                </c:pt>
                <c:pt idx="87">
                  <c:v>299.41487804002128</c:v>
                </c:pt>
                <c:pt idx="88">
                  <c:v>303.80321416007001</c:v>
                </c:pt>
                <c:pt idx="89">
                  <c:v>308.21577255314276</c:v>
                </c:pt>
                <c:pt idx="90">
                  <c:v>312.64045870339714</c:v>
                </c:pt>
                <c:pt idx="91">
                  <c:v>317.06514485365147</c:v>
                </c:pt>
                <c:pt idx="92">
                  <c:v>321.47770324672416</c:v>
                </c:pt>
                <c:pt idx="93">
                  <c:v>325.86603936677295</c:v>
                </c:pt>
                <c:pt idx="94">
                  <c:v>330.21812508952223</c:v>
                </c:pt>
                <c:pt idx="95">
                  <c:v>334.52203165051577</c:v>
                </c:pt>
                <c:pt idx="96">
                  <c:v>338.76596234103079</c:v>
                </c:pt>
                <c:pt idx="97">
                  <c:v>342.93828484203641</c:v>
                </c:pt>
                <c:pt idx="98">
                  <c:v>347.02756310757223</c:v>
                </c:pt>
                <c:pt idx="99">
                  <c:v>351.02258871015448</c:v>
                </c:pt>
                <c:pt idx="100">
                  <c:v>354.91241156229734</c:v>
                </c:pt>
                <c:pt idx="101">
                  <c:v>358.68636992994141</c:v>
                </c:pt>
                <c:pt idx="102">
                  <c:v>362.33411965552551</c:v>
                </c:pt>
                <c:pt idx="103">
                  <c:v>365.84566251060386</c:v>
                </c:pt>
                <c:pt idx="104">
                  <c:v>369.21137360029508</c:v>
                </c:pt>
                <c:pt idx="105">
                  <c:v>372.42202774444996</c:v>
                </c:pt>
                <c:pt idx="106">
                  <c:v>375.46882476322918</c:v>
                </c:pt>
                <c:pt idx="107">
                  <c:v>378.34341359778466</c:v>
                </c:pt>
                <c:pt idx="108">
                  <c:v>381.03791519993098</c:v>
                </c:pt>
                <c:pt idx="109">
                  <c:v>383.54494412806923</c:v>
                </c:pt>
                <c:pt idx="110">
                  <c:v>385.85762879016875</c:v>
                </c:pt>
                <c:pt idx="111">
                  <c:v>387.96963027832362</c:v>
                </c:pt>
                <c:pt idx="112">
                  <c:v>389.87515974325805</c:v>
                </c:pt>
                <c:pt idx="113">
                  <c:v>391.56899426116047</c:v>
                </c:pt>
                <c:pt idx="114">
                  <c:v>393.04649114935432</c:v>
                </c:pt>
                <c:pt idx="115">
                  <c:v>394.30360069156859</c:v>
                </c:pt>
                <c:pt idx="116">
                  <c:v>395.33687723792872</c:v>
                </c:pt>
                <c:pt idx="117">
                  <c:v>396.14348864924324</c:v>
                </c:pt>
                <c:pt idx="118">
                  <c:v>396.72122405970066</c:v>
                </c:pt>
                <c:pt idx="119">
                  <c:v>397.0684999366988</c:v>
                </c:pt>
                <c:pt idx="120">
                  <c:v>397.18436442119759</c:v>
                </c:pt>
              </c:numCache>
            </c:numRef>
          </c:xVal>
          <c:yVal>
            <c:numRef>
              <c:f>Sheet1!$B$2:$B$122</c:f>
              <c:numCache>
                <c:formatCode>General</c:formatCode>
                <c:ptCount val="121"/>
                <c:pt idx="0">
                  <c:v>240.76656704829026</c:v>
                </c:pt>
                <c:pt idx="1">
                  <c:v>245.19125319854462</c:v>
                </c:pt>
                <c:pt idx="2">
                  <c:v>249.60381159161733</c:v>
                </c:pt>
                <c:pt idx="3">
                  <c:v>253.99214771166609</c:v>
                </c:pt>
                <c:pt idx="4">
                  <c:v>258.3442334344154</c:v>
                </c:pt>
                <c:pt idx="5">
                  <c:v>262.64813999540888</c:v>
                </c:pt>
                <c:pt idx="6">
                  <c:v>266.8920706859239</c:v>
                </c:pt>
                <c:pt idx="7">
                  <c:v>271.06439318692958</c:v>
                </c:pt>
                <c:pt idx="8">
                  <c:v>275.15367145246535</c:v>
                </c:pt>
                <c:pt idx="9">
                  <c:v>279.14869705504759</c:v>
                </c:pt>
                <c:pt idx="10">
                  <c:v>283.03851990719045</c:v>
                </c:pt>
                <c:pt idx="11">
                  <c:v>286.81247827483452</c:v>
                </c:pt>
                <c:pt idx="12">
                  <c:v>290.46022800041868</c:v>
                </c:pt>
                <c:pt idx="13">
                  <c:v>293.97177085549703</c:v>
                </c:pt>
                <c:pt idx="14">
                  <c:v>297.33748194518819</c:v>
                </c:pt>
                <c:pt idx="15">
                  <c:v>300.54813608934307</c:v>
                </c:pt>
                <c:pt idx="16">
                  <c:v>303.59493310812235</c:v>
                </c:pt>
                <c:pt idx="17">
                  <c:v>306.46952194267777</c:v>
                </c:pt>
                <c:pt idx="18">
                  <c:v>309.16402354482409</c:v>
                </c:pt>
                <c:pt idx="19">
                  <c:v>311.67105247296234</c:v>
                </c:pt>
                <c:pt idx="20">
                  <c:v>313.98373713506192</c:v>
                </c:pt>
                <c:pt idx="21">
                  <c:v>316.09573862321673</c:v>
                </c:pt>
                <c:pt idx="22">
                  <c:v>318.00126808815116</c:v>
                </c:pt>
                <c:pt idx="23">
                  <c:v>319.69510260605364</c:v>
                </c:pt>
                <c:pt idx="24">
                  <c:v>321.17259949424749</c:v>
                </c:pt>
                <c:pt idx="25">
                  <c:v>322.42970903646176</c:v>
                </c:pt>
                <c:pt idx="26">
                  <c:v>323.46298558282183</c:v>
                </c:pt>
                <c:pt idx="27">
                  <c:v>324.26959699413635</c:v>
                </c:pt>
                <c:pt idx="28">
                  <c:v>324.84733240459377</c:v>
                </c:pt>
                <c:pt idx="29">
                  <c:v>325.19460828159185</c:v>
                </c:pt>
                <c:pt idx="30">
                  <c:v>325.3104727660907</c:v>
                </c:pt>
                <c:pt idx="31">
                  <c:v>325.19460828159185</c:v>
                </c:pt>
                <c:pt idx="32">
                  <c:v>324.84733240459377</c:v>
                </c:pt>
                <c:pt idx="33">
                  <c:v>324.26959699413635</c:v>
                </c:pt>
                <c:pt idx="34">
                  <c:v>323.46298558282183</c:v>
                </c:pt>
                <c:pt idx="35">
                  <c:v>322.42970903646176</c:v>
                </c:pt>
                <c:pt idx="36">
                  <c:v>321.17259949424749</c:v>
                </c:pt>
                <c:pt idx="37">
                  <c:v>319.69510260605364</c:v>
                </c:pt>
                <c:pt idx="38">
                  <c:v>318.00126808815116</c:v>
                </c:pt>
                <c:pt idx="39">
                  <c:v>316.09573862321673</c:v>
                </c:pt>
                <c:pt idx="40">
                  <c:v>313.98373713506192</c:v>
                </c:pt>
                <c:pt idx="41">
                  <c:v>311.6710524729624</c:v>
                </c:pt>
                <c:pt idx="42">
                  <c:v>309.16402354482409</c:v>
                </c:pt>
                <c:pt idx="43">
                  <c:v>306.46952194267783</c:v>
                </c:pt>
                <c:pt idx="44">
                  <c:v>303.59493310812235</c:v>
                </c:pt>
                <c:pt idx="45">
                  <c:v>300.54813608934307</c:v>
                </c:pt>
                <c:pt idx="46">
                  <c:v>297.33748194518824</c:v>
                </c:pt>
                <c:pt idx="47">
                  <c:v>293.97177085549703</c:v>
                </c:pt>
                <c:pt idx="48">
                  <c:v>290.46022800041868</c:v>
                </c:pt>
                <c:pt idx="49">
                  <c:v>286.81247827483458</c:v>
                </c:pt>
                <c:pt idx="50">
                  <c:v>283.0385199071905</c:v>
                </c:pt>
                <c:pt idx="51">
                  <c:v>279.14869705504759</c:v>
                </c:pt>
                <c:pt idx="52">
                  <c:v>275.1536714524654</c:v>
                </c:pt>
                <c:pt idx="53">
                  <c:v>271.06439318692964</c:v>
                </c:pt>
                <c:pt idx="54">
                  <c:v>266.8920706859239</c:v>
                </c:pt>
                <c:pt idx="55">
                  <c:v>262.64813999540894</c:v>
                </c:pt>
                <c:pt idx="56">
                  <c:v>258.3442334344154</c:v>
                </c:pt>
                <c:pt idx="57">
                  <c:v>253.99214771166609</c:v>
                </c:pt>
                <c:pt idx="58">
                  <c:v>249.60381159161733</c:v>
                </c:pt>
                <c:pt idx="59">
                  <c:v>245.19125319854467</c:v>
                </c:pt>
                <c:pt idx="60">
                  <c:v>240.76656704829026</c:v>
                </c:pt>
                <c:pt idx="61">
                  <c:v>236.3418808980359</c:v>
                </c:pt>
                <c:pt idx="62">
                  <c:v>231.92932250496324</c:v>
                </c:pt>
                <c:pt idx="63">
                  <c:v>227.54098638491445</c:v>
                </c:pt>
                <c:pt idx="64">
                  <c:v>223.18890066216517</c:v>
                </c:pt>
                <c:pt idx="65">
                  <c:v>218.88499410117163</c:v>
                </c:pt>
                <c:pt idx="66">
                  <c:v>214.64106341065664</c:v>
                </c:pt>
                <c:pt idx="67">
                  <c:v>210.46874090965093</c:v>
                </c:pt>
                <c:pt idx="68">
                  <c:v>206.37946264411516</c:v>
                </c:pt>
                <c:pt idx="69">
                  <c:v>202.38443704153292</c:v>
                </c:pt>
                <c:pt idx="70">
                  <c:v>198.49461418939006</c:v>
                </c:pt>
                <c:pt idx="71">
                  <c:v>194.72065582174602</c:v>
                </c:pt>
                <c:pt idx="72">
                  <c:v>191.07290609616186</c:v>
                </c:pt>
                <c:pt idx="73">
                  <c:v>187.56136324108351</c:v>
                </c:pt>
                <c:pt idx="74">
                  <c:v>184.19565215139232</c:v>
                </c:pt>
                <c:pt idx="75">
                  <c:v>180.98499800723744</c:v>
                </c:pt>
                <c:pt idx="76">
                  <c:v>177.93820098845816</c:v>
                </c:pt>
                <c:pt idx="77">
                  <c:v>175.06361215390274</c:v>
                </c:pt>
                <c:pt idx="78">
                  <c:v>172.36911055175642</c:v>
                </c:pt>
                <c:pt idx="79">
                  <c:v>169.8620816236182</c:v>
                </c:pt>
                <c:pt idx="80">
                  <c:v>167.54939696151862</c:v>
                </c:pt>
                <c:pt idx="81">
                  <c:v>165.43739547336378</c:v>
                </c:pt>
                <c:pt idx="82">
                  <c:v>163.53186600842935</c:v>
                </c:pt>
                <c:pt idx="83">
                  <c:v>161.8380314905269</c:v>
                </c:pt>
                <c:pt idx="84">
                  <c:v>160.36053460233305</c:v>
                </c:pt>
                <c:pt idx="85">
                  <c:v>159.10342506011878</c:v>
                </c:pt>
                <c:pt idx="86">
                  <c:v>158.07014851375868</c:v>
                </c:pt>
                <c:pt idx="87">
                  <c:v>157.26353710244416</c:v>
                </c:pt>
                <c:pt idx="88">
                  <c:v>156.68580169198674</c:v>
                </c:pt>
                <c:pt idx="89">
                  <c:v>156.33852581498863</c:v>
                </c:pt>
                <c:pt idx="90">
                  <c:v>156.22266133048981</c:v>
                </c:pt>
                <c:pt idx="91">
                  <c:v>156.33852581498863</c:v>
                </c:pt>
                <c:pt idx="92">
                  <c:v>156.68580169198674</c:v>
                </c:pt>
                <c:pt idx="93">
                  <c:v>157.26353710244416</c:v>
                </c:pt>
                <c:pt idx="94">
                  <c:v>158.07014851375865</c:v>
                </c:pt>
                <c:pt idx="95">
                  <c:v>159.10342506011875</c:v>
                </c:pt>
                <c:pt idx="96">
                  <c:v>160.36053460233302</c:v>
                </c:pt>
                <c:pt idx="97">
                  <c:v>161.83803149052687</c:v>
                </c:pt>
                <c:pt idx="98">
                  <c:v>163.53186600842932</c:v>
                </c:pt>
                <c:pt idx="99">
                  <c:v>165.43739547336378</c:v>
                </c:pt>
                <c:pt idx="100">
                  <c:v>167.54939696151857</c:v>
                </c:pt>
                <c:pt idx="101">
                  <c:v>169.86208162361814</c:v>
                </c:pt>
                <c:pt idx="102">
                  <c:v>172.36911055175639</c:v>
                </c:pt>
                <c:pt idx="103">
                  <c:v>175.06361215390268</c:v>
                </c:pt>
                <c:pt idx="104">
                  <c:v>177.93820098845814</c:v>
                </c:pt>
                <c:pt idx="105">
                  <c:v>180.98499800723741</c:v>
                </c:pt>
                <c:pt idx="106">
                  <c:v>184.19565215139224</c:v>
                </c:pt>
                <c:pt idx="107">
                  <c:v>187.56136324108346</c:v>
                </c:pt>
                <c:pt idx="108">
                  <c:v>191.07290609616183</c:v>
                </c:pt>
                <c:pt idx="109">
                  <c:v>194.72065582174594</c:v>
                </c:pt>
                <c:pt idx="110">
                  <c:v>198.49461418939001</c:v>
                </c:pt>
                <c:pt idx="111">
                  <c:v>202.38443704153289</c:v>
                </c:pt>
                <c:pt idx="112">
                  <c:v>206.37946264411508</c:v>
                </c:pt>
                <c:pt idx="113">
                  <c:v>210.46874090965088</c:v>
                </c:pt>
                <c:pt idx="114">
                  <c:v>214.64106341065661</c:v>
                </c:pt>
                <c:pt idx="115">
                  <c:v>218.88499410117151</c:v>
                </c:pt>
                <c:pt idx="116">
                  <c:v>223.18890066216508</c:v>
                </c:pt>
                <c:pt idx="117">
                  <c:v>227.54098638491439</c:v>
                </c:pt>
                <c:pt idx="118">
                  <c:v>231.92932250496312</c:v>
                </c:pt>
                <c:pt idx="119">
                  <c:v>236.34188089803584</c:v>
                </c:pt>
                <c:pt idx="120">
                  <c:v>240.76656704829023</c:v>
                </c:pt>
              </c:numCache>
            </c:numRef>
          </c:yVal>
          <c:smooth val="0"/>
          <c:extLst>
            <c:ext xmlns:c16="http://schemas.microsoft.com/office/drawing/2014/chart" uri="{C3380CC4-5D6E-409C-BE32-E72D297353CC}">
              <c16:uniqueId val="{00000000-8EBC-D947-96AC-3A19B2D54BC0}"/>
            </c:ext>
          </c:extLst>
        </c:ser>
        <c:ser>
          <c:idx val="1"/>
          <c:order val="1"/>
          <c:tx>
            <c:strRef>
              <c:f>Sheet1!$B$124</c:f>
              <c:strCache>
                <c:ptCount val="1"/>
                <c:pt idx="0">
                  <c:v>edge points</c:v>
                </c:pt>
              </c:strCache>
            </c:strRef>
          </c:tx>
          <c:spPr>
            <a:ln>
              <a:noFill/>
            </a:ln>
          </c:spPr>
          <c:marker>
            <c:symbol val="circle"/>
            <c:size val="7"/>
            <c:spPr>
              <a:solidFill>
                <a:srgbClr val="152D42"/>
              </a:solidFill>
              <a:ln>
                <a:solidFill>
                  <a:srgbClr val="152D42"/>
                </a:solidFill>
              </a:ln>
            </c:spPr>
          </c:marker>
          <c:xVal>
            <c:numRef>
              <c:f>Sheet1!$A$125:$A$160</c:f>
              <c:numCache>
                <c:formatCode>General</c:formatCode>
                <c:ptCount val="36"/>
                <c:pt idx="0">
                  <c:v>396.87418818833305</c:v>
                </c:pt>
                <c:pt idx="1">
                  <c:v>397.45831805204642</c:v>
                </c:pt>
                <c:pt idx="2">
                  <c:v>394.31832469176703</c:v>
                </c:pt>
                <c:pt idx="3">
                  <c:v>387.20185519112772</c:v>
                </c:pt>
                <c:pt idx="4">
                  <c:v>384.38901882229595</c:v>
                </c:pt>
                <c:pt idx="5">
                  <c:v>376.44475856261977</c:v>
                </c:pt>
                <c:pt idx="6">
                  <c:v>373.15254030684451</c:v>
                </c:pt>
                <c:pt idx="7">
                  <c:v>325.90113016356707</c:v>
                </c:pt>
                <c:pt idx="8">
                  <c:v>312.21677120755055</c:v>
                </c:pt>
                <c:pt idx="9">
                  <c:v>307.40699960162993</c:v>
                </c:pt>
                <c:pt idx="10">
                  <c:v>293.53657065175395</c:v>
                </c:pt>
                <c:pt idx="11">
                  <c:v>241.68965896431266</c:v>
                </c:pt>
                <c:pt idx="12">
                  <c:v>234.12036935334834</c:v>
                </c:pt>
                <c:pt idx="13">
                  <c:v>226.39073540628209</c:v>
                </c:pt>
                <c:pt idx="14">
                  <c:v>228.73127105302217</c:v>
                </c:pt>
                <c:pt idx="15">
                  <c:v>231.97353821271059</c:v>
                </c:pt>
                <c:pt idx="16">
                  <c:v>231.1341918248319</c:v>
                </c:pt>
                <c:pt idx="17">
                  <c:v>232.54836365206594</c:v>
                </c:pt>
                <c:pt idx="18">
                  <c:v>231.83765738452519</c:v>
                </c:pt>
                <c:pt idx="19">
                  <c:v>244.85687530775581</c:v>
                </c:pt>
                <c:pt idx="20">
                  <c:v>249.21559625624167</c:v>
                </c:pt>
                <c:pt idx="21">
                  <c:v>299.00890935069725</c:v>
                </c:pt>
                <c:pt idx="22">
                  <c:v>306.06739760443037</c:v>
                </c:pt>
                <c:pt idx="23">
                  <c:v>329.04561210826762</c:v>
                </c:pt>
                <c:pt idx="24">
                  <c:v>343.65639619317568</c:v>
                </c:pt>
                <c:pt idx="25">
                  <c:v>344.9988897900185</c:v>
                </c:pt>
                <c:pt idx="26">
                  <c:v>344.78217568671363</c:v>
                </c:pt>
                <c:pt idx="27">
                  <c:v>348.39432397485496</c:v>
                </c:pt>
                <c:pt idx="28">
                  <c:v>363.69106586965006</c:v>
                </c:pt>
                <c:pt idx="29">
                  <c:v>367.56357501187858</c:v>
                </c:pt>
                <c:pt idx="30">
                  <c:v>385.37537282503854</c:v>
                </c:pt>
                <c:pt idx="31">
                  <c:v>394.3797879290093</c:v>
                </c:pt>
                <c:pt idx="32">
                  <c:v>396.47322530206469</c:v>
                </c:pt>
                <c:pt idx="33">
                  <c:v>392.6524472864017</c:v>
                </c:pt>
                <c:pt idx="34">
                  <c:v>395.58237637328864</c:v>
                </c:pt>
                <c:pt idx="35">
                  <c:v>395.70184970752427</c:v>
                </c:pt>
              </c:numCache>
            </c:numRef>
          </c:xVal>
          <c:yVal>
            <c:numRef>
              <c:f>Sheet1!$B$125:$B$160</c:f>
              <c:numCache>
                <c:formatCode>General</c:formatCode>
                <c:ptCount val="36"/>
                <c:pt idx="0">
                  <c:v>240.29367781594064</c:v>
                </c:pt>
                <c:pt idx="1">
                  <c:v>256.08264113659743</c:v>
                </c:pt>
                <c:pt idx="2">
                  <c:v>270.47313936183286</c:v>
                </c:pt>
                <c:pt idx="3">
                  <c:v>279.8710115849579</c:v>
                </c:pt>
                <c:pt idx="4">
                  <c:v>281.66810529579624</c:v>
                </c:pt>
                <c:pt idx="5">
                  <c:v>298.77230587565117</c:v>
                </c:pt>
                <c:pt idx="6">
                  <c:v>297.94523525703744</c:v>
                </c:pt>
                <c:pt idx="7">
                  <c:v>324.6699469469807</c:v>
                </c:pt>
                <c:pt idx="8">
                  <c:v>324.66502053188384</c:v>
                </c:pt>
                <c:pt idx="9">
                  <c:v>325.47800974990173</c:v>
                </c:pt>
                <c:pt idx="10">
                  <c:v>324.15091993626226</c:v>
                </c:pt>
                <c:pt idx="11">
                  <c:v>283.94804860977951</c:v>
                </c:pt>
                <c:pt idx="12">
                  <c:v>270.42747747982696</c:v>
                </c:pt>
                <c:pt idx="13">
                  <c:v>243.46576158983194</c:v>
                </c:pt>
                <c:pt idx="14">
                  <c:v>232.50454602428192</c:v>
                </c:pt>
                <c:pt idx="15">
                  <c:v>219.65953600467725</c:v>
                </c:pt>
                <c:pt idx="16">
                  <c:v>214.07327779195882</c:v>
                </c:pt>
                <c:pt idx="17">
                  <c:v>214.03925667242157</c:v>
                </c:pt>
                <c:pt idx="18">
                  <c:v>211.24903612609728</c:v>
                </c:pt>
                <c:pt idx="19">
                  <c:v>190.67086391190983</c:v>
                </c:pt>
                <c:pt idx="20">
                  <c:v>187.45082093870812</c:v>
                </c:pt>
                <c:pt idx="21">
                  <c:v>157.17972105709634</c:v>
                </c:pt>
                <c:pt idx="22">
                  <c:v>157.72632053512908</c:v>
                </c:pt>
                <c:pt idx="23">
                  <c:v>156.5581425273904</c:v>
                </c:pt>
                <c:pt idx="24">
                  <c:v>162.42595938234894</c:v>
                </c:pt>
                <c:pt idx="25">
                  <c:v>164.48838359693551</c:v>
                </c:pt>
                <c:pt idx="26">
                  <c:v>160.47774936535339</c:v>
                </c:pt>
                <c:pt idx="27">
                  <c:v>162.75435314131838</c:v>
                </c:pt>
                <c:pt idx="28">
                  <c:v>173.40062141005981</c:v>
                </c:pt>
                <c:pt idx="29">
                  <c:v>177.29209273416089</c:v>
                </c:pt>
                <c:pt idx="30">
                  <c:v>197.66898051506777</c:v>
                </c:pt>
                <c:pt idx="31">
                  <c:v>213.67332808978804</c:v>
                </c:pt>
                <c:pt idx="32">
                  <c:v>221.10952984058085</c:v>
                </c:pt>
                <c:pt idx="33">
                  <c:v>229.2314456610745</c:v>
                </c:pt>
                <c:pt idx="34">
                  <c:v>231.25584204998333</c:v>
                </c:pt>
                <c:pt idx="35">
                  <c:v>235.45645818424313</c:v>
                </c:pt>
              </c:numCache>
            </c:numRef>
          </c:yVal>
          <c:smooth val="0"/>
          <c:extLst>
            <c:ext xmlns:c16="http://schemas.microsoft.com/office/drawing/2014/chart" uri="{C3380CC4-5D6E-409C-BE32-E72D297353CC}">
              <c16:uniqueId val="{00000001-8EBC-D947-96AC-3A19B2D54BC0}"/>
            </c:ext>
          </c:extLst>
        </c:ser>
        <c:ser>
          <c:idx val="2"/>
          <c:order val="2"/>
          <c:tx>
            <c:strRef>
              <c:f>Sheet1!$B$162</c:f>
              <c:strCache>
                <c:ptCount val="1"/>
                <c:pt idx="0">
                  <c:v>fitted centre</c:v>
                </c:pt>
              </c:strCache>
            </c:strRef>
          </c:tx>
          <c:spPr>
            <a:ln>
              <a:noFill/>
            </a:ln>
          </c:spPr>
          <c:marker>
            <c:symbol val="plus"/>
            <c:size val="10"/>
            <c:spPr>
              <a:solidFill>
                <a:srgbClr val="A31F34"/>
              </a:solidFill>
              <a:ln>
                <a:solidFill>
                  <a:srgbClr val="A31F34"/>
                </a:solidFill>
              </a:ln>
            </c:spPr>
          </c:marker>
          <c:xVal>
            <c:numRef>
              <c:f>Sheet1!$A$163:$A$163</c:f>
              <c:numCache>
                <c:formatCode>General</c:formatCode>
                <c:ptCount val="1"/>
                <c:pt idx="0">
                  <c:v>312.64045870339714</c:v>
                </c:pt>
              </c:numCache>
            </c:numRef>
          </c:xVal>
          <c:yVal>
            <c:numRef>
              <c:f>Sheet1!$B$163:$B$163</c:f>
              <c:numCache>
                <c:formatCode>General</c:formatCode>
                <c:ptCount val="1"/>
                <c:pt idx="0">
                  <c:v>240.76656704829026</c:v>
                </c:pt>
              </c:numCache>
            </c:numRef>
          </c:yVal>
          <c:smooth val="0"/>
          <c:extLst>
            <c:ext xmlns:c16="http://schemas.microsoft.com/office/drawing/2014/chart" uri="{C3380CC4-5D6E-409C-BE32-E72D297353CC}">
              <c16:uniqueId val="{00000002-8EBC-D947-96AC-3A19B2D54BC0}"/>
            </c:ext>
          </c:extLst>
        </c:ser>
        <c:ser>
          <c:idx val="3"/>
          <c:order val="3"/>
          <c:tx>
            <c:strRef>
              <c:f>Sheet1!$B$165</c:f>
              <c:strCache>
                <c:ptCount val="1"/>
                <c:pt idx="0">
                  <c:v>mean of points</c:v>
                </c:pt>
              </c:strCache>
            </c:strRef>
          </c:tx>
          <c:spPr>
            <a:ln>
              <a:noFill/>
            </a:ln>
          </c:spPr>
          <c:marker>
            <c:symbol val="diamond"/>
            <c:size val="10"/>
            <c:spPr>
              <a:solidFill>
                <a:srgbClr val="506476"/>
              </a:solidFill>
              <a:ln>
                <a:solidFill>
                  <a:srgbClr val="506476"/>
                </a:solidFill>
              </a:ln>
            </c:spPr>
          </c:marker>
          <c:xVal>
            <c:numRef>
              <c:f>Sheet1!$A$166:$A$166</c:f>
              <c:numCache>
                <c:formatCode>General</c:formatCode>
                <c:ptCount val="1"/>
                <c:pt idx="0">
                  <c:v>325.24367049632349</c:v>
                </c:pt>
              </c:numCache>
            </c:numRef>
          </c:xVal>
          <c:yVal>
            <c:numRef>
              <c:f>Sheet1!$B$166:$B$166</c:f>
              <c:numCache>
                <c:formatCode>General</c:formatCode>
                <c:ptCount val="1"/>
                <c:pt idx="0">
                  <c:v>230.34048796480181</c:v>
                </c:pt>
              </c:numCache>
            </c:numRef>
          </c:yVal>
          <c:smooth val="0"/>
          <c:extLst>
            <c:ext xmlns:c16="http://schemas.microsoft.com/office/drawing/2014/chart" uri="{C3380CC4-5D6E-409C-BE32-E72D297353CC}">
              <c16:uniqueId val="{00000003-8EBC-D947-96AC-3A19B2D54BC0}"/>
            </c:ext>
          </c:extLst>
        </c:ser>
        <c:dLbls>
          <c:showLegendKey val="0"/>
          <c:showVal val="0"/>
          <c:showCatName val="0"/>
          <c:showSerName val="0"/>
          <c:showPercent val="0"/>
          <c:showBubbleSize val="0"/>
        </c:dLbls>
        <c:axId val="-2128940872"/>
        <c:axId val="-2129643912"/>
      </c:scatterChart>
      <c:valAx>
        <c:axId val="-2128940872"/>
        <c:scaling>
          <c:orientation val="minMax"/>
          <c:max val="410"/>
          <c:min val="215"/>
        </c:scaling>
        <c:delete val="0"/>
        <c:axPos val="b"/>
        <c:majorGridlines>
          <c:spPr>
            <a:ln w="9525">
              <a:solidFill>
                <a:srgbClr val="E3E8ED"/>
              </a:solidFill>
            </a:ln>
          </c:spPr>
        </c:majorGridlines>
        <c:title>
          <c:tx>
            <c:rich>
              <a:bodyPr/>
              <a:lstStyle/>
              <a:p>
                <a:pPr>
                  <a:defRPr/>
                </a:pPr>
                <a:r>
                  <a:rPr sz="1200" b="0" i="0">
                    <a:solidFill>
                      <a:srgbClr val="506476"/>
                    </a:solidFill>
                  </a:rPr>
                  <a:t>x (pixels)</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9643912"/>
        <c:crosses val="min"/>
        <c:crossBetween val="midCat"/>
        <c:majorUnit val="25"/>
      </c:valAx>
      <c:valAx>
        <c:axId val="-2129643912"/>
        <c:scaling>
          <c:orientation val="minMax"/>
          <c:max val="340"/>
          <c:min val="145"/>
        </c:scaling>
        <c:delete val="0"/>
        <c:axPos val="l"/>
        <c:majorGridlines>
          <c:spPr>
            <a:ln w="9525">
              <a:solidFill>
                <a:srgbClr val="E3E8ED"/>
              </a:solidFill>
            </a:ln>
          </c:spPr>
        </c:majorGridlines>
        <c:title>
          <c:tx>
            <c:rich>
              <a:bodyPr/>
              <a:lstStyle/>
              <a:p>
                <a:pPr>
                  <a:defRPr/>
                </a:pPr>
                <a:r>
                  <a:rPr sz="1200" b="0" i="0">
                    <a:solidFill>
                      <a:srgbClr val="506476"/>
                    </a:solidFill>
                  </a:rPr>
                  <a:t>y (pixels)</a:t>
                </a:r>
              </a:p>
            </c:rich>
          </c:tx>
          <c:overlay val="0"/>
        </c:title>
        <c:numFmt formatCode="General" sourceLinked="0"/>
        <c:majorTickMark val="out"/>
        <c:minorTickMark val="none"/>
        <c:tickLblPos val="nextTo"/>
        <c:spPr>
          <a:ln>
            <a:solidFill>
              <a:srgbClr val="506476"/>
            </a:solidFill>
          </a:ln>
        </c:spPr>
        <c:txPr>
          <a:bodyPr/>
          <a:lstStyle/>
          <a:p>
            <a:pPr>
              <a:defRPr sz="1200">
                <a:solidFill>
                  <a:srgbClr val="506476"/>
                </a:solidFill>
              </a:defRPr>
            </a:pPr>
            <a:endParaRPr lang="en-US"/>
          </a:p>
        </c:txPr>
        <c:crossAx val="-2128940872"/>
        <c:crosses val="min"/>
        <c:crossBetween val="midCat"/>
        <c:majorUnit val="25"/>
      </c:valAx>
    </c:plotArea>
    <c:legend>
      <c:legendPos val="b"/>
      <c:overlay val="0"/>
      <c:txPr>
        <a:bodyPr/>
        <a:lstStyle/>
        <a:p>
          <a:pPr>
            <a:defRPr sz="1200"/>
          </a:pPr>
          <a:endParaRPr lang="en-US"/>
        </a:p>
      </c:txPr>
    </c:legend>
    <c:plotVisOnly val="1"/>
    <c:dispBlanksAs val="gap"/>
    <c:showDLblsOverMax val="0"/>
  </c:chart>
  <c:spPr>
    <a:solidFill>
      <a:srgbClr val="FFFFFF"/>
    </a:solidFill>
    <a:ln>
      <a:noFill/>
    </a:ln>
  </c:spPr>
  <c:txPr>
    <a:bodyPr/>
    <a:lstStyle/>
    <a:p>
      <a:pPr>
        <a:defRPr sz="1200">
          <a:solidFill>
            <a:srgbClr val="5064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6098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deck to the Lecture 11 notes (L11_v3). Slides 3 to 11 follow Examples 2.1 and 3.1 of the notes with the same five points, and slides 14 and 15 are Example 4.1 (the glider), so students can read along. Slides 14 to 18 are animated: the experiments run when the slide opens. Pacing: about 60 minutes in full. For about 45 minutes, skip slides 10, 11, 13, 16, 21 and 23. Data: the five points, the time-stamp fit, the glider, the spring, the stopping voltages and five of the six lab fits are synthetic and labelled as such; the hydrogen and mercury wavelengths, the N-BK7 indices (SCHOTT) and the tidal constants (NOAA) are real.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The first block is the notes' worked example taken slowly, with builds. The second is a short warning about computing with raw columns. The third is four experiments, each animated; the fourth is six fits from fields where least squares is used every day. Each experiment or fit takes about two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Example 2.1 of the notes. Write the five equations k x_i + b = y_i as X k = y: one row per data point, the column of ones carries the intercept. Click 1: the first three points lie exactly on y = 2x + 1, a natural guess. Click 2: it misses the last two by 5 each, so we need a rule for 'best' before we can solve anything.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Each error is e_i = y_i - (k x_i + b); squaring makes every miss count positively. Click 1: the table for the guess, total 50. Click 2: the criterion. Ask the room for a line with error below 50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The table is the hand computation: five rows, then sums. Click 1: the sums are the entries of X^T X, X^T y and y^T y. Click 2: plug the guess k = (2, 1) into the box: 100*4 + 2*20*2*1 + 5*1 = 485, y^T X k = 280*2 + 55 = 615, and 485 - 1230 + 795 = 50, the same 50 as the table on the previous slide. Click 3: m = 5 has left the problem; with a million points the work after the sums is still a 2 by 2 problem.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Section 3 of the notes. The space is R^5 because there are five data points; the unknowns k and b only pick a point in the plane spanned by the two columns. Click 1: the plane. Click 2: the best point is the foot of the perpendicular. Click 3: the normal equations on the next slide are bookkeeping for that perpendicular.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Section 3 of the notes, 'The normal equations'. No calculus: the right angle in the picture says the residual has zero dot product with each column of X, and those dot products are X^T(y - X k-bar). Click 1: multiply out to get the boxed normal equations; the sums of slide 5 are exactly X^T X and X^T y. Click 2: why X^T X is invertible: v^T X^T X v = |Xv|^2, which is positive when the columns are independent.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Example 3.1(a). The two normal equations use the sums of slide 5. Click 1: eliminate: subtract 1/5 of the first from the second, (5 - 4) b = 55 - 56, so b = -1; then 100 k = 300. Click 2: the best line y = 3x - 1 with its residuals in red.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Example 3.1(b), and one step beyond the notes. Click 1: e-bar is orthogonal to both columns, hence to every combination of them, which is all of col(X). Click 2: its squared length is 10, against 50 for the guess. Click 3: the guess's error is e-bar plus a vector in the plane; the two are perpendicular, so 50 = 10 + 40. Any other line pays 10 + |X(k-bar - k)|^2, more than 10 because the columns are independent: the picture's closest point is the least squares answer.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skip if short of time. From the previous slide the error is 10 + |X(k-bar - k)|^2 = 10 + (k-bar - k)^T X^T X (k-bar - k), a quadratic bowl whose level sets are ellipses. Click 1: eigenvalues 104.04 and 0.961 (Lecture 7); the ellipse axes are their eigenvectors. Click 2: the small-eigenvalue direction is about (1, -4.95): raising k by 1 and lowering b by 4.95 changes the line by x - 4.95, which is small across the data. (The valley floor, the best b for each k, runs along (1, -4) instead: that line turns about the mean x = 4, as on the next slide.) The guess (2, 1) sits on the 50 contour.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optional. Shift x by its mean 4: the new column (-3,-1,0,1,3) is orthogonal to the ones. Click 1: each unknown is one dot product: k = 60/20 = 3, c = mean of y = 11, so y = 3x - 1 again. Click 2: the line passes through (4, 11), and X^T X = diag(20, 5). The glider experiment next uses the same idea: symmetric positions make two entries of X^T X vanish.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The same fit as the five points, but with a column of numbers near 1.79e9 next to a column of ones. Read the first table: the normal equations keep about 4 digits, and numpy's lstsq with rcond=None returns a slope of 7e-7 K/min, which is wrong. cond(X) is the square root of the ratio of the largest to the smallest eigenvalue of X^T X; for the five points it is 10.4. Click 1: subtract t0 (the first time stamp): cond(X) drops from 3.0e15 to 4.1e3 and both agree. Click 2: the rule. Data are synthetic: 21 C, drift 0.02 K/min, 0.01 K noise, seed 11; the reference slope 0.019978 K/min differs from 0.02 because of the noise.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optional. Point 1: most of the 3e15 is the scale difference between the columns; scaled to unit length the condition number is about 3.4e6. Click 1: forming X^T X squares it to about 1e13, which matches the 4 digits the normal equations kept. Click 2: lstsq (numpy, LAPACK gelsd, an SVD) drops singular values below rcond times the largest; the default rcond is machine epsilon times max(m, n) = 61 here, and sigma2/sigma1 = 3.3e-16 is below it (with numpy 1.x and no rcond the cut-off was epsilon alone and the result differed). Click 3: the fix, in both languages. MATLAB's backslash returns the least-squares solution for a tall X and also uses a rank tolerance; on the raw time stamps it would very likely warn that X is rank deficient and return a wrong slope, like lstsq (checked with the same tolerance in scipy; not run in MATLAB). The singular values are only needed for point 3; skip it if the SVD has not come up yet. The photoelectric slide (18) measures frequency in units of 1e14 Hz for the same reason.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Example 4.1 of the notes. The glider runs by itself when the slide opens: it swings between x = -25 and 35 cm, slowed down 4 times (real period about 1 s for 0.50 kg on 20 N/m). The springs stretch and compress as it moves; the photogates sit at -20 to 20 cm. Energy conservation makes the kinetic energy a downward parabola in x, so the model y = l x^2 + m x + b is linear in l, m, b. Click 1: the fitted parabola. The next slide computes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minutes. Example 4.1(a) to (c) of the notes, with every product written out. The rows of X^T are the columns c1, c2, c3 of X, so each entry is a dot product of two columns. Click 1: the six distinct entries of X^T X (it is symmetric). The two zeros come from the symmetric positions: the terms for x and -x cancel. Click 2: the three entries of X^T y. Click 3: the normal equations. Click 4: the middle equation stands alone (m = 10); subtracting 200 times the third from the first gives l = -1, then b = 875. Matching y = -(kappa/2) x^2 + kappa x0 x + (kappa/2)(A^2 - x0^2): kappa = -2 l = 2 mJ/cm^2 = 20 N/m, x0 = 5 cm, peak 900 mJ, A = 30 cm.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skip if short of time. The mass bobs when the slide opens (slowed down 4 times). T^2 is linear in M, with the spring's own mass entering as m_s/3 (a standard result for a uniform spring). Click 1: the line and the slope, which gives kappa. Click 2: the intercept, which gives the spring's mass: the line crosses T^2 = 0 at M = -m_s/3. The intercept is the less certain of the two numbers; with 0.4% timing noise it moves by a few grams from run to run.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When the slide opens the electron circles the n = 3 orbit (radii in the ratio 4 : 9 : 16, orbital periods in the ratio 8 : 27, both from Bohr's model). Click 1: it drops to n = 2 and a photon leaves: H-alpha, 656 nm. Bohr's model gives 1/lambda = R (1/4 - 1/n^2), a straight line in 1/n^2 with slope -R and intercept R/4. Fitting slope and intercept separately tests the model. Click 2: R = 1.096775e7 per metre from real wavelengths; the accepted value for hydrogen is 1.096776e7 (R_infinity corrected for the proton's finite mass). Click 3: 4 x intercept agrees to 1 part in 10^5. Air wavelengths are 0.03% shorter than vacuum ones; skipping that conversion gives R = 1.0971e7, a visible error.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Photons from the lamp eject electrons from the metal; a reverse voltage on the collector slows them, and at the stopping voltage the fastest ones turn back just before arriving (the animation shows them slowing and returning). Einstein: e Vs = h f - phi, linear in h/e and phi/e. Click 1: the slope gives h within 0.4% of 6.626e-34 J s. Frequencies near 1e14 Hz next to a column of ones are the time-stamp problem of slide 12 again; measuring f in units of 1e14 Hz avoids it. Click 2: the intercept gives the work function, and the line meets Vs = 0 at the threshold frequency.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Six fits from fields where least squares is routine. In every case the trick is the same: rewrite the model so the unknowns multiply known columns. Each of the next six slides is Given, Find, Answer, about two minutes each.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The model is not linear in tau, but ln V is linear in ln V0 and 1/tau. Click 1: the fit. Click 2: taking logs changes how errors are weighted; it is right here because the noise is a percentage. With a fixed noise in volts the late, small voltages would be over-weighted after the log.</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Real data. The model is a curve in lambda but linear in A and B: the columns are 1 and 1/lambda^2. Click 1: the fit, rms misfit 4.3e-5 across the visible. Click 2: extrapolate to 1060 nm, near the Nd:YAG line at 1064 nm: off by 1.6e-3, about 40 times the misfit inside the range. SCHOTT's own formula is the three-term Sellmeier equation, which matches its table to about 1e-5 from 0.3 to 2.3 um. Do not add a 1/lambda^4 column here: polynomial-type models are left for the problem set.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The dispersion relation of the TE10 mode, f^2 = fc^2 + c^2/lambda_g^2, with f^2 and 1/lambda_g^2 as the plotted variables. Click 1: slope c^2, intercept fc^2; c comes out 0.14% low because of the 0.3% reading error. Click 2: fc = c/(2a) = 6.557 GHz for a = 22.86 mm. Compare the WR-90 slide in the Lecture 7 deck, where the same cut-offs came from eigenvalues.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minutes; skip if short of time. Tide prediction is least squares with cos and sin columns at known astronomical frequencies (NOAA publishes the constants). Click 1: the fit and the table; M2 1.365 m against 1.371 m, every amplitude within 6 mm. Click 2: 29 days is long enough to separate M2 (12.42 h) from S2 (12.00 h) and N2 (12.66 h), so the 11 columns are nearly orthogonal and cond(X) is 1.46 (1.06 with the columns scaled; the ones column is longer than the cos and sin columns by sqrt 2). With 3 days of data they would not separate (cond about 73). This holds for a record built from these five constituents: a real 29-day record cannot separate K2 from S2 or P1 from K1, which needs about six months or inference from a nearby station. Simplifications: no nodal corrections, phases relative to t = 0, white noise in place of weather.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A log-log plot turns a power law into a straight line whose slope is the exponent. Click 1: the low-power points give 1.99, the signature of a second-order process (the same check is used for two-photon absorption, slope 2, and third-harmonic generation, slope 3). Click 2: including the depleted points pulls the slope down to 1.93. The model here is the undepleted-to-depleted SHG law P2 = P tanh^2(sqrt(eta P)) with eta = 0.25 per W.</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minutes; skip if short of time. Expanding the circle equation moves the unknowns into a, b and c = r^2 - a^2 - b^2, which enter linearly: this is the algebraic (Kasa) circle fit, a common first step for locating beams, pupils and rings. Click 1: the fit, within 0.3 px of the true centre. Click 2: the naive answer, the mean of the points, is 16.5 px off. Two independent variables (x and y), so this is the multivariate case of Section 6.</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1.5 minutes. Read down the last column: each example adds one habit. The common thread is the notes' Key idea in Section 4: least squares only needs the unknowns to enter linearly, and every fit here solves the same normal equations.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 minutes. Answers appear one click each. Q1: X^T(y + 2*ones) = X^T y + 2 X^T a2, so the solution moves by (0, 2): only the intercept changes. Q2: the new point has zero residual at the old k-bar, so the old k-bar still solves the enlarged normal equations. Q3: slides 12 and 13. Q4: slide 20; the log turns multiplicative noise into additive noise, which is right for percentage errors only.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L11_least_squares.py.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L11_conditioning.py.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L11_applications.py.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L11_applications.py.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L11_applications.py.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not presented. Lines from L11_experiments.py.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Exactly what the four scripts print (numpy 2.x).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11 Title">
    <p:bg>
      <p:bgPr>
        <a:solidFill>
          <a:srgbClr val="152D4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12648" y="1965960"/>
            <a:ext cx="10972800" cy="1371600"/>
          </a:xfrm>
          <a:prstGeom prst="rect">
            <a:avLst/>
          </a:prstGeom>
          <a:noFill/>
          <a:ln/>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a:spLocks noGrp="1"/>
          </p:cNvSpPr>
          <p:nvPr>
            <p:ph type="body" idx="101" hasCustomPrompt="1"/>
          </p:nvPr>
        </p:nvSpPr>
        <p:spPr>
          <a:xfrm>
            <a:off x="612648" y="3520440"/>
            <a:ext cx="10972800" cy="1280160"/>
          </a:xfrm>
          <a:prstGeom prst="rect">
            <a:avLst/>
          </a:prstGeom>
          <a:noFill/>
          <a:ln/>
        </p:spPr>
        <p:txBody>
          <a:bodyPr wrap="square" rtlCol="0"/>
          <a:lstStyle>
            <a:lvl1pPr marL="0" indent="0" algn="l">
              <a:buNone/>
              <a:defRPr lang="en-US" sz="2000" dirty="0">
                <a:solidFill>
                  <a:srgbClr val="D5DCE3"/>
                </a:solidFill>
              </a:defRPr>
            </a:lvl1pPr>
          </a:lstStyle>
          <a:p>
            <a:pPr marL="0" indent="0" algn="l">
              <a:buNone/>
            </a:pPr>
            <a:endParaRPr lang="en-US" sz="2000" dirty="0"/>
          </a:p>
        </p:txBody>
      </p:sp>
      <p:sp>
        <p:nvSpPr>
          <p:cNvPr id="4" name="Text 0"/>
          <p:cNvSpPr/>
          <p:nvPr/>
        </p:nvSpPr>
        <p:spPr>
          <a:xfrm>
            <a:off x="612648" y="5989320"/>
            <a:ext cx="8229600" cy="365760"/>
          </a:xfrm>
          <a:prstGeom prst="rect">
            <a:avLst/>
          </a:prstGeom>
          <a:noFill/>
          <a:ln/>
        </p:spPr>
        <p:txBody>
          <a:bodyPr wrap="square" lIns="0" tIns="0" rIns="0" bIns="0" rtlCol="0" anchor="ctr"/>
          <a:lstStyle/>
          <a:p>
            <a:pPr marL="0" indent="0">
              <a:buNone/>
            </a:pPr>
            <a:r>
              <a:rPr lang="en-US" sz="1200" dirty="0">
                <a:solidFill>
                  <a:srgbClr val="AEBAC6"/>
                </a:solidFill>
              </a:rPr>
              <a:t>18.085 Computational Science and Engineering I  ·  Fall 2026</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11 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12648" y="402336"/>
            <a:ext cx="10972800" cy="685800"/>
          </a:xfrm>
          <a:prstGeom prst="rect">
            <a:avLst/>
          </a:prstGeom>
          <a:noFill/>
          <a:ln/>
        </p:spPr>
        <p:txBody>
          <a:bodyPr wrap="square" rtlCol="0"/>
          <a:lstStyle>
            <a:lvl1pPr marL="0" indent="0" algn="l">
              <a:buNone/>
              <a:defRPr lang="en-US" sz="2800" b="1" dirty="0">
                <a:solidFill>
                  <a:srgbClr val="152D42"/>
                </a:solidFill>
              </a:defRPr>
            </a:lvl1pPr>
          </a:lstStyle>
          <a:p>
            <a:pPr marL="0" indent="0" algn="l">
              <a:buNone/>
            </a:pPr>
            <a:endParaRPr lang="en-US" sz="2800" dirty="0"/>
          </a:p>
        </p:txBody>
      </p:sp>
      <p:sp>
        <p:nvSpPr>
          <p:cNvPr id="3" name="Text 0"/>
          <p:cNvSpPr/>
          <p:nvPr/>
        </p:nvSpPr>
        <p:spPr>
          <a:xfrm>
            <a:off x="612648" y="6464808"/>
            <a:ext cx="7315200" cy="274320"/>
          </a:xfrm>
          <a:prstGeom prst="rect">
            <a:avLst/>
          </a:prstGeom>
          <a:noFill/>
          <a:ln/>
        </p:spPr>
        <p:txBody>
          <a:bodyPr wrap="square" lIns="0" tIns="0" rIns="0" bIns="0" rtlCol="0" anchor="ctr"/>
          <a:lstStyle/>
          <a:p>
            <a:pPr marL="0" indent="0">
              <a:buNone/>
            </a:pPr>
            <a:r>
              <a:rPr lang="en-US" sz="1000" dirty="0">
                <a:solidFill>
                  <a:srgbClr val="506476"/>
                </a:solidFill>
              </a:rPr>
              <a:t>18.085  ·  Fall 2026  ·  Lecture 11: Least squares</a:t>
            </a:r>
            <a:endParaRPr lang="en-US" sz="1000" dirty="0"/>
          </a:p>
        </p:txBody>
      </p:sp>
      <p:sp>
        <p:nvSpPr>
          <p:cNvPr id="25"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10.png"/><Relationship Id="rId7"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chart" Target="../charts/chart6.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5.xml"/><Relationship Id="rId16"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chart" Target="../charts/chart10.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chart" Target="../charts/chart12.xml"/><Relationship Id="rId4" Type="http://schemas.openxmlformats.org/officeDocument/2006/relationships/chart" Target="../charts/char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chart" Target="../charts/chart14.xml"/><Relationship Id="rId4" Type="http://schemas.openxmlformats.org/officeDocument/2006/relationships/chart" Target="../charts/char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15.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8.jpg"/><Relationship Id="rId5" Type="http://schemas.openxmlformats.org/officeDocument/2006/relationships/image" Target="../media/image47.jpg"/><Relationship Id="rId4" Type="http://schemas.openxmlformats.org/officeDocument/2006/relationships/chart" Target="../charts/chart16.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50.jpg"/><Relationship Id="rId4" Type="http://schemas.openxmlformats.org/officeDocument/2006/relationships/chart" Target="../charts/chart17.xml"/></Relationships>
</file>

<file path=ppt/slides/_rels/slide23.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chart" Target="../charts/chart18.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chart" Target="../charts/chart19.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chart" Target="../charts/char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Least squares in practice</a:t>
            </a:r>
          </a:p>
        </p:txBody>
      </p:sp>
      <p:sp>
        <p:nvSpPr>
          <p:cNvPr id="3" name="Text Placeholder 2"/>
          <p:cNvSpPr>
            <a:spLocks noGrp="1"/>
          </p:cNvSpPr>
          <p:nvPr>
            <p:ph type="body" idx="101"/>
          </p:nvPr>
        </p:nvSpPr>
        <p:spPr/>
        <p:txBody>
          <a:bodyPr/>
          <a:lstStyle/>
          <a:p>
            <a:r>
              <a:t>Lecture 11 companion  ·  five points by hand, the normal equations, four animated experiments and six fits from the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Plan</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a:t>
            </a:fld>
            <a:endParaRPr lang="en-US"/>
          </a:p>
        </p:txBody>
      </p:sp>
      <p:sp>
        <p:nvSpPr>
          <p:cNvPr id="4" name="card 1"/>
          <p:cNvSpPr/>
          <p:nvPr/>
        </p:nvSpPr>
        <p:spPr>
          <a:xfrm>
            <a:off x="612648" y="1417320"/>
            <a:ext cx="2057400" cy="361188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number 1"/>
          <p:cNvSpPr/>
          <p:nvPr/>
        </p:nvSpPr>
        <p:spPr>
          <a:xfrm>
            <a:off x="795528" y="1645920"/>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1</a:t>
            </a:r>
          </a:p>
        </p:txBody>
      </p:sp>
      <p:sp>
        <p:nvSpPr>
          <p:cNvPr id="6" name="card 1 title"/>
          <p:cNvSpPr txBox="1"/>
          <p:nvPr/>
        </p:nvSpPr>
        <p:spPr>
          <a:xfrm>
            <a:off x="795528" y="2286000"/>
            <a:ext cx="1737360" cy="731520"/>
          </a:xfrm>
          <a:prstGeom prst="rect">
            <a:avLst/>
          </a:prstGeom>
          <a:noFill/>
        </p:spPr>
        <p:txBody>
          <a:bodyPr wrap="square" lIns="0" tIns="0" rIns="0" bIns="0" anchor="t">
            <a:spAutoFit/>
          </a:bodyPr>
          <a:lstStyle/>
          <a:p>
            <a:pPr algn="l">
              <a:spcAft>
                <a:spcPts val="800"/>
              </a:spcAft>
            </a:pPr>
            <a:r>
              <a:rPr sz="1700" b="1" i="0">
                <a:solidFill>
                  <a:srgbClr val="152D42"/>
                </a:solidFill>
              </a:rPr>
              <a:t>Five points by hand</a:t>
            </a:r>
          </a:p>
        </p:txBody>
      </p:sp>
      <p:sp>
        <p:nvSpPr>
          <p:cNvPr id="7" name="card 1 text"/>
          <p:cNvSpPr txBox="1"/>
          <p:nvPr/>
        </p:nvSpPr>
        <p:spPr>
          <a:xfrm>
            <a:off x="795528" y="3063240"/>
            <a:ext cx="1737360" cy="1463040"/>
          </a:xfrm>
          <a:prstGeom prst="rect">
            <a:avLst/>
          </a:prstGeom>
          <a:noFill/>
        </p:spPr>
        <p:txBody>
          <a:bodyPr wrap="square" lIns="0" tIns="0" rIns="0" bIns="0" anchor="t">
            <a:spAutoFit/>
          </a:bodyPr>
          <a:lstStyle/>
          <a:p>
            <a:pPr algn="l">
              <a:spcAft>
                <a:spcPts val="800"/>
              </a:spcAft>
            </a:pPr>
            <a:r>
              <a:rPr sz="1400" b="0" i="0">
                <a:solidFill>
                  <a:srgbClr val="506476"/>
                </a:solidFill>
              </a:rPr>
              <a:t>Set-up, the picture, the normal equations, the best line, centring.</a:t>
            </a:r>
          </a:p>
        </p:txBody>
      </p:sp>
      <p:sp>
        <p:nvSpPr>
          <p:cNvPr id="8" name="card 1 slides"/>
          <p:cNvSpPr txBox="1"/>
          <p:nvPr/>
        </p:nvSpPr>
        <p:spPr>
          <a:xfrm>
            <a:off x="795528" y="4572000"/>
            <a:ext cx="1737360" cy="320040"/>
          </a:xfrm>
          <a:prstGeom prst="rect">
            <a:avLst/>
          </a:prstGeom>
          <a:noFill/>
        </p:spPr>
        <p:txBody>
          <a:bodyPr wrap="square" lIns="0" tIns="0" rIns="0" bIns="0" anchor="t">
            <a:spAutoFit/>
          </a:bodyPr>
          <a:lstStyle/>
          <a:p>
            <a:pPr algn="l">
              <a:spcAft>
                <a:spcPts val="800"/>
              </a:spcAft>
            </a:pPr>
            <a:r>
              <a:rPr sz="1200" b="0" i="0">
                <a:solidFill>
                  <a:srgbClr val="506476"/>
                </a:solidFill>
              </a:rPr>
              <a:t>Slides 3–11</a:t>
            </a:r>
          </a:p>
        </p:txBody>
      </p:sp>
      <p:sp>
        <p:nvSpPr>
          <p:cNvPr id="9" name="card 2"/>
          <p:cNvSpPr/>
          <p:nvPr/>
        </p:nvSpPr>
        <p:spPr>
          <a:xfrm>
            <a:off x="2841498" y="1417320"/>
            <a:ext cx="2057400" cy="361188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0" name="number 2"/>
          <p:cNvSpPr/>
          <p:nvPr/>
        </p:nvSpPr>
        <p:spPr>
          <a:xfrm>
            <a:off x="3024378" y="1645920"/>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2</a:t>
            </a:r>
          </a:p>
        </p:txBody>
      </p:sp>
      <p:sp>
        <p:nvSpPr>
          <p:cNvPr id="11" name="card 2 title"/>
          <p:cNvSpPr txBox="1"/>
          <p:nvPr/>
        </p:nvSpPr>
        <p:spPr>
          <a:xfrm>
            <a:off x="3024378" y="2286000"/>
            <a:ext cx="1737360" cy="731520"/>
          </a:xfrm>
          <a:prstGeom prst="rect">
            <a:avLst/>
          </a:prstGeom>
          <a:noFill/>
        </p:spPr>
        <p:txBody>
          <a:bodyPr wrap="square" lIns="0" tIns="0" rIns="0" bIns="0" anchor="t">
            <a:spAutoFit/>
          </a:bodyPr>
          <a:lstStyle/>
          <a:p>
            <a:pPr algn="l">
              <a:spcAft>
                <a:spcPts val="800"/>
              </a:spcAft>
            </a:pPr>
            <a:r>
              <a:rPr sz="1700" b="1" i="0">
                <a:solidFill>
                  <a:srgbClr val="152D42"/>
                </a:solidFill>
              </a:rPr>
              <a:t>On the computer</a:t>
            </a:r>
          </a:p>
        </p:txBody>
      </p:sp>
      <p:sp>
        <p:nvSpPr>
          <p:cNvPr id="12" name="card 2 text"/>
          <p:cNvSpPr txBox="1"/>
          <p:nvPr/>
        </p:nvSpPr>
        <p:spPr>
          <a:xfrm>
            <a:off x="3024378" y="3063240"/>
            <a:ext cx="1737360" cy="1463040"/>
          </a:xfrm>
          <a:prstGeom prst="rect">
            <a:avLst/>
          </a:prstGeom>
          <a:noFill/>
        </p:spPr>
        <p:txBody>
          <a:bodyPr wrap="square" lIns="0" tIns="0" rIns="0" bIns="0" anchor="t">
            <a:spAutoFit/>
          </a:bodyPr>
          <a:lstStyle/>
          <a:p>
            <a:pPr algn="l">
              <a:spcAft>
                <a:spcPts val="800"/>
              </a:spcAft>
            </a:pPr>
            <a:r>
              <a:rPr sz="1400" b="0" i="0">
                <a:solidFill>
                  <a:srgbClr val="506476"/>
                </a:solidFill>
              </a:rPr>
              <a:t>Raw time stamps: one fit, two answers. What to write instead.</a:t>
            </a:r>
          </a:p>
        </p:txBody>
      </p:sp>
      <p:sp>
        <p:nvSpPr>
          <p:cNvPr id="13" name="card 2 slides"/>
          <p:cNvSpPr txBox="1"/>
          <p:nvPr/>
        </p:nvSpPr>
        <p:spPr>
          <a:xfrm>
            <a:off x="3024378" y="4572000"/>
            <a:ext cx="1737360" cy="320040"/>
          </a:xfrm>
          <a:prstGeom prst="rect">
            <a:avLst/>
          </a:prstGeom>
          <a:noFill/>
        </p:spPr>
        <p:txBody>
          <a:bodyPr wrap="square" lIns="0" tIns="0" rIns="0" bIns="0" anchor="t">
            <a:spAutoFit/>
          </a:bodyPr>
          <a:lstStyle/>
          <a:p>
            <a:pPr algn="l">
              <a:spcAft>
                <a:spcPts val="800"/>
              </a:spcAft>
            </a:pPr>
            <a:r>
              <a:rPr sz="1200" b="0" i="0">
                <a:solidFill>
                  <a:srgbClr val="506476"/>
                </a:solidFill>
              </a:rPr>
              <a:t>Slides 12–13</a:t>
            </a:r>
          </a:p>
        </p:txBody>
      </p:sp>
      <p:sp>
        <p:nvSpPr>
          <p:cNvPr id="14" name="card 3"/>
          <p:cNvSpPr/>
          <p:nvPr/>
        </p:nvSpPr>
        <p:spPr>
          <a:xfrm>
            <a:off x="5070348" y="1417320"/>
            <a:ext cx="2057400" cy="361188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5" name="number 3"/>
          <p:cNvSpPr/>
          <p:nvPr/>
        </p:nvSpPr>
        <p:spPr>
          <a:xfrm>
            <a:off x="5253228" y="1645920"/>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3</a:t>
            </a:r>
          </a:p>
        </p:txBody>
      </p:sp>
      <p:sp>
        <p:nvSpPr>
          <p:cNvPr id="16" name="card 3 title"/>
          <p:cNvSpPr txBox="1"/>
          <p:nvPr/>
        </p:nvSpPr>
        <p:spPr>
          <a:xfrm>
            <a:off x="5253228" y="2286000"/>
            <a:ext cx="1737360" cy="731520"/>
          </a:xfrm>
          <a:prstGeom prst="rect">
            <a:avLst/>
          </a:prstGeom>
          <a:noFill/>
        </p:spPr>
        <p:txBody>
          <a:bodyPr wrap="square" lIns="0" tIns="0" rIns="0" bIns="0" anchor="t">
            <a:spAutoFit/>
          </a:bodyPr>
          <a:lstStyle/>
          <a:p>
            <a:pPr algn="l">
              <a:spcAft>
                <a:spcPts val="800"/>
              </a:spcAft>
            </a:pPr>
            <a:r>
              <a:rPr sz="1700" b="1" i="0">
                <a:solidFill>
                  <a:srgbClr val="152D42"/>
                </a:solidFill>
              </a:rPr>
              <a:t>Four experiments</a:t>
            </a:r>
          </a:p>
        </p:txBody>
      </p:sp>
      <p:sp>
        <p:nvSpPr>
          <p:cNvPr id="17" name="card 3 text"/>
          <p:cNvSpPr txBox="1"/>
          <p:nvPr/>
        </p:nvSpPr>
        <p:spPr>
          <a:xfrm>
            <a:off x="5253228" y="3063240"/>
            <a:ext cx="1737360" cy="1463040"/>
          </a:xfrm>
          <a:prstGeom prst="rect">
            <a:avLst/>
          </a:prstGeom>
          <a:noFill/>
        </p:spPr>
        <p:txBody>
          <a:bodyPr wrap="square" lIns="0" tIns="0" rIns="0" bIns="0" anchor="t">
            <a:spAutoFit/>
          </a:bodyPr>
          <a:lstStyle/>
          <a:p>
            <a:pPr algn="l">
              <a:spcAft>
                <a:spcPts val="800"/>
              </a:spcAft>
            </a:pPr>
            <a:r>
              <a:rPr sz="1400" b="0" i="0">
                <a:solidFill>
                  <a:srgbClr val="506476"/>
                </a:solidFill>
              </a:rPr>
              <a:t>Glider on springs, mass on a spring, Bohr's hydrogen atom, the photoelectric effect. Animated.</a:t>
            </a:r>
          </a:p>
        </p:txBody>
      </p:sp>
      <p:sp>
        <p:nvSpPr>
          <p:cNvPr id="18" name="card 3 slides"/>
          <p:cNvSpPr txBox="1"/>
          <p:nvPr/>
        </p:nvSpPr>
        <p:spPr>
          <a:xfrm>
            <a:off x="5253228" y="4572000"/>
            <a:ext cx="1737360" cy="320040"/>
          </a:xfrm>
          <a:prstGeom prst="rect">
            <a:avLst/>
          </a:prstGeom>
          <a:noFill/>
        </p:spPr>
        <p:txBody>
          <a:bodyPr wrap="square" lIns="0" tIns="0" rIns="0" bIns="0" anchor="t">
            <a:spAutoFit/>
          </a:bodyPr>
          <a:lstStyle/>
          <a:p>
            <a:pPr algn="l">
              <a:spcAft>
                <a:spcPts val="800"/>
              </a:spcAft>
            </a:pPr>
            <a:r>
              <a:rPr sz="1200" b="0" i="0">
                <a:solidFill>
                  <a:srgbClr val="506476"/>
                </a:solidFill>
              </a:rPr>
              <a:t>Slides 14–18</a:t>
            </a:r>
          </a:p>
        </p:txBody>
      </p:sp>
      <p:sp>
        <p:nvSpPr>
          <p:cNvPr id="19" name="card 4"/>
          <p:cNvSpPr/>
          <p:nvPr/>
        </p:nvSpPr>
        <p:spPr>
          <a:xfrm>
            <a:off x="7299198" y="1417320"/>
            <a:ext cx="2057400" cy="361188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20" name="number 4"/>
          <p:cNvSpPr/>
          <p:nvPr/>
        </p:nvSpPr>
        <p:spPr>
          <a:xfrm>
            <a:off x="7482077" y="1645920"/>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4</a:t>
            </a:r>
          </a:p>
        </p:txBody>
      </p:sp>
      <p:sp>
        <p:nvSpPr>
          <p:cNvPr id="21" name="card 4 title"/>
          <p:cNvSpPr txBox="1"/>
          <p:nvPr/>
        </p:nvSpPr>
        <p:spPr>
          <a:xfrm>
            <a:off x="7482077" y="2286000"/>
            <a:ext cx="1737360" cy="731520"/>
          </a:xfrm>
          <a:prstGeom prst="rect">
            <a:avLst/>
          </a:prstGeom>
          <a:noFill/>
        </p:spPr>
        <p:txBody>
          <a:bodyPr wrap="square" lIns="0" tIns="0" rIns="0" bIns="0" anchor="t">
            <a:spAutoFit/>
          </a:bodyPr>
          <a:lstStyle/>
          <a:p>
            <a:pPr algn="l">
              <a:spcAft>
                <a:spcPts val="800"/>
              </a:spcAft>
            </a:pPr>
            <a:r>
              <a:rPr sz="1700" b="1" i="0">
                <a:solidFill>
                  <a:srgbClr val="152D42"/>
                </a:solidFill>
              </a:rPr>
              <a:t>Six fits from the lab</a:t>
            </a:r>
          </a:p>
        </p:txBody>
      </p:sp>
      <p:sp>
        <p:nvSpPr>
          <p:cNvPr id="22" name="card 4 text"/>
          <p:cNvSpPr txBox="1"/>
          <p:nvPr/>
        </p:nvSpPr>
        <p:spPr>
          <a:xfrm>
            <a:off x="7482077" y="3063240"/>
            <a:ext cx="1737360" cy="1463040"/>
          </a:xfrm>
          <a:prstGeom prst="rect">
            <a:avLst/>
          </a:prstGeom>
          <a:noFill/>
        </p:spPr>
        <p:txBody>
          <a:bodyPr wrap="square" lIns="0" tIns="0" rIns="0" bIns="0" anchor="t">
            <a:spAutoFit/>
          </a:bodyPr>
          <a:lstStyle/>
          <a:p>
            <a:pPr algn="l">
              <a:spcAft>
                <a:spcPts val="800"/>
              </a:spcAft>
            </a:pPr>
            <a:r>
              <a:rPr sz="1400" b="0" i="0">
                <a:solidFill>
                  <a:srgbClr val="506476"/>
                </a:solidFill>
              </a:rPr>
              <a:t>Circuits, optics, EM, tides, nonlinear optics, structured light.</a:t>
            </a:r>
          </a:p>
        </p:txBody>
      </p:sp>
      <p:sp>
        <p:nvSpPr>
          <p:cNvPr id="23" name="card 4 slides"/>
          <p:cNvSpPr txBox="1"/>
          <p:nvPr/>
        </p:nvSpPr>
        <p:spPr>
          <a:xfrm>
            <a:off x="7482077" y="4572000"/>
            <a:ext cx="1737360" cy="320040"/>
          </a:xfrm>
          <a:prstGeom prst="rect">
            <a:avLst/>
          </a:prstGeom>
          <a:noFill/>
        </p:spPr>
        <p:txBody>
          <a:bodyPr wrap="square" lIns="0" tIns="0" rIns="0" bIns="0" anchor="t">
            <a:spAutoFit/>
          </a:bodyPr>
          <a:lstStyle/>
          <a:p>
            <a:pPr algn="l">
              <a:spcAft>
                <a:spcPts val="800"/>
              </a:spcAft>
            </a:pPr>
            <a:r>
              <a:rPr sz="1200" b="0" i="0">
                <a:solidFill>
                  <a:srgbClr val="506476"/>
                </a:solidFill>
              </a:rPr>
              <a:t>Slides 19–25</a:t>
            </a:r>
          </a:p>
        </p:txBody>
      </p:sp>
      <p:sp>
        <p:nvSpPr>
          <p:cNvPr id="24" name="card 5"/>
          <p:cNvSpPr/>
          <p:nvPr/>
        </p:nvSpPr>
        <p:spPr>
          <a:xfrm>
            <a:off x="9528048" y="1417320"/>
            <a:ext cx="2057400" cy="361188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25" name="number 5"/>
          <p:cNvSpPr/>
          <p:nvPr/>
        </p:nvSpPr>
        <p:spPr>
          <a:xfrm>
            <a:off x="9710928" y="1645920"/>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5</a:t>
            </a:r>
          </a:p>
        </p:txBody>
      </p:sp>
      <p:sp>
        <p:nvSpPr>
          <p:cNvPr id="26" name="card 5 title"/>
          <p:cNvSpPr txBox="1"/>
          <p:nvPr/>
        </p:nvSpPr>
        <p:spPr>
          <a:xfrm>
            <a:off x="9710928" y="2286000"/>
            <a:ext cx="1737360" cy="731520"/>
          </a:xfrm>
          <a:prstGeom prst="rect">
            <a:avLst/>
          </a:prstGeom>
          <a:noFill/>
        </p:spPr>
        <p:txBody>
          <a:bodyPr wrap="square" lIns="0" tIns="0" rIns="0" bIns="0" anchor="t">
            <a:spAutoFit/>
          </a:bodyPr>
          <a:lstStyle/>
          <a:p>
            <a:pPr algn="l">
              <a:spcAft>
                <a:spcPts val="800"/>
              </a:spcAft>
            </a:pPr>
            <a:r>
              <a:rPr sz="1700" b="1" i="0">
                <a:solidFill>
                  <a:srgbClr val="152D42"/>
                </a:solidFill>
              </a:rPr>
              <a:t>Wrap-up</a:t>
            </a:r>
          </a:p>
        </p:txBody>
      </p:sp>
      <p:sp>
        <p:nvSpPr>
          <p:cNvPr id="27" name="card 5 text"/>
          <p:cNvSpPr txBox="1"/>
          <p:nvPr/>
        </p:nvSpPr>
        <p:spPr>
          <a:xfrm>
            <a:off x="9710928" y="3063240"/>
            <a:ext cx="1737360" cy="1463040"/>
          </a:xfrm>
          <a:prstGeom prst="rect">
            <a:avLst/>
          </a:prstGeom>
          <a:noFill/>
        </p:spPr>
        <p:txBody>
          <a:bodyPr wrap="square" lIns="0" tIns="0" rIns="0" bIns="0" anchor="t">
            <a:spAutoFit/>
          </a:bodyPr>
          <a:lstStyle/>
          <a:p>
            <a:pPr algn="l">
              <a:spcAft>
                <a:spcPts val="800"/>
              </a:spcAft>
            </a:pPr>
            <a:r>
              <a:rPr sz="1400" b="0" i="0">
                <a:solidFill>
                  <a:srgbClr val="506476"/>
                </a:solidFill>
              </a:rPr>
              <a:t>Summary, questions for the room, Python appendix.</a:t>
            </a:r>
          </a:p>
        </p:txBody>
      </p:sp>
      <p:sp>
        <p:nvSpPr>
          <p:cNvPr id="28" name="card 5 slides"/>
          <p:cNvSpPr txBox="1"/>
          <p:nvPr/>
        </p:nvSpPr>
        <p:spPr>
          <a:xfrm>
            <a:off x="9710928" y="4572000"/>
            <a:ext cx="1737360" cy="320040"/>
          </a:xfrm>
          <a:prstGeom prst="rect">
            <a:avLst/>
          </a:prstGeom>
          <a:noFill/>
        </p:spPr>
        <p:txBody>
          <a:bodyPr wrap="square" lIns="0" tIns="0" rIns="0" bIns="0" anchor="t">
            <a:spAutoFit/>
          </a:bodyPr>
          <a:lstStyle/>
          <a:p>
            <a:pPr algn="l">
              <a:spcAft>
                <a:spcPts val="800"/>
              </a:spcAft>
            </a:pPr>
            <a:r>
              <a:rPr sz="1200" b="0" i="0">
                <a:solidFill>
                  <a:srgbClr val="506476"/>
                </a:solidFill>
              </a:rPr>
              <a:t>Slides 26–35</a:t>
            </a:r>
          </a:p>
        </p:txBody>
      </p:sp>
      <p:sp>
        <p:nvSpPr>
          <p:cNvPr id="29" name="plan note"/>
          <p:cNvSpPr txBox="1"/>
          <p:nvPr/>
        </p:nvSpPr>
        <p:spPr>
          <a:xfrm>
            <a:off x="612648" y="5349240"/>
            <a:ext cx="10972800" cy="457200"/>
          </a:xfrm>
          <a:prstGeom prst="rect">
            <a:avLst/>
          </a:prstGeom>
          <a:noFill/>
        </p:spPr>
        <p:txBody>
          <a:bodyPr wrap="square" lIns="0" tIns="0" rIns="0" bIns="0" anchor="t">
            <a:spAutoFit/>
          </a:bodyPr>
          <a:lstStyle/>
          <a:p>
            <a:pPr algn="l">
              <a:spcAft>
                <a:spcPts val="800"/>
              </a:spcAft>
            </a:pPr>
            <a:r>
              <a:rPr sz="1400" b="0" i="0">
                <a:solidFill>
                  <a:srgbClr val="506476"/>
                </a:solidFill>
              </a:rPr>
              <a:t>The data, numbers and notation match Examples 2.1, 3.1 and 4.1 of the Lecture 11 notes.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Five points, two unknowns, no exact line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a:t>
            </a:fld>
            <a:endParaRPr lang="en-US"/>
          </a:p>
        </p:txBody>
      </p:sp>
      <p:graphicFrame>
        <p:nvGraphicFramePr>
          <p:cNvPr id="4" name="chart data"/>
          <p:cNvGraphicFramePr>
            <a:graphicFrameLocks noGrp="1"/>
          </p:cNvGraphicFramePr>
          <p:nvPr/>
        </p:nvGraphicFramePr>
        <p:xfrm>
          <a:off x="612648" y="1280160"/>
          <a:ext cx="5669280" cy="4526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b1_chart guess"/>
          <p:cNvGraphicFramePr>
            <a:graphicFrameLocks noGrp="1"/>
          </p:cNvGraphicFramePr>
          <p:nvPr/>
        </p:nvGraphicFramePr>
        <p:xfrm>
          <a:off x="612648" y="1280160"/>
          <a:ext cx="5669280" cy="4526280"/>
        </p:xfrm>
        <a:graphic>
          <a:graphicData uri="http://schemas.openxmlformats.org/drawingml/2006/chart">
            <c:chart xmlns:c="http://schemas.openxmlformats.org/drawingml/2006/chart" xmlns:r="http://schemas.openxmlformats.org/officeDocument/2006/relationships" r:id="rId4"/>
          </a:graphicData>
        </a:graphic>
      </p:graphicFrame>
      <p:pic>
        <p:nvPicPr>
          <p:cNvPr id="6" name="eq system" descr="\underbrace{\begin{bmatrix}1 &amp; 1\\3 &amp; 1\\4 &amp; 1\\5 &amp; 1\\7 &amp; 1\end{bmatrix}}_{\vb X}\underbrace{\begin{bmatrix} k \\ b \end{bmatrix}}_{\vb k} = \underbrace{\begin{bmatrix}3\\7\\9\\16\\20\end{bmatrix}}_{\vb y}"/>
          <p:cNvPicPr>
            <a:picLocks noChangeAspect="1"/>
          </p:cNvPicPr>
          <p:nvPr/>
        </p:nvPicPr>
        <p:blipFill>
          <a:blip r:embed="rId5"/>
          <a:stretch>
            <a:fillRect/>
          </a:stretch>
        </p:blipFill>
        <p:spPr>
          <a:xfrm>
            <a:off x="6812280" y="1325880"/>
            <a:ext cx="2434590" cy="2112264"/>
          </a:xfrm>
          <a:prstGeom prst="rect">
            <a:avLst/>
          </a:prstGeom>
        </p:spPr>
      </p:pic>
      <p:sp>
        <p:nvSpPr>
          <p:cNvPr id="7" name="text 1"/>
          <p:cNvSpPr txBox="1"/>
          <p:nvPr/>
        </p:nvSpPr>
        <p:spPr>
          <a:xfrm>
            <a:off x="6812280" y="3657600"/>
            <a:ext cx="4754880" cy="411480"/>
          </a:xfrm>
          <a:prstGeom prst="rect">
            <a:avLst/>
          </a:prstGeom>
          <a:noFill/>
        </p:spPr>
        <p:txBody>
          <a:bodyPr wrap="square" lIns="0" tIns="0" rIns="0" bIns="0" anchor="t">
            <a:spAutoFit/>
          </a:bodyPr>
          <a:lstStyle/>
          <a:p>
            <a:pPr algn="l">
              <a:spcAft>
                <a:spcPts val="800"/>
              </a:spcAft>
            </a:pPr>
            <a:r>
              <a:rPr sz="1600" b="0" i="0">
                <a:solidFill>
                  <a:srgbClr val="152D42"/>
                </a:solidFill>
              </a:rPr>
              <a:t>Five equations, two unknowns: no </a:t>
            </a:r>
            <a:r>
              <a:rPr sz="1600" b="0" i="1">
                <a:solidFill>
                  <a:srgbClr val="152D42"/>
                </a:solidFill>
              </a:rPr>
              <a:t>k</a:t>
            </a:r>
            <a:r>
              <a:rPr sz="1600" b="0" i="0">
                <a:solidFill>
                  <a:srgbClr val="152D42"/>
                </a:solidFill>
              </a:rPr>
              <a:t> and </a:t>
            </a:r>
            <a:r>
              <a:rPr sz="1600" b="0" i="1">
                <a:solidFill>
                  <a:srgbClr val="152D42"/>
                </a:solidFill>
              </a:rPr>
              <a:t>b</a:t>
            </a:r>
            <a:r>
              <a:rPr sz="1600" b="0" i="0">
                <a:solidFill>
                  <a:srgbClr val="152D42"/>
                </a:solidFill>
              </a:rPr>
              <a:t> satisfy all five.</a:t>
            </a:r>
          </a:p>
        </p:txBody>
      </p:sp>
      <p:sp>
        <p:nvSpPr>
          <p:cNvPr id="8" name="b1_text guess"/>
          <p:cNvSpPr txBox="1"/>
          <p:nvPr/>
        </p:nvSpPr>
        <p:spPr>
          <a:xfrm>
            <a:off x="6812280" y="4343400"/>
            <a:ext cx="4754880" cy="685800"/>
          </a:xfrm>
          <a:prstGeom prst="rect">
            <a:avLst/>
          </a:prstGeom>
          <a:noFill/>
        </p:spPr>
        <p:txBody>
          <a:bodyPr wrap="square" lIns="0" tIns="0" rIns="0" bIns="0" anchor="t">
            <a:spAutoFit/>
          </a:bodyPr>
          <a:lstStyle/>
          <a:p>
            <a:pPr algn="l">
              <a:spcAft>
                <a:spcPts val="800"/>
              </a:spcAft>
            </a:pPr>
            <a:r>
              <a:rPr sz="1600" b="0" i="0">
                <a:solidFill>
                  <a:srgbClr val="152D42"/>
                </a:solidFill>
              </a:rPr>
              <a:t>The first three points force </a:t>
            </a:r>
            <a:r>
              <a:rPr sz="1600" b="0" i="1">
                <a:solidFill>
                  <a:srgbClr val="152D42"/>
                </a:solidFill>
              </a:rPr>
              <a:t>k</a:t>
            </a:r>
            <a:r>
              <a:rPr sz="1600" b="0" i="0">
                <a:solidFill>
                  <a:srgbClr val="152D42"/>
                </a:solidFill>
              </a:rPr>
              <a:t> = 2, </a:t>
            </a:r>
            <a:r>
              <a:rPr sz="1600" b="0" i="1">
                <a:solidFill>
                  <a:srgbClr val="152D42"/>
                </a:solidFill>
              </a:rPr>
              <a:t>b</a:t>
            </a:r>
            <a:r>
              <a:rPr sz="1600" b="0" i="0">
                <a:solidFill>
                  <a:srgbClr val="152D42"/>
                </a:solidFill>
              </a:rPr>
              <a:t> = 1: the dashed line </a:t>
            </a:r>
            <a:r>
              <a:rPr sz="1600" b="0" i="1">
                <a:solidFill>
                  <a:srgbClr val="152D42"/>
                </a:solidFill>
              </a:rPr>
              <a:t>y</a:t>
            </a:r>
            <a:r>
              <a:rPr sz="1600" b="0" i="0">
                <a:solidFill>
                  <a:srgbClr val="152D42"/>
                </a:solidFill>
              </a:rPr>
              <a:t> = 2</a:t>
            </a:r>
            <a:r>
              <a:rPr sz="1600" b="0" i="1">
                <a:solidFill>
                  <a:srgbClr val="152D42"/>
                </a:solidFill>
              </a:rPr>
              <a:t>x</a:t>
            </a:r>
            <a:r>
              <a:rPr sz="1600" b="0" i="0">
                <a:solidFill>
                  <a:srgbClr val="152D42"/>
                </a:solidFill>
              </a:rPr>
              <a:t> + 1.</a:t>
            </a:r>
          </a:p>
        </p:txBody>
      </p:sp>
      <p:sp>
        <p:nvSpPr>
          <p:cNvPr id="9" name="b2_text misses"/>
          <p:cNvSpPr txBox="1"/>
          <p:nvPr/>
        </p:nvSpPr>
        <p:spPr>
          <a:xfrm>
            <a:off x="6812280" y="5166360"/>
            <a:ext cx="4754880" cy="685800"/>
          </a:xfrm>
          <a:prstGeom prst="rect">
            <a:avLst/>
          </a:prstGeom>
          <a:noFill/>
        </p:spPr>
        <p:txBody>
          <a:bodyPr wrap="square" lIns="0" tIns="0" rIns="0" bIns="0" anchor="t">
            <a:spAutoFit/>
          </a:bodyPr>
          <a:lstStyle/>
          <a:p>
            <a:pPr algn="l">
              <a:spcAft>
                <a:spcPts val="800"/>
              </a:spcAft>
            </a:pPr>
            <a:r>
              <a:rPr sz="1600" b="0" i="0">
                <a:solidFill>
                  <a:srgbClr val="152D42"/>
                </a:solidFill>
              </a:rPr>
              <a:t>It misses (5, 16) and (7, 20) by 5 each. </a:t>
            </a:r>
            <a:r>
              <a:rPr sz="1600" b="1" i="0">
                <a:solidFill>
                  <a:srgbClr val="A31F34"/>
                </a:solidFill>
              </a:rPr>
              <a:t>Which line is best?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Score a line by its total squared error</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4</a:t>
            </a:fld>
            <a:endParaRPr lang="en-US"/>
          </a:p>
        </p:txBody>
      </p:sp>
      <p:pic>
        <p:nvPicPr>
          <p:cNvPr id="4" name="eq err" descr="\vb e = \vb y - \vb X\vb k, \qquad \vb e\T\vb e = e_1^2 + e_2^2 + \cdots + e_5^2"/>
          <p:cNvPicPr>
            <a:picLocks noChangeAspect="1"/>
          </p:cNvPicPr>
          <p:nvPr/>
        </p:nvPicPr>
        <p:blipFill>
          <a:blip r:embed="rId3"/>
          <a:stretch>
            <a:fillRect/>
          </a:stretch>
        </p:blipFill>
        <p:spPr>
          <a:xfrm>
            <a:off x="612648" y="1280160"/>
            <a:ext cx="5104638" cy="370332"/>
          </a:xfrm>
          <a:prstGeom prst="rect">
            <a:avLst/>
          </a:prstGeom>
        </p:spPr>
      </p:pic>
      <p:graphicFrame>
        <p:nvGraphicFramePr>
          <p:cNvPr id="5" name="chart guess errors"/>
          <p:cNvGraphicFramePr>
            <a:graphicFrameLocks noGrp="1"/>
          </p:cNvGraphicFramePr>
          <p:nvPr/>
        </p:nvGraphicFramePr>
        <p:xfrm>
          <a:off x="612648" y="1874519"/>
          <a:ext cx="5486400" cy="397763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b1_table guess"/>
          <p:cNvGraphicFramePr>
            <a:graphicFrameLocks noGrp="1"/>
          </p:cNvGraphicFramePr>
          <p:nvPr/>
        </p:nvGraphicFramePr>
        <p:xfrm>
          <a:off x="6400800" y="1874519"/>
          <a:ext cx="5166360" cy="2688336"/>
        </p:xfrm>
        <a:graphic>
          <a:graphicData uri="http://schemas.openxmlformats.org/drawingml/2006/table">
            <a:tbl>
              <a:tblPr firstRow="1">
                <a:tableStyleId>{5C22544A-7EE6-4342-B048-85BDC9FD1C3A}</a:tableStyleId>
              </a:tblPr>
              <a:tblGrid>
                <a:gridCol w="5486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84048">
                <a:tc>
                  <a:txBody>
                    <a:bodyPr/>
                    <a:lstStyle/>
                    <a:p>
                      <a:pPr algn="ctr"/>
                      <a:r>
                        <a:rPr sz="1400" b="1" i="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x</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y</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2x</a:t>
                      </a:r>
                      <a:r>
                        <a:rPr sz="1400" b="1" i="0" baseline="-25000">
                          <a:solidFill>
                            <a:srgbClr val="FFFFFF"/>
                          </a:solidFill>
                        </a:rPr>
                        <a:t>i</a:t>
                      </a:r>
                      <a:r>
                        <a:rPr sz="1400" b="1" i="0">
                          <a:solidFill>
                            <a:srgbClr val="FFFFFF"/>
                          </a:solidFill>
                        </a:rPr>
                        <a:t> + 1</a:t>
                      </a:r>
                    </a:p>
                  </a:txBody>
                  <a:tcPr marL="73152" marR="73152" marT="27432" marB="27432" anchor="ctr">
                    <a:solidFill>
                      <a:srgbClr val="152D42"/>
                    </a:solidFill>
                  </a:tcPr>
                </a:tc>
                <a:tc>
                  <a:txBody>
                    <a:bodyPr/>
                    <a:lstStyle/>
                    <a:p>
                      <a:pPr algn="ctr"/>
                      <a:r>
                        <a:rPr sz="1400" b="1" i="0">
                          <a:solidFill>
                            <a:srgbClr val="FFFFFF"/>
                          </a:solidFill>
                        </a:rPr>
                        <a:t>e</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e</a:t>
                      </a:r>
                      <a:r>
                        <a:rPr sz="1400" b="1" i="0" baseline="-25000">
                          <a:solidFill>
                            <a:srgbClr val="FFFFFF"/>
                          </a:solidFill>
                        </a:rPr>
                        <a:t>i</a:t>
                      </a:r>
                      <a:r>
                        <a:rPr sz="1400" b="1" i="0" baseline="30000">
                          <a:solidFill>
                            <a:srgbClr val="FFFFFF"/>
                          </a:solidFill>
                        </a:rPr>
                        <a:t>2</a:t>
                      </a:r>
                    </a:p>
                  </a:txBody>
                  <a:tcPr marL="73152" marR="73152" marT="27432" marB="27432" anchor="ctr">
                    <a:solidFill>
                      <a:srgbClr val="152D42"/>
                    </a:solidFill>
                  </a:tcPr>
                </a:tc>
                <a:extLst>
                  <a:ext uri="{0D108BD9-81ED-4DB2-BD59-A6C34878D82A}">
                    <a16:rowId xmlns:a16="http://schemas.microsoft.com/office/drawing/2014/main" val="10000"/>
                  </a:ext>
                </a:extLst>
              </a:tr>
              <a:tr h="384048">
                <a:tc>
                  <a:txBody>
                    <a:bodyPr/>
                    <a:lstStyle/>
                    <a:p>
                      <a:pPr algn="ctr"/>
                      <a:r>
                        <a:rPr sz="1400" b="0" i="0">
                          <a:solidFill>
                            <a:srgbClr val="152D42"/>
                          </a:solidFill>
                        </a:rPr>
                        <a:t>1</a:t>
                      </a:r>
                    </a:p>
                  </a:txBody>
                  <a:tcPr marL="73152" marR="73152" marT="27432" marB="27432" anchor="ctr">
                    <a:solidFill>
                      <a:srgbClr val="FFFFFF"/>
                    </a:solidFill>
                  </a:tcPr>
                </a:tc>
                <a:tc>
                  <a:txBody>
                    <a:bodyPr/>
                    <a:lstStyle/>
                    <a:p>
                      <a:pPr algn="ctr"/>
                      <a:r>
                        <a:rPr sz="1400" b="0" i="0">
                          <a:solidFill>
                            <a:srgbClr val="152D42"/>
                          </a:solidFill>
                        </a:rPr>
                        <a:t>1</a:t>
                      </a:r>
                    </a:p>
                  </a:txBody>
                  <a:tcPr marL="73152" marR="73152" marT="27432" marB="27432" anchor="ctr">
                    <a:solidFill>
                      <a:srgbClr val="FFFFFF"/>
                    </a:solidFill>
                  </a:tcPr>
                </a:tc>
                <a:tc>
                  <a:txBody>
                    <a:bodyPr/>
                    <a:lstStyle/>
                    <a:p>
                      <a:pPr algn="ctr"/>
                      <a:r>
                        <a:rPr sz="1400" b="0" i="0">
                          <a:solidFill>
                            <a:srgbClr val="152D42"/>
                          </a:solidFill>
                        </a:rPr>
                        <a:t>3</a:t>
                      </a:r>
                    </a:p>
                  </a:txBody>
                  <a:tcPr marL="73152" marR="73152" marT="27432" marB="27432" anchor="ctr">
                    <a:solidFill>
                      <a:srgbClr val="FFFFFF"/>
                    </a:solidFill>
                  </a:tcPr>
                </a:tc>
                <a:tc>
                  <a:txBody>
                    <a:bodyPr/>
                    <a:lstStyle/>
                    <a:p>
                      <a:pPr algn="ctr"/>
                      <a:r>
                        <a:rPr sz="1400" b="0" i="0">
                          <a:solidFill>
                            <a:srgbClr val="152D42"/>
                          </a:solidFill>
                        </a:rPr>
                        <a:t>3</a:t>
                      </a:r>
                    </a:p>
                  </a:txBody>
                  <a:tcPr marL="73152" marR="73152" marT="27432" marB="27432" anchor="ctr">
                    <a:solidFill>
                      <a:srgbClr val="FFFFFF"/>
                    </a:solidFill>
                  </a:tcPr>
                </a:tc>
                <a:tc>
                  <a:txBody>
                    <a:bodyPr/>
                    <a:lstStyle/>
                    <a:p>
                      <a:pPr algn="ctr"/>
                      <a:r>
                        <a:rPr sz="1400" b="0" i="0">
                          <a:solidFill>
                            <a:srgbClr val="152D42"/>
                          </a:solidFill>
                        </a:rPr>
                        <a:t>0</a:t>
                      </a:r>
                    </a:p>
                  </a:txBody>
                  <a:tcPr marL="73152" marR="73152" marT="27432" marB="27432" anchor="ctr">
                    <a:solidFill>
                      <a:srgbClr val="FFFFFF"/>
                    </a:solidFill>
                  </a:tcPr>
                </a:tc>
                <a:tc>
                  <a:txBody>
                    <a:bodyPr/>
                    <a:lstStyle/>
                    <a:p>
                      <a:pPr algn="ctr"/>
                      <a:r>
                        <a:rPr sz="1400" b="0" i="0">
                          <a:solidFill>
                            <a:srgbClr val="152D42"/>
                          </a:solidFill>
                        </a:rPr>
                        <a:t>0</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pPr algn="ctr"/>
                      <a:r>
                        <a:rPr sz="1400" b="0" i="0">
                          <a:solidFill>
                            <a:srgbClr val="152D42"/>
                          </a:solidFill>
                        </a:rPr>
                        <a:t>2</a:t>
                      </a:r>
                    </a:p>
                  </a:txBody>
                  <a:tcPr marL="73152" marR="73152" marT="27432" marB="27432" anchor="ctr">
                    <a:solidFill>
                      <a:srgbClr val="F5F7F9"/>
                    </a:solidFill>
                  </a:tcPr>
                </a:tc>
                <a:tc>
                  <a:txBody>
                    <a:bodyPr/>
                    <a:lstStyle/>
                    <a:p>
                      <a:pPr algn="ctr"/>
                      <a:r>
                        <a:rPr sz="1400" b="0" i="0">
                          <a:solidFill>
                            <a:srgbClr val="152D42"/>
                          </a:solidFill>
                        </a:rPr>
                        <a:t>3</a:t>
                      </a:r>
                    </a:p>
                  </a:txBody>
                  <a:tcPr marL="73152" marR="73152" marT="27432" marB="27432" anchor="ctr">
                    <a:solidFill>
                      <a:srgbClr val="F5F7F9"/>
                    </a:solidFill>
                  </a:tcPr>
                </a:tc>
                <a:tc>
                  <a:txBody>
                    <a:bodyPr/>
                    <a:lstStyle/>
                    <a:p>
                      <a:pPr algn="ctr"/>
                      <a:r>
                        <a:rPr sz="1400" b="0" i="0">
                          <a:solidFill>
                            <a:srgbClr val="152D42"/>
                          </a:solidFill>
                        </a:rPr>
                        <a:t>7</a:t>
                      </a:r>
                    </a:p>
                  </a:txBody>
                  <a:tcPr marL="73152" marR="73152" marT="27432" marB="27432" anchor="ctr">
                    <a:solidFill>
                      <a:srgbClr val="F5F7F9"/>
                    </a:solidFill>
                  </a:tcPr>
                </a:tc>
                <a:tc>
                  <a:txBody>
                    <a:bodyPr/>
                    <a:lstStyle/>
                    <a:p>
                      <a:pPr algn="ctr"/>
                      <a:r>
                        <a:rPr sz="1400" b="0" i="0">
                          <a:solidFill>
                            <a:srgbClr val="152D42"/>
                          </a:solidFill>
                        </a:rPr>
                        <a:t>7</a:t>
                      </a:r>
                    </a:p>
                  </a:txBody>
                  <a:tcPr marL="73152" marR="73152" marT="27432" marB="27432" anchor="ctr">
                    <a:solidFill>
                      <a:srgbClr val="F5F7F9"/>
                    </a:solidFill>
                  </a:tcPr>
                </a:tc>
                <a:tc>
                  <a:txBody>
                    <a:bodyPr/>
                    <a:lstStyle/>
                    <a:p>
                      <a:pPr algn="ctr"/>
                      <a:r>
                        <a:rPr sz="1400" b="0" i="0">
                          <a:solidFill>
                            <a:srgbClr val="152D42"/>
                          </a:solidFill>
                        </a:rPr>
                        <a:t>0</a:t>
                      </a:r>
                    </a:p>
                  </a:txBody>
                  <a:tcPr marL="73152" marR="73152" marT="27432" marB="27432" anchor="ctr">
                    <a:solidFill>
                      <a:srgbClr val="F5F7F9"/>
                    </a:solidFill>
                  </a:tcPr>
                </a:tc>
                <a:tc>
                  <a:txBody>
                    <a:bodyPr/>
                    <a:lstStyle/>
                    <a:p>
                      <a:pPr algn="ctr"/>
                      <a:r>
                        <a:rPr sz="1400" b="0" i="0">
                          <a:solidFill>
                            <a:srgbClr val="152D42"/>
                          </a:solidFill>
                        </a:rPr>
                        <a:t>0</a:t>
                      </a:r>
                    </a:p>
                  </a:txBody>
                  <a:tcPr marL="73152" marR="73152" marT="27432" marB="27432" anchor="ctr">
                    <a:solidFill>
                      <a:srgbClr val="F5F7F9"/>
                    </a:solidFill>
                  </a:tcPr>
                </a:tc>
                <a:extLst>
                  <a:ext uri="{0D108BD9-81ED-4DB2-BD59-A6C34878D82A}">
                    <a16:rowId xmlns:a16="http://schemas.microsoft.com/office/drawing/2014/main" val="10002"/>
                  </a:ext>
                </a:extLst>
              </a:tr>
              <a:tr h="384048">
                <a:tc>
                  <a:txBody>
                    <a:bodyPr/>
                    <a:lstStyle/>
                    <a:p>
                      <a:pPr algn="ctr"/>
                      <a:r>
                        <a:rPr sz="1400" b="0" i="0">
                          <a:solidFill>
                            <a:srgbClr val="152D42"/>
                          </a:solidFill>
                        </a:rPr>
                        <a:t>3</a:t>
                      </a:r>
                    </a:p>
                  </a:txBody>
                  <a:tcPr marL="73152" marR="73152" marT="27432" marB="27432" anchor="ctr">
                    <a:solidFill>
                      <a:srgbClr val="FFFFFF"/>
                    </a:solidFill>
                  </a:tcPr>
                </a:tc>
                <a:tc>
                  <a:txBody>
                    <a:bodyPr/>
                    <a:lstStyle/>
                    <a:p>
                      <a:pPr algn="ctr"/>
                      <a:r>
                        <a:rPr sz="1400" b="0" i="0">
                          <a:solidFill>
                            <a:srgbClr val="152D42"/>
                          </a:solidFill>
                        </a:rPr>
                        <a:t>4</a:t>
                      </a:r>
                    </a:p>
                  </a:txBody>
                  <a:tcPr marL="73152" marR="73152" marT="27432" marB="27432" anchor="ctr">
                    <a:solidFill>
                      <a:srgbClr val="FFFFFF"/>
                    </a:solidFill>
                  </a:tcPr>
                </a:tc>
                <a:tc>
                  <a:txBody>
                    <a:bodyPr/>
                    <a:lstStyle/>
                    <a:p>
                      <a:pPr algn="ctr"/>
                      <a:r>
                        <a:rPr sz="1400" b="0" i="0">
                          <a:solidFill>
                            <a:srgbClr val="152D42"/>
                          </a:solidFill>
                        </a:rPr>
                        <a:t>9</a:t>
                      </a:r>
                    </a:p>
                  </a:txBody>
                  <a:tcPr marL="73152" marR="73152" marT="27432" marB="27432" anchor="ctr">
                    <a:solidFill>
                      <a:srgbClr val="FFFFFF"/>
                    </a:solidFill>
                  </a:tcPr>
                </a:tc>
                <a:tc>
                  <a:txBody>
                    <a:bodyPr/>
                    <a:lstStyle/>
                    <a:p>
                      <a:pPr algn="ctr"/>
                      <a:r>
                        <a:rPr sz="1400" b="0" i="0">
                          <a:solidFill>
                            <a:srgbClr val="152D42"/>
                          </a:solidFill>
                        </a:rPr>
                        <a:t>9</a:t>
                      </a:r>
                    </a:p>
                  </a:txBody>
                  <a:tcPr marL="73152" marR="73152" marT="27432" marB="27432" anchor="ctr">
                    <a:solidFill>
                      <a:srgbClr val="FFFFFF"/>
                    </a:solidFill>
                  </a:tcPr>
                </a:tc>
                <a:tc>
                  <a:txBody>
                    <a:bodyPr/>
                    <a:lstStyle/>
                    <a:p>
                      <a:pPr algn="ctr"/>
                      <a:r>
                        <a:rPr sz="1400" b="0" i="0">
                          <a:solidFill>
                            <a:srgbClr val="152D42"/>
                          </a:solidFill>
                        </a:rPr>
                        <a:t>0</a:t>
                      </a:r>
                    </a:p>
                  </a:txBody>
                  <a:tcPr marL="73152" marR="73152" marT="27432" marB="27432" anchor="ctr">
                    <a:solidFill>
                      <a:srgbClr val="FFFFFF"/>
                    </a:solidFill>
                  </a:tcPr>
                </a:tc>
                <a:tc>
                  <a:txBody>
                    <a:bodyPr/>
                    <a:lstStyle/>
                    <a:p>
                      <a:pPr algn="ctr"/>
                      <a:r>
                        <a:rPr sz="1400" b="0" i="0">
                          <a:solidFill>
                            <a:srgbClr val="152D42"/>
                          </a:solidFill>
                        </a:rPr>
                        <a:t>0</a:t>
                      </a:r>
                    </a:p>
                  </a:txBody>
                  <a:tcPr marL="73152" marR="73152" marT="27432" marB="27432" anchor="ctr">
                    <a:solidFill>
                      <a:srgbClr val="FFFFFF"/>
                    </a:solidFill>
                  </a:tcPr>
                </a:tc>
                <a:extLst>
                  <a:ext uri="{0D108BD9-81ED-4DB2-BD59-A6C34878D82A}">
                    <a16:rowId xmlns:a16="http://schemas.microsoft.com/office/drawing/2014/main" val="10003"/>
                  </a:ext>
                </a:extLst>
              </a:tr>
              <a:tr h="384048">
                <a:tc>
                  <a:txBody>
                    <a:bodyPr/>
                    <a:lstStyle/>
                    <a:p>
                      <a:pPr algn="ctr"/>
                      <a:r>
                        <a:rPr sz="1400" b="0" i="0">
                          <a:solidFill>
                            <a:srgbClr val="152D42"/>
                          </a:solidFill>
                        </a:rPr>
                        <a:t>4</a:t>
                      </a:r>
                    </a:p>
                  </a:txBody>
                  <a:tcPr marL="73152" marR="73152" marT="27432" marB="27432" anchor="ctr">
                    <a:solidFill>
                      <a:srgbClr val="F5F7F9"/>
                    </a:solidFill>
                  </a:tcPr>
                </a:tc>
                <a:tc>
                  <a:txBody>
                    <a:bodyPr/>
                    <a:lstStyle/>
                    <a:p>
                      <a:pPr algn="ctr"/>
                      <a:r>
                        <a:rPr sz="1400" b="0" i="0">
                          <a:solidFill>
                            <a:srgbClr val="152D42"/>
                          </a:solidFill>
                        </a:rPr>
                        <a:t>5</a:t>
                      </a:r>
                    </a:p>
                  </a:txBody>
                  <a:tcPr marL="73152" marR="73152" marT="27432" marB="27432" anchor="ctr">
                    <a:solidFill>
                      <a:srgbClr val="F5F7F9"/>
                    </a:solidFill>
                  </a:tcPr>
                </a:tc>
                <a:tc>
                  <a:txBody>
                    <a:bodyPr/>
                    <a:lstStyle/>
                    <a:p>
                      <a:pPr algn="ctr"/>
                      <a:r>
                        <a:rPr sz="1400" b="0" i="0">
                          <a:solidFill>
                            <a:srgbClr val="152D42"/>
                          </a:solidFill>
                        </a:rPr>
                        <a:t>16</a:t>
                      </a:r>
                    </a:p>
                  </a:txBody>
                  <a:tcPr marL="73152" marR="73152" marT="27432" marB="27432" anchor="ctr">
                    <a:solidFill>
                      <a:srgbClr val="F5F7F9"/>
                    </a:solidFill>
                  </a:tcPr>
                </a:tc>
                <a:tc>
                  <a:txBody>
                    <a:bodyPr/>
                    <a:lstStyle/>
                    <a:p>
                      <a:pPr algn="ctr"/>
                      <a:r>
                        <a:rPr sz="1400" b="0" i="0">
                          <a:solidFill>
                            <a:srgbClr val="152D42"/>
                          </a:solidFill>
                        </a:rPr>
                        <a:t>11</a:t>
                      </a:r>
                    </a:p>
                  </a:txBody>
                  <a:tcPr marL="73152" marR="73152" marT="27432" marB="27432" anchor="ctr">
                    <a:solidFill>
                      <a:srgbClr val="F5F7F9"/>
                    </a:solidFill>
                  </a:tcPr>
                </a:tc>
                <a:tc>
                  <a:txBody>
                    <a:bodyPr/>
                    <a:lstStyle/>
                    <a:p>
                      <a:pPr algn="ctr"/>
                      <a:r>
                        <a:rPr sz="1400" b="0" i="0">
                          <a:solidFill>
                            <a:srgbClr val="152D42"/>
                          </a:solidFill>
                        </a:rPr>
                        <a:t>5</a:t>
                      </a:r>
                    </a:p>
                  </a:txBody>
                  <a:tcPr marL="73152" marR="73152" marT="27432" marB="27432" anchor="ctr">
                    <a:solidFill>
                      <a:srgbClr val="F5F7F9"/>
                    </a:solidFill>
                  </a:tcPr>
                </a:tc>
                <a:tc>
                  <a:txBody>
                    <a:bodyPr/>
                    <a:lstStyle/>
                    <a:p>
                      <a:pPr algn="ctr"/>
                      <a:r>
                        <a:rPr sz="1400" b="0" i="0">
                          <a:solidFill>
                            <a:srgbClr val="152D42"/>
                          </a:solidFill>
                        </a:rPr>
                        <a:t>25</a:t>
                      </a:r>
                    </a:p>
                  </a:txBody>
                  <a:tcPr marL="73152" marR="73152" marT="27432" marB="27432" anchor="ctr">
                    <a:solidFill>
                      <a:srgbClr val="F5F7F9"/>
                    </a:solidFill>
                  </a:tcPr>
                </a:tc>
                <a:extLst>
                  <a:ext uri="{0D108BD9-81ED-4DB2-BD59-A6C34878D82A}">
                    <a16:rowId xmlns:a16="http://schemas.microsoft.com/office/drawing/2014/main" val="10004"/>
                  </a:ext>
                </a:extLst>
              </a:tr>
              <a:tr h="384048">
                <a:tc>
                  <a:txBody>
                    <a:bodyPr/>
                    <a:lstStyle/>
                    <a:p>
                      <a:pPr algn="ctr"/>
                      <a:r>
                        <a:rPr sz="1400" b="0" i="0">
                          <a:solidFill>
                            <a:srgbClr val="152D42"/>
                          </a:solidFill>
                        </a:rPr>
                        <a:t>5</a:t>
                      </a:r>
                    </a:p>
                  </a:txBody>
                  <a:tcPr marL="73152" marR="73152" marT="27432" marB="27432" anchor="ctr">
                    <a:solidFill>
                      <a:srgbClr val="FFFFFF"/>
                    </a:solidFill>
                  </a:tcPr>
                </a:tc>
                <a:tc>
                  <a:txBody>
                    <a:bodyPr/>
                    <a:lstStyle/>
                    <a:p>
                      <a:pPr algn="ctr"/>
                      <a:r>
                        <a:rPr sz="1400" b="0" i="0">
                          <a:solidFill>
                            <a:srgbClr val="152D42"/>
                          </a:solidFill>
                        </a:rPr>
                        <a:t>7</a:t>
                      </a:r>
                    </a:p>
                  </a:txBody>
                  <a:tcPr marL="73152" marR="73152" marT="27432" marB="27432" anchor="ctr">
                    <a:solidFill>
                      <a:srgbClr val="FFFFFF"/>
                    </a:solidFill>
                  </a:tcPr>
                </a:tc>
                <a:tc>
                  <a:txBody>
                    <a:bodyPr/>
                    <a:lstStyle/>
                    <a:p>
                      <a:pPr algn="ctr"/>
                      <a:r>
                        <a:rPr sz="1400" b="0" i="0">
                          <a:solidFill>
                            <a:srgbClr val="152D42"/>
                          </a:solidFill>
                        </a:rPr>
                        <a:t>20</a:t>
                      </a:r>
                    </a:p>
                  </a:txBody>
                  <a:tcPr marL="73152" marR="73152" marT="27432" marB="27432" anchor="ctr">
                    <a:solidFill>
                      <a:srgbClr val="FFFFFF"/>
                    </a:solidFill>
                  </a:tcPr>
                </a:tc>
                <a:tc>
                  <a:txBody>
                    <a:bodyPr/>
                    <a:lstStyle/>
                    <a:p>
                      <a:pPr algn="ctr"/>
                      <a:r>
                        <a:rPr sz="1400" b="0" i="0">
                          <a:solidFill>
                            <a:srgbClr val="152D42"/>
                          </a:solidFill>
                        </a:rPr>
                        <a:t>15</a:t>
                      </a:r>
                    </a:p>
                  </a:txBody>
                  <a:tcPr marL="73152" marR="73152" marT="27432" marB="27432" anchor="ctr">
                    <a:solidFill>
                      <a:srgbClr val="FFFFFF"/>
                    </a:solidFill>
                  </a:tcPr>
                </a:tc>
                <a:tc>
                  <a:txBody>
                    <a:bodyPr/>
                    <a:lstStyle/>
                    <a:p>
                      <a:pPr algn="ctr"/>
                      <a:r>
                        <a:rPr sz="1400" b="0" i="0">
                          <a:solidFill>
                            <a:srgbClr val="152D42"/>
                          </a:solidFill>
                        </a:rPr>
                        <a:t>5</a:t>
                      </a:r>
                    </a:p>
                  </a:txBody>
                  <a:tcPr marL="73152" marR="73152" marT="27432" marB="27432" anchor="ctr">
                    <a:solidFill>
                      <a:srgbClr val="FFFFFF"/>
                    </a:solidFill>
                  </a:tcPr>
                </a:tc>
                <a:tc>
                  <a:txBody>
                    <a:bodyPr/>
                    <a:lstStyle/>
                    <a:p>
                      <a:pPr algn="ctr"/>
                      <a:r>
                        <a:rPr sz="1400" b="0" i="0">
                          <a:solidFill>
                            <a:srgbClr val="152D42"/>
                          </a:solidFill>
                        </a:rPr>
                        <a:t>25</a:t>
                      </a:r>
                    </a:p>
                  </a:txBody>
                  <a:tcPr marL="73152" marR="73152" marT="27432" marB="27432" anchor="ctr">
                    <a:solidFill>
                      <a:srgbClr val="FFFFFF"/>
                    </a:solidFill>
                  </a:tcPr>
                </a:tc>
                <a:extLst>
                  <a:ext uri="{0D108BD9-81ED-4DB2-BD59-A6C34878D82A}">
                    <a16:rowId xmlns:a16="http://schemas.microsoft.com/office/drawing/2014/main" val="10005"/>
                  </a:ext>
                </a:extLst>
              </a:tr>
              <a:tr h="384048">
                <a:tc>
                  <a:txBody>
                    <a:bodyPr/>
                    <a:lstStyle/>
                    <a:p>
                      <a:pPr algn="ctr"/>
                      <a:endParaRPr/>
                    </a:p>
                  </a:txBody>
                  <a:tcPr marL="73152" marR="73152" marT="27432" marB="27432" anchor="ctr">
                    <a:solidFill>
                      <a:srgbClr val="F5F7F9"/>
                    </a:solidFill>
                  </a:tcPr>
                </a:tc>
                <a:tc>
                  <a:txBody>
                    <a:bodyPr/>
                    <a:lstStyle/>
                    <a:p>
                      <a:pPr algn="ctr"/>
                      <a:endParaRPr/>
                    </a:p>
                  </a:txBody>
                  <a:tcPr marL="73152" marR="73152" marT="27432" marB="27432" anchor="ctr">
                    <a:solidFill>
                      <a:srgbClr val="F5F7F9"/>
                    </a:solidFill>
                  </a:tcPr>
                </a:tc>
                <a:tc>
                  <a:txBody>
                    <a:bodyPr/>
                    <a:lstStyle/>
                    <a:p>
                      <a:pPr algn="ctr"/>
                      <a:endParaRPr/>
                    </a:p>
                  </a:txBody>
                  <a:tcPr marL="73152" marR="73152" marT="27432" marB="27432" anchor="ctr">
                    <a:solidFill>
                      <a:srgbClr val="F5F7F9"/>
                    </a:solidFill>
                  </a:tcPr>
                </a:tc>
                <a:tc>
                  <a:txBody>
                    <a:bodyPr/>
                    <a:lstStyle/>
                    <a:p>
                      <a:pPr algn="ctr"/>
                      <a:endParaRPr/>
                    </a:p>
                  </a:txBody>
                  <a:tcPr marL="73152" marR="73152" marT="27432" marB="27432" anchor="ctr">
                    <a:solidFill>
                      <a:srgbClr val="F5F7F9"/>
                    </a:solidFill>
                  </a:tcPr>
                </a:tc>
                <a:tc>
                  <a:txBody>
                    <a:bodyPr/>
                    <a:lstStyle/>
                    <a:p>
                      <a:pPr algn="ctr"/>
                      <a:r>
                        <a:rPr sz="1400" b="1" i="0">
                          <a:solidFill>
                            <a:srgbClr val="152D42"/>
                          </a:solidFill>
                        </a:rPr>
                        <a:t>sum</a:t>
                      </a:r>
                    </a:p>
                  </a:txBody>
                  <a:tcPr marL="73152" marR="73152" marT="27432" marB="27432" anchor="ctr">
                    <a:solidFill>
                      <a:srgbClr val="F5F7F9"/>
                    </a:solidFill>
                  </a:tcPr>
                </a:tc>
                <a:tc>
                  <a:txBody>
                    <a:bodyPr/>
                    <a:lstStyle/>
                    <a:p>
                      <a:pPr algn="ctr"/>
                      <a:r>
                        <a:rPr sz="1400" b="1" i="0">
                          <a:solidFill>
                            <a:srgbClr val="152D42"/>
                          </a:solidFill>
                        </a:rPr>
                        <a:t>50</a:t>
                      </a:r>
                    </a:p>
                  </a:txBody>
                  <a:tcPr marL="73152" marR="73152" marT="27432" marB="27432" anchor="ctr">
                    <a:solidFill>
                      <a:srgbClr val="F5F7F9"/>
                    </a:solidFill>
                  </a:tcPr>
                </a:tc>
                <a:extLst>
                  <a:ext uri="{0D108BD9-81ED-4DB2-BD59-A6C34878D82A}">
                    <a16:rowId xmlns:a16="http://schemas.microsoft.com/office/drawing/2014/main" val="10006"/>
                  </a:ext>
                </a:extLst>
              </a:tr>
            </a:tbl>
          </a:graphicData>
        </a:graphic>
      </p:graphicFrame>
      <p:sp>
        <p:nvSpPr>
          <p:cNvPr id="7" name="b2_key idea"/>
          <p:cNvSpPr/>
          <p:nvPr/>
        </p:nvSpPr>
        <p:spPr>
          <a:xfrm>
            <a:off x="6400800" y="4800600"/>
            <a:ext cx="5166360" cy="1005840"/>
          </a:xfrm>
          <a:prstGeom prst="roundRect">
            <a:avLst>
              <a:gd name="adj" fmla="val 5000"/>
            </a:avLst>
          </a:prstGeom>
          <a:solidFill>
            <a:srgbClr val="F5F7F9"/>
          </a:solidFill>
          <a:ln w="12700">
            <a:solidFill>
              <a:srgbClr val="152D42"/>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400"/>
              </a:spcAft>
            </a:pPr>
            <a:r>
              <a:rPr sz="1200" b="1" i="0">
                <a:solidFill>
                  <a:srgbClr val="A31F34"/>
                </a:solidFill>
              </a:rPr>
              <a:t>KEY IDEA   </a:t>
            </a:r>
            <a:r>
              <a:rPr sz="1600" b="0" i="0">
                <a:solidFill>
                  <a:srgbClr val="152D42"/>
                </a:solidFill>
              </a:rPr>
              <a:t>Least squares chooses </a:t>
            </a:r>
            <a:r>
              <a:rPr sz="1600" b="1" i="0">
                <a:solidFill>
                  <a:srgbClr val="152D42"/>
                </a:solidFill>
              </a:rPr>
              <a:t>k</a:t>
            </a:r>
            <a:r>
              <a:rPr sz="1600" b="0" i="0">
                <a:solidFill>
                  <a:srgbClr val="152D42"/>
                </a:solidFill>
              </a:rPr>
              <a:t> to make e</a:t>
            </a:r>
            <a:r>
              <a:rPr sz="1600" b="0" i="0" baseline="30000">
                <a:solidFill>
                  <a:srgbClr val="152D42"/>
                </a:solidFill>
              </a:rPr>
              <a:t>T</a:t>
            </a:r>
            <a:r>
              <a:rPr sz="1600" b="0" i="0">
                <a:solidFill>
                  <a:srgbClr val="152D42"/>
                </a:solidFill>
              </a:rPr>
              <a:t>e as small as possible.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All the data enter through three sums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5</a:t>
            </a:fld>
            <a:endParaRPr lang="en-US"/>
          </a:p>
        </p:txBody>
      </p:sp>
      <p:graphicFrame>
        <p:nvGraphicFramePr>
          <p:cNvPr id="4" name="table sums"/>
          <p:cNvGraphicFramePr>
            <a:graphicFrameLocks noGrp="1"/>
          </p:cNvGraphicFramePr>
          <p:nvPr/>
        </p:nvGraphicFramePr>
        <p:xfrm>
          <a:off x="612648" y="1280160"/>
          <a:ext cx="5029200" cy="2560320"/>
        </p:xfrm>
        <a:graphic>
          <a:graphicData uri="http://schemas.openxmlformats.org/drawingml/2006/table">
            <a:tbl>
              <a:tblPr firstRow="1">
                <a:tableStyleId>{5C22544A-7EE6-4342-B048-85BDC9FD1C3A}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algn="ctr"/>
                      <a:r>
                        <a:rPr sz="1400" b="1" i="0">
                          <a:solidFill>
                            <a:srgbClr val="FFFFFF"/>
                          </a:solidFill>
                        </a:rPr>
                        <a:t>x</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y</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x</a:t>
                      </a:r>
                      <a:r>
                        <a:rPr sz="1400" b="1" i="0" baseline="-25000">
                          <a:solidFill>
                            <a:srgbClr val="FFFFFF"/>
                          </a:solidFill>
                        </a:rPr>
                        <a:t>i</a:t>
                      </a:r>
                      <a:r>
                        <a:rPr sz="1400" b="1" i="0" baseline="30000">
                          <a:solidFill>
                            <a:srgbClr val="FFFFFF"/>
                          </a:solidFill>
                        </a:rPr>
                        <a:t>2</a:t>
                      </a:r>
                    </a:p>
                  </a:txBody>
                  <a:tcPr marL="73152" marR="73152" marT="27432" marB="27432" anchor="ctr">
                    <a:solidFill>
                      <a:srgbClr val="152D42"/>
                    </a:solidFill>
                  </a:tcPr>
                </a:tc>
                <a:tc>
                  <a:txBody>
                    <a:bodyPr/>
                    <a:lstStyle/>
                    <a:p>
                      <a:pPr algn="ctr"/>
                      <a:r>
                        <a:rPr sz="1400" b="1" i="0">
                          <a:solidFill>
                            <a:srgbClr val="FFFFFF"/>
                          </a:solidFill>
                        </a:rPr>
                        <a:t>x</a:t>
                      </a:r>
                      <a:r>
                        <a:rPr sz="1400" b="1" i="0" baseline="-25000">
                          <a:solidFill>
                            <a:srgbClr val="FFFFFF"/>
                          </a:solidFill>
                        </a:rPr>
                        <a:t>i</a:t>
                      </a:r>
                      <a:r>
                        <a:rPr sz="1400" b="1" i="0">
                          <a:solidFill>
                            <a:srgbClr val="FFFFFF"/>
                          </a:solidFill>
                        </a:rPr>
                        <a:t>y</a:t>
                      </a:r>
                      <a:r>
                        <a:rPr sz="1400" b="1" i="0" baseline="-25000">
                          <a:solidFill>
                            <a:srgbClr val="FFFFFF"/>
                          </a:solidFill>
                        </a:rPr>
                        <a:t>i</a:t>
                      </a:r>
                    </a:p>
                  </a:txBody>
                  <a:tcPr marL="73152" marR="73152" marT="27432" marB="27432" anchor="ctr">
                    <a:solidFill>
                      <a:srgbClr val="152D42"/>
                    </a:solidFill>
                  </a:tcPr>
                </a:tc>
                <a:tc>
                  <a:txBody>
                    <a:bodyPr/>
                    <a:lstStyle/>
                    <a:p>
                      <a:pPr algn="ctr"/>
                      <a:r>
                        <a:rPr sz="1400" b="1" i="0">
                          <a:solidFill>
                            <a:srgbClr val="FFFFFF"/>
                          </a:solidFill>
                        </a:rPr>
                        <a:t>y</a:t>
                      </a:r>
                      <a:r>
                        <a:rPr sz="1400" b="1" i="0" baseline="-25000">
                          <a:solidFill>
                            <a:srgbClr val="FFFFFF"/>
                          </a:solidFill>
                        </a:rPr>
                        <a:t>i</a:t>
                      </a:r>
                      <a:r>
                        <a:rPr sz="1400" b="1" i="0" baseline="30000">
                          <a:solidFill>
                            <a:srgbClr val="FFFFFF"/>
                          </a:solidFill>
                        </a:rPr>
                        <a:t>2</a:t>
                      </a:r>
                    </a:p>
                  </a:txBody>
                  <a:tcPr marL="73152" marR="73152" marT="27432" marB="27432" anchor="ctr">
                    <a:solidFill>
                      <a:srgbClr val="152D42"/>
                    </a:solidFill>
                  </a:tcPr>
                </a:tc>
                <a:extLst>
                  <a:ext uri="{0D108BD9-81ED-4DB2-BD59-A6C34878D82A}">
                    <a16:rowId xmlns:a16="http://schemas.microsoft.com/office/drawing/2014/main" val="10000"/>
                  </a:ext>
                </a:extLst>
              </a:tr>
              <a:tr h="365760">
                <a:tc>
                  <a:txBody>
                    <a:bodyPr/>
                    <a:lstStyle/>
                    <a:p>
                      <a:pPr algn="ctr"/>
                      <a:r>
                        <a:rPr sz="1400" b="0" i="0">
                          <a:solidFill>
                            <a:srgbClr val="152D42"/>
                          </a:solidFill>
                        </a:rPr>
                        <a:t>1</a:t>
                      </a:r>
                    </a:p>
                  </a:txBody>
                  <a:tcPr marL="73152" marR="73152" marT="27432" marB="27432" anchor="ctr">
                    <a:solidFill>
                      <a:srgbClr val="FFFFFF"/>
                    </a:solidFill>
                  </a:tcPr>
                </a:tc>
                <a:tc>
                  <a:txBody>
                    <a:bodyPr/>
                    <a:lstStyle/>
                    <a:p>
                      <a:pPr algn="ctr"/>
                      <a:r>
                        <a:rPr sz="1400" b="0" i="0">
                          <a:solidFill>
                            <a:srgbClr val="152D42"/>
                          </a:solidFill>
                        </a:rPr>
                        <a:t>3</a:t>
                      </a:r>
                    </a:p>
                  </a:txBody>
                  <a:tcPr marL="73152" marR="73152" marT="27432" marB="27432" anchor="ctr">
                    <a:solidFill>
                      <a:srgbClr val="FFFFFF"/>
                    </a:solidFill>
                  </a:tcPr>
                </a:tc>
                <a:tc>
                  <a:txBody>
                    <a:bodyPr/>
                    <a:lstStyle/>
                    <a:p>
                      <a:pPr algn="ctr"/>
                      <a:r>
                        <a:rPr sz="1400" b="0" i="0">
                          <a:solidFill>
                            <a:srgbClr val="152D42"/>
                          </a:solidFill>
                        </a:rPr>
                        <a:t>1</a:t>
                      </a:r>
                    </a:p>
                  </a:txBody>
                  <a:tcPr marL="73152" marR="73152" marT="27432" marB="27432" anchor="ctr">
                    <a:solidFill>
                      <a:srgbClr val="FFFFFF"/>
                    </a:solidFill>
                  </a:tcPr>
                </a:tc>
                <a:tc>
                  <a:txBody>
                    <a:bodyPr/>
                    <a:lstStyle/>
                    <a:p>
                      <a:pPr algn="ctr"/>
                      <a:r>
                        <a:rPr sz="1400" b="0" i="0">
                          <a:solidFill>
                            <a:srgbClr val="152D42"/>
                          </a:solidFill>
                        </a:rPr>
                        <a:t>3</a:t>
                      </a:r>
                    </a:p>
                  </a:txBody>
                  <a:tcPr marL="73152" marR="73152" marT="27432" marB="27432" anchor="ctr">
                    <a:solidFill>
                      <a:srgbClr val="FFFFFF"/>
                    </a:solidFill>
                  </a:tcPr>
                </a:tc>
                <a:tc>
                  <a:txBody>
                    <a:bodyPr/>
                    <a:lstStyle/>
                    <a:p>
                      <a:pPr algn="ctr"/>
                      <a:r>
                        <a:rPr sz="1400" b="0" i="0">
                          <a:solidFill>
                            <a:srgbClr val="152D42"/>
                          </a:solidFill>
                        </a:rPr>
                        <a:t>9</a:t>
                      </a:r>
                    </a:p>
                  </a:txBody>
                  <a:tcPr marL="73152" marR="73152" marT="27432" marB="27432" anchor="ctr">
                    <a:solidFill>
                      <a:srgbClr val="FFFFFF"/>
                    </a:solidFill>
                  </a:tcPr>
                </a:tc>
                <a:extLst>
                  <a:ext uri="{0D108BD9-81ED-4DB2-BD59-A6C34878D82A}">
                    <a16:rowId xmlns:a16="http://schemas.microsoft.com/office/drawing/2014/main" val="10001"/>
                  </a:ext>
                </a:extLst>
              </a:tr>
              <a:tr h="365760">
                <a:tc>
                  <a:txBody>
                    <a:bodyPr/>
                    <a:lstStyle/>
                    <a:p>
                      <a:pPr algn="ctr"/>
                      <a:r>
                        <a:rPr sz="1400" b="0" i="0">
                          <a:solidFill>
                            <a:srgbClr val="152D42"/>
                          </a:solidFill>
                        </a:rPr>
                        <a:t>3</a:t>
                      </a:r>
                    </a:p>
                  </a:txBody>
                  <a:tcPr marL="73152" marR="73152" marT="27432" marB="27432" anchor="ctr">
                    <a:solidFill>
                      <a:srgbClr val="F5F7F9"/>
                    </a:solidFill>
                  </a:tcPr>
                </a:tc>
                <a:tc>
                  <a:txBody>
                    <a:bodyPr/>
                    <a:lstStyle/>
                    <a:p>
                      <a:pPr algn="ctr"/>
                      <a:r>
                        <a:rPr sz="1400" b="0" i="0">
                          <a:solidFill>
                            <a:srgbClr val="152D42"/>
                          </a:solidFill>
                        </a:rPr>
                        <a:t>7</a:t>
                      </a:r>
                    </a:p>
                  </a:txBody>
                  <a:tcPr marL="73152" marR="73152" marT="27432" marB="27432" anchor="ctr">
                    <a:solidFill>
                      <a:srgbClr val="F5F7F9"/>
                    </a:solidFill>
                  </a:tcPr>
                </a:tc>
                <a:tc>
                  <a:txBody>
                    <a:bodyPr/>
                    <a:lstStyle/>
                    <a:p>
                      <a:pPr algn="ctr"/>
                      <a:r>
                        <a:rPr sz="1400" b="0" i="0">
                          <a:solidFill>
                            <a:srgbClr val="152D42"/>
                          </a:solidFill>
                        </a:rPr>
                        <a:t>9</a:t>
                      </a:r>
                    </a:p>
                  </a:txBody>
                  <a:tcPr marL="73152" marR="73152" marT="27432" marB="27432" anchor="ctr">
                    <a:solidFill>
                      <a:srgbClr val="F5F7F9"/>
                    </a:solidFill>
                  </a:tcPr>
                </a:tc>
                <a:tc>
                  <a:txBody>
                    <a:bodyPr/>
                    <a:lstStyle/>
                    <a:p>
                      <a:pPr algn="ctr"/>
                      <a:r>
                        <a:rPr sz="1400" b="0" i="0">
                          <a:solidFill>
                            <a:srgbClr val="152D42"/>
                          </a:solidFill>
                        </a:rPr>
                        <a:t>21</a:t>
                      </a:r>
                    </a:p>
                  </a:txBody>
                  <a:tcPr marL="73152" marR="73152" marT="27432" marB="27432" anchor="ctr">
                    <a:solidFill>
                      <a:srgbClr val="F5F7F9"/>
                    </a:solidFill>
                  </a:tcPr>
                </a:tc>
                <a:tc>
                  <a:txBody>
                    <a:bodyPr/>
                    <a:lstStyle/>
                    <a:p>
                      <a:pPr algn="ctr"/>
                      <a:r>
                        <a:rPr sz="1400" b="0" i="0">
                          <a:solidFill>
                            <a:srgbClr val="152D42"/>
                          </a:solidFill>
                        </a:rPr>
                        <a:t>49</a:t>
                      </a:r>
                    </a:p>
                  </a:txBody>
                  <a:tcPr marL="73152" marR="73152" marT="27432" marB="27432" anchor="ctr">
                    <a:solidFill>
                      <a:srgbClr val="F5F7F9"/>
                    </a:solidFill>
                  </a:tcPr>
                </a:tc>
                <a:extLst>
                  <a:ext uri="{0D108BD9-81ED-4DB2-BD59-A6C34878D82A}">
                    <a16:rowId xmlns:a16="http://schemas.microsoft.com/office/drawing/2014/main" val="10002"/>
                  </a:ext>
                </a:extLst>
              </a:tr>
              <a:tr h="365760">
                <a:tc>
                  <a:txBody>
                    <a:bodyPr/>
                    <a:lstStyle/>
                    <a:p>
                      <a:pPr algn="ctr"/>
                      <a:r>
                        <a:rPr sz="1400" b="0" i="0">
                          <a:solidFill>
                            <a:srgbClr val="152D42"/>
                          </a:solidFill>
                        </a:rPr>
                        <a:t>4</a:t>
                      </a:r>
                    </a:p>
                  </a:txBody>
                  <a:tcPr marL="73152" marR="73152" marT="27432" marB="27432" anchor="ctr">
                    <a:solidFill>
                      <a:srgbClr val="FFFFFF"/>
                    </a:solidFill>
                  </a:tcPr>
                </a:tc>
                <a:tc>
                  <a:txBody>
                    <a:bodyPr/>
                    <a:lstStyle/>
                    <a:p>
                      <a:pPr algn="ctr"/>
                      <a:r>
                        <a:rPr sz="1400" b="0" i="0">
                          <a:solidFill>
                            <a:srgbClr val="152D42"/>
                          </a:solidFill>
                        </a:rPr>
                        <a:t>9</a:t>
                      </a:r>
                    </a:p>
                  </a:txBody>
                  <a:tcPr marL="73152" marR="73152" marT="27432" marB="27432" anchor="ctr">
                    <a:solidFill>
                      <a:srgbClr val="FFFFFF"/>
                    </a:solidFill>
                  </a:tcPr>
                </a:tc>
                <a:tc>
                  <a:txBody>
                    <a:bodyPr/>
                    <a:lstStyle/>
                    <a:p>
                      <a:pPr algn="ctr"/>
                      <a:r>
                        <a:rPr sz="1400" b="0" i="0">
                          <a:solidFill>
                            <a:srgbClr val="152D42"/>
                          </a:solidFill>
                        </a:rPr>
                        <a:t>16</a:t>
                      </a:r>
                    </a:p>
                  </a:txBody>
                  <a:tcPr marL="73152" marR="73152" marT="27432" marB="27432" anchor="ctr">
                    <a:solidFill>
                      <a:srgbClr val="FFFFFF"/>
                    </a:solidFill>
                  </a:tcPr>
                </a:tc>
                <a:tc>
                  <a:txBody>
                    <a:bodyPr/>
                    <a:lstStyle/>
                    <a:p>
                      <a:pPr algn="ctr"/>
                      <a:r>
                        <a:rPr sz="1400" b="0" i="0">
                          <a:solidFill>
                            <a:srgbClr val="152D42"/>
                          </a:solidFill>
                        </a:rPr>
                        <a:t>36</a:t>
                      </a:r>
                    </a:p>
                  </a:txBody>
                  <a:tcPr marL="73152" marR="73152" marT="27432" marB="27432" anchor="ctr">
                    <a:solidFill>
                      <a:srgbClr val="FFFFFF"/>
                    </a:solidFill>
                  </a:tcPr>
                </a:tc>
                <a:tc>
                  <a:txBody>
                    <a:bodyPr/>
                    <a:lstStyle/>
                    <a:p>
                      <a:pPr algn="ctr"/>
                      <a:r>
                        <a:rPr sz="1400" b="0" i="0">
                          <a:solidFill>
                            <a:srgbClr val="152D42"/>
                          </a:solidFill>
                        </a:rPr>
                        <a:t>81</a:t>
                      </a:r>
                    </a:p>
                  </a:txBody>
                  <a:tcPr marL="73152" marR="73152" marT="27432" marB="27432" anchor="ctr">
                    <a:solidFill>
                      <a:srgbClr val="FFFFFF"/>
                    </a:solidFill>
                  </a:tcPr>
                </a:tc>
                <a:extLst>
                  <a:ext uri="{0D108BD9-81ED-4DB2-BD59-A6C34878D82A}">
                    <a16:rowId xmlns:a16="http://schemas.microsoft.com/office/drawing/2014/main" val="10003"/>
                  </a:ext>
                </a:extLst>
              </a:tr>
              <a:tr h="365760">
                <a:tc>
                  <a:txBody>
                    <a:bodyPr/>
                    <a:lstStyle/>
                    <a:p>
                      <a:pPr algn="ctr"/>
                      <a:r>
                        <a:rPr sz="1400" b="0" i="0">
                          <a:solidFill>
                            <a:srgbClr val="152D42"/>
                          </a:solidFill>
                        </a:rPr>
                        <a:t>5</a:t>
                      </a:r>
                    </a:p>
                  </a:txBody>
                  <a:tcPr marL="73152" marR="73152" marT="27432" marB="27432" anchor="ctr">
                    <a:solidFill>
                      <a:srgbClr val="F5F7F9"/>
                    </a:solidFill>
                  </a:tcPr>
                </a:tc>
                <a:tc>
                  <a:txBody>
                    <a:bodyPr/>
                    <a:lstStyle/>
                    <a:p>
                      <a:pPr algn="ctr"/>
                      <a:r>
                        <a:rPr sz="1400" b="0" i="0">
                          <a:solidFill>
                            <a:srgbClr val="152D42"/>
                          </a:solidFill>
                        </a:rPr>
                        <a:t>16</a:t>
                      </a:r>
                    </a:p>
                  </a:txBody>
                  <a:tcPr marL="73152" marR="73152" marT="27432" marB="27432" anchor="ctr">
                    <a:solidFill>
                      <a:srgbClr val="F5F7F9"/>
                    </a:solidFill>
                  </a:tcPr>
                </a:tc>
                <a:tc>
                  <a:txBody>
                    <a:bodyPr/>
                    <a:lstStyle/>
                    <a:p>
                      <a:pPr algn="ctr"/>
                      <a:r>
                        <a:rPr sz="1400" b="0" i="0">
                          <a:solidFill>
                            <a:srgbClr val="152D42"/>
                          </a:solidFill>
                        </a:rPr>
                        <a:t>25</a:t>
                      </a:r>
                    </a:p>
                  </a:txBody>
                  <a:tcPr marL="73152" marR="73152" marT="27432" marB="27432" anchor="ctr">
                    <a:solidFill>
                      <a:srgbClr val="F5F7F9"/>
                    </a:solidFill>
                  </a:tcPr>
                </a:tc>
                <a:tc>
                  <a:txBody>
                    <a:bodyPr/>
                    <a:lstStyle/>
                    <a:p>
                      <a:pPr algn="ctr"/>
                      <a:r>
                        <a:rPr sz="1400" b="0" i="0">
                          <a:solidFill>
                            <a:srgbClr val="152D42"/>
                          </a:solidFill>
                        </a:rPr>
                        <a:t>80</a:t>
                      </a:r>
                    </a:p>
                  </a:txBody>
                  <a:tcPr marL="73152" marR="73152" marT="27432" marB="27432" anchor="ctr">
                    <a:solidFill>
                      <a:srgbClr val="F5F7F9"/>
                    </a:solidFill>
                  </a:tcPr>
                </a:tc>
                <a:tc>
                  <a:txBody>
                    <a:bodyPr/>
                    <a:lstStyle/>
                    <a:p>
                      <a:pPr algn="ctr"/>
                      <a:r>
                        <a:rPr sz="1400" b="0" i="0">
                          <a:solidFill>
                            <a:srgbClr val="152D42"/>
                          </a:solidFill>
                        </a:rPr>
                        <a:t>256</a:t>
                      </a:r>
                    </a:p>
                  </a:txBody>
                  <a:tcPr marL="73152" marR="73152" marT="27432" marB="27432" anchor="ctr">
                    <a:solidFill>
                      <a:srgbClr val="F5F7F9"/>
                    </a:solidFill>
                  </a:tcPr>
                </a:tc>
                <a:extLst>
                  <a:ext uri="{0D108BD9-81ED-4DB2-BD59-A6C34878D82A}">
                    <a16:rowId xmlns:a16="http://schemas.microsoft.com/office/drawing/2014/main" val="10004"/>
                  </a:ext>
                </a:extLst>
              </a:tr>
              <a:tr h="365760">
                <a:tc>
                  <a:txBody>
                    <a:bodyPr/>
                    <a:lstStyle/>
                    <a:p>
                      <a:pPr algn="ctr"/>
                      <a:r>
                        <a:rPr sz="1400" b="0" i="0">
                          <a:solidFill>
                            <a:srgbClr val="152D42"/>
                          </a:solidFill>
                        </a:rPr>
                        <a:t>7</a:t>
                      </a:r>
                    </a:p>
                  </a:txBody>
                  <a:tcPr marL="73152" marR="73152" marT="27432" marB="27432" anchor="ctr">
                    <a:solidFill>
                      <a:srgbClr val="FFFFFF"/>
                    </a:solidFill>
                  </a:tcPr>
                </a:tc>
                <a:tc>
                  <a:txBody>
                    <a:bodyPr/>
                    <a:lstStyle/>
                    <a:p>
                      <a:pPr algn="ctr"/>
                      <a:r>
                        <a:rPr sz="1400" b="0" i="0">
                          <a:solidFill>
                            <a:srgbClr val="152D42"/>
                          </a:solidFill>
                        </a:rPr>
                        <a:t>20</a:t>
                      </a:r>
                    </a:p>
                  </a:txBody>
                  <a:tcPr marL="73152" marR="73152" marT="27432" marB="27432" anchor="ctr">
                    <a:solidFill>
                      <a:srgbClr val="FFFFFF"/>
                    </a:solidFill>
                  </a:tcPr>
                </a:tc>
                <a:tc>
                  <a:txBody>
                    <a:bodyPr/>
                    <a:lstStyle/>
                    <a:p>
                      <a:pPr algn="ctr"/>
                      <a:r>
                        <a:rPr sz="1400" b="0" i="0">
                          <a:solidFill>
                            <a:srgbClr val="152D42"/>
                          </a:solidFill>
                        </a:rPr>
                        <a:t>49</a:t>
                      </a:r>
                    </a:p>
                  </a:txBody>
                  <a:tcPr marL="73152" marR="73152" marT="27432" marB="27432" anchor="ctr">
                    <a:solidFill>
                      <a:srgbClr val="FFFFFF"/>
                    </a:solidFill>
                  </a:tcPr>
                </a:tc>
                <a:tc>
                  <a:txBody>
                    <a:bodyPr/>
                    <a:lstStyle/>
                    <a:p>
                      <a:pPr algn="ctr"/>
                      <a:r>
                        <a:rPr sz="1400" b="0" i="0">
                          <a:solidFill>
                            <a:srgbClr val="152D42"/>
                          </a:solidFill>
                        </a:rPr>
                        <a:t>140</a:t>
                      </a:r>
                    </a:p>
                  </a:txBody>
                  <a:tcPr marL="73152" marR="73152" marT="27432" marB="27432" anchor="ctr">
                    <a:solidFill>
                      <a:srgbClr val="FFFFFF"/>
                    </a:solidFill>
                  </a:tcPr>
                </a:tc>
                <a:tc>
                  <a:txBody>
                    <a:bodyPr/>
                    <a:lstStyle/>
                    <a:p>
                      <a:pPr algn="ctr"/>
                      <a:r>
                        <a:rPr sz="1400" b="0" i="0">
                          <a:solidFill>
                            <a:srgbClr val="152D42"/>
                          </a:solidFill>
                        </a:rPr>
                        <a:t>400</a:t>
                      </a:r>
                    </a:p>
                  </a:txBody>
                  <a:tcPr marL="73152" marR="73152" marT="27432" marB="27432" anchor="ctr">
                    <a:solidFill>
                      <a:srgbClr val="FFFFFF"/>
                    </a:solidFill>
                  </a:tcPr>
                </a:tc>
                <a:extLst>
                  <a:ext uri="{0D108BD9-81ED-4DB2-BD59-A6C34878D82A}">
                    <a16:rowId xmlns:a16="http://schemas.microsoft.com/office/drawing/2014/main" val="10005"/>
                  </a:ext>
                </a:extLst>
              </a:tr>
              <a:tr h="365760">
                <a:tc>
                  <a:txBody>
                    <a:bodyPr/>
                    <a:lstStyle/>
                    <a:p>
                      <a:pPr algn="ctr"/>
                      <a:r>
                        <a:rPr sz="1400" b="1" i="0">
                          <a:solidFill>
                            <a:srgbClr val="152D42"/>
                          </a:solidFill>
                        </a:rPr>
                        <a:t>20</a:t>
                      </a:r>
                    </a:p>
                  </a:txBody>
                  <a:tcPr marL="73152" marR="73152" marT="27432" marB="27432" anchor="ctr">
                    <a:solidFill>
                      <a:srgbClr val="F5F7F9"/>
                    </a:solidFill>
                  </a:tcPr>
                </a:tc>
                <a:tc>
                  <a:txBody>
                    <a:bodyPr/>
                    <a:lstStyle/>
                    <a:p>
                      <a:pPr algn="ctr"/>
                      <a:r>
                        <a:rPr sz="1400" b="1" i="0">
                          <a:solidFill>
                            <a:srgbClr val="152D42"/>
                          </a:solidFill>
                        </a:rPr>
                        <a:t>55</a:t>
                      </a:r>
                    </a:p>
                  </a:txBody>
                  <a:tcPr marL="73152" marR="73152" marT="27432" marB="27432" anchor="ctr">
                    <a:solidFill>
                      <a:srgbClr val="F5F7F9"/>
                    </a:solidFill>
                  </a:tcPr>
                </a:tc>
                <a:tc>
                  <a:txBody>
                    <a:bodyPr/>
                    <a:lstStyle/>
                    <a:p>
                      <a:pPr algn="ctr"/>
                      <a:r>
                        <a:rPr sz="1400" b="1" i="0">
                          <a:solidFill>
                            <a:srgbClr val="152D42"/>
                          </a:solidFill>
                        </a:rPr>
                        <a:t>100</a:t>
                      </a:r>
                    </a:p>
                  </a:txBody>
                  <a:tcPr marL="73152" marR="73152" marT="27432" marB="27432" anchor="ctr">
                    <a:solidFill>
                      <a:srgbClr val="F5F7F9"/>
                    </a:solidFill>
                  </a:tcPr>
                </a:tc>
                <a:tc>
                  <a:txBody>
                    <a:bodyPr/>
                    <a:lstStyle/>
                    <a:p>
                      <a:pPr algn="ctr"/>
                      <a:r>
                        <a:rPr sz="1400" b="1" i="0">
                          <a:solidFill>
                            <a:srgbClr val="152D42"/>
                          </a:solidFill>
                        </a:rPr>
                        <a:t>280</a:t>
                      </a:r>
                    </a:p>
                  </a:txBody>
                  <a:tcPr marL="73152" marR="73152" marT="27432" marB="27432" anchor="ctr">
                    <a:solidFill>
                      <a:srgbClr val="F5F7F9"/>
                    </a:solidFill>
                  </a:tcPr>
                </a:tc>
                <a:tc>
                  <a:txBody>
                    <a:bodyPr/>
                    <a:lstStyle/>
                    <a:p>
                      <a:pPr algn="ctr"/>
                      <a:r>
                        <a:rPr sz="1400" b="1" i="0">
                          <a:solidFill>
                            <a:srgbClr val="152D42"/>
                          </a:solidFill>
                        </a:rPr>
                        <a:t>795</a:t>
                      </a:r>
                    </a:p>
                  </a:txBody>
                  <a:tcPr marL="73152" marR="73152" marT="27432" marB="27432" anchor="ctr">
                    <a:solidFill>
                      <a:srgbClr val="F5F7F9"/>
                    </a:solidFill>
                  </a:tcPr>
                </a:tc>
                <a:extLst>
                  <a:ext uri="{0D108BD9-81ED-4DB2-BD59-A6C34878D82A}">
                    <a16:rowId xmlns:a16="http://schemas.microsoft.com/office/drawing/2014/main" val="10006"/>
                  </a:ext>
                </a:extLst>
              </a:tr>
            </a:tbl>
          </a:graphicData>
        </a:graphic>
      </p:graphicFrame>
      <p:sp>
        <p:nvSpPr>
          <p:cNvPr id="5" name="sums note"/>
          <p:cNvSpPr txBox="1"/>
          <p:nvPr/>
        </p:nvSpPr>
        <p:spPr>
          <a:xfrm>
            <a:off x="612648" y="3886200"/>
            <a:ext cx="5029200" cy="320040"/>
          </a:xfrm>
          <a:prstGeom prst="rect">
            <a:avLst/>
          </a:prstGeom>
          <a:noFill/>
        </p:spPr>
        <p:txBody>
          <a:bodyPr wrap="square" lIns="0" tIns="0" rIns="0" bIns="0" anchor="t">
            <a:spAutoFit/>
          </a:bodyPr>
          <a:lstStyle/>
          <a:p>
            <a:pPr algn="l">
              <a:spcAft>
                <a:spcPts val="800"/>
              </a:spcAft>
            </a:pPr>
            <a:r>
              <a:rPr sz="1200" b="0" i="0">
                <a:solidFill>
                  <a:srgbClr val="506476"/>
                </a:solidFill>
              </a:rPr>
              <a:t>Last row: the sums over the m = 5 points.</a:t>
            </a:r>
          </a:p>
        </p:txBody>
      </p:sp>
      <p:pic>
        <p:nvPicPr>
          <p:cNvPr id="6" name="eq box" descr="\vb e\T\vb e = \vb k\T(\vb X\T\vb X)\,\vb k - 2\,\vb y\T\vb X\vb k + \vb y\T\vb y"/>
          <p:cNvPicPr>
            <a:picLocks noChangeAspect="1"/>
          </p:cNvPicPr>
          <p:nvPr/>
        </p:nvPicPr>
        <p:blipFill>
          <a:blip r:embed="rId3"/>
          <a:stretch>
            <a:fillRect/>
          </a:stretch>
        </p:blipFill>
        <p:spPr>
          <a:xfrm>
            <a:off x="6400800" y="1325880"/>
            <a:ext cx="4002786" cy="338328"/>
          </a:xfrm>
          <a:prstGeom prst="rect">
            <a:avLst/>
          </a:prstGeom>
        </p:spPr>
      </p:pic>
      <p:sp>
        <p:nvSpPr>
          <p:cNvPr id="7" name="box note"/>
          <p:cNvSpPr txBox="1"/>
          <p:nvPr/>
        </p:nvSpPr>
        <p:spPr>
          <a:xfrm>
            <a:off x="6400800" y="1783080"/>
            <a:ext cx="5166360" cy="640080"/>
          </a:xfrm>
          <a:prstGeom prst="rect">
            <a:avLst/>
          </a:prstGeom>
          <a:noFill/>
        </p:spPr>
        <p:txBody>
          <a:bodyPr wrap="square" lIns="0" tIns="0" rIns="0" bIns="0" anchor="t">
            <a:spAutoFit/>
          </a:bodyPr>
          <a:lstStyle/>
          <a:p>
            <a:pPr algn="l">
              <a:spcAft>
                <a:spcPts val="800"/>
              </a:spcAft>
            </a:pPr>
            <a:r>
              <a:rPr sz="1400" b="0" i="0">
                <a:solidFill>
                  <a:srgbClr val="506476"/>
                </a:solidFill>
              </a:rPr>
              <a:t>The boxed formula of Section 2 needs only these sums.</a:t>
            </a:r>
          </a:p>
        </p:txBody>
      </p:sp>
      <p:pic>
        <p:nvPicPr>
          <p:cNvPr id="8" name="b2_eq boxcheck" descr="\vb k = (2,1): \quad 485 - 2\cdot 615 + 795 = \red{50}"/>
          <p:cNvPicPr>
            <a:picLocks noChangeAspect="1"/>
          </p:cNvPicPr>
          <p:nvPr/>
        </p:nvPicPr>
        <p:blipFill>
          <a:blip r:embed="rId4"/>
          <a:stretch>
            <a:fillRect/>
          </a:stretch>
        </p:blipFill>
        <p:spPr>
          <a:xfrm>
            <a:off x="6400800" y="2423160"/>
            <a:ext cx="4711446" cy="301752"/>
          </a:xfrm>
          <a:prstGeom prst="rect">
            <a:avLst/>
          </a:prstGeom>
        </p:spPr>
      </p:pic>
      <p:pic>
        <p:nvPicPr>
          <p:cNvPr id="9" name="b1_eq sums" descr="\vb X\T\vb X = \begin{bmatrix} \sum x_i^2 &amp; \sum x_i \\ \sum x_i &amp; m \end{bmatrix} = \begin{bmatrix} 100 &amp; 20 \\ 20 &amp; 5 \end{bmatrix}, \quad \vb X\T\vb y = \begin{bmatrix} \sum x_i y_i \\ \sum y_i \end{bmatrix} = \begin{bmatrix} 280 \\ 55 \end{bmatrix}, \quad \vb y\T\vb y = 795"/>
          <p:cNvPicPr>
            <a:picLocks noChangeAspect="1"/>
          </p:cNvPicPr>
          <p:nvPr/>
        </p:nvPicPr>
        <p:blipFill>
          <a:blip r:embed="rId5"/>
          <a:stretch>
            <a:fillRect/>
          </a:stretch>
        </p:blipFill>
        <p:spPr>
          <a:xfrm>
            <a:off x="612648" y="4343400"/>
            <a:ext cx="8979408" cy="676656"/>
          </a:xfrm>
          <a:prstGeom prst="rect">
            <a:avLst/>
          </a:prstGeom>
        </p:spPr>
      </p:pic>
      <p:sp>
        <p:nvSpPr>
          <p:cNvPr id="10" name="b3_key idea"/>
          <p:cNvSpPr/>
          <p:nvPr/>
        </p:nvSpPr>
        <p:spPr>
          <a:xfrm>
            <a:off x="612648" y="5166360"/>
            <a:ext cx="10972800" cy="685800"/>
          </a:xfrm>
          <a:prstGeom prst="roundRect">
            <a:avLst>
              <a:gd name="adj" fmla="val 5000"/>
            </a:avLst>
          </a:prstGeom>
          <a:solidFill>
            <a:srgbClr val="F5F7F9"/>
          </a:solidFill>
          <a:ln w="12700">
            <a:solidFill>
              <a:srgbClr val="152D42"/>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400"/>
              </a:spcAft>
            </a:pPr>
            <a:r>
              <a:rPr sz="1200" b="1" i="0">
                <a:solidFill>
                  <a:srgbClr val="A31F34"/>
                </a:solidFill>
              </a:rPr>
              <a:t>KEY IDEA   </a:t>
            </a:r>
            <a:r>
              <a:rPr sz="1500" b="0" i="0">
                <a:solidFill>
                  <a:srgbClr val="152D42"/>
                </a:solidFill>
              </a:rPr>
              <a:t>As a function of </a:t>
            </a:r>
            <a:r>
              <a:rPr sz="1500" b="1" i="0">
                <a:solidFill>
                  <a:srgbClr val="152D42"/>
                </a:solidFill>
              </a:rPr>
              <a:t>k</a:t>
            </a:r>
            <a:r>
              <a:rPr sz="1500" b="0" i="0">
                <a:solidFill>
                  <a:srgbClr val="152D42"/>
                </a:solidFill>
              </a:rPr>
              <a:t>, the error depends on the data only through these three quantities; y</a:t>
            </a:r>
            <a:r>
              <a:rPr sz="1500" b="0" i="0" baseline="30000">
                <a:solidFill>
                  <a:srgbClr val="152D42"/>
                </a:solidFill>
              </a:rPr>
              <a:t>T</a:t>
            </a:r>
            <a:r>
              <a:rPr sz="1500" b="0" i="0">
                <a:solidFill>
                  <a:srgbClr val="152D42"/>
                </a:solidFill>
              </a:rPr>
              <a:t>y changes the smallest error, not the </a:t>
            </a:r>
            <a:r>
              <a:rPr sz="1500" b="1" i="0">
                <a:solidFill>
                  <a:srgbClr val="152D42"/>
                </a:solidFill>
              </a:rPr>
              <a:t>k̄</a:t>
            </a:r>
            <a:r>
              <a:rPr sz="1500" b="0" i="0">
                <a:solidFill>
                  <a:srgbClr val="152D42"/>
                </a:solidFill>
              </a:rPr>
              <a:t> where it occurs.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The picture: drop a perpendicular onto col(X)</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6</a:t>
            </a:fld>
            <a:endParaRPr lang="en-US"/>
          </a:p>
        </p:txBody>
      </p:sp>
      <p:pic>
        <p:nvPicPr>
          <p:cNvPr id="4" name="figure projection" descr="Vector y above a plane col(X); its foot X k-bar, and the residual e-bar perpendicular to the plane."/>
          <p:cNvPicPr>
            <a:picLocks noChangeAspect="1"/>
          </p:cNvPicPr>
          <p:nvPr/>
        </p:nvPicPr>
        <p:blipFill>
          <a:blip r:embed="rId3"/>
          <a:stretch>
            <a:fillRect/>
          </a:stretch>
        </p:blipFill>
        <p:spPr>
          <a:xfrm>
            <a:off x="612648" y="1325880"/>
            <a:ext cx="5669280" cy="4018796"/>
          </a:xfrm>
          <a:prstGeom prst="rect">
            <a:avLst/>
          </a:prstGeom>
        </p:spPr>
      </p:pic>
      <p:sp>
        <p:nvSpPr>
          <p:cNvPr id="5" name="text 1"/>
          <p:cNvSpPr txBox="1"/>
          <p:nvPr/>
        </p:nvSpPr>
        <p:spPr>
          <a:xfrm>
            <a:off x="6720840" y="1371600"/>
            <a:ext cx="4846320" cy="914400"/>
          </a:xfrm>
          <a:prstGeom prst="rect">
            <a:avLst/>
          </a:prstGeom>
          <a:noFill/>
        </p:spPr>
        <p:txBody>
          <a:bodyPr wrap="square" lIns="0" tIns="0" rIns="0" bIns="0" anchor="t">
            <a:spAutoFit/>
          </a:bodyPr>
          <a:lstStyle/>
          <a:p>
            <a:pPr algn="l">
              <a:spcAft>
                <a:spcPts val="800"/>
              </a:spcAft>
            </a:pPr>
            <a:r>
              <a:rPr sz="1600" b="1" i="0">
                <a:solidFill>
                  <a:srgbClr val="152D42"/>
                </a:solidFill>
              </a:rPr>
              <a:t>y</a:t>
            </a:r>
            <a:r>
              <a:rPr sz="1600" b="0" i="0">
                <a:solidFill>
                  <a:srgbClr val="152D42"/>
                </a:solidFill>
              </a:rPr>
              <a:t> lives in ℝ</a:t>
            </a:r>
            <a:r>
              <a:rPr sz="1600" b="0" i="0" baseline="30000">
                <a:solidFill>
                  <a:srgbClr val="152D42"/>
                </a:solidFill>
              </a:rPr>
              <a:t>5</a:t>
            </a:r>
            <a:r>
              <a:rPr sz="1600" b="0" i="0">
                <a:solidFill>
                  <a:srgbClr val="152D42"/>
                </a:solidFill>
              </a:rPr>
              <a:t>: one coordinate per data point, not per unknown.</a:t>
            </a:r>
          </a:p>
        </p:txBody>
      </p:sp>
      <p:sp>
        <p:nvSpPr>
          <p:cNvPr id="6" name="b1_text plane"/>
          <p:cNvSpPr txBox="1"/>
          <p:nvPr/>
        </p:nvSpPr>
        <p:spPr>
          <a:xfrm>
            <a:off x="6720840" y="2240280"/>
            <a:ext cx="4846320" cy="1188720"/>
          </a:xfrm>
          <a:prstGeom prst="rect">
            <a:avLst/>
          </a:prstGeom>
          <a:noFill/>
        </p:spPr>
        <p:txBody>
          <a:bodyPr wrap="square" lIns="0" tIns="0" rIns="0" bIns="0" anchor="t">
            <a:spAutoFit/>
          </a:bodyPr>
          <a:lstStyle/>
          <a:p>
            <a:pPr algn="l">
              <a:spcAft>
                <a:spcPts val="800"/>
              </a:spcAft>
            </a:pPr>
            <a:r>
              <a:rPr sz="1600" b="1" i="0">
                <a:solidFill>
                  <a:srgbClr val="152D42"/>
                </a:solidFill>
              </a:rPr>
              <a:t>Xk</a:t>
            </a:r>
            <a:r>
              <a:rPr sz="1600" b="0" i="0">
                <a:solidFill>
                  <a:srgbClr val="152D42"/>
                </a:solidFill>
              </a:rPr>
              <a:t> runs over a plane in ℝ</a:t>
            </a:r>
            <a:r>
              <a:rPr sz="1600" b="0" i="0" baseline="30000">
                <a:solidFill>
                  <a:srgbClr val="152D42"/>
                </a:solidFill>
              </a:rPr>
              <a:t>5</a:t>
            </a:r>
            <a:r>
              <a:rPr sz="1600" b="0" i="0">
                <a:solidFill>
                  <a:srgbClr val="152D42"/>
                </a:solidFill>
              </a:rPr>
              <a:t>, the column space, spanned by (1, 3, 4, 5, 7) and (1, 1, 1, 1, 1).</a:t>
            </a:r>
          </a:p>
        </p:txBody>
      </p:sp>
      <p:sp>
        <p:nvSpPr>
          <p:cNvPr id="7" name="b2_text foot"/>
          <p:cNvSpPr txBox="1"/>
          <p:nvPr/>
        </p:nvSpPr>
        <p:spPr>
          <a:xfrm>
            <a:off x="6720840" y="3429000"/>
            <a:ext cx="4846320" cy="1188720"/>
          </a:xfrm>
          <a:prstGeom prst="rect">
            <a:avLst/>
          </a:prstGeom>
          <a:noFill/>
        </p:spPr>
        <p:txBody>
          <a:bodyPr wrap="square" lIns="0" tIns="0" rIns="0" bIns="0" anchor="t">
            <a:spAutoFit/>
          </a:bodyPr>
          <a:lstStyle/>
          <a:p>
            <a:pPr algn="l">
              <a:spcAft>
                <a:spcPts val="800"/>
              </a:spcAft>
            </a:pPr>
            <a:r>
              <a:rPr sz="1600" b="0" i="0">
                <a:solidFill>
                  <a:srgbClr val="152D42"/>
                </a:solidFill>
              </a:rPr>
              <a:t>The closest point X</a:t>
            </a:r>
            <a:r>
              <a:rPr sz="1600" b="1" i="0">
                <a:solidFill>
                  <a:srgbClr val="152D42"/>
                </a:solidFill>
              </a:rPr>
              <a:t>k̄</a:t>
            </a:r>
            <a:r>
              <a:rPr sz="1600" b="0" i="0">
                <a:solidFill>
                  <a:srgbClr val="152D42"/>
                </a:solidFill>
              </a:rPr>
              <a:t> is the foot of the perpendicular, so the residual </a:t>
            </a:r>
            <a:r>
              <a:rPr sz="1600" b="1" i="0">
                <a:solidFill>
                  <a:srgbClr val="152D42"/>
                </a:solidFill>
              </a:rPr>
              <a:t>ē</a:t>
            </a:r>
            <a:r>
              <a:rPr sz="1600" b="0" i="0">
                <a:solidFill>
                  <a:srgbClr val="152D42"/>
                </a:solidFill>
              </a:rPr>
              <a:t> is orthogonal to col(</a:t>
            </a:r>
            <a:r>
              <a:rPr sz="1600" b="1" i="0">
                <a:solidFill>
                  <a:srgbClr val="152D42"/>
                </a:solidFill>
              </a:rPr>
              <a:t>X</a:t>
            </a:r>
            <a:r>
              <a:rPr sz="1600" b="0" i="0">
                <a:solidFill>
                  <a:srgbClr val="152D42"/>
                </a:solidFill>
              </a:rPr>
              <a:t>).</a:t>
            </a:r>
          </a:p>
        </p:txBody>
      </p:sp>
      <p:sp>
        <p:nvSpPr>
          <p:cNvPr id="8" name="b3_key idea"/>
          <p:cNvSpPr/>
          <p:nvPr/>
        </p:nvSpPr>
        <p:spPr>
          <a:xfrm>
            <a:off x="6720840" y="4754880"/>
            <a:ext cx="4846320" cy="1051560"/>
          </a:xfrm>
          <a:prstGeom prst="roundRect">
            <a:avLst>
              <a:gd name="adj" fmla="val 5000"/>
            </a:avLst>
          </a:prstGeom>
          <a:solidFill>
            <a:srgbClr val="F5F7F9"/>
          </a:solidFill>
          <a:ln w="12700">
            <a:solidFill>
              <a:srgbClr val="152D42"/>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400"/>
              </a:spcAft>
            </a:pPr>
            <a:r>
              <a:rPr sz="1200" b="1" i="0">
                <a:solidFill>
                  <a:srgbClr val="A31F34"/>
                </a:solidFill>
              </a:rPr>
              <a:t>KEY IDEA   </a:t>
            </a:r>
            <a:r>
              <a:rPr sz="1600" b="0" i="0">
                <a:solidFill>
                  <a:srgbClr val="152D42"/>
                </a:solidFill>
              </a:rPr>
              <a:t>Least squares is a projection: given a plane and a point off it, drop a perpendicular.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The right angle gives the normal equations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7</a:t>
            </a:fld>
            <a:endParaRPr lang="en-US"/>
          </a:p>
        </p:txBody>
      </p:sp>
      <p:sp>
        <p:nvSpPr>
          <p:cNvPr id="4" name="text 1"/>
          <p:cNvSpPr txBox="1"/>
          <p:nvPr/>
        </p:nvSpPr>
        <p:spPr>
          <a:xfrm>
            <a:off x="612648" y="1325880"/>
            <a:ext cx="5577840" cy="731520"/>
          </a:xfrm>
          <a:prstGeom prst="rect">
            <a:avLst/>
          </a:prstGeom>
          <a:noFill/>
        </p:spPr>
        <p:txBody>
          <a:bodyPr wrap="square" lIns="0" tIns="0" rIns="0" bIns="0" anchor="t">
            <a:spAutoFit/>
          </a:bodyPr>
          <a:lstStyle/>
          <a:p>
            <a:pPr algn="l">
              <a:spcAft>
                <a:spcPts val="800"/>
              </a:spcAft>
            </a:pPr>
            <a:r>
              <a:rPr sz="1600" b="0" i="0">
                <a:solidFill>
                  <a:srgbClr val="152D42"/>
                </a:solidFill>
              </a:rPr>
              <a:t>Orthogonal to col(</a:t>
            </a:r>
            <a:r>
              <a:rPr sz="1600" b="1" i="0">
                <a:solidFill>
                  <a:srgbClr val="152D42"/>
                </a:solidFill>
              </a:rPr>
              <a:t>X</a:t>
            </a:r>
            <a:r>
              <a:rPr sz="1600" b="0" i="0">
                <a:solidFill>
                  <a:srgbClr val="152D42"/>
                </a:solidFill>
              </a:rPr>
              <a:t>) means orthogonal to every column of </a:t>
            </a:r>
            <a:r>
              <a:rPr sz="1600" b="1" i="0">
                <a:solidFill>
                  <a:srgbClr val="152D42"/>
                </a:solidFill>
              </a:rPr>
              <a:t>X</a:t>
            </a:r>
            <a:r>
              <a:rPr sz="1600" b="0" i="0">
                <a:solidFill>
                  <a:srgbClr val="152D42"/>
                </a:solidFill>
              </a:rPr>
              <a:t>, that is, to every row of X</a:t>
            </a:r>
            <a:r>
              <a:rPr sz="1600" b="0" i="0" baseline="30000">
                <a:solidFill>
                  <a:srgbClr val="152D42"/>
                </a:solidFill>
              </a:rPr>
              <a:t>T</a:t>
            </a:r>
            <a:r>
              <a:rPr sz="1600" b="0" i="0">
                <a:solidFill>
                  <a:srgbClr val="152D42"/>
                </a:solidFill>
              </a:rPr>
              <a:t>:</a:t>
            </a:r>
          </a:p>
        </p:txBody>
      </p:sp>
      <p:pic>
        <p:nvPicPr>
          <p:cNvPr id="5" name="eq orth" descr="\vb X\T(\vb y - \vb X\kb) = \vb 0"/>
          <p:cNvPicPr>
            <a:picLocks noChangeAspect="1"/>
          </p:cNvPicPr>
          <p:nvPr/>
        </p:nvPicPr>
        <p:blipFill>
          <a:blip r:embed="rId3"/>
          <a:stretch>
            <a:fillRect/>
          </a:stretch>
        </p:blipFill>
        <p:spPr>
          <a:xfrm>
            <a:off x="612648" y="2103120"/>
            <a:ext cx="1981962" cy="349758"/>
          </a:xfrm>
          <a:prstGeom prst="rect">
            <a:avLst/>
          </a:prstGeom>
        </p:spPr>
      </p:pic>
      <p:sp>
        <p:nvSpPr>
          <p:cNvPr id="6" name="b1_text multiply"/>
          <p:cNvSpPr txBox="1"/>
          <p:nvPr/>
        </p:nvSpPr>
        <p:spPr>
          <a:xfrm>
            <a:off x="612648" y="2697480"/>
            <a:ext cx="5577840" cy="411480"/>
          </a:xfrm>
          <a:prstGeom prst="rect">
            <a:avLst/>
          </a:prstGeom>
          <a:noFill/>
        </p:spPr>
        <p:txBody>
          <a:bodyPr wrap="square" lIns="0" tIns="0" rIns="0" bIns="0" anchor="t">
            <a:spAutoFit/>
          </a:bodyPr>
          <a:lstStyle/>
          <a:p>
            <a:pPr algn="l">
              <a:spcAft>
                <a:spcPts val="800"/>
              </a:spcAft>
            </a:pPr>
            <a:r>
              <a:rPr sz="1600" b="0" i="0">
                <a:solidFill>
                  <a:srgbClr val="152D42"/>
                </a:solidFill>
              </a:rPr>
              <a:t>Multiply out:</a:t>
            </a:r>
          </a:p>
        </p:txBody>
      </p:sp>
      <p:pic>
        <p:nvPicPr>
          <p:cNvPr id="7" name="b1_eq nebox" descr="\boxed{\ \vb X\T\vb X\,\kb = \vb X\T\vb y\ }"/>
          <p:cNvPicPr>
            <a:picLocks noChangeAspect="1"/>
          </p:cNvPicPr>
          <p:nvPr/>
        </p:nvPicPr>
        <p:blipFill>
          <a:blip r:embed="rId4"/>
          <a:stretch>
            <a:fillRect/>
          </a:stretch>
        </p:blipFill>
        <p:spPr>
          <a:xfrm>
            <a:off x="612648" y="3154680"/>
            <a:ext cx="2167128" cy="473201"/>
          </a:xfrm>
          <a:prstGeom prst="rect">
            <a:avLst/>
          </a:prstGeom>
        </p:spPr>
      </p:pic>
      <p:sp>
        <p:nvSpPr>
          <p:cNvPr id="8" name="b1_label"/>
          <p:cNvSpPr txBox="1"/>
          <p:nvPr/>
        </p:nvSpPr>
        <p:spPr>
          <a:xfrm>
            <a:off x="3017520" y="3246120"/>
            <a:ext cx="3200400" cy="365760"/>
          </a:xfrm>
          <a:prstGeom prst="rect">
            <a:avLst/>
          </a:prstGeom>
          <a:noFill/>
        </p:spPr>
        <p:txBody>
          <a:bodyPr wrap="square" lIns="0" tIns="0" rIns="0" bIns="0" anchor="t">
            <a:spAutoFit/>
          </a:bodyPr>
          <a:lstStyle/>
          <a:p>
            <a:pPr algn="l">
              <a:spcAft>
                <a:spcPts val="800"/>
              </a:spcAft>
            </a:pPr>
            <a:r>
              <a:rPr sz="1600" b="1" i="0">
                <a:solidFill>
                  <a:srgbClr val="A31F34"/>
                </a:solidFill>
              </a:rPr>
              <a:t>the normal equations</a:t>
            </a:r>
          </a:p>
        </p:txBody>
      </p:sp>
      <p:sp>
        <p:nvSpPr>
          <p:cNvPr id="9" name="b1_text same"/>
          <p:cNvSpPr txBox="1"/>
          <p:nvPr/>
        </p:nvSpPr>
        <p:spPr>
          <a:xfrm>
            <a:off x="612648" y="3886200"/>
            <a:ext cx="5577840" cy="731520"/>
          </a:xfrm>
          <a:prstGeom prst="rect">
            <a:avLst/>
          </a:prstGeom>
          <a:noFill/>
        </p:spPr>
        <p:txBody>
          <a:bodyPr wrap="square" lIns="0" tIns="0" rIns="0" bIns="0" anchor="t">
            <a:spAutoFit/>
          </a:bodyPr>
          <a:lstStyle/>
          <a:p>
            <a:pPr algn="l">
              <a:spcAft>
                <a:spcPts val="800"/>
              </a:spcAft>
            </a:pPr>
            <a:r>
              <a:rPr sz="1600" b="0" i="0">
                <a:solidFill>
                  <a:srgbClr val="152D42"/>
                </a:solidFill>
              </a:rPr>
              <a:t>Built from the same X</a:t>
            </a:r>
            <a:r>
              <a:rPr sz="1600" b="0" i="0" baseline="30000">
                <a:solidFill>
                  <a:srgbClr val="152D42"/>
                </a:solidFill>
              </a:rPr>
              <a:t>T</a:t>
            </a:r>
            <a:r>
              <a:rPr sz="1600" b="0" i="0">
                <a:solidFill>
                  <a:srgbClr val="152D42"/>
                </a:solidFill>
              </a:rPr>
              <a:t>X and X</a:t>
            </a:r>
            <a:r>
              <a:rPr sz="1600" b="0" i="0" baseline="30000">
                <a:solidFill>
                  <a:srgbClr val="152D42"/>
                </a:solidFill>
              </a:rPr>
              <a:t>T</a:t>
            </a:r>
            <a:r>
              <a:rPr sz="1600" b="0" i="0">
                <a:solidFill>
                  <a:srgbClr val="152D42"/>
                </a:solidFill>
              </a:rPr>
              <a:t>y as slide 5.</a:t>
            </a:r>
          </a:p>
        </p:txBody>
      </p:sp>
      <p:pic>
        <p:nvPicPr>
          <p:cNvPr id="10" name="b2_eq pd" descr="\vb v\T\vb X\T\vb X\,\vb v = \lVert \vb X\vb v\rVert^2 &gt; 0 \quad \text{for } \vb v \neq \vb 0"/>
          <p:cNvPicPr>
            <a:picLocks noChangeAspect="1"/>
          </p:cNvPicPr>
          <p:nvPr/>
        </p:nvPicPr>
        <p:blipFill>
          <a:blip r:embed="rId5"/>
          <a:stretch>
            <a:fillRect/>
          </a:stretch>
        </p:blipFill>
        <p:spPr>
          <a:xfrm>
            <a:off x="612648" y="4526280"/>
            <a:ext cx="3984498" cy="345186"/>
          </a:xfrm>
          <a:prstGeom prst="rect">
            <a:avLst/>
          </a:prstGeom>
        </p:spPr>
      </p:pic>
      <p:sp>
        <p:nvSpPr>
          <p:cNvPr id="11" name="b2_text pd"/>
          <p:cNvSpPr txBox="1"/>
          <p:nvPr/>
        </p:nvSpPr>
        <p:spPr>
          <a:xfrm>
            <a:off x="612648" y="4983480"/>
            <a:ext cx="5577840" cy="914400"/>
          </a:xfrm>
          <a:prstGeom prst="rect">
            <a:avLst/>
          </a:prstGeom>
          <a:noFill/>
        </p:spPr>
        <p:txBody>
          <a:bodyPr wrap="square" lIns="0" tIns="0" rIns="0" bIns="0" anchor="t">
            <a:spAutoFit/>
          </a:bodyPr>
          <a:lstStyle/>
          <a:p>
            <a:pPr algn="l">
              <a:spcAft>
                <a:spcPts val="800"/>
              </a:spcAft>
            </a:pPr>
            <a:r>
              <a:rPr sz="1500" b="0" i="0">
                <a:solidFill>
                  <a:srgbClr val="152D42"/>
                </a:solidFill>
              </a:rPr>
              <a:t>Independent columns make X</a:t>
            </a:r>
            <a:r>
              <a:rPr sz="1500" b="0" i="0" baseline="30000">
                <a:solidFill>
                  <a:srgbClr val="152D42"/>
                </a:solidFill>
              </a:rPr>
              <a:t>T</a:t>
            </a:r>
            <a:r>
              <a:rPr sz="1500" b="0" i="0">
                <a:solidFill>
                  <a:srgbClr val="152D42"/>
                </a:solidFill>
              </a:rPr>
              <a:t>X symmetric positive definite, so it is invertible. For a line this fails only when all the </a:t>
            </a:r>
            <a:r>
              <a:rPr sz="1500" b="0" i="1">
                <a:solidFill>
                  <a:srgbClr val="152D42"/>
                </a:solidFill>
              </a:rPr>
              <a:t>x</a:t>
            </a:r>
            <a:r>
              <a:rPr sz="1500" b="0" i="0">
                <a:solidFill>
                  <a:srgbClr val="152D42"/>
                </a:solidFill>
              </a:rPr>
              <a:t>ᵢ are equal.</a:t>
            </a:r>
          </a:p>
        </p:txBody>
      </p:sp>
      <p:pic>
        <p:nvPicPr>
          <p:cNvPr id="12" name="figure projection" descr="The same projection picture: the residual is perpendicular to the plane col(X)."/>
          <p:cNvPicPr>
            <a:picLocks noChangeAspect="1"/>
          </p:cNvPicPr>
          <p:nvPr/>
        </p:nvPicPr>
        <p:blipFill>
          <a:blip r:embed="rId6"/>
          <a:stretch>
            <a:fillRect/>
          </a:stretch>
        </p:blipFill>
        <p:spPr>
          <a:xfrm>
            <a:off x="6492240" y="1463040"/>
            <a:ext cx="5074920" cy="35974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Solving them: the best line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8</a:t>
            </a:fld>
            <a:endParaRPr lang="en-US"/>
          </a:p>
        </p:txBody>
      </p:sp>
      <p:pic>
        <p:nvPicPr>
          <p:cNvPr id="4" name="eq ne" descr="\begin{aligned} 100\,\bar k + 20\,\bar b &amp;= 280 \\ 20\,\bar k + 5\,\bar b &amp;= 55 \end{aligned}"/>
          <p:cNvPicPr>
            <a:picLocks noChangeAspect="1"/>
          </p:cNvPicPr>
          <p:nvPr/>
        </p:nvPicPr>
        <p:blipFill>
          <a:blip r:embed="rId3"/>
          <a:stretch>
            <a:fillRect/>
          </a:stretch>
        </p:blipFill>
        <p:spPr>
          <a:xfrm>
            <a:off x="612648" y="1325880"/>
            <a:ext cx="2361438" cy="731520"/>
          </a:xfrm>
          <a:prstGeom prst="rect">
            <a:avLst/>
          </a:prstGeom>
        </p:spPr>
      </p:pic>
      <p:sp>
        <p:nvSpPr>
          <p:cNvPr id="5" name="ne label"/>
          <p:cNvSpPr txBox="1"/>
          <p:nvPr/>
        </p:nvSpPr>
        <p:spPr>
          <a:xfrm>
            <a:off x="3291840" y="1463040"/>
            <a:ext cx="2926080" cy="548640"/>
          </a:xfrm>
          <a:prstGeom prst="rect">
            <a:avLst/>
          </a:prstGeom>
          <a:noFill/>
        </p:spPr>
        <p:txBody>
          <a:bodyPr wrap="square" lIns="0" tIns="0" rIns="0" bIns="0" anchor="t">
            <a:spAutoFit/>
          </a:bodyPr>
          <a:lstStyle/>
          <a:p>
            <a:pPr algn="l">
              <a:spcAft>
                <a:spcPts val="800"/>
              </a:spcAft>
            </a:pPr>
            <a:r>
              <a:rPr sz="1600" b="0" i="0">
                <a:solidFill>
                  <a:srgbClr val="506476"/>
                </a:solidFill>
              </a:rPr>
              <a:t>with the sums of slide 5</a:t>
            </a:r>
          </a:p>
        </p:txBody>
      </p:sp>
      <p:pic>
        <p:nvPicPr>
          <p:cNvPr id="6" name="b1_eq elim1" descr="\text{row 2} - \tfrac15\,\text{row 1}: \quad (5-4)\,\bar b = 55 - 56 \ \Rightarrow\ \bar b = -1"/>
          <p:cNvPicPr>
            <a:picLocks noChangeAspect="1"/>
          </p:cNvPicPr>
          <p:nvPr/>
        </p:nvPicPr>
        <p:blipFill>
          <a:blip r:embed="rId4"/>
          <a:stretch>
            <a:fillRect/>
          </a:stretch>
        </p:blipFill>
        <p:spPr>
          <a:xfrm>
            <a:off x="612648" y="2240280"/>
            <a:ext cx="5250256" cy="308952"/>
          </a:xfrm>
          <a:prstGeom prst="rect">
            <a:avLst/>
          </a:prstGeom>
        </p:spPr>
      </p:pic>
      <p:pic>
        <p:nvPicPr>
          <p:cNvPr id="7" name="b1_eq elim2" descr="100\,\bar k + 20(-1) = 280 \ \Rightarrow\ 100\,\bar k = 300 \ \Rightarrow\ \bar k = 3"/>
          <p:cNvPicPr>
            <a:picLocks noChangeAspect="1"/>
          </p:cNvPicPr>
          <p:nvPr/>
        </p:nvPicPr>
        <p:blipFill>
          <a:blip r:embed="rId5"/>
          <a:stretch>
            <a:fillRect/>
          </a:stretch>
        </p:blipFill>
        <p:spPr>
          <a:xfrm>
            <a:off x="612648" y="2697480"/>
            <a:ext cx="5083149" cy="281749"/>
          </a:xfrm>
          <a:prstGeom prst="rect">
            <a:avLst/>
          </a:prstGeom>
        </p:spPr>
      </p:pic>
      <p:pic>
        <p:nvPicPr>
          <p:cNvPr id="8" name="b2_eq bestline" descr="\red{y = 3x - 1}"/>
          <p:cNvPicPr>
            <a:picLocks noChangeAspect="1"/>
          </p:cNvPicPr>
          <p:nvPr/>
        </p:nvPicPr>
        <p:blipFill>
          <a:blip r:embed="rId6"/>
          <a:stretch>
            <a:fillRect/>
          </a:stretch>
        </p:blipFill>
        <p:spPr>
          <a:xfrm>
            <a:off x="612648" y="3291840"/>
            <a:ext cx="1570482" cy="326898"/>
          </a:xfrm>
          <a:prstGeom prst="rect">
            <a:avLst/>
          </a:prstGeom>
        </p:spPr>
      </p:pic>
      <p:sp>
        <p:nvSpPr>
          <p:cNvPr id="9" name="b2_best label"/>
          <p:cNvSpPr txBox="1"/>
          <p:nvPr/>
        </p:nvSpPr>
        <p:spPr>
          <a:xfrm>
            <a:off x="2377440" y="3291840"/>
            <a:ext cx="3657600" cy="365760"/>
          </a:xfrm>
          <a:prstGeom prst="rect">
            <a:avLst/>
          </a:prstGeom>
          <a:noFill/>
        </p:spPr>
        <p:txBody>
          <a:bodyPr wrap="square" lIns="0" tIns="0" rIns="0" bIns="0" anchor="t">
            <a:spAutoFit/>
          </a:bodyPr>
          <a:lstStyle/>
          <a:p>
            <a:pPr algn="l">
              <a:spcAft>
                <a:spcPts val="800"/>
              </a:spcAft>
            </a:pPr>
            <a:r>
              <a:rPr sz="1600" b="0" i="0">
                <a:solidFill>
                  <a:srgbClr val="506476"/>
                </a:solidFill>
              </a:rPr>
              <a:t>the best line</a:t>
            </a:r>
          </a:p>
        </p:txBody>
      </p:sp>
      <p:sp>
        <p:nvSpPr>
          <p:cNvPr id="10" name="b2_text misses"/>
          <p:cNvSpPr txBox="1"/>
          <p:nvPr/>
        </p:nvSpPr>
        <p:spPr>
          <a:xfrm>
            <a:off x="612648" y="3977639"/>
            <a:ext cx="5394960" cy="1280160"/>
          </a:xfrm>
          <a:prstGeom prst="rect">
            <a:avLst/>
          </a:prstGeom>
          <a:noFill/>
        </p:spPr>
        <p:txBody>
          <a:bodyPr wrap="square" lIns="0" tIns="0" rIns="0" bIns="0" anchor="t">
            <a:spAutoFit/>
          </a:bodyPr>
          <a:lstStyle/>
          <a:p>
            <a:pPr algn="l">
              <a:spcAft>
                <a:spcPts val="800"/>
              </a:spcAft>
            </a:pPr>
            <a:r>
              <a:rPr sz="1500" b="0" i="0">
                <a:solidFill>
                  <a:srgbClr val="152D42"/>
                </a:solidFill>
              </a:rPr>
              <a:t>It passes through (7, 20) exactly and misses the other four points by 1 or 2. The guess </a:t>
            </a:r>
            <a:r>
              <a:rPr sz="1500" b="0" i="1">
                <a:solidFill>
                  <a:srgbClr val="152D42"/>
                </a:solidFill>
              </a:rPr>
              <a:t>y</a:t>
            </a:r>
            <a:r>
              <a:rPr sz="1500" b="0" i="0">
                <a:solidFill>
                  <a:srgbClr val="152D42"/>
                </a:solidFill>
              </a:rPr>
              <a:t> = 2</a:t>
            </a:r>
            <a:r>
              <a:rPr sz="1500" b="0" i="1">
                <a:solidFill>
                  <a:srgbClr val="152D42"/>
                </a:solidFill>
              </a:rPr>
              <a:t>x</a:t>
            </a:r>
            <a:r>
              <a:rPr sz="1500" b="0" i="0">
                <a:solidFill>
                  <a:srgbClr val="152D42"/>
                </a:solidFill>
              </a:rPr>
              <a:t> + 1 is dashed.</a:t>
            </a:r>
          </a:p>
        </p:txBody>
      </p:sp>
      <p:graphicFrame>
        <p:nvGraphicFramePr>
          <p:cNvPr id="11" name="chart guess"/>
          <p:cNvGraphicFramePr>
            <a:graphicFrameLocks noGrp="1"/>
          </p:cNvGraphicFramePr>
          <p:nvPr/>
        </p:nvGraphicFramePr>
        <p:xfrm>
          <a:off x="6263640" y="1280160"/>
          <a:ext cx="5321808" cy="4572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2" name="b2_chart best"/>
          <p:cNvGraphicFramePr>
            <a:graphicFrameLocks noGrp="1"/>
          </p:cNvGraphicFramePr>
          <p:nvPr/>
        </p:nvGraphicFramePr>
        <p:xfrm>
          <a:off x="6263640" y="1280160"/>
          <a:ext cx="5321808" cy="4572000"/>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Graphic spid="12"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The residual is perpendicular to the plane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9</a:t>
            </a:fld>
            <a:endParaRPr lang="en-US"/>
          </a:p>
        </p:txBody>
      </p:sp>
      <p:pic>
        <p:nvPicPr>
          <p:cNvPr id="4" name="eq res" descr="\eb = \vb y - \vb X\kb = (1,\,-1,\,-2,\,2,\,0)"/>
          <p:cNvPicPr>
            <a:picLocks noChangeAspect="1"/>
          </p:cNvPicPr>
          <p:nvPr/>
        </p:nvPicPr>
        <p:blipFill>
          <a:blip r:embed="rId3"/>
          <a:stretch>
            <a:fillRect/>
          </a:stretch>
        </p:blipFill>
        <p:spPr>
          <a:xfrm>
            <a:off x="612648" y="1325880"/>
            <a:ext cx="3762756" cy="331470"/>
          </a:xfrm>
          <a:prstGeom prst="rect">
            <a:avLst/>
          </a:prstGeom>
        </p:spPr>
      </p:pic>
      <p:pic>
        <p:nvPicPr>
          <p:cNvPr id="5" name="b1_eq dots1" descr="\vb a_1\T\eb = 1 - 3 - 8 + 10 + 0 = 0"/>
          <p:cNvPicPr>
            <a:picLocks noChangeAspect="1"/>
          </p:cNvPicPr>
          <p:nvPr/>
        </p:nvPicPr>
        <p:blipFill>
          <a:blip r:embed="rId4"/>
          <a:stretch>
            <a:fillRect/>
          </a:stretch>
        </p:blipFill>
        <p:spPr>
          <a:xfrm>
            <a:off x="612648" y="1920240"/>
            <a:ext cx="3559302" cy="338328"/>
          </a:xfrm>
          <a:prstGeom prst="rect">
            <a:avLst/>
          </a:prstGeom>
        </p:spPr>
      </p:pic>
      <p:pic>
        <p:nvPicPr>
          <p:cNvPr id="6" name="b1_eq dots2" descr="\vb a_2\T\eb = 1 - 1 - 2 + 2 + 0 = 0"/>
          <p:cNvPicPr>
            <a:picLocks noChangeAspect="1"/>
          </p:cNvPicPr>
          <p:nvPr/>
        </p:nvPicPr>
        <p:blipFill>
          <a:blip r:embed="rId5"/>
          <a:stretch>
            <a:fillRect/>
          </a:stretch>
        </p:blipFill>
        <p:spPr>
          <a:xfrm>
            <a:off x="612648" y="2377440"/>
            <a:ext cx="3396996" cy="338328"/>
          </a:xfrm>
          <a:prstGeom prst="rect">
            <a:avLst/>
          </a:prstGeom>
        </p:spPr>
      </p:pic>
      <p:pic>
        <p:nvPicPr>
          <p:cNvPr id="7" name="b2_eq resnorm" descr="\eb\T\eb = 1 + 1 + 4 + 4 + 0 = \red{10}"/>
          <p:cNvPicPr>
            <a:picLocks noChangeAspect="1"/>
          </p:cNvPicPr>
          <p:nvPr/>
        </p:nvPicPr>
        <p:blipFill>
          <a:blip r:embed="rId6"/>
          <a:stretch>
            <a:fillRect/>
          </a:stretch>
        </p:blipFill>
        <p:spPr>
          <a:xfrm>
            <a:off x="612648" y="2926080"/>
            <a:ext cx="3529584" cy="290322"/>
          </a:xfrm>
          <a:prstGeom prst="rect">
            <a:avLst/>
          </a:prstGeom>
        </p:spPr>
      </p:pic>
      <p:pic>
        <p:nvPicPr>
          <p:cNvPr id="8" name="b3_eq split1" descr="\vb y - \vb X\vb k = \eb + \vb X(\kb - \vb k)"/>
          <p:cNvPicPr>
            <a:picLocks noChangeAspect="1"/>
          </p:cNvPicPr>
          <p:nvPr/>
        </p:nvPicPr>
        <p:blipFill>
          <a:blip r:embed="rId7"/>
          <a:stretch>
            <a:fillRect/>
          </a:stretch>
        </p:blipFill>
        <p:spPr>
          <a:xfrm>
            <a:off x="612648" y="3566160"/>
            <a:ext cx="2738628" cy="331470"/>
          </a:xfrm>
          <a:prstGeom prst="rect">
            <a:avLst/>
          </a:prstGeom>
        </p:spPr>
      </p:pic>
      <p:pic>
        <p:nvPicPr>
          <p:cNvPr id="9" name="b3_eq split2" descr="\vb X(\kb - \vb k) = \vb X\begin{bmatrix} 1 \\ -2 \end{bmatrix} = (-1,\,1,\,2,\,3,\,5)"/>
          <p:cNvPicPr>
            <a:picLocks noChangeAspect="1"/>
          </p:cNvPicPr>
          <p:nvPr/>
        </p:nvPicPr>
        <p:blipFill>
          <a:blip r:embed="rId8"/>
          <a:stretch>
            <a:fillRect/>
          </a:stretch>
        </p:blipFill>
        <p:spPr>
          <a:xfrm>
            <a:off x="612648" y="4023360"/>
            <a:ext cx="4457700" cy="672084"/>
          </a:xfrm>
          <a:prstGeom prst="rect">
            <a:avLst/>
          </a:prstGeom>
        </p:spPr>
      </p:pic>
      <p:pic>
        <p:nvPicPr>
          <p:cNvPr id="10" name="b3_eq pyth" descr="50 = \red{10} + (1+1+4+9+25) = \red{10} + 40"/>
          <p:cNvPicPr>
            <a:picLocks noChangeAspect="1"/>
          </p:cNvPicPr>
          <p:nvPr/>
        </p:nvPicPr>
        <p:blipFill>
          <a:blip r:embed="rId9"/>
          <a:stretch>
            <a:fillRect/>
          </a:stretch>
        </p:blipFill>
        <p:spPr>
          <a:xfrm>
            <a:off x="612648" y="4892040"/>
            <a:ext cx="4981194" cy="301752"/>
          </a:xfrm>
          <a:prstGeom prst="rect">
            <a:avLst/>
          </a:prstGeom>
        </p:spPr>
      </p:pic>
      <p:pic>
        <p:nvPicPr>
          <p:cNvPr id="11" name="b3_figure triangle" descr="Right triangle: residual of length squared 10, in-plane leg 40, guess error 50."/>
          <p:cNvPicPr>
            <a:picLocks noChangeAspect="1"/>
          </p:cNvPicPr>
          <p:nvPr/>
        </p:nvPicPr>
        <p:blipFill>
          <a:blip r:embed="rId10"/>
          <a:stretch>
            <a:fillRect/>
          </a:stretch>
        </p:blipFill>
        <p:spPr>
          <a:xfrm>
            <a:off x="6263640" y="1417320"/>
            <a:ext cx="5303520" cy="37595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Every other line costs more: the error landscape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10</a:t>
            </a:fld>
            <a:endParaRPr lang="en-US"/>
          </a:p>
        </p:txBody>
      </p:sp>
      <p:pic>
        <p:nvPicPr>
          <p:cNvPr id="4" name="figure landscape" descr="Contour plot of the total squared error over slope k and intercept b; minimum 10 at (3, -1), guess on the 50 contour."/>
          <p:cNvPicPr>
            <a:picLocks noChangeAspect="1"/>
          </p:cNvPicPr>
          <p:nvPr/>
        </p:nvPicPr>
        <p:blipFill>
          <a:blip r:embed="rId3"/>
          <a:stretch>
            <a:fillRect/>
          </a:stretch>
        </p:blipFill>
        <p:spPr>
          <a:xfrm>
            <a:off x="612648" y="1234440"/>
            <a:ext cx="5852160" cy="4294057"/>
          </a:xfrm>
          <a:prstGeom prst="rect">
            <a:avLst/>
          </a:prstGeom>
        </p:spPr>
      </p:pic>
      <p:pic>
        <p:nvPicPr>
          <p:cNvPr id="5" name="eq landscape" descr="\vb e\T\vb e = 10 + \lVert \vb X(\kb - \vb k)\rVert^2"/>
          <p:cNvPicPr>
            <a:picLocks noChangeAspect="1"/>
          </p:cNvPicPr>
          <p:nvPr/>
        </p:nvPicPr>
        <p:blipFill>
          <a:blip r:embed="rId4"/>
          <a:stretch>
            <a:fillRect/>
          </a:stretch>
        </p:blipFill>
        <p:spPr>
          <a:xfrm>
            <a:off x="6766560" y="1325880"/>
            <a:ext cx="2891790" cy="345186"/>
          </a:xfrm>
          <a:prstGeom prst="rect">
            <a:avLst/>
          </a:prstGeom>
        </p:spPr>
      </p:pic>
      <p:sp>
        <p:nvSpPr>
          <p:cNvPr id="6" name="text 1"/>
          <p:cNvSpPr txBox="1"/>
          <p:nvPr/>
        </p:nvSpPr>
        <p:spPr>
          <a:xfrm>
            <a:off x="6766560" y="1965960"/>
            <a:ext cx="4818888" cy="1005840"/>
          </a:xfrm>
          <a:prstGeom prst="rect">
            <a:avLst/>
          </a:prstGeom>
          <a:noFill/>
        </p:spPr>
        <p:txBody>
          <a:bodyPr wrap="square" lIns="0" tIns="0" rIns="0" bIns="0" anchor="t">
            <a:spAutoFit/>
          </a:bodyPr>
          <a:lstStyle/>
          <a:p>
            <a:pPr algn="l">
              <a:spcAft>
                <a:spcPts val="800"/>
              </a:spcAft>
            </a:pPr>
            <a:r>
              <a:rPr sz="1600" b="0" i="0">
                <a:solidFill>
                  <a:srgbClr val="152D42"/>
                </a:solidFill>
              </a:rPr>
              <a:t>A bowl over the (</a:t>
            </a:r>
            <a:r>
              <a:rPr sz="1600" b="0" i="1">
                <a:solidFill>
                  <a:srgbClr val="152D42"/>
                </a:solidFill>
              </a:rPr>
              <a:t>k</a:t>
            </a:r>
            <a:r>
              <a:rPr sz="1600" b="0" i="0">
                <a:solidFill>
                  <a:srgbClr val="152D42"/>
                </a:solidFill>
              </a:rPr>
              <a:t>, </a:t>
            </a:r>
            <a:r>
              <a:rPr sz="1600" b="0" i="1">
                <a:solidFill>
                  <a:srgbClr val="152D42"/>
                </a:solidFill>
              </a:rPr>
              <a:t>b</a:t>
            </a:r>
            <a:r>
              <a:rPr sz="1600" b="0" i="0">
                <a:solidFill>
                  <a:srgbClr val="152D42"/>
                </a:solidFill>
              </a:rPr>
              <a:t>) plane, lowest at </a:t>
            </a:r>
            <a:r>
              <a:rPr sz="1600" b="1" i="0">
                <a:solidFill>
                  <a:srgbClr val="152D42"/>
                </a:solidFill>
              </a:rPr>
              <a:t>k̄</a:t>
            </a:r>
            <a:r>
              <a:rPr sz="1600" b="0" i="0">
                <a:solidFill>
                  <a:srgbClr val="152D42"/>
                </a:solidFill>
              </a:rPr>
              <a:t> = (3, −1); its level sets are ellipses.</a:t>
            </a:r>
          </a:p>
        </p:txBody>
      </p:sp>
      <p:sp>
        <p:nvSpPr>
          <p:cNvPr id="7" name="b1_text shape"/>
          <p:cNvSpPr txBox="1"/>
          <p:nvPr/>
        </p:nvSpPr>
        <p:spPr>
          <a:xfrm>
            <a:off x="6766560" y="3017520"/>
            <a:ext cx="4818888" cy="1097280"/>
          </a:xfrm>
          <a:prstGeom prst="rect">
            <a:avLst/>
          </a:prstGeom>
          <a:noFill/>
        </p:spPr>
        <p:txBody>
          <a:bodyPr wrap="square" lIns="0" tIns="0" rIns="0" bIns="0" anchor="t">
            <a:spAutoFit/>
          </a:bodyPr>
          <a:lstStyle/>
          <a:p>
            <a:pPr algn="l">
              <a:spcAft>
                <a:spcPts val="800"/>
              </a:spcAft>
            </a:pPr>
            <a:r>
              <a:rPr sz="1600" b="0" i="0">
                <a:solidFill>
                  <a:srgbClr val="152D42"/>
                </a:solidFill>
              </a:rPr>
              <a:t>Their shape comes from X</a:t>
            </a:r>
            <a:r>
              <a:rPr sz="1600" b="0" i="0" baseline="30000">
                <a:solidFill>
                  <a:srgbClr val="152D42"/>
                </a:solidFill>
              </a:rPr>
              <a:t>T</a:t>
            </a:r>
            <a:r>
              <a:rPr sz="1600" b="0" i="0">
                <a:solidFill>
                  <a:srgbClr val="152D42"/>
                </a:solidFill>
              </a:rPr>
              <a:t>X, with eigenvalues 104.0 and 0.96: the bowl is long and narrow.</a:t>
            </a:r>
          </a:p>
        </p:txBody>
      </p:sp>
      <p:sp>
        <p:nvSpPr>
          <p:cNvPr id="8" name="b2_text valley"/>
          <p:cNvSpPr txBox="1"/>
          <p:nvPr/>
        </p:nvSpPr>
        <p:spPr>
          <a:xfrm>
            <a:off x="6766560" y="4160520"/>
            <a:ext cx="4818888" cy="1645920"/>
          </a:xfrm>
          <a:prstGeom prst="rect">
            <a:avLst/>
          </a:prstGeom>
          <a:noFill/>
        </p:spPr>
        <p:txBody>
          <a:bodyPr wrap="square" lIns="0" tIns="0" rIns="0" bIns="0" anchor="t">
            <a:spAutoFit/>
          </a:bodyPr>
          <a:lstStyle/>
          <a:p>
            <a:pPr algn="l">
              <a:spcAft>
                <a:spcPts val="800"/>
              </a:spcAft>
            </a:pPr>
            <a:r>
              <a:rPr sz="1600" b="0" i="0">
                <a:solidFill>
                  <a:srgbClr val="152D42"/>
                </a:solidFill>
              </a:rPr>
              <a:t>Along the long axis of the ellipses, the eigenvector (1, −4.95) of X</a:t>
            </a:r>
            <a:r>
              <a:rPr sz="1600" b="0" i="0" baseline="30000">
                <a:solidFill>
                  <a:srgbClr val="152D42"/>
                </a:solidFill>
              </a:rPr>
              <a:t>T</a:t>
            </a:r>
            <a:r>
              <a:rPr sz="1600" b="0" i="0">
                <a:solidFill>
                  <a:srgbClr val="152D42"/>
                </a:solidFill>
              </a:rPr>
              <a:t>X, the slope rises while the intercept falls, and the error changes little.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Centre the data: the columns become orthogonal</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11</a:t>
            </a:fld>
            <a:endParaRPr lang="en-US"/>
          </a:p>
        </p:txBody>
      </p:sp>
      <p:pic>
        <p:nvPicPr>
          <p:cNvPr id="4" name="eq centre1" descr="\vb x - \bar x\,\vb 1 = (-3,\,-1,\,0,\,1,\,3), \qquad (\vb x - \bar x\,\vb 1)\T\vb 1 = 0"/>
          <p:cNvPicPr>
            <a:picLocks noChangeAspect="1"/>
          </p:cNvPicPr>
          <p:nvPr/>
        </p:nvPicPr>
        <p:blipFill>
          <a:blip r:embed="rId3"/>
          <a:stretch>
            <a:fillRect/>
          </a:stretch>
        </p:blipFill>
        <p:spPr>
          <a:xfrm>
            <a:off x="612648" y="1325880"/>
            <a:ext cx="5676138" cy="338328"/>
          </a:xfrm>
          <a:prstGeom prst="rect">
            <a:avLst/>
          </a:prstGeom>
        </p:spPr>
      </p:pic>
      <p:pic>
        <p:nvPicPr>
          <p:cNvPr id="5" name="b1_eq centre2" descr="y = k\,(x - 4) + c: \quad \bar k = \frac{\sum (x_i - 4)\,y_i}{\sum (x_i - 4)^2} = \frac{60}{20} = 3, \qquad \bar c = \bar y = \frac{55}{5} = 11"/>
          <p:cNvPicPr>
            <a:picLocks noChangeAspect="1"/>
          </p:cNvPicPr>
          <p:nvPr/>
        </p:nvPicPr>
        <p:blipFill>
          <a:blip r:embed="rId4"/>
          <a:stretch>
            <a:fillRect/>
          </a:stretch>
        </p:blipFill>
        <p:spPr>
          <a:xfrm>
            <a:off x="612648" y="1920240"/>
            <a:ext cx="8122158" cy="658368"/>
          </a:xfrm>
          <a:prstGeom prst="rect">
            <a:avLst/>
          </a:prstGeom>
        </p:spPr>
      </p:pic>
      <p:pic>
        <p:nvPicPr>
          <p:cNvPr id="6" name="b1_eq centre3" descr="y = 11 + 3\,(x - 4) = \red{3x - 1}"/>
          <p:cNvPicPr>
            <a:picLocks noChangeAspect="1"/>
          </p:cNvPicPr>
          <p:nvPr/>
        </p:nvPicPr>
        <p:blipFill>
          <a:blip r:embed="rId5"/>
          <a:stretch>
            <a:fillRect/>
          </a:stretch>
        </p:blipFill>
        <p:spPr>
          <a:xfrm>
            <a:off x="612648" y="2743200"/>
            <a:ext cx="3300984" cy="301752"/>
          </a:xfrm>
          <a:prstGeom prst="rect">
            <a:avLst/>
          </a:prstGeom>
        </p:spPr>
      </p:pic>
      <p:graphicFrame>
        <p:nvGraphicFramePr>
          <p:cNvPr id="7" name="b2_chart mean"/>
          <p:cNvGraphicFramePr>
            <a:graphicFrameLocks noGrp="1"/>
          </p:cNvGraphicFramePr>
          <p:nvPr/>
        </p:nvGraphicFramePr>
        <p:xfrm>
          <a:off x="612648" y="3246120"/>
          <a:ext cx="5577840" cy="2651760"/>
        </p:xfrm>
        <a:graphic>
          <a:graphicData uri="http://schemas.openxmlformats.org/drawingml/2006/chart">
            <c:chart xmlns:c="http://schemas.openxmlformats.org/drawingml/2006/chart" xmlns:r="http://schemas.openxmlformats.org/officeDocument/2006/relationships" r:id="rId6"/>
          </a:graphicData>
        </a:graphic>
      </p:graphicFrame>
      <p:sp>
        <p:nvSpPr>
          <p:cNvPr id="8" name="b2_text mean"/>
          <p:cNvSpPr txBox="1"/>
          <p:nvPr/>
        </p:nvSpPr>
        <p:spPr>
          <a:xfrm>
            <a:off x="6492240" y="3429000"/>
            <a:ext cx="5074920" cy="822960"/>
          </a:xfrm>
          <a:prstGeom prst="rect">
            <a:avLst/>
          </a:prstGeom>
          <a:noFill/>
        </p:spPr>
        <p:txBody>
          <a:bodyPr wrap="square" lIns="0" tIns="0" rIns="0" bIns="0" anchor="t">
            <a:spAutoFit/>
          </a:bodyPr>
          <a:lstStyle/>
          <a:p>
            <a:pPr algn="l">
              <a:spcAft>
                <a:spcPts val="800"/>
              </a:spcAft>
            </a:pPr>
            <a:r>
              <a:rPr sz="1600" b="0" i="0">
                <a:solidFill>
                  <a:srgbClr val="152D42"/>
                </a:solidFill>
              </a:rPr>
              <a:t>The best line passes through the mean point (diamond), (</a:t>
            </a:r>
            <a:r>
              <a:rPr sz="1600" b="0" i="1">
                <a:solidFill>
                  <a:srgbClr val="152D42"/>
                </a:solidFill>
              </a:rPr>
              <a:t>x̄</a:t>
            </a:r>
            <a:r>
              <a:rPr sz="1600" b="0" i="0">
                <a:solidFill>
                  <a:srgbClr val="152D42"/>
                </a:solidFill>
              </a:rPr>
              <a:t>, </a:t>
            </a:r>
            <a:r>
              <a:rPr sz="1600" b="0" i="1">
                <a:solidFill>
                  <a:srgbClr val="152D42"/>
                </a:solidFill>
              </a:rPr>
              <a:t>ȳ</a:t>
            </a:r>
            <a:r>
              <a:rPr sz="1600" b="0" i="0">
                <a:solidFill>
                  <a:srgbClr val="152D42"/>
                </a:solidFill>
              </a:rPr>
              <a:t>) = (4, 11).</a:t>
            </a:r>
          </a:p>
        </p:txBody>
      </p:sp>
      <p:sp>
        <p:nvSpPr>
          <p:cNvPr id="9" name="b2_text diagonal"/>
          <p:cNvSpPr txBox="1"/>
          <p:nvPr/>
        </p:nvSpPr>
        <p:spPr>
          <a:xfrm>
            <a:off x="6492240" y="4343400"/>
            <a:ext cx="5074920" cy="1371600"/>
          </a:xfrm>
          <a:prstGeom prst="rect">
            <a:avLst/>
          </a:prstGeom>
          <a:noFill/>
        </p:spPr>
        <p:txBody>
          <a:bodyPr wrap="square" lIns="0" tIns="0" rIns="0" bIns="0" anchor="t">
            <a:spAutoFit/>
          </a:bodyPr>
          <a:lstStyle/>
          <a:p>
            <a:pPr algn="l">
              <a:spcAft>
                <a:spcPts val="800"/>
              </a:spcAft>
            </a:pPr>
            <a:r>
              <a:rPr sz="1600" b="0" i="0">
                <a:solidFill>
                  <a:srgbClr val="152D42"/>
                </a:solidFill>
              </a:rPr>
              <a:t>With centred columns X</a:t>
            </a:r>
            <a:r>
              <a:rPr sz="1600" b="0" i="0" baseline="30000">
                <a:solidFill>
                  <a:srgbClr val="152D42"/>
                </a:solidFill>
              </a:rPr>
              <a:t>T</a:t>
            </a:r>
            <a:r>
              <a:rPr sz="1600" b="0" i="0">
                <a:solidFill>
                  <a:srgbClr val="152D42"/>
                </a:solidFill>
              </a:rPr>
              <a:t>X = diag(20, 5): each normal equation has one unknown, so the slope and the intercept decouple.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Raw time stamps: one fit, two answers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12</a:t>
            </a:fld>
            <a:endParaRPr lang="en-US"/>
          </a:p>
        </p:txBody>
      </p:sp>
      <p:sp>
        <p:nvSpPr>
          <p:cNvPr id="4" name="given"/>
          <p:cNvSpPr txBox="1"/>
          <p:nvPr/>
        </p:nvSpPr>
        <p:spPr>
          <a:xfrm>
            <a:off x="612648" y="1234440"/>
            <a:ext cx="10972800" cy="731520"/>
          </a:xfrm>
          <a:prstGeom prst="rect">
            <a:avLst/>
          </a:prstGeom>
          <a:noFill/>
        </p:spPr>
        <p:txBody>
          <a:bodyPr wrap="square" lIns="0" tIns="0" rIns="0" bIns="0" anchor="t">
            <a:spAutoFit/>
          </a:bodyPr>
          <a:lstStyle/>
          <a:p>
            <a:pPr algn="l">
              <a:spcAft>
                <a:spcPts val="800"/>
              </a:spcAft>
            </a:pPr>
            <a:r>
              <a:rPr sz="1600" b="1" i="0">
                <a:solidFill>
                  <a:srgbClr val="152D42"/>
                </a:solidFill>
              </a:rPr>
              <a:t>Given. </a:t>
            </a:r>
            <a:r>
              <a:rPr sz="1600" b="0" i="0">
                <a:solidFill>
                  <a:srgbClr val="152D42"/>
                </a:solidFill>
              </a:rPr>
              <a:t>A sensor logs a temperature once a minute for an hour. The time stamps are Unix seconds, </a:t>
            </a:r>
            <a:r>
              <a:rPr sz="1600" b="0" i="1">
                <a:solidFill>
                  <a:srgbClr val="152D42"/>
                </a:solidFill>
              </a:rPr>
              <a:t>t</a:t>
            </a:r>
            <a:r>
              <a:rPr sz="1600" b="0" i="0">
                <a:solidFill>
                  <a:srgbClr val="152D42"/>
                </a:solidFill>
              </a:rPr>
              <a:t> ≈ 1.79 × 10</a:t>
            </a:r>
            <a:r>
              <a:rPr sz="1600" b="0" i="0" baseline="30000">
                <a:solidFill>
                  <a:srgbClr val="152D42"/>
                </a:solidFill>
              </a:rPr>
              <a:t>9</a:t>
            </a:r>
            <a:r>
              <a:rPr sz="1600" b="0" i="0">
                <a:solidFill>
                  <a:srgbClr val="152D42"/>
                </a:solidFill>
              </a:rPr>
              <a:t> s. Fit </a:t>
            </a:r>
            <a:r>
              <a:rPr sz="1600" b="0" i="1">
                <a:solidFill>
                  <a:srgbClr val="152D42"/>
                </a:solidFill>
              </a:rPr>
              <a:t>T</a:t>
            </a:r>
            <a:r>
              <a:rPr sz="1600" b="0" i="0">
                <a:solidFill>
                  <a:srgbClr val="152D42"/>
                </a:solidFill>
              </a:rPr>
              <a:t> = </a:t>
            </a:r>
            <a:r>
              <a:rPr sz="1600" b="0" i="1">
                <a:solidFill>
                  <a:srgbClr val="152D42"/>
                </a:solidFill>
              </a:rPr>
              <a:t>kt</a:t>
            </a:r>
            <a:r>
              <a:rPr sz="1600" b="0" i="0">
                <a:solidFill>
                  <a:srgbClr val="152D42"/>
                </a:solidFill>
              </a:rPr>
              <a:t> + </a:t>
            </a:r>
            <a:r>
              <a:rPr sz="1600" b="0" i="1">
                <a:solidFill>
                  <a:srgbClr val="152D42"/>
                </a:solidFill>
              </a:rPr>
              <a:t>b</a:t>
            </a:r>
            <a:r>
              <a:rPr sz="1600" b="0" i="0">
                <a:solidFill>
                  <a:srgbClr val="152D42"/>
                </a:solidFill>
              </a:rPr>
              <a:t> two ways (61 points, synthetic).</a:t>
            </a:r>
          </a:p>
        </p:txBody>
      </p:sp>
      <p:graphicFrame>
        <p:nvGraphicFramePr>
          <p:cNvPr id="5" name="table raw"/>
          <p:cNvGraphicFramePr>
            <a:graphicFrameLocks noGrp="1"/>
          </p:cNvGraphicFramePr>
          <p:nvPr/>
        </p:nvGraphicFramePr>
        <p:xfrm>
          <a:off x="612648" y="2103120"/>
          <a:ext cx="7040880" cy="1152144"/>
        </p:xfrm>
        <a:graphic>
          <a:graphicData uri="http://schemas.openxmlformats.org/drawingml/2006/table">
            <a:tbl>
              <a:tblPr firstRow="1">
                <a:tableStyleId>{5C22544A-7EE6-4342-B048-85BDC9FD1C3A}</a:tableStyleId>
              </a:tblPr>
              <a:tblGrid>
                <a:gridCol w="128016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r>
                        <a:rPr sz="1400" b="1" i="0">
                          <a:solidFill>
                            <a:srgbClr val="FFFFFF"/>
                          </a:solidFill>
                        </a:rPr>
                        <a:t>Columns</a:t>
                      </a:r>
                    </a:p>
                  </a:txBody>
                  <a:tcPr marL="73152" marR="73152" marT="27432" marB="27432" anchor="ctr">
                    <a:solidFill>
                      <a:srgbClr val="152D42"/>
                    </a:solidFill>
                  </a:tcPr>
                </a:tc>
                <a:tc>
                  <a:txBody>
                    <a:bodyPr/>
                    <a:lstStyle/>
                    <a:p>
                      <a:r>
                        <a:rPr sz="1400" b="1" i="0">
                          <a:solidFill>
                            <a:srgbClr val="FFFFFF"/>
                          </a:solidFill>
                        </a:rPr>
                        <a:t>Route</a:t>
                      </a:r>
                    </a:p>
                  </a:txBody>
                  <a:tcPr marL="73152" marR="73152" marT="27432" marB="27432" anchor="ctr">
                    <a:solidFill>
                      <a:srgbClr val="152D42"/>
                    </a:solidFill>
                  </a:tcPr>
                </a:tc>
                <a:tc>
                  <a:txBody>
                    <a:bodyPr/>
                    <a:lstStyle/>
                    <a:p>
                      <a:r>
                        <a:rPr sz="1400" b="1" i="0">
                          <a:solidFill>
                            <a:srgbClr val="FFFFFF"/>
                          </a:solidFill>
                        </a:rPr>
                        <a:t>Slope (K/min)</a:t>
                      </a:r>
                    </a:p>
                  </a:txBody>
                  <a:tcPr marL="73152" marR="73152" marT="27432" marB="27432" anchor="ctr">
                    <a:solidFill>
                      <a:srgbClr val="152D42"/>
                    </a:solidFill>
                  </a:tcPr>
                </a:tc>
                <a:tc>
                  <a:txBody>
                    <a:bodyPr/>
                    <a:lstStyle/>
                    <a:p>
                      <a:r>
                        <a:rPr sz="1400" b="1" i="0">
                          <a:solidFill>
                            <a:srgbClr val="FFFFFF"/>
                          </a:solidFill>
                        </a:rPr>
                        <a:t>Rel. error</a:t>
                      </a:r>
                    </a:p>
                  </a:txBody>
                  <a:tcPr marL="73152" marR="73152" marT="27432" marB="27432" anchor="ctr">
                    <a:solidFill>
                      <a:srgbClr val="152D42"/>
                    </a:solidFill>
                  </a:tcPr>
                </a:tc>
                <a:extLst>
                  <a:ext uri="{0D108BD9-81ED-4DB2-BD59-A6C34878D82A}">
                    <a16:rowId xmlns:a16="http://schemas.microsoft.com/office/drawing/2014/main" val="10000"/>
                  </a:ext>
                </a:extLst>
              </a:tr>
              <a:tr h="384048">
                <a:tc>
                  <a:txBody>
                    <a:bodyPr/>
                    <a:lstStyle/>
                    <a:p>
                      <a:r>
                        <a:rPr sz="1400" b="0" i="0">
                          <a:solidFill>
                            <a:srgbClr val="152D42"/>
                          </a:solidFill>
                        </a:rPr>
                        <a:t>t, 1</a:t>
                      </a:r>
                    </a:p>
                  </a:txBody>
                  <a:tcPr marL="73152" marR="73152" marT="27432" marB="27432" anchor="ctr">
                    <a:solidFill>
                      <a:srgbClr val="FFFFFF"/>
                    </a:solidFill>
                  </a:tcPr>
                </a:tc>
                <a:tc>
                  <a:txBody>
                    <a:bodyPr/>
                    <a:lstStyle/>
                    <a:p>
                      <a:r>
                        <a:rPr sz="1400" b="0" i="0">
                          <a:solidFill>
                            <a:srgbClr val="152D42"/>
                          </a:solidFill>
                        </a:rPr>
                        <a:t>normal equations</a:t>
                      </a:r>
                    </a:p>
                  </a:txBody>
                  <a:tcPr marL="73152" marR="73152" marT="27432" marB="27432" anchor="ctr">
                    <a:solidFill>
                      <a:srgbClr val="FFFFFF"/>
                    </a:solidFill>
                  </a:tcPr>
                </a:tc>
                <a:tc>
                  <a:txBody>
                    <a:bodyPr/>
                    <a:lstStyle/>
                    <a:p>
                      <a:r>
                        <a:rPr sz="1400" b="0" i="0">
                          <a:solidFill>
                            <a:srgbClr val="152D42"/>
                          </a:solidFill>
                        </a:rPr>
                        <a:t>0.019982</a:t>
                      </a:r>
                    </a:p>
                  </a:txBody>
                  <a:tcPr marL="73152" marR="73152" marT="27432" marB="27432" anchor="ctr">
                    <a:solidFill>
                      <a:srgbClr val="FFFFFF"/>
                    </a:solidFill>
                  </a:tcPr>
                </a:tc>
                <a:tc>
                  <a:txBody>
                    <a:bodyPr/>
                    <a:lstStyle/>
                    <a:p>
                      <a:r>
                        <a:rPr sz="1400" b="0" i="0">
                          <a:solidFill>
                            <a:srgbClr val="152D42"/>
                          </a:solidFill>
                        </a:rPr>
                        <a:t>2 × 10⁻⁴</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r>
                        <a:rPr sz="1400" b="0" i="0">
                          <a:solidFill>
                            <a:srgbClr val="A31F34"/>
                          </a:solidFill>
                        </a:rPr>
                        <a:t>t, 1</a:t>
                      </a:r>
                    </a:p>
                  </a:txBody>
                  <a:tcPr marL="73152" marR="73152" marT="27432" marB="27432" anchor="ctr">
                    <a:solidFill>
                      <a:srgbClr val="F5F7F9"/>
                    </a:solidFill>
                  </a:tcPr>
                </a:tc>
                <a:tc>
                  <a:txBody>
                    <a:bodyPr/>
                    <a:lstStyle/>
                    <a:p>
                      <a:r>
                        <a:rPr sz="1400" b="0" i="0">
                          <a:solidFill>
                            <a:srgbClr val="A31F34"/>
                          </a:solidFill>
                        </a:rPr>
                        <a:t>lstsq, rcond=None</a:t>
                      </a:r>
                    </a:p>
                  </a:txBody>
                  <a:tcPr marL="73152" marR="73152" marT="27432" marB="27432" anchor="ctr">
                    <a:solidFill>
                      <a:srgbClr val="F5F7F9"/>
                    </a:solidFill>
                  </a:tcPr>
                </a:tc>
                <a:tc>
                  <a:txBody>
                    <a:bodyPr/>
                    <a:lstStyle/>
                    <a:p>
                      <a:r>
                        <a:rPr sz="1400" b="0" i="0">
                          <a:solidFill>
                            <a:srgbClr val="A31F34"/>
                          </a:solidFill>
                        </a:rPr>
                        <a:t>7.2 × 10⁻⁷</a:t>
                      </a:r>
                    </a:p>
                  </a:txBody>
                  <a:tcPr marL="73152" marR="73152" marT="27432" marB="27432" anchor="ctr">
                    <a:solidFill>
                      <a:srgbClr val="F5F7F9"/>
                    </a:solidFill>
                  </a:tcPr>
                </a:tc>
                <a:tc>
                  <a:txBody>
                    <a:bodyPr/>
                    <a:lstStyle/>
                    <a:p>
                      <a:r>
                        <a:rPr sz="1400" b="0" i="0">
                          <a:solidFill>
                            <a:srgbClr val="A31F34"/>
                          </a:solidFill>
                        </a:rPr>
                        <a:t>≈ 1 (wrong)</a:t>
                      </a:r>
                    </a:p>
                  </a:txBody>
                  <a:tcPr marL="73152" marR="73152" marT="27432" marB="27432" anchor="ctr">
                    <a:solidFill>
                      <a:srgbClr val="F5F7F9"/>
                    </a:solidFill>
                  </a:tcPr>
                </a:tc>
                <a:extLst>
                  <a:ext uri="{0D108BD9-81ED-4DB2-BD59-A6C34878D82A}">
                    <a16:rowId xmlns:a16="http://schemas.microsoft.com/office/drawing/2014/main" val="10002"/>
                  </a:ext>
                </a:extLst>
              </a:tr>
            </a:tbl>
          </a:graphicData>
        </a:graphic>
      </p:graphicFrame>
      <p:graphicFrame>
        <p:nvGraphicFramePr>
          <p:cNvPr id="6" name="b1_table shifted"/>
          <p:cNvGraphicFramePr>
            <a:graphicFrameLocks noGrp="1"/>
          </p:cNvGraphicFramePr>
          <p:nvPr/>
        </p:nvGraphicFramePr>
        <p:xfrm>
          <a:off x="612648" y="3749039"/>
          <a:ext cx="7040880" cy="1152144"/>
        </p:xfrm>
        <a:graphic>
          <a:graphicData uri="http://schemas.openxmlformats.org/drawingml/2006/table">
            <a:tbl>
              <a:tblPr firstRow="1">
                <a:tableStyleId>{5C22544A-7EE6-4342-B048-85BDC9FD1C3A}</a:tableStyleId>
              </a:tblPr>
              <a:tblGrid>
                <a:gridCol w="128016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r>
                        <a:rPr sz="1400" b="1" i="0">
                          <a:solidFill>
                            <a:srgbClr val="FFFFFF"/>
                          </a:solidFill>
                        </a:rPr>
                        <a:t>Columns</a:t>
                      </a:r>
                    </a:p>
                  </a:txBody>
                  <a:tcPr marL="73152" marR="73152" marT="27432" marB="27432" anchor="ctr">
                    <a:solidFill>
                      <a:srgbClr val="152D42"/>
                    </a:solidFill>
                  </a:tcPr>
                </a:tc>
                <a:tc>
                  <a:txBody>
                    <a:bodyPr/>
                    <a:lstStyle/>
                    <a:p>
                      <a:r>
                        <a:rPr sz="1400" b="1" i="0">
                          <a:solidFill>
                            <a:srgbClr val="FFFFFF"/>
                          </a:solidFill>
                        </a:rPr>
                        <a:t>Route</a:t>
                      </a:r>
                    </a:p>
                  </a:txBody>
                  <a:tcPr marL="73152" marR="73152" marT="27432" marB="27432" anchor="ctr">
                    <a:solidFill>
                      <a:srgbClr val="152D42"/>
                    </a:solidFill>
                  </a:tcPr>
                </a:tc>
                <a:tc>
                  <a:txBody>
                    <a:bodyPr/>
                    <a:lstStyle/>
                    <a:p>
                      <a:r>
                        <a:rPr sz="1400" b="1" i="0">
                          <a:solidFill>
                            <a:srgbClr val="FFFFFF"/>
                          </a:solidFill>
                        </a:rPr>
                        <a:t>Slope (K/min)</a:t>
                      </a:r>
                    </a:p>
                  </a:txBody>
                  <a:tcPr marL="73152" marR="73152" marT="27432" marB="27432" anchor="ctr">
                    <a:solidFill>
                      <a:srgbClr val="152D42"/>
                    </a:solidFill>
                  </a:tcPr>
                </a:tc>
                <a:tc>
                  <a:txBody>
                    <a:bodyPr/>
                    <a:lstStyle/>
                    <a:p>
                      <a:r>
                        <a:rPr sz="1400" b="1" i="0">
                          <a:solidFill>
                            <a:srgbClr val="FFFFFF"/>
                          </a:solidFill>
                        </a:rPr>
                        <a:t>Rel. error</a:t>
                      </a:r>
                    </a:p>
                  </a:txBody>
                  <a:tcPr marL="73152" marR="73152" marT="27432" marB="27432" anchor="ctr">
                    <a:solidFill>
                      <a:srgbClr val="152D42"/>
                    </a:solidFill>
                  </a:tcPr>
                </a:tc>
                <a:extLst>
                  <a:ext uri="{0D108BD9-81ED-4DB2-BD59-A6C34878D82A}">
                    <a16:rowId xmlns:a16="http://schemas.microsoft.com/office/drawing/2014/main" val="10000"/>
                  </a:ext>
                </a:extLst>
              </a:tr>
              <a:tr h="384048">
                <a:tc>
                  <a:txBody>
                    <a:bodyPr/>
                    <a:lstStyle/>
                    <a:p>
                      <a:r>
                        <a:rPr sz="1400" b="0" i="0">
                          <a:solidFill>
                            <a:srgbClr val="152D42"/>
                          </a:solidFill>
                        </a:rPr>
                        <a:t>t − t₀, 1</a:t>
                      </a:r>
                    </a:p>
                  </a:txBody>
                  <a:tcPr marL="73152" marR="73152" marT="27432" marB="27432" anchor="ctr">
                    <a:solidFill>
                      <a:srgbClr val="FFFFFF"/>
                    </a:solidFill>
                  </a:tcPr>
                </a:tc>
                <a:tc>
                  <a:txBody>
                    <a:bodyPr/>
                    <a:lstStyle/>
                    <a:p>
                      <a:r>
                        <a:rPr sz="1400" b="0" i="0">
                          <a:solidFill>
                            <a:srgbClr val="152D42"/>
                          </a:solidFill>
                        </a:rPr>
                        <a:t>normal equations</a:t>
                      </a:r>
                    </a:p>
                  </a:txBody>
                  <a:tcPr marL="73152" marR="73152" marT="27432" marB="27432" anchor="ctr">
                    <a:solidFill>
                      <a:srgbClr val="FFFFFF"/>
                    </a:solidFill>
                  </a:tcPr>
                </a:tc>
                <a:tc>
                  <a:txBody>
                    <a:bodyPr/>
                    <a:lstStyle/>
                    <a:p>
                      <a:r>
                        <a:rPr sz="1400" b="0" i="0">
                          <a:solidFill>
                            <a:srgbClr val="152D42"/>
                          </a:solidFill>
                        </a:rPr>
                        <a:t>0.019978</a:t>
                      </a:r>
                    </a:p>
                  </a:txBody>
                  <a:tcPr marL="73152" marR="73152" marT="27432" marB="27432" anchor="ctr">
                    <a:solidFill>
                      <a:srgbClr val="FFFFFF"/>
                    </a:solidFill>
                  </a:tcPr>
                </a:tc>
                <a:tc>
                  <a:txBody>
                    <a:bodyPr/>
                    <a:lstStyle/>
                    <a:p>
                      <a:r>
                        <a:rPr sz="1400" b="0" i="0">
                          <a:solidFill>
                            <a:srgbClr val="152D42"/>
                          </a:solidFill>
                        </a:rPr>
                        <a:t>1 × 10⁻¹⁴</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r>
                        <a:rPr sz="1400" b="0" i="0">
                          <a:solidFill>
                            <a:srgbClr val="152D42"/>
                          </a:solidFill>
                        </a:rPr>
                        <a:t>t − t₀, 1</a:t>
                      </a:r>
                    </a:p>
                  </a:txBody>
                  <a:tcPr marL="73152" marR="73152" marT="27432" marB="27432" anchor="ctr">
                    <a:solidFill>
                      <a:srgbClr val="F5F7F9"/>
                    </a:solidFill>
                  </a:tcPr>
                </a:tc>
                <a:tc>
                  <a:txBody>
                    <a:bodyPr/>
                    <a:lstStyle/>
                    <a:p>
                      <a:r>
                        <a:rPr sz="1400" b="0" i="0">
                          <a:solidFill>
                            <a:srgbClr val="152D42"/>
                          </a:solidFill>
                        </a:rPr>
                        <a:t>lstsq, rcond=None</a:t>
                      </a:r>
                    </a:p>
                  </a:txBody>
                  <a:tcPr marL="73152" marR="73152" marT="27432" marB="27432" anchor="ctr">
                    <a:solidFill>
                      <a:srgbClr val="F5F7F9"/>
                    </a:solidFill>
                  </a:tcPr>
                </a:tc>
                <a:tc>
                  <a:txBody>
                    <a:bodyPr/>
                    <a:lstStyle/>
                    <a:p>
                      <a:r>
                        <a:rPr sz="1400" b="0" i="0">
                          <a:solidFill>
                            <a:srgbClr val="152D42"/>
                          </a:solidFill>
                        </a:rPr>
                        <a:t>0.019978</a:t>
                      </a:r>
                    </a:p>
                  </a:txBody>
                  <a:tcPr marL="73152" marR="73152" marT="27432" marB="27432" anchor="ctr">
                    <a:solidFill>
                      <a:srgbClr val="F5F7F9"/>
                    </a:solidFill>
                  </a:tcPr>
                </a:tc>
                <a:tc>
                  <a:txBody>
                    <a:bodyPr/>
                    <a:lstStyle/>
                    <a:p>
                      <a:r>
                        <a:rPr sz="1400" b="0" i="0">
                          <a:solidFill>
                            <a:srgbClr val="152D42"/>
                          </a:solidFill>
                        </a:rPr>
                        <a:t>reference</a:t>
                      </a:r>
                    </a:p>
                  </a:txBody>
                  <a:tcPr marL="73152" marR="73152" marT="27432" marB="27432" anchor="ctr">
                    <a:solidFill>
                      <a:srgbClr val="F5F7F9"/>
                    </a:solidFill>
                  </a:tcPr>
                </a:tc>
                <a:extLst>
                  <a:ext uri="{0D108BD9-81ED-4DB2-BD59-A6C34878D82A}">
                    <a16:rowId xmlns:a16="http://schemas.microsoft.com/office/drawing/2014/main" val="10002"/>
                  </a:ext>
                </a:extLst>
              </a:tr>
            </a:tbl>
          </a:graphicData>
        </a:graphic>
      </p:graphicFrame>
      <p:sp>
        <p:nvSpPr>
          <p:cNvPr id="7" name="card cond"/>
          <p:cNvSpPr/>
          <p:nvPr/>
        </p:nvSpPr>
        <p:spPr>
          <a:xfrm>
            <a:off x="8229600" y="2103120"/>
            <a:ext cx="3355848" cy="310896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spcAft>
                <a:spcPts val="400"/>
              </a:spcAft>
            </a:pPr>
            <a:r>
              <a:rPr sz="1600" b="1" i="0">
                <a:solidFill>
                  <a:srgbClr val="152D42"/>
                </a:solidFill>
              </a:rPr>
              <a:t>cond(X)</a:t>
            </a:r>
          </a:p>
          <a:p>
            <a:pPr algn="l">
              <a:spcAft>
                <a:spcPts val="400"/>
              </a:spcAft>
            </a:pPr>
            <a:r>
              <a:rPr sz="1200" b="0" i="0">
                <a:solidFill>
                  <a:srgbClr val="506476"/>
                </a:solidFill>
              </a:rPr>
              <a:t>= √(λmax/λmin) of XᵀX; 10.4 for the five points</a:t>
            </a:r>
          </a:p>
          <a:p>
            <a:pPr algn="l">
              <a:spcAft>
                <a:spcPts val="400"/>
              </a:spcAft>
            </a:pPr>
            <a:r>
              <a:rPr sz="1400" b="0" i="0">
                <a:solidFill>
                  <a:srgbClr val="506476"/>
                </a:solidFill>
              </a:rPr>
              <a:t>raw t</a:t>
            </a:r>
          </a:p>
          <a:p>
            <a:pPr algn="l">
              <a:spcAft>
                <a:spcPts val="400"/>
              </a:spcAft>
            </a:pPr>
            <a:r>
              <a:rPr sz="2800" b="1" i="0">
                <a:solidFill>
                  <a:srgbClr val="A31F34"/>
                </a:solidFill>
              </a:rPr>
              <a:t>3.0 × 10¹⁵</a:t>
            </a:r>
          </a:p>
        </p:txBody>
      </p:sp>
      <p:sp>
        <p:nvSpPr>
          <p:cNvPr id="8" name="b1_card cond shifted"/>
          <p:cNvSpPr/>
          <p:nvPr/>
        </p:nvSpPr>
        <p:spPr>
          <a:xfrm>
            <a:off x="8229600" y="3749039"/>
            <a:ext cx="3355848" cy="14630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spcAft>
                <a:spcPts val="400"/>
              </a:spcAft>
            </a:pPr>
            <a:r>
              <a:rPr sz="1400" b="0" i="0">
                <a:solidFill>
                  <a:srgbClr val="506476"/>
                </a:solidFill>
              </a:rPr>
              <a:t>t − t₀</a:t>
            </a:r>
          </a:p>
          <a:p>
            <a:pPr algn="l">
              <a:spcAft>
                <a:spcPts val="400"/>
              </a:spcAft>
            </a:pPr>
            <a:r>
              <a:rPr sz="2800" b="1" i="0">
                <a:solidFill>
                  <a:srgbClr val="152D42"/>
                </a:solidFill>
              </a:rPr>
              <a:t>4.1 × 10³</a:t>
            </a:r>
          </a:p>
        </p:txBody>
      </p:sp>
      <p:sp>
        <p:nvSpPr>
          <p:cNvPr id="9" name="b2_key idea"/>
          <p:cNvSpPr/>
          <p:nvPr/>
        </p:nvSpPr>
        <p:spPr>
          <a:xfrm>
            <a:off x="612648" y="5394960"/>
            <a:ext cx="10972800" cy="548640"/>
          </a:xfrm>
          <a:prstGeom prst="roundRect">
            <a:avLst>
              <a:gd name="adj" fmla="val 5000"/>
            </a:avLst>
          </a:prstGeom>
          <a:solidFill>
            <a:srgbClr val="F5F7F9"/>
          </a:solidFill>
          <a:ln w="12700">
            <a:solidFill>
              <a:srgbClr val="152D42"/>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400"/>
              </a:spcAft>
            </a:pPr>
            <a:r>
              <a:rPr sz="1200" b="1" i="0">
                <a:solidFill>
                  <a:srgbClr val="A31F34"/>
                </a:solidFill>
              </a:rPr>
              <a:t>KEY IDEA   </a:t>
            </a:r>
            <a:r>
              <a:rPr sz="1500" b="0" i="0">
                <a:solidFill>
                  <a:srgbClr val="152D42"/>
                </a:solidFill>
              </a:rPr>
              <a:t>Subtract the first time stamp before fitting: one line of code, and both routes agree to 14 digits.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Why the routes differ, and what to write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13</a:t>
            </a:fld>
            <a:endParaRPr lang="en-US"/>
          </a:p>
        </p:txBody>
      </p:sp>
      <p:sp>
        <p:nvSpPr>
          <p:cNvPr id="4" name="number 1"/>
          <p:cNvSpPr/>
          <p:nvPr/>
        </p:nvSpPr>
        <p:spPr>
          <a:xfrm>
            <a:off x="612648" y="137160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1</a:t>
            </a:r>
          </a:p>
        </p:txBody>
      </p:sp>
      <p:sp>
        <p:nvSpPr>
          <p:cNvPr id="5" name="point 1"/>
          <p:cNvSpPr txBox="1"/>
          <p:nvPr/>
        </p:nvSpPr>
        <p:spPr>
          <a:xfrm>
            <a:off x="1188720" y="1325880"/>
            <a:ext cx="4937760" cy="1234440"/>
          </a:xfrm>
          <a:prstGeom prst="rect">
            <a:avLst/>
          </a:prstGeom>
          <a:noFill/>
        </p:spPr>
        <p:txBody>
          <a:bodyPr wrap="square" lIns="0" tIns="0" rIns="0" bIns="0" anchor="t">
            <a:spAutoFit/>
          </a:bodyPr>
          <a:lstStyle/>
          <a:p>
            <a:pPr algn="l">
              <a:spcAft>
                <a:spcPts val="800"/>
              </a:spcAft>
            </a:pPr>
            <a:r>
              <a:rPr sz="1500" b="0" i="0">
                <a:solidFill>
                  <a:srgbClr val="152D42"/>
                </a:solidFill>
              </a:rPr>
              <a:t>Scale. A column near 1.79 × 10</a:t>
            </a:r>
            <a:r>
              <a:rPr sz="1500" b="0" i="0" baseline="30000">
                <a:solidFill>
                  <a:srgbClr val="152D42"/>
                </a:solidFill>
              </a:rPr>
              <a:t>9</a:t>
            </a:r>
            <a:r>
              <a:rPr sz="1500" b="0" i="0">
                <a:solidFill>
                  <a:srgbClr val="152D42"/>
                </a:solidFill>
              </a:rPr>
              <a:t> sits next to a column of ones. With both columns scaled to length 1, cond(X) ≈ 3.4 × 10</a:t>
            </a:r>
            <a:r>
              <a:rPr sz="1500" b="0" i="0" baseline="30000">
                <a:solidFill>
                  <a:srgbClr val="152D42"/>
                </a:solidFill>
              </a:rPr>
              <a:t>6</a:t>
            </a:r>
            <a:r>
              <a:rPr sz="1500" b="0" i="0">
                <a:solidFill>
                  <a:srgbClr val="152D42"/>
                </a:solidFill>
              </a:rPr>
              <a:t>.</a:t>
            </a:r>
          </a:p>
        </p:txBody>
      </p:sp>
      <p:sp>
        <p:nvSpPr>
          <p:cNvPr id="6" name="b1_number 2"/>
          <p:cNvSpPr/>
          <p:nvPr/>
        </p:nvSpPr>
        <p:spPr>
          <a:xfrm>
            <a:off x="612648" y="269748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2</a:t>
            </a:r>
          </a:p>
        </p:txBody>
      </p:sp>
      <p:sp>
        <p:nvSpPr>
          <p:cNvPr id="7" name="b1_point 2"/>
          <p:cNvSpPr txBox="1"/>
          <p:nvPr/>
        </p:nvSpPr>
        <p:spPr>
          <a:xfrm>
            <a:off x="1188720" y="2651760"/>
            <a:ext cx="4937760" cy="1234440"/>
          </a:xfrm>
          <a:prstGeom prst="rect">
            <a:avLst/>
          </a:prstGeom>
          <a:noFill/>
        </p:spPr>
        <p:txBody>
          <a:bodyPr wrap="square" lIns="0" tIns="0" rIns="0" bIns="0" anchor="t">
            <a:spAutoFit/>
          </a:bodyPr>
          <a:lstStyle/>
          <a:p>
            <a:pPr algn="l">
              <a:spcAft>
                <a:spcPts val="800"/>
              </a:spcAft>
            </a:pPr>
            <a:r>
              <a:rPr sz="1500" b="0" i="0">
                <a:solidFill>
                  <a:srgbClr val="152D42"/>
                </a:solidFill>
              </a:rPr>
              <a:t>Squaring. With the columns scaled, X</a:t>
            </a:r>
            <a:r>
              <a:rPr sz="1500" b="0" i="0" baseline="30000">
                <a:solidFill>
                  <a:srgbClr val="152D42"/>
                </a:solidFill>
              </a:rPr>
              <a:t>T</a:t>
            </a:r>
            <a:r>
              <a:rPr sz="1500" b="0" i="0">
                <a:solidFill>
                  <a:srgbClr val="152D42"/>
                </a:solidFill>
              </a:rPr>
              <a:t>X has condition number ≈ (3.4 × 10</a:t>
            </a:r>
            <a:r>
              <a:rPr sz="1500" b="0" i="0" baseline="30000">
                <a:solidFill>
                  <a:srgbClr val="152D42"/>
                </a:solidFill>
              </a:rPr>
              <a:t>6</a:t>
            </a:r>
            <a:r>
              <a:rPr sz="1500" b="0" i="0">
                <a:solidFill>
                  <a:srgbClr val="152D42"/>
                </a:solidFill>
              </a:rPr>
              <a:t>)</a:t>
            </a:r>
            <a:r>
              <a:rPr sz="1500" b="0" i="0" baseline="30000">
                <a:solidFill>
                  <a:srgbClr val="152D42"/>
                </a:solidFill>
              </a:rPr>
              <a:t>2</a:t>
            </a:r>
            <a:r>
              <a:rPr sz="1500" b="0" i="0">
                <a:solidFill>
                  <a:srgbClr val="152D42"/>
                </a:solidFill>
              </a:rPr>
              <a:t> ≈ 10</a:t>
            </a:r>
            <a:r>
              <a:rPr sz="1500" b="0" i="0" baseline="30000">
                <a:solidFill>
                  <a:srgbClr val="152D42"/>
                </a:solidFill>
              </a:rPr>
              <a:t>13</a:t>
            </a:r>
            <a:r>
              <a:rPr sz="1500" b="0" i="0">
                <a:solidFill>
                  <a:srgbClr val="152D42"/>
                </a:solidFill>
              </a:rPr>
              <a:t>: the normal equations keep about 4 digits of 16.</a:t>
            </a:r>
          </a:p>
        </p:txBody>
      </p:sp>
      <p:sp>
        <p:nvSpPr>
          <p:cNvPr id="8" name="b2_number 3"/>
          <p:cNvSpPr/>
          <p:nvPr/>
        </p:nvSpPr>
        <p:spPr>
          <a:xfrm>
            <a:off x="612648" y="402336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3</a:t>
            </a:r>
          </a:p>
        </p:txBody>
      </p:sp>
      <p:sp>
        <p:nvSpPr>
          <p:cNvPr id="9" name="b2_point 3"/>
          <p:cNvSpPr txBox="1"/>
          <p:nvPr/>
        </p:nvSpPr>
        <p:spPr>
          <a:xfrm>
            <a:off x="1188720" y="3977639"/>
            <a:ext cx="4937760" cy="1234440"/>
          </a:xfrm>
          <a:prstGeom prst="rect">
            <a:avLst/>
          </a:prstGeom>
          <a:noFill/>
        </p:spPr>
        <p:txBody>
          <a:bodyPr wrap="square" lIns="0" tIns="0" rIns="0" bIns="0" anchor="t">
            <a:spAutoFit/>
          </a:bodyPr>
          <a:lstStyle/>
          <a:p>
            <a:pPr algn="l">
              <a:spcAft>
                <a:spcPts val="800"/>
              </a:spcAft>
            </a:pPr>
            <a:r>
              <a:rPr sz="1500" b="0" i="0">
                <a:solidFill>
                  <a:srgbClr val="152D42"/>
                </a:solidFill>
              </a:rPr>
              <a:t>Cut-off. lstsq (an SVD solver) ignores directions that X stretches by less than about 61 ε times its largest stretch. Here the ratio is 3 × 10</a:t>
            </a:r>
            <a:r>
              <a:rPr sz="1500" b="0" i="0" baseline="30000">
                <a:solidFill>
                  <a:srgbClr val="152D42"/>
                </a:solidFill>
              </a:rPr>
              <a:t>−16</a:t>
            </a:r>
            <a:r>
              <a:rPr sz="1500" b="0" i="0">
                <a:solidFill>
                  <a:srgbClr val="152D42"/>
                </a:solidFill>
              </a:rPr>
              <a:t>, so it fits as if X had rank one.</a:t>
            </a:r>
          </a:p>
        </p:txBody>
      </p:sp>
      <p:sp>
        <p:nvSpPr>
          <p:cNvPr id="10" name="b3_code Python"/>
          <p:cNvSpPr/>
          <p:nvPr/>
        </p:nvSpPr>
        <p:spPr>
          <a:xfrm>
            <a:off x="6400800" y="1325880"/>
            <a:ext cx="5184648" cy="14630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spcAft>
                <a:spcPts val="200"/>
              </a:spcAft>
            </a:pPr>
            <a:r>
              <a:rPr sz="1400" b="1" i="0">
                <a:solidFill>
                  <a:srgbClr val="506476"/>
                </a:solidFill>
              </a:rPr>
              <a:t>Python</a:t>
            </a:r>
          </a:p>
          <a:p>
            <a:pPr algn="l">
              <a:spcAft>
                <a:spcPts val="200"/>
              </a:spcAft>
            </a:pPr>
            <a:r>
              <a:rPr sz="1100" b="0" i="0">
                <a:solidFill>
                  <a:srgbClr val="152D42"/>
                </a:solidFill>
                <a:latin typeface="DejaVu Sans Mono"/>
              </a:rPr>
              <a:t>t = t - t[0]             </a:t>
            </a:r>
            <a:r>
              <a:rPr sz="1100" b="0" i="0">
                <a:solidFill>
                  <a:srgbClr val="506476"/>
                </a:solidFill>
                <a:latin typeface="DejaVu Sans Mono"/>
              </a:rPr>
              <a:t># shift the time stamps</a:t>
            </a:r>
          </a:p>
          <a:p>
            <a:pPr algn="l">
              <a:spcAft>
                <a:spcPts val="200"/>
              </a:spcAft>
            </a:pPr>
            <a:r>
              <a:rPr sz="1100" b="0" i="0">
                <a:solidFill>
                  <a:srgbClr val="152D42"/>
                </a:solidFill>
                <a:latin typeface="DejaVu Sans Mono"/>
              </a:rPr>
              <a:t>X = np.column_stack([t, np.ones_like(t)])</a:t>
            </a:r>
          </a:p>
          <a:p>
            <a:pPr algn="l">
              <a:spcAft>
                <a:spcPts val="200"/>
              </a:spcAft>
            </a:pPr>
            <a:r>
              <a:rPr sz="1100" b="0" i="0">
                <a:solidFill>
                  <a:srgbClr val="152D42"/>
                </a:solidFill>
                <a:latin typeface="DejaVu Sans Mono"/>
              </a:rPr>
              <a:t>k = np.linalg.lstsq(X, y, rcond=None)[0]  </a:t>
            </a:r>
            <a:r>
              <a:rPr sz="1100" b="0" i="0">
                <a:solidFill>
                  <a:srgbClr val="506476"/>
                </a:solidFill>
                <a:latin typeface="DejaVu Sans Mono"/>
              </a:rPr>
              <a:t># SVD</a:t>
            </a:r>
          </a:p>
        </p:txBody>
      </p:sp>
      <p:sp>
        <p:nvSpPr>
          <p:cNvPr id="11" name="b3_code MATLAB"/>
          <p:cNvSpPr/>
          <p:nvPr/>
        </p:nvSpPr>
        <p:spPr>
          <a:xfrm>
            <a:off x="6400800" y="3017520"/>
            <a:ext cx="5184648" cy="14630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spcAft>
                <a:spcPts val="200"/>
              </a:spcAft>
            </a:pPr>
            <a:r>
              <a:rPr sz="1400" b="1" i="0">
                <a:solidFill>
                  <a:srgbClr val="506476"/>
                </a:solidFill>
              </a:rPr>
              <a:t>MATLAB</a:t>
            </a:r>
          </a:p>
          <a:p>
            <a:pPr algn="l">
              <a:spcAft>
                <a:spcPts val="200"/>
              </a:spcAft>
            </a:pPr>
            <a:r>
              <a:rPr sz="1100" b="0" i="0">
                <a:solidFill>
                  <a:srgbClr val="152D42"/>
                </a:solidFill>
                <a:latin typeface="DejaVu Sans Mono"/>
              </a:rPr>
              <a:t>t = t - t(1);            </a:t>
            </a:r>
            <a:r>
              <a:rPr sz="1100" b="0" i="0">
                <a:solidFill>
                  <a:srgbClr val="506476"/>
                </a:solidFill>
                <a:latin typeface="DejaVu Sans Mono"/>
              </a:rPr>
              <a:t>% shift the time stamps</a:t>
            </a:r>
          </a:p>
          <a:p>
            <a:pPr algn="l">
              <a:spcAft>
                <a:spcPts val="200"/>
              </a:spcAft>
            </a:pPr>
            <a:r>
              <a:rPr sz="1100" b="0" i="0">
                <a:solidFill>
                  <a:srgbClr val="152D42"/>
                </a:solidFill>
                <a:latin typeface="DejaVu Sans Mono"/>
              </a:rPr>
              <a:t>X = [t, ones(size(t))];</a:t>
            </a:r>
          </a:p>
          <a:p>
            <a:pPr algn="l">
              <a:spcAft>
                <a:spcPts val="200"/>
              </a:spcAft>
            </a:pPr>
            <a:r>
              <a:rPr sz="1100" b="0" i="0">
                <a:solidFill>
                  <a:srgbClr val="152D42"/>
                </a:solidFill>
                <a:latin typeface="DejaVu Sans Mono"/>
              </a:rPr>
              <a:t>k = X \ y;               </a:t>
            </a:r>
            <a:r>
              <a:rPr sz="1100" b="0" i="0">
                <a:solidFill>
                  <a:srgbClr val="506476"/>
                </a:solidFill>
                <a:latin typeface="DejaVu Sans Mono"/>
              </a:rPr>
              <a:t>% least squares</a:t>
            </a:r>
          </a:p>
        </p:txBody>
      </p:sp>
      <p:sp>
        <p:nvSpPr>
          <p:cNvPr id="12" name="b3_key idea"/>
          <p:cNvSpPr/>
          <p:nvPr/>
        </p:nvSpPr>
        <p:spPr>
          <a:xfrm>
            <a:off x="6400800" y="4709160"/>
            <a:ext cx="5184648" cy="1097280"/>
          </a:xfrm>
          <a:prstGeom prst="roundRect">
            <a:avLst>
              <a:gd name="adj" fmla="val 5000"/>
            </a:avLst>
          </a:prstGeom>
          <a:solidFill>
            <a:srgbClr val="F5F7F9"/>
          </a:solidFill>
          <a:ln w="12700">
            <a:solidFill>
              <a:srgbClr val="152D42"/>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400"/>
              </a:spcAft>
            </a:pPr>
            <a:r>
              <a:rPr sz="1200" b="1" i="0">
                <a:solidFill>
                  <a:srgbClr val="A31F34"/>
                </a:solidFill>
              </a:rPr>
              <a:t>KEY IDEA   </a:t>
            </a:r>
            <a:r>
              <a:rPr sz="1500" b="0" i="0">
                <a:solidFill>
                  <a:srgbClr val="152D42"/>
                </a:solidFill>
              </a:rPr>
              <a:t>Shift the columns, and scale them if their sizes differ. Then solve (normal equations, lstsq or backslash) without forming inv(XᵀX).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Experiment: a glider on springs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14</a:t>
            </a:fld>
            <a:endParaRPr lang="en-US"/>
          </a:p>
        </p:txBody>
      </p:sp>
      <p:sp>
        <p:nvSpPr>
          <p:cNvPr id="4" name="panel"/>
          <p:cNvSpPr/>
          <p:nvPr/>
        </p:nvSpPr>
        <p:spPr>
          <a:xfrm>
            <a:off x="612648" y="1234440"/>
            <a:ext cx="10972800" cy="2103120"/>
          </a:xfrm>
          <a:prstGeom prst="roundRect">
            <a:avLst>
              <a:gd name="adj" fmla="val 4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panel note"/>
          <p:cNvSpPr txBox="1"/>
          <p:nvPr/>
        </p:nvSpPr>
        <p:spPr>
          <a:xfrm>
            <a:off x="749808" y="1325880"/>
            <a:ext cx="1828800" cy="274320"/>
          </a:xfrm>
          <a:prstGeom prst="rect">
            <a:avLst/>
          </a:prstGeom>
          <a:noFill/>
        </p:spPr>
        <p:txBody>
          <a:bodyPr wrap="square" lIns="0" tIns="0" rIns="0" bIns="0" anchor="t">
            <a:spAutoFit/>
          </a:bodyPr>
          <a:lstStyle/>
          <a:p>
            <a:pPr algn="l">
              <a:spcAft>
                <a:spcPts val="800"/>
              </a:spcAft>
            </a:pPr>
            <a:r>
              <a:rPr sz="1100" b="0" i="0">
                <a:solidFill>
                  <a:srgbClr val="506476"/>
                </a:solidFill>
              </a:rPr>
              <a:t>slowed down 4×</a:t>
            </a:r>
          </a:p>
        </p:txBody>
      </p:sp>
      <p:sp>
        <p:nvSpPr>
          <p:cNvPr id="6" name="track"/>
          <p:cNvSpPr/>
          <p:nvPr/>
        </p:nvSpPr>
        <p:spPr>
          <a:xfrm>
            <a:off x="1408176" y="2788920"/>
            <a:ext cx="9381744" cy="109728"/>
          </a:xfrm>
          <a:prstGeom prst="rect">
            <a:avLst/>
          </a:prstGeom>
          <a:solidFill>
            <a:srgbClr val="C9D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all left"/>
          <p:cNvSpPr/>
          <p:nvPr/>
        </p:nvSpPr>
        <p:spPr>
          <a:xfrm>
            <a:off x="1408176" y="2011680"/>
            <a:ext cx="164592" cy="777240"/>
          </a:xfrm>
          <a:prstGeom prst="rect">
            <a:avLst/>
          </a:prstGeom>
          <a:solidFill>
            <a:srgbClr val="5064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all right"/>
          <p:cNvSpPr/>
          <p:nvPr/>
        </p:nvSpPr>
        <p:spPr>
          <a:xfrm>
            <a:off x="10625328" y="2011680"/>
            <a:ext cx="164592" cy="777240"/>
          </a:xfrm>
          <a:prstGeom prst="rect">
            <a:avLst/>
          </a:prstGeom>
          <a:solidFill>
            <a:srgbClr val="5064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ate -20"/>
          <p:cNvSpPr/>
          <p:nvPr/>
        </p:nvSpPr>
        <p:spPr>
          <a:xfrm rot="10800000">
            <a:off x="3968496" y="2084831"/>
            <a:ext cx="146304" cy="128016"/>
          </a:xfrm>
          <a:prstGeom prst="triangl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ate label -20"/>
          <p:cNvSpPr txBox="1"/>
          <p:nvPr/>
        </p:nvSpPr>
        <p:spPr>
          <a:xfrm>
            <a:off x="3721608" y="2944368"/>
            <a:ext cx="640080" cy="228600"/>
          </a:xfrm>
          <a:prstGeom prst="rect">
            <a:avLst/>
          </a:prstGeom>
          <a:noFill/>
        </p:spPr>
        <p:txBody>
          <a:bodyPr wrap="square" lIns="0" tIns="0" rIns="0" bIns="0" anchor="t">
            <a:spAutoFit/>
          </a:bodyPr>
          <a:lstStyle/>
          <a:p>
            <a:pPr algn="ctr">
              <a:spcAft>
                <a:spcPts val="800"/>
              </a:spcAft>
            </a:pPr>
            <a:r>
              <a:rPr sz="1100" b="0" i="0">
                <a:solidFill>
                  <a:srgbClr val="506476"/>
                </a:solidFill>
              </a:rPr>
              <a:t>−20</a:t>
            </a:r>
          </a:p>
        </p:txBody>
      </p:sp>
      <p:sp>
        <p:nvSpPr>
          <p:cNvPr id="11" name="gate -10"/>
          <p:cNvSpPr/>
          <p:nvPr/>
        </p:nvSpPr>
        <p:spPr>
          <a:xfrm rot="10800000">
            <a:off x="4791456" y="2084831"/>
            <a:ext cx="146304" cy="128016"/>
          </a:xfrm>
          <a:prstGeom prst="triangl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ate label -10"/>
          <p:cNvSpPr txBox="1"/>
          <p:nvPr/>
        </p:nvSpPr>
        <p:spPr>
          <a:xfrm>
            <a:off x="4544568" y="2944368"/>
            <a:ext cx="640080" cy="228600"/>
          </a:xfrm>
          <a:prstGeom prst="rect">
            <a:avLst/>
          </a:prstGeom>
          <a:noFill/>
        </p:spPr>
        <p:txBody>
          <a:bodyPr wrap="square" lIns="0" tIns="0" rIns="0" bIns="0" anchor="t">
            <a:spAutoFit/>
          </a:bodyPr>
          <a:lstStyle/>
          <a:p>
            <a:pPr algn="ctr">
              <a:spcAft>
                <a:spcPts val="800"/>
              </a:spcAft>
            </a:pPr>
            <a:r>
              <a:rPr sz="1100" b="0" i="0">
                <a:solidFill>
                  <a:srgbClr val="506476"/>
                </a:solidFill>
              </a:rPr>
              <a:t>−10</a:t>
            </a:r>
          </a:p>
        </p:txBody>
      </p:sp>
      <p:sp>
        <p:nvSpPr>
          <p:cNvPr id="13" name="gate 0"/>
          <p:cNvSpPr/>
          <p:nvPr/>
        </p:nvSpPr>
        <p:spPr>
          <a:xfrm rot="10800000">
            <a:off x="5614416" y="2084831"/>
            <a:ext cx="146304" cy="128016"/>
          </a:xfrm>
          <a:prstGeom prst="triangl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gate label 0"/>
          <p:cNvSpPr txBox="1"/>
          <p:nvPr/>
        </p:nvSpPr>
        <p:spPr>
          <a:xfrm>
            <a:off x="5367528" y="2944368"/>
            <a:ext cx="640080" cy="228600"/>
          </a:xfrm>
          <a:prstGeom prst="rect">
            <a:avLst/>
          </a:prstGeom>
          <a:noFill/>
        </p:spPr>
        <p:txBody>
          <a:bodyPr wrap="square" lIns="0" tIns="0" rIns="0" bIns="0" anchor="t">
            <a:spAutoFit/>
          </a:bodyPr>
          <a:lstStyle/>
          <a:p>
            <a:pPr algn="ctr">
              <a:spcAft>
                <a:spcPts val="800"/>
              </a:spcAft>
            </a:pPr>
            <a:r>
              <a:rPr sz="1100" b="0" i="0">
                <a:solidFill>
                  <a:srgbClr val="506476"/>
                </a:solidFill>
              </a:rPr>
              <a:t>0</a:t>
            </a:r>
          </a:p>
        </p:txBody>
      </p:sp>
      <p:sp>
        <p:nvSpPr>
          <p:cNvPr id="15" name="gate 10"/>
          <p:cNvSpPr/>
          <p:nvPr/>
        </p:nvSpPr>
        <p:spPr>
          <a:xfrm rot="10800000">
            <a:off x="6437375" y="2084831"/>
            <a:ext cx="146304" cy="128016"/>
          </a:xfrm>
          <a:prstGeom prst="triangl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ate label 10"/>
          <p:cNvSpPr txBox="1"/>
          <p:nvPr/>
        </p:nvSpPr>
        <p:spPr>
          <a:xfrm>
            <a:off x="6190488" y="2944368"/>
            <a:ext cx="640080" cy="228600"/>
          </a:xfrm>
          <a:prstGeom prst="rect">
            <a:avLst/>
          </a:prstGeom>
          <a:noFill/>
        </p:spPr>
        <p:txBody>
          <a:bodyPr wrap="square" lIns="0" tIns="0" rIns="0" bIns="0" anchor="t">
            <a:spAutoFit/>
          </a:bodyPr>
          <a:lstStyle/>
          <a:p>
            <a:pPr algn="ctr">
              <a:spcAft>
                <a:spcPts val="800"/>
              </a:spcAft>
            </a:pPr>
            <a:r>
              <a:rPr sz="1100" b="0" i="0">
                <a:solidFill>
                  <a:srgbClr val="506476"/>
                </a:solidFill>
              </a:rPr>
              <a:t>10</a:t>
            </a:r>
          </a:p>
        </p:txBody>
      </p:sp>
      <p:sp>
        <p:nvSpPr>
          <p:cNvPr id="17" name="gate 20"/>
          <p:cNvSpPr/>
          <p:nvPr/>
        </p:nvSpPr>
        <p:spPr>
          <a:xfrm rot="10800000">
            <a:off x="7260336" y="2084831"/>
            <a:ext cx="146304" cy="128016"/>
          </a:xfrm>
          <a:prstGeom prst="triangl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gate label 20"/>
          <p:cNvSpPr txBox="1"/>
          <p:nvPr/>
        </p:nvSpPr>
        <p:spPr>
          <a:xfrm>
            <a:off x="7013448" y="2944368"/>
            <a:ext cx="640080" cy="228600"/>
          </a:xfrm>
          <a:prstGeom prst="rect">
            <a:avLst/>
          </a:prstGeom>
          <a:noFill/>
        </p:spPr>
        <p:txBody>
          <a:bodyPr wrap="square" lIns="0" tIns="0" rIns="0" bIns="0" anchor="t">
            <a:spAutoFit/>
          </a:bodyPr>
          <a:lstStyle/>
          <a:p>
            <a:pPr algn="ctr">
              <a:spcAft>
                <a:spcPts val="800"/>
              </a:spcAft>
            </a:pPr>
            <a:r>
              <a:rPr sz="1100" b="0" i="0">
                <a:solidFill>
                  <a:srgbClr val="506476"/>
                </a:solidFill>
              </a:rPr>
              <a:t>20 cm</a:t>
            </a:r>
          </a:p>
        </p:txBody>
      </p:sp>
      <p:sp>
        <p:nvSpPr>
          <p:cNvPr id="19" name="gates label"/>
          <p:cNvSpPr txBox="1"/>
          <p:nvPr/>
        </p:nvSpPr>
        <p:spPr>
          <a:xfrm>
            <a:off x="4041648" y="1783080"/>
            <a:ext cx="3291839" cy="256032"/>
          </a:xfrm>
          <a:prstGeom prst="rect">
            <a:avLst/>
          </a:prstGeom>
          <a:noFill/>
        </p:spPr>
        <p:txBody>
          <a:bodyPr wrap="square" lIns="0" tIns="0" rIns="0" bIns="0" anchor="t">
            <a:spAutoFit/>
          </a:bodyPr>
          <a:lstStyle/>
          <a:p>
            <a:pPr algn="ctr">
              <a:spcAft>
                <a:spcPts val="800"/>
              </a:spcAft>
            </a:pPr>
            <a:r>
              <a:rPr sz="1100" b="0" i="0">
                <a:solidFill>
                  <a:srgbClr val="506476"/>
                </a:solidFill>
              </a:rPr>
              <a:t>photogates</a:t>
            </a:r>
          </a:p>
        </p:txBody>
      </p:sp>
      <p:sp>
        <p:nvSpPr>
          <p:cNvPr id="20" name="glider"/>
          <p:cNvSpPr/>
          <p:nvPr/>
        </p:nvSpPr>
        <p:spPr>
          <a:xfrm>
            <a:off x="3218687" y="2377440"/>
            <a:ext cx="822960" cy="411480"/>
          </a:xfrm>
          <a:prstGeom prst="roundRect">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000" b="1" i="0">
                <a:solidFill>
                  <a:srgbClr val="FFFFFF"/>
                </a:solidFill>
              </a:rPr>
              <a:t>0.50 kg</a:t>
            </a:r>
          </a:p>
        </p:txBody>
      </p:sp>
      <p:sp>
        <p:nvSpPr>
          <p:cNvPr id="21" name="coil L1"/>
          <p:cNvSpPr/>
          <p:nvPr/>
        </p:nvSpPr>
        <p:spPr>
          <a:xfrm>
            <a:off x="1676677"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il L2"/>
          <p:cNvSpPr/>
          <p:nvPr/>
        </p:nvSpPr>
        <p:spPr>
          <a:xfrm>
            <a:off x="1826306"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il L3"/>
          <p:cNvSpPr/>
          <p:nvPr/>
        </p:nvSpPr>
        <p:spPr>
          <a:xfrm>
            <a:off x="1975935"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oil L4"/>
          <p:cNvSpPr/>
          <p:nvPr/>
        </p:nvSpPr>
        <p:spPr>
          <a:xfrm>
            <a:off x="2125564"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il L5"/>
          <p:cNvSpPr/>
          <p:nvPr/>
        </p:nvSpPr>
        <p:spPr>
          <a:xfrm>
            <a:off x="2275193"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il L6"/>
          <p:cNvSpPr/>
          <p:nvPr/>
        </p:nvSpPr>
        <p:spPr>
          <a:xfrm>
            <a:off x="2424822"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oil L7"/>
          <p:cNvSpPr/>
          <p:nvPr/>
        </p:nvSpPr>
        <p:spPr>
          <a:xfrm>
            <a:off x="2574451"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il L8"/>
          <p:cNvSpPr/>
          <p:nvPr/>
        </p:nvSpPr>
        <p:spPr>
          <a:xfrm>
            <a:off x="2724080"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il L9"/>
          <p:cNvSpPr/>
          <p:nvPr/>
        </p:nvSpPr>
        <p:spPr>
          <a:xfrm>
            <a:off x="2873709"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oil L10"/>
          <p:cNvSpPr/>
          <p:nvPr/>
        </p:nvSpPr>
        <p:spPr>
          <a:xfrm>
            <a:off x="3023338"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oil R1"/>
          <p:cNvSpPr/>
          <p:nvPr/>
        </p:nvSpPr>
        <p:spPr>
          <a:xfrm>
            <a:off x="4594444"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oil R2"/>
          <p:cNvSpPr/>
          <p:nvPr/>
        </p:nvSpPr>
        <p:spPr>
          <a:xfrm>
            <a:off x="5192960"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oil R3"/>
          <p:cNvSpPr/>
          <p:nvPr/>
        </p:nvSpPr>
        <p:spPr>
          <a:xfrm>
            <a:off x="5791477"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oil R4"/>
          <p:cNvSpPr/>
          <p:nvPr/>
        </p:nvSpPr>
        <p:spPr>
          <a:xfrm>
            <a:off x="6389993"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oil R5"/>
          <p:cNvSpPr/>
          <p:nvPr/>
        </p:nvSpPr>
        <p:spPr>
          <a:xfrm>
            <a:off x="6988509"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oil R6"/>
          <p:cNvSpPr/>
          <p:nvPr/>
        </p:nvSpPr>
        <p:spPr>
          <a:xfrm>
            <a:off x="7587026"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oil R7"/>
          <p:cNvSpPr/>
          <p:nvPr/>
        </p:nvSpPr>
        <p:spPr>
          <a:xfrm>
            <a:off x="8185542"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oil R8"/>
          <p:cNvSpPr/>
          <p:nvPr/>
        </p:nvSpPr>
        <p:spPr>
          <a:xfrm>
            <a:off x="8784058"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oil R9"/>
          <p:cNvSpPr/>
          <p:nvPr/>
        </p:nvSpPr>
        <p:spPr>
          <a:xfrm>
            <a:off x="9382575"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oil R10"/>
          <p:cNvSpPr/>
          <p:nvPr/>
        </p:nvSpPr>
        <p:spPr>
          <a:xfrm>
            <a:off x="9981091" y="2427732"/>
            <a:ext cx="91440" cy="310896"/>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given"/>
          <p:cNvSpPr txBox="1"/>
          <p:nvPr/>
        </p:nvSpPr>
        <p:spPr>
          <a:xfrm>
            <a:off x="612648" y="3520440"/>
            <a:ext cx="5486400" cy="365760"/>
          </a:xfrm>
          <a:prstGeom prst="rect">
            <a:avLst/>
          </a:prstGeom>
          <a:noFill/>
        </p:spPr>
        <p:txBody>
          <a:bodyPr wrap="square" lIns="0" tIns="0" rIns="0" bIns="0" anchor="t">
            <a:spAutoFit/>
          </a:bodyPr>
          <a:lstStyle/>
          <a:p>
            <a:pPr algn="l">
              <a:spcAft>
                <a:spcPts val="800"/>
              </a:spcAft>
            </a:pPr>
            <a:r>
              <a:rPr sz="1500" b="1" i="0">
                <a:solidFill>
                  <a:srgbClr val="152D42"/>
                </a:solidFill>
              </a:rPr>
              <a:t>Given. </a:t>
            </a:r>
            <a:r>
              <a:rPr sz="1500" b="0" i="0">
                <a:solidFill>
                  <a:srgbClr val="152D42"/>
                </a:solidFill>
              </a:rPr>
              <a:t>Kinetic energy </a:t>
            </a:r>
            <a:r>
              <a:rPr sz="1500" b="0" i="1">
                <a:solidFill>
                  <a:srgbClr val="152D42"/>
                </a:solidFill>
              </a:rPr>
              <a:t>y</a:t>
            </a:r>
            <a:r>
              <a:rPr sz="1500" b="0" i="0">
                <a:solidFill>
                  <a:srgbClr val="152D42"/>
                </a:solidFill>
              </a:rPr>
              <a:t> at five positions </a:t>
            </a:r>
            <a:r>
              <a:rPr sz="1500" b="0" i="1">
                <a:solidFill>
                  <a:srgbClr val="152D42"/>
                </a:solidFill>
              </a:rPr>
              <a:t>x</a:t>
            </a:r>
            <a:r>
              <a:rPr sz="1500" b="0" i="0">
                <a:solidFill>
                  <a:srgbClr val="152D42"/>
                </a:solidFill>
              </a:rPr>
              <a:t>:</a:t>
            </a:r>
          </a:p>
        </p:txBody>
      </p:sp>
      <p:graphicFrame>
        <p:nvGraphicFramePr>
          <p:cNvPr id="42" name="table glider"/>
          <p:cNvGraphicFramePr>
            <a:graphicFrameLocks noGrp="1"/>
          </p:cNvGraphicFramePr>
          <p:nvPr/>
        </p:nvGraphicFramePr>
        <p:xfrm>
          <a:off x="612648" y="3977639"/>
          <a:ext cx="5394960" cy="658368"/>
        </p:xfrm>
        <a:graphic>
          <a:graphicData uri="http://schemas.openxmlformats.org/drawingml/2006/table">
            <a:tbl>
              <a:tblPr firstRow="1">
                <a:tableStyleId>{5C22544A-7EE6-4342-B048-85BDC9FD1C3A}</a:tableStyleId>
              </a:tblPr>
              <a:tblGrid>
                <a:gridCol w="12801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29184">
                <a:tc>
                  <a:txBody>
                    <a:bodyPr/>
                    <a:lstStyle/>
                    <a:p>
                      <a:r>
                        <a:rPr sz="1400" b="1" i="0">
                          <a:solidFill>
                            <a:srgbClr val="FFFFFF"/>
                          </a:solidFill>
                        </a:rPr>
                        <a:t>x (cm)</a:t>
                      </a:r>
                    </a:p>
                  </a:txBody>
                  <a:tcPr marL="73152" marR="73152" marT="27432" marB="27432" anchor="ctr">
                    <a:solidFill>
                      <a:srgbClr val="152D42"/>
                    </a:solidFill>
                  </a:tcPr>
                </a:tc>
                <a:tc>
                  <a:txBody>
                    <a:bodyPr/>
                    <a:lstStyle/>
                    <a:p>
                      <a:pPr algn="ctr"/>
                      <a:r>
                        <a:rPr sz="1400" b="1" i="0">
                          <a:solidFill>
                            <a:srgbClr val="FFFFFF"/>
                          </a:solidFill>
                        </a:rPr>
                        <a:t>−20</a:t>
                      </a:r>
                    </a:p>
                  </a:txBody>
                  <a:tcPr marL="73152" marR="73152" marT="27432" marB="27432" anchor="ctr">
                    <a:solidFill>
                      <a:srgbClr val="152D42"/>
                    </a:solidFill>
                  </a:tcPr>
                </a:tc>
                <a:tc>
                  <a:txBody>
                    <a:bodyPr/>
                    <a:lstStyle/>
                    <a:p>
                      <a:pPr algn="ctr"/>
                      <a:r>
                        <a:rPr sz="1400" b="1" i="0">
                          <a:solidFill>
                            <a:srgbClr val="FFFFFF"/>
                          </a:solidFill>
                        </a:rPr>
                        <a:t>−10</a:t>
                      </a:r>
                    </a:p>
                  </a:txBody>
                  <a:tcPr marL="73152" marR="73152" marT="27432" marB="27432" anchor="ctr">
                    <a:solidFill>
                      <a:srgbClr val="152D42"/>
                    </a:solidFill>
                  </a:tcPr>
                </a:tc>
                <a:tc>
                  <a:txBody>
                    <a:bodyPr/>
                    <a:lstStyle/>
                    <a:p>
                      <a:pPr algn="ctr"/>
                      <a:r>
                        <a:rPr sz="1400" b="1" i="0">
                          <a:solidFill>
                            <a:srgbClr val="FFFFFF"/>
                          </a:solidFill>
                        </a:rPr>
                        <a:t>0</a:t>
                      </a:r>
                    </a:p>
                  </a:txBody>
                  <a:tcPr marL="73152" marR="73152" marT="27432" marB="27432" anchor="ctr">
                    <a:solidFill>
                      <a:srgbClr val="152D42"/>
                    </a:solidFill>
                  </a:tcPr>
                </a:tc>
                <a:tc>
                  <a:txBody>
                    <a:bodyPr/>
                    <a:lstStyle/>
                    <a:p>
                      <a:pPr algn="ctr"/>
                      <a:r>
                        <a:rPr sz="1400" b="1" i="0">
                          <a:solidFill>
                            <a:srgbClr val="FFFFFF"/>
                          </a:solidFill>
                        </a:rPr>
                        <a:t>10</a:t>
                      </a:r>
                    </a:p>
                  </a:txBody>
                  <a:tcPr marL="73152" marR="73152" marT="27432" marB="27432" anchor="ctr">
                    <a:solidFill>
                      <a:srgbClr val="152D42"/>
                    </a:solidFill>
                  </a:tcPr>
                </a:tc>
                <a:tc>
                  <a:txBody>
                    <a:bodyPr/>
                    <a:lstStyle/>
                    <a:p>
                      <a:pPr algn="ctr"/>
                      <a:r>
                        <a:rPr sz="1400" b="1" i="0">
                          <a:solidFill>
                            <a:srgbClr val="FFFFFF"/>
                          </a:solidFill>
                        </a:rPr>
                        <a:t>20</a:t>
                      </a:r>
                    </a:p>
                  </a:txBody>
                  <a:tcPr marL="73152" marR="73152" marT="27432" marB="27432" anchor="ctr">
                    <a:solidFill>
                      <a:srgbClr val="152D42"/>
                    </a:solidFill>
                  </a:tcPr>
                </a:tc>
                <a:extLst>
                  <a:ext uri="{0D108BD9-81ED-4DB2-BD59-A6C34878D82A}">
                    <a16:rowId xmlns:a16="http://schemas.microsoft.com/office/drawing/2014/main" val="10000"/>
                  </a:ext>
                </a:extLst>
              </a:tr>
              <a:tr h="329184">
                <a:tc>
                  <a:txBody>
                    <a:bodyPr/>
                    <a:lstStyle/>
                    <a:p>
                      <a:r>
                        <a:rPr sz="1400" b="0" i="0">
                          <a:solidFill>
                            <a:srgbClr val="152D42"/>
                          </a:solidFill>
                        </a:rPr>
                        <a:t>y (mJ)</a:t>
                      </a:r>
                    </a:p>
                  </a:txBody>
                  <a:tcPr marL="73152" marR="73152" marT="27432" marB="27432" anchor="ctr">
                    <a:solidFill>
                      <a:srgbClr val="FFFFFF"/>
                    </a:solidFill>
                  </a:tcPr>
                </a:tc>
                <a:tc>
                  <a:txBody>
                    <a:bodyPr/>
                    <a:lstStyle/>
                    <a:p>
                      <a:pPr algn="ctr"/>
                      <a:r>
                        <a:rPr sz="1400" b="0" i="0">
                          <a:solidFill>
                            <a:srgbClr val="152D42"/>
                          </a:solidFill>
                        </a:rPr>
                        <a:t>274</a:t>
                      </a:r>
                    </a:p>
                  </a:txBody>
                  <a:tcPr marL="73152" marR="73152" marT="27432" marB="27432" anchor="ctr">
                    <a:solidFill>
                      <a:srgbClr val="FFFFFF"/>
                    </a:solidFill>
                  </a:tcPr>
                </a:tc>
                <a:tc>
                  <a:txBody>
                    <a:bodyPr/>
                    <a:lstStyle/>
                    <a:p>
                      <a:pPr algn="ctr"/>
                      <a:r>
                        <a:rPr sz="1400" b="0" i="0">
                          <a:solidFill>
                            <a:srgbClr val="152D42"/>
                          </a:solidFill>
                        </a:rPr>
                        <a:t>673</a:t>
                      </a:r>
                    </a:p>
                  </a:txBody>
                  <a:tcPr marL="73152" marR="73152" marT="27432" marB="27432" anchor="ctr">
                    <a:solidFill>
                      <a:srgbClr val="FFFFFF"/>
                    </a:solidFill>
                  </a:tcPr>
                </a:tc>
                <a:tc>
                  <a:txBody>
                    <a:bodyPr/>
                    <a:lstStyle/>
                    <a:p>
                      <a:pPr algn="ctr"/>
                      <a:r>
                        <a:rPr sz="1400" b="0" i="0">
                          <a:solidFill>
                            <a:srgbClr val="152D42"/>
                          </a:solidFill>
                        </a:rPr>
                        <a:t>887</a:t>
                      </a:r>
                    </a:p>
                  </a:txBody>
                  <a:tcPr marL="73152" marR="73152" marT="27432" marB="27432" anchor="ctr">
                    <a:solidFill>
                      <a:srgbClr val="FFFFFF"/>
                    </a:solidFill>
                  </a:tcPr>
                </a:tc>
                <a:tc>
                  <a:txBody>
                    <a:bodyPr/>
                    <a:lstStyle/>
                    <a:p>
                      <a:pPr algn="ctr"/>
                      <a:r>
                        <a:rPr sz="1400" b="0" i="0">
                          <a:solidFill>
                            <a:srgbClr val="152D42"/>
                          </a:solidFill>
                        </a:rPr>
                        <a:t>861</a:t>
                      </a:r>
                    </a:p>
                  </a:txBody>
                  <a:tcPr marL="73152" marR="73152" marT="27432" marB="27432" anchor="ctr">
                    <a:solidFill>
                      <a:srgbClr val="FFFFFF"/>
                    </a:solidFill>
                  </a:tcPr>
                </a:tc>
                <a:tc>
                  <a:txBody>
                    <a:bodyPr/>
                    <a:lstStyle/>
                    <a:p>
                      <a:pPr algn="ctr"/>
                      <a:r>
                        <a:rPr sz="1400" b="0" i="0">
                          <a:solidFill>
                            <a:srgbClr val="152D42"/>
                          </a:solidFill>
                        </a:rPr>
                        <a:t>680</a:t>
                      </a:r>
                    </a:p>
                  </a:txBody>
                  <a:tcPr marL="73152" marR="73152" marT="27432" marB="27432" anchor="ctr">
                    <a:solidFill>
                      <a:srgbClr val="FFFFFF"/>
                    </a:solidFill>
                  </a:tcPr>
                </a:tc>
                <a:extLst>
                  <a:ext uri="{0D108BD9-81ED-4DB2-BD59-A6C34878D82A}">
                    <a16:rowId xmlns:a16="http://schemas.microsoft.com/office/drawing/2014/main" val="10001"/>
                  </a:ext>
                </a:extLst>
              </a:tr>
            </a:tbl>
          </a:graphicData>
        </a:graphic>
      </p:graphicFrame>
      <p:pic>
        <p:nvPicPr>
          <p:cNvPr id="43" name="eq gl_energy" descr="y + \tfrac12\kappa\,(x - x_0)^2 = \tfrac12\kappa A^2 \quad\Rightarrow\quad y = \ell x^2 + m\,x + b"/>
          <p:cNvPicPr>
            <a:picLocks noChangeAspect="1"/>
          </p:cNvPicPr>
          <p:nvPr/>
        </p:nvPicPr>
        <p:blipFill>
          <a:blip r:embed="rId3"/>
          <a:stretch>
            <a:fillRect/>
          </a:stretch>
        </p:blipFill>
        <p:spPr>
          <a:xfrm>
            <a:off x="612648" y="4800600"/>
            <a:ext cx="5333512" cy="340705"/>
          </a:xfrm>
          <a:prstGeom prst="rect">
            <a:avLst/>
          </a:prstGeom>
        </p:spPr>
      </p:pic>
      <p:sp>
        <p:nvSpPr>
          <p:cNvPr id="44" name="find"/>
          <p:cNvSpPr txBox="1"/>
          <p:nvPr/>
        </p:nvSpPr>
        <p:spPr>
          <a:xfrm>
            <a:off x="612648" y="5349240"/>
            <a:ext cx="5486400" cy="548640"/>
          </a:xfrm>
          <a:prstGeom prst="rect">
            <a:avLst/>
          </a:prstGeom>
          <a:noFill/>
        </p:spPr>
        <p:txBody>
          <a:bodyPr wrap="square" lIns="0" tIns="0" rIns="0" bIns="0" anchor="t">
            <a:spAutoFit/>
          </a:bodyPr>
          <a:lstStyle/>
          <a:p>
            <a:pPr algn="l">
              <a:spcAft>
                <a:spcPts val="800"/>
              </a:spcAft>
            </a:pPr>
            <a:r>
              <a:rPr sz="1500" b="1" i="0">
                <a:solidFill>
                  <a:srgbClr val="152D42"/>
                </a:solidFill>
              </a:rPr>
              <a:t>Find. </a:t>
            </a:r>
            <a:r>
              <a:rPr sz="1500" b="0" i="0">
                <a:solidFill>
                  <a:srgbClr val="152D42"/>
                </a:solidFill>
              </a:rPr>
              <a:t>ℓ, </a:t>
            </a:r>
            <a:r>
              <a:rPr sz="1500" b="0" i="1">
                <a:solidFill>
                  <a:srgbClr val="152D42"/>
                </a:solidFill>
              </a:rPr>
              <a:t>m</a:t>
            </a:r>
            <a:r>
              <a:rPr sz="1500" b="0" i="0">
                <a:solidFill>
                  <a:srgbClr val="152D42"/>
                </a:solidFill>
              </a:rPr>
              <a:t>, </a:t>
            </a:r>
            <a:r>
              <a:rPr sz="1500" b="0" i="1">
                <a:solidFill>
                  <a:srgbClr val="152D42"/>
                </a:solidFill>
              </a:rPr>
              <a:t>b</a:t>
            </a:r>
            <a:r>
              <a:rPr sz="1500" b="0" i="0">
                <a:solidFill>
                  <a:srgbClr val="152D42"/>
                </a:solidFill>
              </a:rPr>
              <a:t>, then κ, </a:t>
            </a:r>
            <a:r>
              <a:rPr sz="1500" b="0" i="1">
                <a:solidFill>
                  <a:srgbClr val="152D42"/>
                </a:solidFill>
              </a:rPr>
              <a:t>x</a:t>
            </a:r>
            <a:r>
              <a:rPr sz="1500" b="0" i="0">
                <a:solidFill>
                  <a:srgbClr val="152D42"/>
                </a:solidFill>
              </a:rPr>
              <a:t>₀ and </a:t>
            </a:r>
            <a:r>
              <a:rPr sz="1500" b="0" i="1">
                <a:solidFill>
                  <a:srgbClr val="152D42"/>
                </a:solidFill>
              </a:rPr>
              <a:t>A</a:t>
            </a:r>
            <a:r>
              <a:rPr sz="1500" b="0" i="0">
                <a:solidFill>
                  <a:srgbClr val="152D42"/>
                </a:solidFill>
              </a:rPr>
              <a:t> (next slide).</a:t>
            </a:r>
          </a:p>
        </p:txBody>
      </p:sp>
      <p:graphicFrame>
        <p:nvGraphicFramePr>
          <p:cNvPr id="45" name="chart glider"/>
          <p:cNvGraphicFramePr>
            <a:graphicFrameLocks noGrp="1"/>
          </p:cNvGraphicFramePr>
          <p:nvPr/>
        </p:nvGraphicFramePr>
        <p:xfrm>
          <a:off x="6309360" y="3474720"/>
          <a:ext cx="5276088" cy="2377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6" name="b1_chart glider fit"/>
          <p:cNvGraphicFramePr>
            <a:graphicFrameLocks noGrp="1"/>
          </p:cNvGraphicFramePr>
          <p:nvPr/>
        </p:nvGraphicFramePr>
        <p:xfrm>
          <a:off x="6309360" y="3474720"/>
          <a:ext cx="5276088"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47" name="caption"/>
          <p:cNvSpPr txBox="1"/>
          <p:nvPr/>
        </p:nvSpPr>
        <p:spPr>
          <a:xfrm>
            <a:off x="6309360" y="5897880"/>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Points: the data of Example 4.1 (constructed: 20 N/m, x₀ = 5 cm, A = 30 cm, errors under 2%). Curve (click): the fit.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 0 L 0.405000 0.000000 E" pathEditMode="relative" rAng="0" ptsTypes="AA">
                                      <p:cBhvr>
                                        <p:cTn id="6" dur="2000" fill="hold"/>
                                        <p:tgtEl>
                                          <p:spTgt spid="20"/>
                                        </p:tgtEl>
                                        <p:attrNameLst>
                                          <p:attrName>ppt_x</p:attrName>
                                          <p:attrName>ppt_y</p:attrName>
                                        </p:attrNameLst>
                                      </p:cBhvr>
                                      <p:rCtr x="20250" y="0"/>
                                    </p:animMotion>
                                  </p:childTnLst>
                                </p:cTn>
                              </p:par>
                              <p:par>
                                <p:cTn id="7" presetID="0" presetClass="path" presetSubtype="0" repeatCount="indefinite" accel="50000" decel="50000" autoRev="1" fill="hold" grpId="0" nodeType="withEffect">
                                  <p:stCondLst>
                                    <p:cond delay="0"/>
                                  </p:stCondLst>
                                  <p:childTnLst>
                                    <p:animMotion origin="layout" path="M 0 0 L 0.036818 0.000000 E" pathEditMode="relative" rAng="0" ptsTypes="AA">
                                      <p:cBhvr>
                                        <p:cTn id="8" dur="2000" fill="hold"/>
                                        <p:tgtEl>
                                          <p:spTgt spid="21"/>
                                        </p:tgtEl>
                                        <p:attrNameLst>
                                          <p:attrName>ppt_x</p:attrName>
                                          <p:attrName>ppt_y</p:attrName>
                                        </p:attrNameLst>
                                      </p:cBhvr>
                                      <p:rCtr x="1840" y="0"/>
                                    </p:animMotion>
                                  </p:childTnLst>
                                </p:cTn>
                              </p:par>
                              <p:par>
                                <p:cTn id="9" presetID="0" presetClass="path" presetSubtype="0" repeatCount="indefinite" accel="50000" decel="50000" autoRev="1" fill="hold" grpId="0" nodeType="withEffect">
                                  <p:stCondLst>
                                    <p:cond delay="0"/>
                                  </p:stCondLst>
                                  <p:childTnLst>
                                    <p:animMotion origin="layout" path="M 0 0 L 0.073636 0.000000 E" pathEditMode="relative" rAng="0" ptsTypes="AA">
                                      <p:cBhvr>
                                        <p:cTn id="10" dur="2000" fill="hold"/>
                                        <p:tgtEl>
                                          <p:spTgt spid="22"/>
                                        </p:tgtEl>
                                        <p:attrNameLst>
                                          <p:attrName>ppt_x</p:attrName>
                                          <p:attrName>ppt_y</p:attrName>
                                        </p:attrNameLst>
                                      </p:cBhvr>
                                      <p:rCtr x="3681" y="0"/>
                                    </p:animMotion>
                                  </p:childTnLst>
                                </p:cTn>
                              </p:par>
                              <p:par>
                                <p:cTn id="11" presetID="0" presetClass="path" presetSubtype="0" repeatCount="indefinite" accel="50000" decel="50000" autoRev="1" fill="hold" grpId="0" nodeType="withEffect">
                                  <p:stCondLst>
                                    <p:cond delay="0"/>
                                  </p:stCondLst>
                                  <p:childTnLst>
                                    <p:animMotion origin="layout" path="M 0 0 L 0.110455 0.000000 E" pathEditMode="relative" rAng="0" ptsTypes="AA">
                                      <p:cBhvr>
                                        <p:cTn id="12" dur="2000" fill="hold"/>
                                        <p:tgtEl>
                                          <p:spTgt spid="23"/>
                                        </p:tgtEl>
                                        <p:attrNameLst>
                                          <p:attrName>ppt_x</p:attrName>
                                          <p:attrName>ppt_y</p:attrName>
                                        </p:attrNameLst>
                                      </p:cBhvr>
                                      <p:rCtr x="5522" y="0"/>
                                    </p:animMotion>
                                  </p:childTnLst>
                                </p:cTn>
                              </p:par>
                              <p:par>
                                <p:cTn id="13" presetID="0" presetClass="path" presetSubtype="0" repeatCount="indefinite" accel="50000" decel="50000" autoRev="1" fill="hold" grpId="0" nodeType="withEffect">
                                  <p:stCondLst>
                                    <p:cond delay="0"/>
                                  </p:stCondLst>
                                  <p:childTnLst>
                                    <p:animMotion origin="layout" path="M 0 0 L 0.147273 0.000000 E" pathEditMode="relative" rAng="0" ptsTypes="AA">
                                      <p:cBhvr>
                                        <p:cTn id="14" dur="2000" fill="hold"/>
                                        <p:tgtEl>
                                          <p:spTgt spid="24"/>
                                        </p:tgtEl>
                                        <p:attrNameLst>
                                          <p:attrName>ppt_x</p:attrName>
                                          <p:attrName>ppt_y</p:attrName>
                                        </p:attrNameLst>
                                      </p:cBhvr>
                                      <p:rCtr x="7363" y="0"/>
                                    </p:animMotion>
                                  </p:childTnLst>
                                </p:cTn>
                              </p:par>
                              <p:par>
                                <p:cTn id="15" presetID="0" presetClass="path" presetSubtype="0" repeatCount="indefinite" accel="50000" decel="50000" autoRev="1" fill="hold" grpId="0" nodeType="withEffect">
                                  <p:stCondLst>
                                    <p:cond delay="0"/>
                                  </p:stCondLst>
                                  <p:childTnLst>
                                    <p:animMotion origin="layout" path="M 0 0 L 0.184091 0.000000 E" pathEditMode="relative" rAng="0" ptsTypes="AA">
                                      <p:cBhvr>
                                        <p:cTn id="16" dur="2000" fill="hold"/>
                                        <p:tgtEl>
                                          <p:spTgt spid="25"/>
                                        </p:tgtEl>
                                        <p:attrNameLst>
                                          <p:attrName>ppt_x</p:attrName>
                                          <p:attrName>ppt_y</p:attrName>
                                        </p:attrNameLst>
                                      </p:cBhvr>
                                      <p:rCtr x="9204" y="0"/>
                                    </p:animMotion>
                                  </p:childTnLst>
                                </p:cTn>
                              </p:par>
                              <p:par>
                                <p:cTn id="17" presetID="0" presetClass="path" presetSubtype="0" repeatCount="indefinite" accel="50000" decel="50000" autoRev="1" fill="hold" grpId="0" nodeType="withEffect">
                                  <p:stCondLst>
                                    <p:cond delay="0"/>
                                  </p:stCondLst>
                                  <p:childTnLst>
                                    <p:animMotion origin="layout" path="M 0 0 L 0.220909 0.000000 E" pathEditMode="relative" rAng="0" ptsTypes="AA">
                                      <p:cBhvr>
                                        <p:cTn id="18" dur="2000" fill="hold"/>
                                        <p:tgtEl>
                                          <p:spTgt spid="26"/>
                                        </p:tgtEl>
                                        <p:attrNameLst>
                                          <p:attrName>ppt_x</p:attrName>
                                          <p:attrName>ppt_y</p:attrName>
                                        </p:attrNameLst>
                                      </p:cBhvr>
                                      <p:rCtr x="11045" y="0"/>
                                    </p:animMotion>
                                  </p:childTnLst>
                                </p:cTn>
                              </p:par>
                              <p:par>
                                <p:cTn id="19" presetID="0" presetClass="path" presetSubtype="0" repeatCount="indefinite" accel="50000" decel="50000" autoRev="1" fill="hold" grpId="0" nodeType="withEffect">
                                  <p:stCondLst>
                                    <p:cond delay="0"/>
                                  </p:stCondLst>
                                  <p:childTnLst>
                                    <p:animMotion origin="layout" path="M 0 0 L 0.257727 0.000000 E" pathEditMode="relative" rAng="0" ptsTypes="AA">
                                      <p:cBhvr>
                                        <p:cTn id="20" dur="2000" fill="hold"/>
                                        <p:tgtEl>
                                          <p:spTgt spid="27"/>
                                        </p:tgtEl>
                                        <p:attrNameLst>
                                          <p:attrName>ppt_x</p:attrName>
                                          <p:attrName>ppt_y</p:attrName>
                                        </p:attrNameLst>
                                      </p:cBhvr>
                                      <p:rCtr x="12886" y="0"/>
                                    </p:animMotion>
                                  </p:childTnLst>
                                </p:cTn>
                              </p:par>
                              <p:par>
                                <p:cTn id="21" presetID="0" presetClass="path" presetSubtype="0" repeatCount="indefinite" accel="50000" decel="50000" autoRev="1" fill="hold" grpId="0" nodeType="withEffect">
                                  <p:stCondLst>
                                    <p:cond delay="0"/>
                                  </p:stCondLst>
                                  <p:childTnLst>
                                    <p:animMotion origin="layout" path="M 0 0 L 0.294545 0.000000 E" pathEditMode="relative" rAng="0" ptsTypes="AA">
                                      <p:cBhvr>
                                        <p:cTn id="22" dur="2000" fill="hold"/>
                                        <p:tgtEl>
                                          <p:spTgt spid="28"/>
                                        </p:tgtEl>
                                        <p:attrNameLst>
                                          <p:attrName>ppt_x</p:attrName>
                                          <p:attrName>ppt_y</p:attrName>
                                        </p:attrNameLst>
                                      </p:cBhvr>
                                      <p:rCtr x="14727" y="0"/>
                                    </p:animMotion>
                                  </p:childTnLst>
                                </p:cTn>
                              </p:par>
                              <p:par>
                                <p:cTn id="23" presetID="0" presetClass="path" presetSubtype="0" repeatCount="indefinite" accel="50000" decel="50000" autoRev="1" fill="hold" grpId="0" nodeType="withEffect">
                                  <p:stCondLst>
                                    <p:cond delay="0"/>
                                  </p:stCondLst>
                                  <p:childTnLst>
                                    <p:animMotion origin="layout" path="M 0 0 L 0.331364 0.000000 E" pathEditMode="relative" rAng="0" ptsTypes="AA">
                                      <p:cBhvr>
                                        <p:cTn id="24" dur="2000" fill="hold"/>
                                        <p:tgtEl>
                                          <p:spTgt spid="29"/>
                                        </p:tgtEl>
                                        <p:attrNameLst>
                                          <p:attrName>ppt_x</p:attrName>
                                          <p:attrName>ppt_y</p:attrName>
                                        </p:attrNameLst>
                                      </p:cBhvr>
                                      <p:rCtr x="16568" y="0"/>
                                    </p:animMotion>
                                  </p:childTnLst>
                                </p:cTn>
                              </p:par>
                              <p:par>
                                <p:cTn id="25" presetID="0" presetClass="path" presetSubtype="0" repeatCount="indefinite" accel="50000" decel="50000" autoRev="1" fill="hold" grpId="0" nodeType="withEffect">
                                  <p:stCondLst>
                                    <p:cond delay="0"/>
                                  </p:stCondLst>
                                  <p:childTnLst>
                                    <p:animMotion origin="layout" path="M 0 0 L 0.368182 0.000000 E" pathEditMode="relative" rAng="0" ptsTypes="AA">
                                      <p:cBhvr>
                                        <p:cTn id="26" dur="2000" fill="hold"/>
                                        <p:tgtEl>
                                          <p:spTgt spid="30"/>
                                        </p:tgtEl>
                                        <p:attrNameLst>
                                          <p:attrName>ppt_x</p:attrName>
                                          <p:attrName>ppt_y</p:attrName>
                                        </p:attrNameLst>
                                      </p:cBhvr>
                                      <p:rCtr x="18409" y="0"/>
                                    </p:animMotion>
                                  </p:childTnLst>
                                </p:cTn>
                              </p:par>
                              <p:par>
                                <p:cTn id="27" presetID="0" presetClass="path" presetSubtype="0" repeatCount="indefinite" accel="50000" decel="50000" autoRev="1" fill="hold" grpId="0" nodeType="withEffect">
                                  <p:stCondLst>
                                    <p:cond delay="0"/>
                                  </p:stCondLst>
                                  <p:childTnLst>
                                    <p:animMotion origin="layout" path="M 0 0 L 0.368182 0.000000 E" pathEditMode="relative" rAng="0" ptsTypes="AA">
                                      <p:cBhvr>
                                        <p:cTn id="28" dur="2000" fill="hold"/>
                                        <p:tgtEl>
                                          <p:spTgt spid="31"/>
                                        </p:tgtEl>
                                        <p:attrNameLst>
                                          <p:attrName>ppt_x</p:attrName>
                                          <p:attrName>ppt_y</p:attrName>
                                        </p:attrNameLst>
                                      </p:cBhvr>
                                      <p:rCtr x="18409" y="0"/>
                                    </p:animMotion>
                                  </p:childTnLst>
                                </p:cTn>
                              </p:par>
                              <p:par>
                                <p:cTn id="29" presetID="0" presetClass="path" presetSubtype="0" repeatCount="indefinite" accel="50000" decel="50000" autoRev="1" fill="hold" grpId="0" nodeType="withEffect">
                                  <p:stCondLst>
                                    <p:cond delay="0"/>
                                  </p:stCondLst>
                                  <p:childTnLst>
                                    <p:animMotion origin="layout" path="M 0 0 L 0.331364 0.000000 E" pathEditMode="relative" rAng="0" ptsTypes="AA">
                                      <p:cBhvr>
                                        <p:cTn id="30" dur="2000" fill="hold"/>
                                        <p:tgtEl>
                                          <p:spTgt spid="32"/>
                                        </p:tgtEl>
                                        <p:attrNameLst>
                                          <p:attrName>ppt_x</p:attrName>
                                          <p:attrName>ppt_y</p:attrName>
                                        </p:attrNameLst>
                                      </p:cBhvr>
                                      <p:rCtr x="16568" y="0"/>
                                    </p:animMotion>
                                  </p:childTnLst>
                                </p:cTn>
                              </p:par>
                              <p:par>
                                <p:cTn id="31" presetID="0" presetClass="path" presetSubtype="0" repeatCount="indefinite" accel="50000" decel="50000" autoRev="1" fill="hold" grpId="0" nodeType="withEffect">
                                  <p:stCondLst>
                                    <p:cond delay="0"/>
                                  </p:stCondLst>
                                  <p:childTnLst>
                                    <p:animMotion origin="layout" path="M 0 0 L 0.294545 0.000000 E" pathEditMode="relative" rAng="0" ptsTypes="AA">
                                      <p:cBhvr>
                                        <p:cTn id="32" dur="2000" fill="hold"/>
                                        <p:tgtEl>
                                          <p:spTgt spid="33"/>
                                        </p:tgtEl>
                                        <p:attrNameLst>
                                          <p:attrName>ppt_x</p:attrName>
                                          <p:attrName>ppt_y</p:attrName>
                                        </p:attrNameLst>
                                      </p:cBhvr>
                                      <p:rCtr x="14727" y="0"/>
                                    </p:animMotion>
                                  </p:childTnLst>
                                </p:cTn>
                              </p:par>
                              <p:par>
                                <p:cTn id="33" presetID="0" presetClass="path" presetSubtype="0" repeatCount="indefinite" accel="50000" decel="50000" autoRev="1" fill="hold" grpId="0" nodeType="withEffect">
                                  <p:stCondLst>
                                    <p:cond delay="0"/>
                                  </p:stCondLst>
                                  <p:childTnLst>
                                    <p:animMotion origin="layout" path="M 0 0 L 0.257727 0.000000 E" pathEditMode="relative" rAng="0" ptsTypes="AA">
                                      <p:cBhvr>
                                        <p:cTn id="34" dur="2000" fill="hold"/>
                                        <p:tgtEl>
                                          <p:spTgt spid="34"/>
                                        </p:tgtEl>
                                        <p:attrNameLst>
                                          <p:attrName>ppt_x</p:attrName>
                                          <p:attrName>ppt_y</p:attrName>
                                        </p:attrNameLst>
                                      </p:cBhvr>
                                      <p:rCtr x="12886" y="0"/>
                                    </p:animMotion>
                                  </p:childTnLst>
                                </p:cTn>
                              </p:par>
                              <p:par>
                                <p:cTn id="35" presetID="0" presetClass="path" presetSubtype="0" repeatCount="indefinite" accel="50000" decel="50000" autoRev="1" fill="hold" grpId="0" nodeType="withEffect">
                                  <p:stCondLst>
                                    <p:cond delay="0"/>
                                  </p:stCondLst>
                                  <p:childTnLst>
                                    <p:animMotion origin="layout" path="M 0 0 L 0.220909 0.000000 E" pathEditMode="relative" rAng="0" ptsTypes="AA">
                                      <p:cBhvr>
                                        <p:cTn id="36" dur="2000" fill="hold"/>
                                        <p:tgtEl>
                                          <p:spTgt spid="35"/>
                                        </p:tgtEl>
                                        <p:attrNameLst>
                                          <p:attrName>ppt_x</p:attrName>
                                          <p:attrName>ppt_y</p:attrName>
                                        </p:attrNameLst>
                                      </p:cBhvr>
                                      <p:rCtr x="11045" y="0"/>
                                    </p:animMotion>
                                  </p:childTnLst>
                                </p:cTn>
                              </p:par>
                              <p:par>
                                <p:cTn id="37" presetID="0" presetClass="path" presetSubtype="0" repeatCount="indefinite" accel="50000" decel="50000" autoRev="1" fill="hold" grpId="0" nodeType="withEffect">
                                  <p:stCondLst>
                                    <p:cond delay="0"/>
                                  </p:stCondLst>
                                  <p:childTnLst>
                                    <p:animMotion origin="layout" path="M 0 0 L 0.184091 0.000000 E" pathEditMode="relative" rAng="0" ptsTypes="AA">
                                      <p:cBhvr>
                                        <p:cTn id="38" dur="2000" fill="hold"/>
                                        <p:tgtEl>
                                          <p:spTgt spid="36"/>
                                        </p:tgtEl>
                                        <p:attrNameLst>
                                          <p:attrName>ppt_x</p:attrName>
                                          <p:attrName>ppt_y</p:attrName>
                                        </p:attrNameLst>
                                      </p:cBhvr>
                                      <p:rCtr x="9204" y="0"/>
                                    </p:animMotion>
                                  </p:childTnLst>
                                </p:cTn>
                              </p:par>
                              <p:par>
                                <p:cTn id="39" presetID="0" presetClass="path" presetSubtype="0" repeatCount="indefinite" accel="50000" decel="50000" autoRev="1" fill="hold" grpId="0" nodeType="withEffect">
                                  <p:stCondLst>
                                    <p:cond delay="0"/>
                                  </p:stCondLst>
                                  <p:childTnLst>
                                    <p:animMotion origin="layout" path="M 0 0 L 0.147273 0.000000 E" pathEditMode="relative" rAng="0" ptsTypes="AA">
                                      <p:cBhvr>
                                        <p:cTn id="40" dur="2000" fill="hold"/>
                                        <p:tgtEl>
                                          <p:spTgt spid="37"/>
                                        </p:tgtEl>
                                        <p:attrNameLst>
                                          <p:attrName>ppt_x</p:attrName>
                                          <p:attrName>ppt_y</p:attrName>
                                        </p:attrNameLst>
                                      </p:cBhvr>
                                      <p:rCtr x="7363" y="0"/>
                                    </p:animMotion>
                                  </p:childTnLst>
                                </p:cTn>
                              </p:par>
                              <p:par>
                                <p:cTn id="41" presetID="0" presetClass="path" presetSubtype="0" repeatCount="indefinite" accel="50000" decel="50000" autoRev="1" fill="hold" grpId="0" nodeType="withEffect">
                                  <p:stCondLst>
                                    <p:cond delay="0"/>
                                  </p:stCondLst>
                                  <p:childTnLst>
                                    <p:animMotion origin="layout" path="M 0 0 L 0.110455 0.000000 E" pathEditMode="relative" rAng="0" ptsTypes="AA">
                                      <p:cBhvr>
                                        <p:cTn id="42" dur="2000" fill="hold"/>
                                        <p:tgtEl>
                                          <p:spTgt spid="38"/>
                                        </p:tgtEl>
                                        <p:attrNameLst>
                                          <p:attrName>ppt_x</p:attrName>
                                          <p:attrName>ppt_y</p:attrName>
                                        </p:attrNameLst>
                                      </p:cBhvr>
                                      <p:rCtr x="5522" y="0"/>
                                    </p:animMotion>
                                  </p:childTnLst>
                                </p:cTn>
                              </p:par>
                              <p:par>
                                <p:cTn id="43" presetID="0" presetClass="path" presetSubtype="0" repeatCount="indefinite" accel="50000" decel="50000" autoRev="1" fill="hold" grpId="0" nodeType="withEffect">
                                  <p:stCondLst>
                                    <p:cond delay="0"/>
                                  </p:stCondLst>
                                  <p:childTnLst>
                                    <p:animMotion origin="layout" path="M 0 0 L 0.073636 0.000000 E" pathEditMode="relative" rAng="0" ptsTypes="AA">
                                      <p:cBhvr>
                                        <p:cTn id="44" dur="2000" fill="hold"/>
                                        <p:tgtEl>
                                          <p:spTgt spid="39"/>
                                        </p:tgtEl>
                                        <p:attrNameLst>
                                          <p:attrName>ppt_x</p:attrName>
                                          <p:attrName>ppt_y</p:attrName>
                                        </p:attrNameLst>
                                      </p:cBhvr>
                                      <p:rCtr x="3681" y="0"/>
                                    </p:animMotion>
                                  </p:childTnLst>
                                </p:cTn>
                              </p:par>
                              <p:par>
                                <p:cTn id="45" presetID="0" presetClass="path" presetSubtype="0" repeatCount="indefinite" accel="50000" decel="50000" autoRev="1" fill="hold" grpId="0" nodeType="withEffect">
                                  <p:stCondLst>
                                    <p:cond delay="0"/>
                                  </p:stCondLst>
                                  <p:childTnLst>
                                    <p:animMotion origin="layout" path="M 0 0 L 0.036818 0.000000 E" pathEditMode="relative" rAng="0" ptsTypes="AA">
                                      <p:cBhvr>
                                        <p:cTn id="46" dur="2000" fill="hold"/>
                                        <p:tgtEl>
                                          <p:spTgt spid="40"/>
                                        </p:tgtEl>
                                        <p:attrNameLst>
                                          <p:attrName>ppt_x</p:attrName>
                                          <p:attrName>ppt_y</p:attrName>
                                        </p:attrNameLst>
                                      </p:cBhvr>
                                      <p:rCtr x="1840" y="0"/>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Graphic spid="46"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The glider: XᵀX and Xᵀy, step by step</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15</a:t>
            </a:fld>
            <a:endParaRPr lang="en-US"/>
          </a:p>
        </p:txBody>
      </p:sp>
      <p:pic>
        <p:nvPicPr>
          <p:cNvPr id="4" name="eq gl_cols" descr="\vb c_1 = (400,\,100,\,0,\,100,\,400),\quad \vb c_2 = (-20,\,-10,\,0,\,10,\,20),\quad \vb c_3 = (1,\,1,\,1,\,1,\,1)"/>
          <p:cNvPicPr>
            <a:picLocks noChangeAspect="1"/>
          </p:cNvPicPr>
          <p:nvPr/>
        </p:nvPicPr>
        <p:blipFill>
          <a:blip r:embed="rId3"/>
          <a:stretch>
            <a:fillRect/>
          </a:stretch>
        </p:blipFill>
        <p:spPr>
          <a:xfrm>
            <a:off x="612648" y="1280160"/>
            <a:ext cx="8556498" cy="262890"/>
          </a:xfrm>
          <a:prstGeom prst="rect">
            <a:avLst/>
          </a:prstGeom>
        </p:spPr>
      </p:pic>
      <p:pic>
        <p:nvPicPr>
          <p:cNvPr id="5" name="eq gl_entry" descr="(\vb X\T\vb X)_{ij} = \vb c_i\T\vb c_j, \qquad (\vb X\T\vb y)_i = \vb c_i\T\vb y"/>
          <p:cNvPicPr>
            <a:picLocks noChangeAspect="1"/>
          </p:cNvPicPr>
          <p:nvPr/>
        </p:nvPicPr>
        <p:blipFill>
          <a:blip r:embed="rId4"/>
          <a:stretch>
            <a:fillRect/>
          </a:stretch>
        </p:blipFill>
        <p:spPr>
          <a:xfrm>
            <a:off x="612648" y="1691640"/>
            <a:ext cx="3312414" cy="313182"/>
          </a:xfrm>
          <a:prstGeom prst="rect">
            <a:avLst/>
          </a:prstGeom>
        </p:spPr>
      </p:pic>
      <p:sp>
        <p:nvSpPr>
          <p:cNvPr id="6" name="entry note"/>
          <p:cNvSpPr txBox="1"/>
          <p:nvPr/>
        </p:nvSpPr>
        <p:spPr>
          <a:xfrm>
            <a:off x="4206240" y="1691640"/>
            <a:ext cx="7315200" cy="365760"/>
          </a:xfrm>
          <a:prstGeom prst="rect">
            <a:avLst/>
          </a:prstGeom>
          <a:noFill/>
        </p:spPr>
        <p:txBody>
          <a:bodyPr wrap="square" lIns="0" tIns="0" rIns="0" bIns="0" anchor="t">
            <a:spAutoFit/>
          </a:bodyPr>
          <a:lstStyle/>
          <a:p>
            <a:pPr algn="l">
              <a:spcAft>
                <a:spcPts val="800"/>
              </a:spcAft>
            </a:pPr>
            <a:r>
              <a:rPr sz="1400" b="0" i="0">
                <a:solidFill>
                  <a:srgbClr val="506476"/>
                </a:solidFill>
              </a:rPr>
              <a:t>column i of X times column j; column i times the data</a:t>
            </a:r>
          </a:p>
        </p:txBody>
      </p:sp>
      <p:pic>
        <p:nvPicPr>
          <p:cNvPr id="7" name="b1_eq gl_c11" descr="\vb c_1\T\vb c_1 = 160000 + 10000 + 0 + 10000 + 160000 = \red{340000}"/>
          <p:cNvPicPr>
            <a:picLocks noChangeAspect="1"/>
          </p:cNvPicPr>
          <p:nvPr/>
        </p:nvPicPr>
        <p:blipFill>
          <a:blip r:embed="rId5"/>
          <a:stretch>
            <a:fillRect/>
          </a:stretch>
        </p:blipFill>
        <p:spPr>
          <a:xfrm>
            <a:off x="612648" y="2240280"/>
            <a:ext cx="6048756" cy="290322"/>
          </a:xfrm>
          <a:prstGeom prst="rect">
            <a:avLst/>
          </a:prstGeom>
        </p:spPr>
      </p:pic>
      <p:pic>
        <p:nvPicPr>
          <p:cNvPr id="8" name="b1_eq gl_c12" descr="\vb c_1\T\vb c_2 = -8000 - 1000 + 0 + 1000 + 8000 = \red{0}"/>
          <p:cNvPicPr>
            <a:picLocks noChangeAspect="1"/>
          </p:cNvPicPr>
          <p:nvPr/>
        </p:nvPicPr>
        <p:blipFill>
          <a:blip r:embed="rId6"/>
          <a:stretch>
            <a:fillRect/>
          </a:stretch>
        </p:blipFill>
        <p:spPr>
          <a:xfrm>
            <a:off x="612648" y="2651760"/>
            <a:ext cx="4725162" cy="290322"/>
          </a:xfrm>
          <a:prstGeom prst="rect">
            <a:avLst/>
          </a:prstGeom>
        </p:spPr>
      </p:pic>
      <p:pic>
        <p:nvPicPr>
          <p:cNvPr id="9" name="b1_eq gl_c13" descr="\vb c_1\T\vb c_3 = 400 + 100 + 0 + 100 + 400 = \red{1000}"/>
          <p:cNvPicPr>
            <a:picLocks noChangeAspect="1"/>
          </p:cNvPicPr>
          <p:nvPr/>
        </p:nvPicPr>
        <p:blipFill>
          <a:blip r:embed="rId7"/>
          <a:stretch>
            <a:fillRect/>
          </a:stretch>
        </p:blipFill>
        <p:spPr>
          <a:xfrm>
            <a:off x="612648" y="3063240"/>
            <a:ext cx="4405122" cy="290322"/>
          </a:xfrm>
          <a:prstGeom prst="rect">
            <a:avLst/>
          </a:prstGeom>
        </p:spPr>
      </p:pic>
      <p:pic>
        <p:nvPicPr>
          <p:cNvPr id="10" name="b1_eq gl_c22" descr="\vb c_2\T\vb c_2 = 400 + 100 + 0 + 100 + 400 = \red{1000}"/>
          <p:cNvPicPr>
            <a:picLocks noChangeAspect="1"/>
          </p:cNvPicPr>
          <p:nvPr/>
        </p:nvPicPr>
        <p:blipFill>
          <a:blip r:embed="rId8"/>
          <a:stretch>
            <a:fillRect/>
          </a:stretch>
        </p:blipFill>
        <p:spPr>
          <a:xfrm>
            <a:off x="6949440" y="2240280"/>
            <a:ext cx="4405122" cy="290322"/>
          </a:xfrm>
          <a:prstGeom prst="rect">
            <a:avLst/>
          </a:prstGeom>
        </p:spPr>
      </p:pic>
      <p:pic>
        <p:nvPicPr>
          <p:cNvPr id="11" name="b1_eq gl_c23" descr="\vb c_2\T\vb c_3 = -20 - 10 + 0 + 10 + 20 = \red{0}"/>
          <p:cNvPicPr>
            <a:picLocks noChangeAspect="1"/>
          </p:cNvPicPr>
          <p:nvPr/>
        </p:nvPicPr>
        <p:blipFill>
          <a:blip r:embed="rId9"/>
          <a:stretch>
            <a:fillRect/>
          </a:stretch>
        </p:blipFill>
        <p:spPr>
          <a:xfrm>
            <a:off x="6949440" y="2651760"/>
            <a:ext cx="3630168" cy="290322"/>
          </a:xfrm>
          <a:prstGeom prst="rect">
            <a:avLst/>
          </a:prstGeom>
        </p:spPr>
      </p:pic>
      <p:pic>
        <p:nvPicPr>
          <p:cNvPr id="12" name="b1_eq gl_c33" descr="\vb c_3\T\vb c_3 = 1 + 1 + 1 + 1 + 1 = \red{5}"/>
          <p:cNvPicPr>
            <a:picLocks noChangeAspect="1"/>
          </p:cNvPicPr>
          <p:nvPr/>
        </p:nvPicPr>
        <p:blipFill>
          <a:blip r:embed="rId10"/>
          <a:stretch>
            <a:fillRect/>
          </a:stretch>
        </p:blipFill>
        <p:spPr>
          <a:xfrm>
            <a:off x="6949440" y="3063240"/>
            <a:ext cx="2900934" cy="292608"/>
          </a:xfrm>
          <a:prstGeom prst="rect">
            <a:avLst/>
          </a:prstGeom>
        </p:spPr>
      </p:pic>
      <p:pic>
        <p:nvPicPr>
          <p:cNvPr id="13" name="b2_eq gl_c1y" descr="\vb c_1\T\vb y = 109600 + 67300 + 0 + 86100 + 272000 = \red{535000}"/>
          <p:cNvPicPr>
            <a:picLocks noChangeAspect="1"/>
          </p:cNvPicPr>
          <p:nvPr/>
        </p:nvPicPr>
        <p:blipFill>
          <a:blip r:embed="rId11"/>
          <a:stretch>
            <a:fillRect/>
          </a:stretch>
        </p:blipFill>
        <p:spPr>
          <a:xfrm>
            <a:off x="612648" y="3703320"/>
            <a:ext cx="5959602" cy="290322"/>
          </a:xfrm>
          <a:prstGeom prst="rect">
            <a:avLst/>
          </a:prstGeom>
        </p:spPr>
      </p:pic>
      <p:pic>
        <p:nvPicPr>
          <p:cNvPr id="14" name="b2_eq gl_c2y" descr="\vb c_2\T\vb y = -5480 - 6730 + 0 + 8610 + 13600 = \red{10000}"/>
          <p:cNvPicPr>
            <a:picLocks noChangeAspect="1"/>
          </p:cNvPicPr>
          <p:nvPr/>
        </p:nvPicPr>
        <p:blipFill>
          <a:blip r:embed="rId12"/>
          <a:stretch>
            <a:fillRect/>
          </a:stretch>
        </p:blipFill>
        <p:spPr>
          <a:xfrm>
            <a:off x="612648" y="4114800"/>
            <a:ext cx="5319522" cy="290322"/>
          </a:xfrm>
          <a:prstGeom prst="rect">
            <a:avLst/>
          </a:prstGeom>
        </p:spPr>
      </p:pic>
      <p:pic>
        <p:nvPicPr>
          <p:cNvPr id="15" name="b2_eq gl_c3y" descr="\vb c_3\T\vb y = 274 + 673 + 887 + 861 + 680 = \red{3375}"/>
          <p:cNvPicPr>
            <a:picLocks noChangeAspect="1"/>
          </p:cNvPicPr>
          <p:nvPr/>
        </p:nvPicPr>
        <p:blipFill>
          <a:blip r:embed="rId13"/>
          <a:stretch>
            <a:fillRect/>
          </a:stretch>
        </p:blipFill>
        <p:spPr>
          <a:xfrm>
            <a:off x="612648" y="4526280"/>
            <a:ext cx="4590288" cy="292608"/>
          </a:xfrm>
          <a:prstGeom prst="rect">
            <a:avLst/>
          </a:prstGeom>
        </p:spPr>
      </p:pic>
      <p:pic>
        <p:nvPicPr>
          <p:cNvPr id="16" name="b3_eq gl_ne" descr="\begin{bmatrix} 340000 &amp; 0 &amp; 1000 \\ 0 &amp; 1000 &amp; 0 \\ 1000 &amp; 0 &amp; 5 \end{bmatrix}\begin{bmatrix} \ell \\ m \\ b \end{bmatrix} = \begin{bmatrix} 535000 \\ 10000 \\ 3375 \end{bmatrix}"/>
          <p:cNvPicPr>
            <a:picLocks noChangeAspect="1"/>
          </p:cNvPicPr>
          <p:nvPr/>
        </p:nvPicPr>
        <p:blipFill>
          <a:blip r:embed="rId14"/>
          <a:stretch>
            <a:fillRect/>
          </a:stretch>
        </p:blipFill>
        <p:spPr>
          <a:xfrm>
            <a:off x="6812280" y="3611880"/>
            <a:ext cx="4601718" cy="957834"/>
          </a:xfrm>
          <a:prstGeom prst="rect">
            <a:avLst/>
          </a:prstGeom>
        </p:spPr>
      </p:pic>
      <p:pic>
        <p:nvPicPr>
          <p:cNvPr id="17" name="b4_eq gl_solve" descr="1000\,m = 10000,\quad 140000\,\ell = -140000,\quad 5\,b = 4375 \ \Rightarrow\ \red{y = -x^2 + 10x + 875}"/>
          <p:cNvPicPr>
            <a:picLocks noChangeAspect="1"/>
          </p:cNvPicPr>
          <p:nvPr/>
        </p:nvPicPr>
        <p:blipFill>
          <a:blip r:embed="rId15"/>
          <a:stretch>
            <a:fillRect/>
          </a:stretch>
        </p:blipFill>
        <p:spPr>
          <a:xfrm>
            <a:off x="612648" y="5120640"/>
            <a:ext cx="8705088" cy="294894"/>
          </a:xfrm>
          <a:prstGeom prst="rect">
            <a:avLst/>
          </a:prstGeom>
        </p:spPr>
      </p:pic>
      <p:pic>
        <p:nvPicPr>
          <p:cNvPr id="18" name="b4_eq gl_phys" descr="\kappa = -2\ell = 20\ \mathrm{N/m}, \qquad x_0 = m/\kappa = 5\ \mathrm{cm}, \qquad \tfrac12\kappa A^2 = 900\ \mathrm{mJ},\ A = 30\ \mathrm{cm}"/>
          <p:cNvPicPr>
            <a:picLocks noChangeAspect="1"/>
          </p:cNvPicPr>
          <p:nvPr/>
        </p:nvPicPr>
        <p:blipFill>
          <a:blip r:embed="rId16"/>
          <a:stretch>
            <a:fillRect/>
          </a:stretch>
        </p:blipFill>
        <p:spPr>
          <a:xfrm>
            <a:off x="612648" y="5532120"/>
            <a:ext cx="7866125" cy="3223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Experiment: a mass on a spring</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16</a:t>
            </a:fld>
            <a:endParaRPr lang="en-US"/>
          </a:p>
        </p:txBody>
      </p:sp>
      <p:sp>
        <p:nvSpPr>
          <p:cNvPr id="4" name="panel"/>
          <p:cNvSpPr/>
          <p:nvPr/>
        </p:nvSpPr>
        <p:spPr>
          <a:xfrm>
            <a:off x="612648" y="1234440"/>
            <a:ext cx="5486400" cy="2148840"/>
          </a:xfrm>
          <a:prstGeom prst="roundRect">
            <a:avLst>
              <a:gd name="adj" fmla="val 4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support"/>
          <p:cNvSpPr/>
          <p:nvPr/>
        </p:nvSpPr>
        <p:spPr>
          <a:xfrm>
            <a:off x="1097280" y="1371600"/>
            <a:ext cx="1005840" cy="73152"/>
          </a:xfrm>
          <a:prstGeom prst="rect">
            <a:avLst/>
          </a:prstGeom>
          <a:solidFill>
            <a:srgbClr val="5064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mass"/>
          <p:cNvSpPr/>
          <p:nvPr/>
        </p:nvSpPr>
        <p:spPr>
          <a:xfrm>
            <a:off x="1280160" y="2240280"/>
            <a:ext cx="640080" cy="457200"/>
          </a:xfrm>
          <a:prstGeom prst="roundRect">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400" b="1" i="0">
                <a:solidFill>
                  <a:srgbClr val="FFFFFF"/>
                </a:solidFill>
              </a:rPr>
              <a:t>M</a:t>
            </a:r>
          </a:p>
        </p:txBody>
      </p:sp>
      <p:sp>
        <p:nvSpPr>
          <p:cNvPr id="7" name="coil V1"/>
          <p:cNvSpPr/>
          <p:nvPr/>
        </p:nvSpPr>
        <p:spPr>
          <a:xfrm>
            <a:off x="1389888" y="1492300"/>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il V2"/>
          <p:cNvSpPr/>
          <p:nvPr/>
        </p:nvSpPr>
        <p:spPr>
          <a:xfrm>
            <a:off x="1389888" y="1571853"/>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il V3"/>
          <p:cNvSpPr/>
          <p:nvPr/>
        </p:nvSpPr>
        <p:spPr>
          <a:xfrm>
            <a:off x="1389888" y="1651406"/>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il V4"/>
          <p:cNvSpPr/>
          <p:nvPr/>
        </p:nvSpPr>
        <p:spPr>
          <a:xfrm>
            <a:off x="1389888" y="1730959"/>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oil V5"/>
          <p:cNvSpPr/>
          <p:nvPr/>
        </p:nvSpPr>
        <p:spPr>
          <a:xfrm>
            <a:off x="1389888" y="1810512"/>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il V6"/>
          <p:cNvSpPr/>
          <p:nvPr/>
        </p:nvSpPr>
        <p:spPr>
          <a:xfrm>
            <a:off x="1389888" y="1890064"/>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oil V7"/>
          <p:cNvSpPr/>
          <p:nvPr/>
        </p:nvSpPr>
        <p:spPr>
          <a:xfrm>
            <a:off x="1389888" y="1969617"/>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oil V8"/>
          <p:cNvSpPr/>
          <p:nvPr/>
        </p:nvSpPr>
        <p:spPr>
          <a:xfrm>
            <a:off x="1389888" y="2049170"/>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oil V9"/>
          <p:cNvSpPr/>
          <p:nvPr/>
        </p:nvSpPr>
        <p:spPr>
          <a:xfrm>
            <a:off x="1389888" y="2128723"/>
            <a:ext cx="420624" cy="64008"/>
          </a:xfrm>
          <a:prstGeom prst="ellipse">
            <a:avLst/>
          </a:prstGeom>
          <a:noFill/>
          <a:ln w="19050">
            <a:solidFill>
              <a:srgbClr val="5064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spring"/>
          <p:cNvGraphicFramePr>
            <a:graphicFrameLocks noGrp="1"/>
          </p:cNvGraphicFramePr>
          <p:nvPr/>
        </p:nvGraphicFramePr>
        <p:xfrm>
          <a:off x="2606040" y="1344168"/>
          <a:ext cx="1554480" cy="1856232"/>
        </p:xfrm>
        <a:graphic>
          <a:graphicData uri="http://schemas.openxmlformats.org/drawingml/2006/table">
            <a:tbl>
              <a:tblPr firstRow="1">
                <a:tableStyleId>{5C22544A-7EE6-4342-B048-85BDC9FD1C3A}</a:tableStyleId>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265176">
                <a:tc>
                  <a:txBody>
                    <a:bodyPr/>
                    <a:lstStyle/>
                    <a:p>
                      <a:pPr algn="ctr"/>
                      <a:r>
                        <a:rPr sz="1300" b="1" i="0">
                          <a:solidFill>
                            <a:srgbClr val="FFFFFF"/>
                          </a:solidFill>
                        </a:rPr>
                        <a:t>M (g)</a:t>
                      </a:r>
                    </a:p>
                  </a:txBody>
                  <a:tcPr marL="73152" marR="73152" marT="27432" marB="27432" anchor="ctr">
                    <a:solidFill>
                      <a:srgbClr val="152D42"/>
                    </a:solidFill>
                  </a:tcPr>
                </a:tc>
                <a:tc>
                  <a:txBody>
                    <a:bodyPr/>
                    <a:lstStyle/>
                    <a:p>
                      <a:pPr algn="ctr"/>
                      <a:r>
                        <a:rPr sz="1300" b="1" i="0">
                          <a:solidFill>
                            <a:srgbClr val="FFFFFF"/>
                          </a:solidFill>
                        </a:rPr>
                        <a:t>T (s)</a:t>
                      </a:r>
                    </a:p>
                  </a:txBody>
                  <a:tcPr marL="73152" marR="73152" marT="27432" marB="27432" anchor="ctr">
                    <a:solidFill>
                      <a:srgbClr val="152D42"/>
                    </a:solidFill>
                  </a:tcPr>
                </a:tc>
                <a:extLst>
                  <a:ext uri="{0D108BD9-81ED-4DB2-BD59-A6C34878D82A}">
                    <a16:rowId xmlns:a16="http://schemas.microsoft.com/office/drawing/2014/main" val="10000"/>
                  </a:ext>
                </a:extLst>
              </a:tr>
              <a:tr h="265176">
                <a:tc>
                  <a:txBody>
                    <a:bodyPr/>
                    <a:lstStyle/>
                    <a:p>
                      <a:pPr algn="ctr"/>
                      <a:r>
                        <a:rPr sz="1300" b="0" i="0">
                          <a:solidFill>
                            <a:srgbClr val="152D42"/>
                          </a:solidFill>
                        </a:rPr>
                        <a:t>50</a:t>
                      </a:r>
                    </a:p>
                  </a:txBody>
                  <a:tcPr marL="73152" marR="73152" marT="27432" marB="27432" anchor="ctr">
                    <a:solidFill>
                      <a:srgbClr val="FFFFFF"/>
                    </a:solidFill>
                  </a:tcPr>
                </a:tc>
                <a:tc>
                  <a:txBody>
                    <a:bodyPr/>
                    <a:lstStyle/>
                    <a:p>
                      <a:pPr algn="ctr"/>
                      <a:r>
                        <a:rPr sz="1300" b="0" i="0">
                          <a:solidFill>
                            <a:srgbClr val="152D42"/>
                          </a:solidFill>
                        </a:rPr>
                        <a:t>0.486</a:t>
                      </a:r>
                    </a:p>
                  </a:txBody>
                  <a:tcPr marL="73152" marR="73152" marT="27432" marB="27432" anchor="ctr">
                    <a:solidFill>
                      <a:srgbClr val="FFFFFF"/>
                    </a:solidFill>
                  </a:tcPr>
                </a:tc>
                <a:extLst>
                  <a:ext uri="{0D108BD9-81ED-4DB2-BD59-A6C34878D82A}">
                    <a16:rowId xmlns:a16="http://schemas.microsoft.com/office/drawing/2014/main" val="10001"/>
                  </a:ext>
                </a:extLst>
              </a:tr>
              <a:tr h="265176">
                <a:tc>
                  <a:txBody>
                    <a:bodyPr/>
                    <a:lstStyle/>
                    <a:p>
                      <a:pPr algn="ctr"/>
                      <a:r>
                        <a:rPr sz="1300" b="0" i="0">
                          <a:solidFill>
                            <a:srgbClr val="152D42"/>
                          </a:solidFill>
                        </a:rPr>
                        <a:t>100</a:t>
                      </a:r>
                    </a:p>
                  </a:txBody>
                  <a:tcPr marL="73152" marR="73152" marT="27432" marB="27432" anchor="ctr">
                    <a:solidFill>
                      <a:srgbClr val="F5F7F9"/>
                    </a:solidFill>
                  </a:tcPr>
                </a:tc>
                <a:tc>
                  <a:txBody>
                    <a:bodyPr/>
                    <a:lstStyle/>
                    <a:p>
                      <a:pPr algn="ctr"/>
                      <a:r>
                        <a:rPr sz="1300" b="0" i="0">
                          <a:solidFill>
                            <a:srgbClr val="152D42"/>
                          </a:solidFill>
                        </a:rPr>
                        <a:t>0.659</a:t>
                      </a:r>
                    </a:p>
                  </a:txBody>
                  <a:tcPr marL="73152" marR="73152" marT="27432" marB="27432" anchor="ctr">
                    <a:solidFill>
                      <a:srgbClr val="F5F7F9"/>
                    </a:solidFill>
                  </a:tcPr>
                </a:tc>
                <a:extLst>
                  <a:ext uri="{0D108BD9-81ED-4DB2-BD59-A6C34878D82A}">
                    <a16:rowId xmlns:a16="http://schemas.microsoft.com/office/drawing/2014/main" val="10002"/>
                  </a:ext>
                </a:extLst>
              </a:tr>
              <a:tr h="265176">
                <a:tc>
                  <a:txBody>
                    <a:bodyPr/>
                    <a:lstStyle/>
                    <a:p>
                      <a:pPr algn="ctr"/>
                      <a:r>
                        <a:rPr sz="1300" b="0" i="0">
                          <a:solidFill>
                            <a:srgbClr val="152D42"/>
                          </a:solidFill>
                        </a:rPr>
                        <a:t>150</a:t>
                      </a:r>
                    </a:p>
                  </a:txBody>
                  <a:tcPr marL="73152" marR="73152" marT="27432" marB="27432" anchor="ctr">
                    <a:solidFill>
                      <a:srgbClr val="FFFFFF"/>
                    </a:solidFill>
                  </a:tcPr>
                </a:tc>
                <a:tc>
                  <a:txBody>
                    <a:bodyPr/>
                    <a:lstStyle/>
                    <a:p>
                      <a:pPr algn="ctr"/>
                      <a:r>
                        <a:rPr sz="1300" b="0" i="0">
                          <a:solidFill>
                            <a:srgbClr val="152D42"/>
                          </a:solidFill>
                        </a:rPr>
                        <a:t>0.794</a:t>
                      </a:r>
                    </a:p>
                  </a:txBody>
                  <a:tcPr marL="73152" marR="73152" marT="27432" marB="27432" anchor="ctr">
                    <a:solidFill>
                      <a:srgbClr val="FFFFFF"/>
                    </a:solidFill>
                  </a:tcPr>
                </a:tc>
                <a:extLst>
                  <a:ext uri="{0D108BD9-81ED-4DB2-BD59-A6C34878D82A}">
                    <a16:rowId xmlns:a16="http://schemas.microsoft.com/office/drawing/2014/main" val="10003"/>
                  </a:ext>
                </a:extLst>
              </a:tr>
              <a:tr h="265176">
                <a:tc>
                  <a:txBody>
                    <a:bodyPr/>
                    <a:lstStyle/>
                    <a:p>
                      <a:pPr algn="ctr"/>
                      <a:r>
                        <a:rPr sz="1300" b="0" i="0">
                          <a:solidFill>
                            <a:srgbClr val="152D42"/>
                          </a:solidFill>
                        </a:rPr>
                        <a:t>200</a:t>
                      </a:r>
                    </a:p>
                  </a:txBody>
                  <a:tcPr marL="73152" marR="73152" marT="27432" marB="27432" anchor="ctr">
                    <a:solidFill>
                      <a:srgbClr val="F5F7F9"/>
                    </a:solidFill>
                  </a:tcPr>
                </a:tc>
                <a:tc>
                  <a:txBody>
                    <a:bodyPr/>
                    <a:lstStyle/>
                    <a:p>
                      <a:pPr algn="ctr"/>
                      <a:r>
                        <a:rPr sz="1300" b="0" i="0">
                          <a:solidFill>
                            <a:srgbClr val="152D42"/>
                          </a:solidFill>
                        </a:rPr>
                        <a:t>0.910</a:t>
                      </a:r>
                    </a:p>
                  </a:txBody>
                  <a:tcPr marL="73152" marR="73152" marT="27432" marB="27432" anchor="ctr">
                    <a:solidFill>
                      <a:srgbClr val="F5F7F9"/>
                    </a:solidFill>
                  </a:tcPr>
                </a:tc>
                <a:extLst>
                  <a:ext uri="{0D108BD9-81ED-4DB2-BD59-A6C34878D82A}">
                    <a16:rowId xmlns:a16="http://schemas.microsoft.com/office/drawing/2014/main" val="10004"/>
                  </a:ext>
                </a:extLst>
              </a:tr>
              <a:tr h="265176">
                <a:tc>
                  <a:txBody>
                    <a:bodyPr/>
                    <a:lstStyle/>
                    <a:p>
                      <a:pPr algn="ctr"/>
                      <a:r>
                        <a:rPr sz="1300" b="0" i="0">
                          <a:solidFill>
                            <a:srgbClr val="152D42"/>
                          </a:solidFill>
                        </a:rPr>
                        <a:t>250</a:t>
                      </a:r>
                    </a:p>
                  </a:txBody>
                  <a:tcPr marL="73152" marR="73152" marT="27432" marB="27432" anchor="ctr">
                    <a:solidFill>
                      <a:srgbClr val="FFFFFF"/>
                    </a:solidFill>
                  </a:tcPr>
                </a:tc>
                <a:tc>
                  <a:txBody>
                    <a:bodyPr/>
                    <a:lstStyle/>
                    <a:p>
                      <a:pPr algn="ctr"/>
                      <a:r>
                        <a:rPr sz="1300" b="0" i="0">
                          <a:solidFill>
                            <a:srgbClr val="152D42"/>
                          </a:solidFill>
                        </a:rPr>
                        <a:t>1.013</a:t>
                      </a:r>
                    </a:p>
                  </a:txBody>
                  <a:tcPr marL="73152" marR="73152" marT="27432" marB="27432" anchor="ctr">
                    <a:solidFill>
                      <a:srgbClr val="FFFFFF"/>
                    </a:solidFill>
                  </a:tcPr>
                </a:tc>
                <a:extLst>
                  <a:ext uri="{0D108BD9-81ED-4DB2-BD59-A6C34878D82A}">
                    <a16:rowId xmlns:a16="http://schemas.microsoft.com/office/drawing/2014/main" val="10005"/>
                  </a:ext>
                </a:extLst>
              </a:tr>
              <a:tr h="265176">
                <a:tc>
                  <a:txBody>
                    <a:bodyPr/>
                    <a:lstStyle/>
                    <a:p>
                      <a:pPr algn="ctr"/>
                      <a:r>
                        <a:rPr sz="1300" b="0" i="0">
                          <a:solidFill>
                            <a:srgbClr val="152D42"/>
                          </a:solidFill>
                        </a:rPr>
                        <a:t>300</a:t>
                      </a:r>
                    </a:p>
                  </a:txBody>
                  <a:tcPr marL="73152" marR="73152" marT="27432" marB="27432" anchor="ctr">
                    <a:solidFill>
                      <a:srgbClr val="F5F7F9"/>
                    </a:solidFill>
                  </a:tcPr>
                </a:tc>
                <a:tc>
                  <a:txBody>
                    <a:bodyPr/>
                    <a:lstStyle/>
                    <a:p>
                      <a:pPr algn="ctr"/>
                      <a:r>
                        <a:rPr sz="1300" b="0" i="0">
                          <a:solidFill>
                            <a:srgbClr val="152D42"/>
                          </a:solidFill>
                        </a:rPr>
                        <a:t>1.105</a:t>
                      </a:r>
                    </a:p>
                  </a:txBody>
                  <a:tcPr marL="73152" marR="73152" marT="27432" marB="27432" anchor="ctr">
                    <a:solidFill>
                      <a:srgbClr val="F5F7F9"/>
                    </a:solidFill>
                  </a:tcPr>
                </a:tc>
                <a:extLst>
                  <a:ext uri="{0D108BD9-81ED-4DB2-BD59-A6C34878D82A}">
                    <a16:rowId xmlns:a16="http://schemas.microsoft.com/office/drawing/2014/main" val="10006"/>
                  </a:ext>
                </a:extLst>
              </a:tr>
            </a:tbl>
          </a:graphicData>
        </a:graphic>
      </p:graphicFrame>
      <p:sp>
        <p:nvSpPr>
          <p:cNvPr id="17" name="panel note"/>
          <p:cNvSpPr txBox="1"/>
          <p:nvPr/>
        </p:nvSpPr>
        <p:spPr>
          <a:xfrm>
            <a:off x="4343400" y="1371600"/>
            <a:ext cx="1645920" cy="1828800"/>
          </a:xfrm>
          <a:prstGeom prst="rect">
            <a:avLst/>
          </a:prstGeom>
          <a:noFill/>
        </p:spPr>
        <p:txBody>
          <a:bodyPr wrap="square" lIns="0" tIns="0" rIns="0" bIns="0" anchor="t">
            <a:spAutoFit/>
          </a:bodyPr>
          <a:lstStyle/>
          <a:p>
            <a:pPr algn="l">
              <a:spcAft>
                <a:spcPts val="800"/>
              </a:spcAft>
            </a:pPr>
            <a:r>
              <a:rPr sz="1200" b="0" i="0">
                <a:solidFill>
                  <a:srgbClr val="506476"/>
                </a:solidFill>
              </a:rPr>
              <a:t>Period from 10 oscillations.</a:t>
            </a:r>
          </a:p>
          <a:p>
            <a:pPr algn="l">
              <a:spcAft>
                <a:spcPts val="800"/>
              </a:spcAft>
            </a:pPr>
            <a:r>
              <a:rPr sz="1200" b="0" i="0">
                <a:solidFill>
                  <a:srgbClr val="506476"/>
                </a:solidFill>
              </a:rPr>
              <a:t>Animation slowed down 4×.</a:t>
            </a:r>
          </a:p>
        </p:txBody>
      </p:sp>
      <p:sp>
        <p:nvSpPr>
          <p:cNvPr id="18" name="given find"/>
          <p:cNvSpPr txBox="1"/>
          <p:nvPr/>
        </p:nvSpPr>
        <p:spPr>
          <a:xfrm>
            <a:off x="612648" y="3520440"/>
            <a:ext cx="5486400" cy="1097280"/>
          </a:xfrm>
          <a:prstGeom prst="rect">
            <a:avLst/>
          </a:prstGeom>
          <a:noFill/>
        </p:spPr>
        <p:txBody>
          <a:bodyPr wrap="square" lIns="0" tIns="0" rIns="0" bIns="0" anchor="t">
            <a:spAutoFit/>
          </a:bodyPr>
          <a:lstStyle/>
          <a:p>
            <a:pPr algn="l">
              <a:spcAft>
                <a:spcPts val="600"/>
              </a:spcAft>
            </a:pPr>
            <a:r>
              <a:rPr sz="1400" b="1" i="0">
                <a:solidFill>
                  <a:srgbClr val="152D42"/>
                </a:solidFill>
              </a:rPr>
              <a:t>Given. </a:t>
            </a:r>
            <a:r>
              <a:rPr sz="1400" b="0" i="0">
                <a:solidFill>
                  <a:srgbClr val="152D42"/>
                </a:solidFill>
              </a:rPr>
              <a:t>Six masses </a:t>
            </a:r>
            <a:r>
              <a:rPr sz="1400" b="0" i="1">
                <a:solidFill>
                  <a:srgbClr val="152D42"/>
                </a:solidFill>
              </a:rPr>
              <a:t>M</a:t>
            </a:r>
            <a:r>
              <a:rPr sz="1400" b="0" i="0">
                <a:solidFill>
                  <a:srgbClr val="152D42"/>
                </a:solidFill>
              </a:rPr>
              <a:t> hang in turn on a spring of mass </a:t>
            </a:r>
            <a:r>
              <a:rPr sz="1400" b="0" i="1">
                <a:solidFill>
                  <a:srgbClr val="152D42"/>
                </a:solidFill>
              </a:rPr>
              <a:t>m</a:t>
            </a:r>
            <a:r>
              <a:rPr sz="1400" b="0" i="0">
                <a:solidFill>
                  <a:srgbClr val="152D42"/>
                </a:solidFill>
              </a:rPr>
              <a:t>ₛ (synthetic data).</a:t>
            </a:r>
          </a:p>
          <a:p>
            <a:pPr algn="l">
              <a:spcAft>
                <a:spcPts val="600"/>
              </a:spcAft>
            </a:pPr>
            <a:r>
              <a:rPr sz="1400" b="1" i="0">
                <a:solidFill>
                  <a:srgbClr val="152D42"/>
                </a:solidFill>
              </a:rPr>
              <a:t>Find. </a:t>
            </a:r>
            <a:r>
              <a:rPr sz="1400" b="0" i="0">
                <a:solidFill>
                  <a:srgbClr val="152D42"/>
                </a:solidFill>
              </a:rPr>
              <a:t>The spring constant κ and the spring's own mass </a:t>
            </a:r>
            <a:r>
              <a:rPr sz="1400" b="0" i="1">
                <a:solidFill>
                  <a:srgbClr val="152D42"/>
                </a:solidFill>
              </a:rPr>
              <a:t>m</a:t>
            </a:r>
            <a:r>
              <a:rPr sz="1400" b="0" i="0">
                <a:solidFill>
                  <a:srgbClr val="152D42"/>
                </a:solidFill>
              </a:rPr>
              <a:t>ₛ.</a:t>
            </a:r>
          </a:p>
        </p:txBody>
      </p:sp>
      <p:pic>
        <p:nvPicPr>
          <p:cNvPr id="19" name="eq sp_model" descr="T = 2\pi\sqrt{\frac{M + m_s/3}{\kappa}} \ \ \Rightarrow\ \ T^2 = \frac{4\pi^2}{\kappa}\,M + \frac{4\pi^2}{\kappa}\,\frac{m_s}{3}"/>
          <p:cNvPicPr>
            <a:picLocks noChangeAspect="1"/>
          </p:cNvPicPr>
          <p:nvPr/>
        </p:nvPicPr>
        <p:blipFill>
          <a:blip r:embed="rId3"/>
          <a:stretch>
            <a:fillRect/>
          </a:stretch>
        </p:blipFill>
        <p:spPr>
          <a:xfrm>
            <a:off x="6309360" y="1280160"/>
            <a:ext cx="5292432" cy="644994"/>
          </a:xfrm>
          <a:prstGeom prst="rect">
            <a:avLst/>
          </a:prstGeom>
        </p:spPr>
      </p:pic>
      <p:sp>
        <p:nvSpPr>
          <p:cNvPr id="20" name="b1_answer 1"/>
          <p:cNvSpPr txBox="1"/>
          <p:nvPr/>
        </p:nvSpPr>
        <p:spPr>
          <a:xfrm>
            <a:off x="612648" y="4681728"/>
            <a:ext cx="5486400" cy="566928"/>
          </a:xfrm>
          <a:prstGeom prst="rect">
            <a:avLst/>
          </a:prstGeom>
          <a:noFill/>
        </p:spPr>
        <p:txBody>
          <a:bodyPr wrap="square" lIns="0" tIns="0" rIns="0" bIns="0" anchor="t">
            <a:spAutoFit/>
          </a:bodyPr>
          <a:lstStyle/>
          <a:p>
            <a:pPr algn="l">
              <a:spcAft>
                <a:spcPts val="800"/>
              </a:spcAft>
            </a:pPr>
            <a:r>
              <a:rPr sz="1400" b="1" i="0">
                <a:solidFill>
                  <a:srgbClr val="152D42"/>
                </a:solidFill>
              </a:rPr>
              <a:t>Answer. </a:t>
            </a:r>
            <a:r>
              <a:rPr sz="1400" b="0" i="0">
                <a:solidFill>
                  <a:srgbClr val="152D42"/>
                </a:solidFill>
              </a:rPr>
              <a:t>Columns M and 1 for T². Slope 3.941 s²/kg gives κ = 4π²/slope = 10.02 N/m.</a:t>
            </a:r>
          </a:p>
        </p:txBody>
      </p:sp>
      <p:sp>
        <p:nvSpPr>
          <p:cNvPr id="21" name="b2_answer 2"/>
          <p:cNvSpPr txBox="1"/>
          <p:nvPr/>
        </p:nvSpPr>
        <p:spPr>
          <a:xfrm>
            <a:off x="612648" y="5276088"/>
            <a:ext cx="5486400" cy="566928"/>
          </a:xfrm>
          <a:prstGeom prst="rect">
            <a:avLst/>
          </a:prstGeom>
          <a:noFill/>
        </p:spPr>
        <p:txBody>
          <a:bodyPr wrap="square" lIns="0" tIns="0" rIns="0" bIns="0" anchor="t">
            <a:spAutoFit/>
          </a:bodyPr>
          <a:lstStyle/>
          <a:p>
            <a:pPr algn="l">
              <a:spcAft>
                <a:spcPts val="800"/>
              </a:spcAft>
            </a:pPr>
            <a:r>
              <a:rPr sz="1400" b="0" i="0">
                <a:solidFill>
                  <a:srgbClr val="506476"/>
                </a:solidFill>
              </a:rPr>
              <a:t>Intercept 0.0396 s² = slope × </a:t>
            </a:r>
            <a:r>
              <a:rPr sz="1400" b="0" i="1">
                <a:solidFill>
                  <a:srgbClr val="506476"/>
                </a:solidFill>
              </a:rPr>
              <a:t>m</a:t>
            </a:r>
            <a:r>
              <a:rPr sz="1400" b="0" i="0">
                <a:solidFill>
                  <a:srgbClr val="506476"/>
                </a:solidFill>
              </a:rPr>
              <a:t>ₛ/3, so </a:t>
            </a:r>
            <a:r>
              <a:rPr sz="1400" b="0" i="1">
                <a:solidFill>
                  <a:srgbClr val="506476"/>
                </a:solidFill>
              </a:rPr>
              <a:t>m</a:t>
            </a:r>
            <a:r>
              <a:rPr sz="1400" b="0" i="0">
                <a:solidFill>
                  <a:srgbClr val="506476"/>
                </a:solidFill>
              </a:rPr>
              <a:t>ₛ = 30.2 g (30 g in the simulation).</a:t>
            </a:r>
          </a:p>
        </p:txBody>
      </p:sp>
      <p:graphicFrame>
        <p:nvGraphicFramePr>
          <p:cNvPr id="22" name="chart spring"/>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b1_chart spring fit"/>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5"/>
          </a:graphicData>
        </a:graphic>
      </p:graphicFrame>
      <p:sp>
        <p:nvSpPr>
          <p:cNvPr id="24"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The fitted line meets T² = 0 at M = −10.1 g = −mₛ/3. Synthetic: κ = 10 N/m, mₛ = 30 g, 0.4% timing noise, seed 29.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 0 L 0.000000 0.080000 E" pathEditMode="relative" rAng="0" ptsTypes="AA">
                                      <p:cBhvr>
                                        <p:cTn id="6" dur="1600" fill="hold"/>
                                        <p:tgtEl>
                                          <p:spTgt spid="6"/>
                                        </p:tgtEl>
                                        <p:attrNameLst>
                                          <p:attrName>ppt_x</p:attrName>
                                          <p:attrName>ppt_y</p:attrName>
                                        </p:attrNameLst>
                                      </p:cBhvr>
                                      <p:rCtr x="0" y="4000"/>
                                    </p:animMotion>
                                  </p:childTnLst>
                                </p:cTn>
                              </p:par>
                              <p:par>
                                <p:cTn id="7" presetID="0" presetClass="path" presetSubtype="0" repeatCount="indefinite" accel="50000" decel="50000" autoRev="1" fill="hold" grpId="0" nodeType="withEffect">
                                  <p:stCondLst>
                                    <p:cond delay="0"/>
                                  </p:stCondLst>
                                  <p:childTnLst>
                                    <p:animMotion origin="layout" path="M 0 0 L 0.000000 0.008000 E" pathEditMode="relative" rAng="0" ptsTypes="AA">
                                      <p:cBhvr>
                                        <p:cTn id="8" dur="1600" fill="hold"/>
                                        <p:tgtEl>
                                          <p:spTgt spid="7"/>
                                        </p:tgtEl>
                                        <p:attrNameLst>
                                          <p:attrName>ppt_x</p:attrName>
                                          <p:attrName>ppt_y</p:attrName>
                                        </p:attrNameLst>
                                      </p:cBhvr>
                                      <p:rCtr x="0" y="400"/>
                                    </p:animMotion>
                                  </p:childTnLst>
                                </p:cTn>
                              </p:par>
                              <p:par>
                                <p:cTn id="9" presetID="0" presetClass="path" presetSubtype="0" repeatCount="indefinite" accel="50000" decel="50000" autoRev="1" fill="hold" grpId="0" nodeType="withEffect">
                                  <p:stCondLst>
                                    <p:cond delay="0"/>
                                  </p:stCondLst>
                                  <p:childTnLst>
                                    <p:animMotion origin="layout" path="M 0 0 L 0.000000 0.016000 E" pathEditMode="relative" rAng="0" ptsTypes="AA">
                                      <p:cBhvr>
                                        <p:cTn id="10" dur="1600" fill="hold"/>
                                        <p:tgtEl>
                                          <p:spTgt spid="8"/>
                                        </p:tgtEl>
                                        <p:attrNameLst>
                                          <p:attrName>ppt_x</p:attrName>
                                          <p:attrName>ppt_y</p:attrName>
                                        </p:attrNameLst>
                                      </p:cBhvr>
                                      <p:rCtr x="0" y="800"/>
                                    </p:animMotion>
                                  </p:childTnLst>
                                </p:cTn>
                              </p:par>
                              <p:par>
                                <p:cTn id="11" presetID="0" presetClass="path" presetSubtype="0" repeatCount="indefinite" accel="50000" decel="50000" autoRev="1" fill="hold" grpId="0" nodeType="withEffect">
                                  <p:stCondLst>
                                    <p:cond delay="0"/>
                                  </p:stCondLst>
                                  <p:childTnLst>
                                    <p:animMotion origin="layout" path="M 0 0 L 0.000000 0.024000 E" pathEditMode="relative" rAng="0" ptsTypes="AA">
                                      <p:cBhvr>
                                        <p:cTn id="12" dur="1600" fill="hold"/>
                                        <p:tgtEl>
                                          <p:spTgt spid="9"/>
                                        </p:tgtEl>
                                        <p:attrNameLst>
                                          <p:attrName>ppt_x</p:attrName>
                                          <p:attrName>ppt_y</p:attrName>
                                        </p:attrNameLst>
                                      </p:cBhvr>
                                      <p:rCtr x="0" y="1200"/>
                                    </p:animMotion>
                                  </p:childTnLst>
                                </p:cTn>
                              </p:par>
                              <p:par>
                                <p:cTn id="13" presetID="0" presetClass="path" presetSubtype="0" repeatCount="indefinite" accel="50000" decel="50000" autoRev="1" fill="hold" grpId="0" nodeType="withEffect">
                                  <p:stCondLst>
                                    <p:cond delay="0"/>
                                  </p:stCondLst>
                                  <p:childTnLst>
                                    <p:animMotion origin="layout" path="M 0 0 L 0.000000 0.032000 E" pathEditMode="relative" rAng="0" ptsTypes="AA">
                                      <p:cBhvr>
                                        <p:cTn id="14" dur="1600" fill="hold"/>
                                        <p:tgtEl>
                                          <p:spTgt spid="10"/>
                                        </p:tgtEl>
                                        <p:attrNameLst>
                                          <p:attrName>ppt_x</p:attrName>
                                          <p:attrName>ppt_y</p:attrName>
                                        </p:attrNameLst>
                                      </p:cBhvr>
                                      <p:rCtr x="0" y="1600"/>
                                    </p:animMotion>
                                  </p:childTnLst>
                                </p:cTn>
                              </p:par>
                              <p:par>
                                <p:cTn id="15" presetID="0" presetClass="path" presetSubtype="0" repeatCount="indefinite" accel="50000" decel="50000" autoRev="1" fill="hold" grpId="0" nodeType="withEffect">
                                  <p:stCondLst>
                                    <p:cond delay="0"/>
                                  </p:stCondLst>
                                  <p:childTnLst>
                                    <p:animMotion origin="layout" path="M 0 0 L 0.000000 0.040000 E" pathEditMode="relative" rAng="0" ptsTypes="AA">
                                      <p:cBhvr>
                                        <p:cTn id="16" dur="1600" fill="hold"/>
                                        <p:tgtEl>
                                          <p:spTgt spid="11"/>
                                        </p:tgtEl>
                                        <p:attrNameLst>
                                          <p:attrName>ppt_x</p:attrName>
                                          <p:attrName>ppt_y</p:attrName>
                                        </p:attrNameLst>
                                      </p:cBhvr>
                                      <p:rCtr x="0" y="2000"/>
                                    </p:animMotion>
                                  </p:childTnLst>
                                </p:cTn>
                              </p:par>
                              <p:par>
                                <p:cTn id="17" presetID="0" presetClass="path" presetSubtype="0" repeatCount="indefinite" accel="50000" decel="50000" autoRev="1" fill="hold" grpId="0" nodeType="withEffect">
                                  <p:stCondLst>
                                    <p:cond delay="0"/>
                                  </p:stCondLst>
                                  <p:childTnLst>
                                    <p:animMotion origin="layout" path="M 0 0 L 0.000000 0.048000 E" pathEditMode="relative" rAng="0" ptsTypes="AA">
                                      <p:cBhvr>
                                        <p:cTn id="18" dur="1600" fill="hold"/>
                                        <p:tgtEl>
                                          <p:spTgt spid="12"/>
                                        </p:tgtEl>
                                        <p:attrNameLst>
                                          <p:attrName>ppt_x</p:attrName>
                                          <p:attrName>ppt_y</p:attrName>
                                        </p:attrNameLst>
                                      </p:cBhvr>
                                      <p:rCtr x="0" y="2400"/>
                                    </p:animMotion>
                                  </p:childTnLst>
                                </p:cTn>
                              </p:par>
                              <p:par>
                                <p:cTn id="19" presetID="0" presetClass="path" presetSubtype="0" repeatCount="indefinite" accel="50000" decel="50000" autoRev="1" fill="hold" grpId="0" nodeType="withEffect">
                                  <p:stCondLst>
                                    <p:cond delay="0"/>
                                  </p:stCondLst>
                                  <p:childTnLst>
                                    <p:animMotion origin="layout" path="M 0 0 L 0.000000 0.056000 E" pathEditMode="relative" rAng="0" ptsTypes="AA">
                                      <p:cBhvr>
                                        <p:cTn id="20" dur="1600" fill="hold"/>
                                        <p:tgtEl>
                                          <p:spTgt spid="13"/>
                                        </p:tgtEl>
                                        <p:attrNameLst>
                                          <p:attrName>ppt_x</p:attrName>
                                          <p:attrName>ppt_y</p:attrName>
                                        </p:attrNameLst>
                                      </p:cBhvr>
                                      <p:rCtr x="0" y="2800"/>
                                    </p:animMotion>
                                  </p:childTnLst>
                                </p:cTn>
                              </p:par>
                              <p:par>
                                <p:cTn id="21" presetID="0" presetClass="path" presetSubtype="0" repeatCount="indefinite" accel="50000" decel="50000" autoRev="1" fill="hold" grpId="0" nodeType="withEffect">
                                  <p:stCondLst>
                                    <p:cond delay="0"/>
                                  </p:stCondLst>
                                  <p:childTnLst>
                                    <p:animMotion origin="layout" path="M 0 0 L 0.000000 0.064000 E" pathEditMode="relative" rAng="0" ptsTypes="AA">
                                      <p:cBhvr>
                                        <p:cTn id="22" dur="1600" fill="hold"/>
                                        <p:tgtEl>
                                          <p:spTgt spid="14"/>
                                        </p:tgtEl>
                                        <p:attrNameLst>
                                          <p:attrName>ppt_x</p:attrName>
                                          <p:attrName>ppt_y</p:attrName>
                                        </p:attrNameLst>
                                      </p:cBhvr>
                                      <p:rCtr x="0" y="3200"/>
                                    </p:animMotion>
                                  </p:childTnLst>
                                </p:cTn>
                              </p:par>
                              <p:par>
                                <p:cTn id="23" presetID="0" presetClass="path" presetSubtype="0" repeatCount="indefinite" accel="50000" decel="50000" autoRev="1" fill="hold" grpId="0" nodeType="withEffect">
                                  <p:stCondLst>
                                    <p:cond delay="0"/>
                                  </p:stCondLst>
                                  <p:childTnLst>
                                    <p:animMotion origin="layout" path="M 0 0 L 0.000000 0.072000 E" pathEditMode="relative" rAng="0" ptsTypes="AA">
                                      <p:cBhvr>
                                        <p:cTn id="24" dur="1600" fill="hold"/>
                                        <p:tgtEl>
                                          <p:spTgt spid="15"/>
                                        </p:tgtEl>
                                        <p:attrNameLst>
                                          <p:attrName>ppt_x</p:attrName>
                                          <p:attrName>ppt_y</p:attrName>
                                        </p:attrNameLst>
                                      </p:cBhvr>
                                      <p:rCtr x="0" y="3600"/>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0" grpId="0"/>
      <p:bldP spid="21" grpId="0"/>
      <p:bldGraphic spid="23"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Experiment: the hydrogen atom, Bohr's model</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17</a:t>
            </a:fld>
            <a:endParaRPr lang="en-US"/>
          </a:p>
        </p:txBody>
      </p:sp>
      <p:sp>
        <p:nvSpPr>
          <p:cNvPr id="4" name="panel"/>
          <p:cNvSpPr/>
          <p:nvPr/>
        </p:nvSpPr>
        <p:spPr>
          <a:xfrm>
            <a:off x="612648" y="1234440"/>
            <a:ext cx="5486400" cy="2148840"/>
          </a:xfrm>
          <a:prstGeom prst="roundRect">
            <a:avLst>
              <a:gd name="adj" fmla="val 4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orbit 2"/>
          <p:cNvSpPr/>
          <p:nvPr/>
        </p:nvSpPr>
        <p:spPr>
          <a:xfrm>
            <a:off x="1682496" y="2071115"/>
            <a:ext cx="475488" cy="475488"/>
          </a:xfrm>
          <a:prstGeom prst="ellipse">
            <a:avLst/>
          </a:prstGeom>
          <a:noFill/>
          <a:ln w="12700">
            <a:solidFill>
              <a:srgbClr val="AEBA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rbit 3"/>
          <p:cNvSpPr/>
          <p:nvPr/>
        </p:nvSpPr>
        <p:spPr>
          <a:xfrm>
            <a:off x="1385316" y="1773936"/>
            <a:ext cx="1069848" cy="1069848"/>
          </a:xfrm>
          <a:prstGeom prst="ellipse">
            <a:avLst/>
          </a:prstGeom>
          <a:noFill/>
          <a:ln w="12700">
            <a:solidFill>
              <a:srgbClr val="AEBA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rbit 4"/>
          <p:cNvSpPr/>
          <p:nvPr/>
        </p:nvSpPr>
        <p:spPr>
          <a:xfrm>
            <a:off x="969264" y="1357884"/>
            <a:ext cx="1901952" cy="1901952"/>
          </a:xfrm>
          <a:prstGeom prst="ellipse">
            <a:avLst/>
          </a:prstGeom>
          <a:noFill/>
          <a:ln w="12700">
            <a:solidFill>
              <a:srgbClr val="AEBA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rbit label 2"/>
          <p:cNvSpPr txBox="1"/>
          <p:nvPr/>
        </p:nvSpPr>
        <p:spPr>
          <a:xfrm>
            <a:off x="2045695" y="1881652"/>
            <a:ext cx="548640" cy="228600"/>
          </a:xfrm>
          <a:prstGeom prst="rect">
            <a:avLst/>
          </a:prstGeom>
          <a:noFill/>
        </p:spPr>
        <p:txBody>
          <a:bodyPr wrap="square" lIns="0" tIns="0" rIns="0" bIns="0" anchor="t">
            <a:spAutoFit/>
          </a:bodyPr>
          <a:lstStyle/>
          <a:p>
            <a:pPr algn="l">
              <a:spcAft>
                <a:spcPts val="800"/>
              </a:spcAft>
            </a:pPr>
            <a:r>
              <a:rPr sz="1000" b="0" i="0">
                <a:solidFill>
                  <a:srgbClr val="506476"/>
                </a:solidFill>
              </a:rPr>
              <a:t>n = 2</a:t>
            </a:r>
          </a:p>
        </p:txBody>
      </p:sp>
      <p:sp>
        <p:nvSpPr>
          <p:cNvPr id="9" name="orbit label 3"/>
          <p:cNvSpPr txBox="1"/>
          <p:nvPr/>
        </p:nvSpPr>
        <p:spPr>
          <a:xfrm>
            <a:off x="2259665" y="1667682"/>
            <a:ext cx="548640" cy="228600"/>
          </a:xfrm>
          <a:prstGeom prst="rect">
            <a:avLst/>
          </a:prstGeom>
          <a:noFill/>
        </p:spPr>
        <p:txBody>
          <a:bodyPr wrap="square" lIns="0" tIns="0" rIns="0" bIns="0" anchor="t">
            <a:spAutoFit/>
          </a:bodyPr>
          <a:lstStyle/>
          <a:p>
            <a:pPr algn="l">
              <a:spcAft>
                <a:spcPts val="800"/>
              </a:spcAft>
            </a:pPr>
            <a:r>
              <a:rPr sz="1000" b="0" i="0">
                <a:solidFill>
                  <a:srgbClr val="506476"/>
                </a:solidFill>
              </a:rPr>
              <a:t>n = 3</a:t>
            </a:r>
          </a:p>
        </p:txBody>
      </p:sp>
      <p:sp>
        <p:nvSpPr>
          <p:cNvPr id="10" name="orbit label 4"/>
          <p:cNvSpPr txBox="1"/>
          <p:nvPr/>
        </p:nvSpPr>
        <p:spPr>
          <a:xfrm>
            <a:off x="2559222" y="1368125"/>
            <a:ext cx="548640" cy="228600"/>
          </a:xfrm>
          <a:prstGeom prst="rect">
            <a:avLst/>
          </a:prstGeom>
          <a:noFill/>
        </p:spPr>
        <p:txBody>
          <a:bodyPr wrap="square" lIns="0" tIns="0" rIns="0" bIns="0" anchor="t">
            <a:spAutoFit/>
          </a:bodyPr>
          <a:lstStyle/>
          <a:p>
            <a:pPr algn="l">
              <a:spcAft>
                <a:spcPts val="800"/>
              </a:spcAft>
            </a:pPr>
            <a:r>
              <a:rPr sz="1000" b="0" i="0">
                <a:solidFill>
                  <a:srgbClr val="506476"/>
                </a:solidFill>
              </a:rPr>
              <a:t>n = 4</a:t>
            </a:r>
          </a:p>
        </p:txBody>
      </p:sp>
      <p:sp>
        <p:nvSpPr>
          <p:cNvPr id="11" name="nucleus"/>
          <p:cNvSpPr/>
          <p:nvPr/>
        </p:nvSpPr>
        <p:spPr>
          <a:xfrm>
            <a:off x="1856232" y="2244852"/>
            <a:ext cx="128016" cy="128016"/>
          </a:xfrm>
          <a:prstGeom prst="ellipse">
            <a:avLst/>
          </a:prstGeom>
          <a:solidFill>
            <a:srgbClr val="A31F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 name="electron n3"/>
          <p:cNvGrpSpPr/>
          <p:nvPr/>
        </p:nvGrpSpPr>
        <p:grpSpPr>
          <a:xfrm>
            <a:off x="1325880" y="1714500"/>
            <a:ext cx="1188719" cy="1188719"/>
            <a:chOff x="1325880" y="1714500"/>
            <a:chExt cx="1188719" cy="1188719"/>
          </a:xfrm>
        </p:grpSpPr>
        <p:sp>
          <p:nvSpPr>
            <p:cNvPr id="13" name="orbit frame 3"/>
            <p:cNvSpPr/>
            <p:nvPr/>
          </p:nvSpPr>
          <p:spPr>
            <a:xfrm>
              <a:off x="1325880" y="1714500"/>
              <a:ext cx="1188719" cy="1188719"/>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electron dot 3"/>
            <p:cNvSpPr/>
            <p:nvPr/>
          </p:nvSpPr>
          <p:spPr>
            <a:xfrm>
              <a:off x="1860804" y="1714500"/>
              <a:ext cx="118872" cy="118872"/>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5" name="electron n2"/>
          <p:cNvGrpSpPr/>
          <p:nvPr/>
        </p:nvGrpSpPr>
        <p:grpSpPr>
          <a:xfrm>
            <a:off x="1623060" y="2011679"/>
            <a:ext cx="594360" cy="594360"/>
            <a:chOff x="1623060" y="2011679"/>
            <a:chExt cx="594360" cy="594360"/>
          </a:xfrm>
        </p:grpSpPr>
        <p:sp>
          <p:nvSpPr>
            <p:cNvPr id="16" name="orbit frame 2"/>
            <p:cNvSpPr/>
            <p:nvPr/>
          </p:nvSpPr>
          <p:spPr>
            <a:xfrm>
              <a:off x="1623060" y="2011679"/>
              <a:ext cx="594360" cy="59436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electron dot 2"/>
            <p:cNvSpPr/>
            <p:nvPr/>
          </p:nvSpPr>
          <p:spPr>
            <a:xfrm>
              <a:off x="1860804" y="2011679"/>
              <a:ext cx="118872" cy="118872"/>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8" name="photon"/>
          <p:cNvSpPr/>
          <p:nvPr/>
        </p:nvSpPr>
        <p:spPr>
          <a:xfrm>
            <a:off x="2592324" y="2244852"/>
            <a:ext cx="548640" cy="128016"/>
          </a:xfrm>
          <a:custGeom>
            <a:avLst/>
            <a:gdLst/>
            <a:ahLst/>
            <a:cxnLst/>
            <a:rect l="l" t="t" r="r" b="b"/>
            <a:pathLst>
              <a:path w="600" h="140">
                <a:moveTo>
                  <a:pt x="0" y="70"/>
                </a:moveTo>
                <a:lnTo>
                  <a:pt x="15" y="102"/>
                </a:lnTo>
                <a:lnTo>
                  <a:pt x="30" y="127"/>
                </a:lnTo>
                <a:lnTo>
                  <a:pt x="45" y="139"/>
                </a:lnTo>
                <a:lnTo>
                  <a:pt x="60" y="137"/>
                </a:lnTo>
                <a:lnTo>
                  <a:pt x="75" y="119"/>
                </a:lnTo>
                <a:lnTo>
                  <a:pt x="90" y="92"/>
                </a:lnTo>
                <a:lnTo>
                  <a:pt x="105" y="59"/>
                </a:lnTo>
                <a:lnTo>
                  <a:pt x="120" y="29"/>
                </a:lnTo>
                <a:lnTo>
                  <a:pt x="135" y="8"/>
                </a:lnTo>
                <a:lnTo>
                  <a:pt x="150" y="0"/>
                </a:lnTo>
                <a:lnTo>
                  <a:pt x="165" y="8"/>
                </a:lnTo>
                <a:lnTo>
                  <a:pt x="180" y="29"/>
                </a:lnTo>
                <a:lnTo>
                  <a:pt x="195" y="59"/>
                </a:lnTo>
                <a:lnTo>
                  <a:pt x="210" y="92"/>
                </a:lnTo>
                <a:lnTo>
                  <a:pt x="225" y="119"/>
                </a:lnTo>
                <a:lnTo>
                  <a:pt x="240" y="137"/>
                </a:lnTo>
                <a:lnTo>
                  <a:pt x="255" y="139"/>
                </a:lnTo>
                <a:lnTo>
                  <a:pt x="270" y="127"/>
                </a:lnTo>
                <a:lnTo>
                  <a:pt x="285" y="102"/>
                </a:lnTo>
                <a:lnTo>
                  <a:pt x="300" y="70"/>
                </a:lnTo>
                <a:lnTo>
                  <a:pt x="315" y="38"/>
                </a:lnTo>
                <a:lnTo>
                  <a:pt x="330" y="13"/>
                </a:lnTo>
                <a:lnTo>
                  <a:pt x="345" y="1"/>
                </a:lnTo>
                <a:lnTo>
                  <a:pt x="360" y="3"/>
                </a:lnTo>
                <a:lnTo>
                  <a:pt x="375" y="21"/>
                </a:lnTo>
                <a:lnTo>
                  <a:pt x="390" y="48"/>
                </a:lnTo>
                <a:lnTo>
                  <a:pt x="405" y="81"/>
                </a:lnTo>
                <a:lnTo>
                  <a:pt x="420" y="111"/>
                </a:lnTo>
                <a:lnTo>
                  <a:pt x="435" y="132"/>
                </a:lnTo>
                <a:lnTo>
                  <a:pt x="450" y="140"/>
                </a:lnTo>
                <a:lnTo>
                  <a:pt x="465" y="132"/>
                </a:lnTo>
                <a:lnTo>
                  <a:pt x="480" y="111"/>
                </a:lnTo>
                <a:lnTo>
                  <a:pt x="495" y="81"/>
                </a:lnTo>
                <a:lnTo>
                  <a:pt x="510" y="48"/>
                </a:lnTo>
                <a:lnTo>
                  <a:pt x="525" y="21"/>
                </a:lnTo>
                <a:lnTo>
                  <a:pt x="540" y="3"/>
                </a:lnTo>
                <a:lnTo>
                  <a:pt x="555" y="1"/>
                </a:lnTo>
                <a:lnTo>
                  <a:pt x="570" y="13"/>
                </a:lnTo>
                <a:lnTo>
                  <a:pt x="585" y="38"/>
                </a:lnTo>
                <a:lnTo>
                  <a:pt x="600" y="70"/>
                </a:lnTo>
              </a:path>
            </a:pathLst>
          </a:custGeom>
          <a:noFill/>
          <a:ln w="25400">
            <a:solidFill>
              <a:srgbClr val="A31F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hoton label"/>
          <p:cNvSpPr txBox="1"/>
          <p:nvPr/>
        </p:nvSpPr>
        <p:spPr>
          <a:xfrm>
            <a:off x="4572000" y="2468880"/>
            <a:ext cx="1463040" cy="274320"/>
          </a:xfrm>
          <a:prstGeom prst="rect">
            <a:avLst/>
          </a:prstGeom>
          <a:noFill/>
        </p:spPr>
        <p:txBody>
          <a:bodyPr wrap="square" lIns="0" tIns="0" rIns="0" bIns="0" anchor="t">
            <a:spAutoFit/>
          </a:bodyPr>
          <a:lstStyle/>
          <a:p>
            <a:pPr algn="l">
              <a:spcAft>
                <a:spcPts val="800"/>
              </a:spcAft>
            </a:pPr>
            <a:r>
              <a:rPr sz="1300" b="1" i="0">
                <a:solidFill>
                  <a:srgbClr val="A31F34"/>
                </a:solidFill>
              </a:rPr>
              <a:t>Hα, 656 nm</a:t>
            </a:r>
          </a:p>
        </p:txBody>
      </p:sp>
      <p:sp>
        <p:nvSpPr>
          <p:cNvPr id="20" name="panel note"/>
          <p:cNvSpPr txBox="1"/>
          <p:nvPr/>
        </p:nvSpPr>
        <p:spPr>
          <a:xfrm>
            <a:off x="3246120" y="1325880"/>
            <a:ext cx="2743200" cy="640080"/>
          </a:xfrm>
          <a:prstGeom prst="rect">
            <a:avLst/>
          </a:prstGeom>
          <a:noFill/>
        </p:spPr>
        <p:txBody>
          <a:bodyPr wrap="square" lIns="0" tIns="0" rIns="0" bIns="0" anchor="t">
            <a:spAutoFit/>
          </a:bodyPr>
          <a:lstStyle/>
          <a:p>
            <a:pPr algn="l">
              <a:spcAft>
                <a:spcPts val="800"/>
              </a:spcAft>
            </a:pPr>
            <a:r>
              <a:rPr sz="1200" b="0" i="0">
                <a:solidFill>
                  <a:srgbClr val="506476"/>
                </a:solidFill>
              </a:rPr>
              <a:t>Click: the electron drops from n = 3 to n = 2 and emits a photon.</a:t>
            </a:r>
          </a:p>
        </p:txBody>
      </p:sp>
      <p:sp>
        <p:nvSpPr>
          <p:cNvPr id="21" name="given find"/>
          <p:cNvSpPr txBox="1"/>
          <p:nvPr/>
        </p:nvSpPr>
        <p:spPr>
          <a:xfrm>
            <a:off x="612648" y="3520440"/>
            <a:ext cx="5486400" cy="1097280"/>
          </a:xfrm>
          <a:prstGeom prst="rect">
            <a:avLst/>
          </a:prstGeom>
          <a:noFill/>
        </p:spPr>
        <p:txBody>
          <a:bodyPr wrap="square" lIns="0" tIns="0" rIns="0" bIns="0" anchor="t">
            <a:spAutoFit/>
          </a:bodyPr>
          <a:lstStyle/>
          <a:p>
            <a:pPr algn="l">
              <a:spcAft>
                <a:spcPts val="600"/>
              </a:spcAft>
            </a:pPr>
            <a:r>
              <a:rPr sz="1400" b="1" i="0">
                <a:solidFill>
                  <a:srgbClr val="152D42"/>
                </a:solidFill>
              </a:rPr>
              <a:t>Given. </a:t>
            </a:r>
            <a:r>
              <a:rPr sz="1400" b="0" i="0">
                <a:solidFill>
                  <a:srgbClr val="152D42"/>
                </a:solidFill>
              </a:rPr>
              <a:t>Five Balmer lines (</a:t>
            </a:r>
            <a:r>
              <a:rPr sz="1400" b="0" i="1">
                <a:solidFill>
                  <a:srgbClr val="152D42"/>
                </a:solidFill>
              </a:rPr>
              <a:t>n</a:t>
            </a:r>
            <a:r>
              <a:rPr sz="1400" b="0" i="0">
                <a:solidFill>
                  <a:srgbClr val="152D42"/>
                </a:solidFill>
              </a:rPr>
              <a:t> = 3 to 7 → 2) in air: 656.28, 486.13, 434.05, 410.17, 397.01 nm, converted to vacuum.</a:t>
            </a:r>
          </a:p>
          <a:p>
            <a:pPr algn="l">
              <a:spcAft>
                <a:spcPts val="600"/>
              </a:spcAft>
            </a:pPr>
            <a:r>
              <a:rPr sz="1400" b="1" i="0">
                <a:solidFill>
                  <a:srgbClr val="152D42"/>
                </a:solidFill>
              </a:rPr>
              <a:t>Find. </a:t>
            </a:r>
            <a:r>
              <a:rPr sz="1400" b="0" i="0">
                <a:solidFill>
                  <a:srgbClr val="152D42"/>
                </a:solidFill>
              </a:rPr>
              <a:t>R, and is the intercept R/4, as Bohr predicts?</a:t>
            </a:r>
          </a:p>
        </p:txBody>
      </p:sp>
      <p:pic>
        <p:nvPicPr>
          <p:cNvPr id="22" name="eq bohr_model" descr="\frac{1}{\lambda} = R\Bigl(\frac{1}{2^2} - \frac{1}{n^2}\Bigr) = \frac{R}{4} - R\,\frac{1}{n^2}"/>
          <p:cNvPicPr>
            <a:picLocks noChangeAspect="1"/>
          </p:cNvPicPr>
          <p:nvPr/>
        </p:nvPicPr>
        <p:blipFill>
          <a:blip r:embed="rId3"/>
          <a:stretch>
            <a:fillRect/>
          </a:stretch>
        </p:blipFill>
        <p:spPr>
          <a:xfrm>
            <a:off x="6309360" y="1280160"/>
            <a:ext cx="3049066" cy="580186"/>
          </a:xfrm>
          <a:prstGeom prst="rect">
            <a:avLst/>
          </a:prstGeom>
        </p:spPr>
      </p:pic>
      <p:sp>
        <p:nvSpPr>
          <p:cNvPr id="23" name="b2_answer 1"/>
          <p:cNvSpPr txBox="1"/>
          <p:nvPr/>
        </p:nvSpPr>
        <p:spPr>
          <a:xfrm>
            <a:off x="612648" y="4681728"/>
            <a:ext cx="5486400" cy="566928"/>
          </a:xfrm>
          <a:prstGeom prst="rect">
            <a:avLst/>
          </a:prstGeom>
          <a:noFill/>
        </p:spPr>
        <p:txBody>
          <a:bodyPr wrap="square" lIns="0" tIns="0" rIns="0" bIns="0" anchor="t">
            <a:spAutoFit/>
          </a:bodyPr>
          <a:lstStyle/>
          <a:p>
            <a:pPr algn="l">
              <a:spcAft>
                <a:spcPts val="800"/>
              </a:spcAft>
            </a:pPr>
            <a:r>
              <a:rPr sz="1400" b="1" i="0">
                <a:solidFill>
                  <a:srgbClr val="152D42"/>
                </a:solidFill>
              </a:rPr>
              <a:t>Answer. </a:t>
            </a:r>
            <a:r>
              <a:rPr sz="1400" b="0" i="0">
                <a:solidFill>
                  <a:srgbClr val="152D42"/>
                </a:solidFill>
              </a:rPr>
              <a:t>Columns 1 and 1/n². Slope: </a:t>
            </a:r>
            <a:r>
              <a:rPr sz="1400" b="1" i="0">
                <a:solidFill>
                  <a:srgbClr val="152D42"/>
                </a:solidFill>
              </a:rPr>
              <a:t>R = 1.096775 × 10⁷ m⁻¹</a:t>
            </a:r>
            <a:r>
              <a:rPr sz="1400" b="0" i="0">
                <a:solidFill>
                  <a:srgbClr val="152D42"/>
                </a:solidFill>
              </a:rPr>
              <a:t> (hydrogen, accepted 1.096776 × 10⁷).</a:t>
            </a:r>
          </a:p>
        </p:txBody>
      </p:sp>
      <p:sp>
        <p:nvSpPr>
          <p:cNvPr id="24" name="b3_answer 2"/>
          <p:cNvSpPr txBox="1"/>
          <p:nvPr/>
        </p:nvSpPr>
        <p:spPr>
          <a:xfrm>
            <a:off x="612648" y="5276088"/>
            <a:ext cx="5486400" cy="566928"/>
          </a:xfrm>
          <a:prstGeom prst="rect">
            <a:avLst/>
          </a:prstGeom>
          <a:noFill/>
        </p:spPr>
        <p:txBody>
          <a:bodyPr wrap="square" lIns="0" tIns="0" rIns="0" bIns="0" anchor="t">
            <a:spAutoFit/>
          </a:bodyPr>
          <a:lstStyle/>
          <a:p>
            <a:pPr algn="l">
              <a:spcAft>
                <a:spcPts val="800"/>
              </a:spcAft>
            </a:pPr>
            <a:r>
              <a:rPr sz="1400" b="0" i="0">
                <a:solidFill>
                  <a:srgbClr val="506476"/>
                </a:solidFill>
              </a:rPr>
              <a:t>4 × intercept = 1.096785 × 10⁷ m⁻¹, the same to 1 part in 10⁵. The intercept is the series limit, 364.70 nm.</a:t>
            </a:r>
          </a:p>
        </p:txBody>
      </p:sp>
      <p:graphicFrame>
        <p:nvGraphicFramePr>
          <p:cNvPr id="25" name="chart bohr"/>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b2_chart bohr fit"/>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5"/>
          </a:graphicData>
        </a:graphic>
      </p:graphicFrame>
      <p:sp>
        <p:nvSpPr>
          <p:cNvPr id="27"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Air wavelengths: Tatum, Stellar Atmospheres §7.3; vacuum by Edlén's formula. The line meets 1/n² = 0 at the series limit.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childTnLst>
                                    <p:animRot by="21600000">
                                      <p:cBhvr>
                                        <p:cTn id="6" dur="6750" fill="hold"/>
                                        <p:tgtEl>
                                          <p:spTgt spid="1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8" presetClass="emph" presetSubtype="0" repeatCount="indefinite" fill="hold" nodeType="withEffect">
                                  <p:stCondLst>
                                    <p:cond delay="0"/>
                                  </p:stCondLst>
                                  <p:childTnLst>
                                    <p:animRot by="21600000">
                                      <p:cBhvr>
                                        <p:cTn id="14" dur="2000" fill="hold"/>
                                        <p:tgtEl>
                                          <p:spTgt spid="15"/>
                                        </p:tgtEl>
                                        <p:attrNameLst>
                                          <p:attrName>r</p:attrName>
                                        </p:attrNameLst>
                                      </p:cBhvr>
                                    </p:animRot>
                                  </p:childTnLst>
                                </p:cTn>
                              </p:par>
                              <p:par>
                                <p:cTn id="15" presetID="1" presetClass="entr" presetSubtype="0" fill="hold" grpId="0" nodeType="withEffect" nodePh="1">
                                  <p:stCondLst>
                                    <p:cond delay="0"/>
                                  </p:stCondLst>
                                  <p:endCondLst>
                                    <p:cond evt="begin" delay="0">
                                      <p:tn val="15"/>
                                    </p:cond>
                                  </p:endCondLst>
                                  <p:childTnLst>
                                    <p:set>
                                      <p:cBhvr>
                                        <p:cTn id="16" dur="1" fill="hold">
                                          <p:stCondLst>
                                            <p:cond delay="0"/>
                                          </p:stCondLst>
                                        </p:cTn>
                                        <p:tgtEl>
                                          <p:spTgt spid="18">
                                            <p:txEl>
                                              <p:charRg st="4294967295" end="4294967295"/>
                                            </p:txEl>
                                          </p:spTgt>
                                        </p:tgtEl>
                                        <p:attrNameLst>
                                          <p:attrName>style.visibility</p:attrName>
                                        </p:attrNameLst>
                                      </p:cBhvr>
                                      <p:to>
                                        <p:strVal val="visible"/>
                                      </p:to>
                                    </p:set>
                                  </p:childTnLst>
                                </p:cTn>
                              </p:par>
                              <p:par>
                                <p:cTn id="17" presetID="1" presetClass="entr" presetSubtype="0" fill="hold" grpId="0" nodeType="withEffect">
                                  <p:stCondLst>
                                    <p:cond delay="150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3" grpId="0"/>
      <p:bldP spid="24" grpId="0"/>
      <p:bldGraphic spid="26"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Experiment: the photoelectric effect</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18</a:t>
            </a:fld>
            <a:endParaRPr lang="en-US"/>
          </a:p>
        </p:txBody>
      </p:sp>
      <p:sp>
        <p:nvSpPr>
          <p:cNvPr id="4" name="panel"/>
          <p:cNvSpPr/>
          <p:nvPr/>
        </p:nvSpPr>
        <p:spPr>
          <a:xfrm>
            <a:off x="612648" y="1234440"/>
            <a:ext cx="5486400" cy="2148840"/>
          </a:xfrm>
          <a:prstGeom prst="roundRect">
            <a:avLst>
              <a:gd name="adj" fmla="val 4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cathode"/>
          <p:cNvSpPr/>
          <p:nvPr/>
        </p:nvSpPr>
        <p:spPr>
          <a:xfrm>
            <a:off x="2103120" y="1554480"/>
            <a:ext cx="137160" cy="1508760"/>
          </a:xfrm>
          <a:prstGeom prst="rect">
            <a:avLst/>
          </a:prstGeom>
          <a:solidFill>
            <a:srgbClr val="5064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ollector"/>
          <p:cNvSpPr/>
          <p:nvPr/>
        </p:nvSpPr>
        <p:spPr>
          <a:xfrm>
            <a:off x="5029200" y="1554480"/>
            <a:ext cx="137160" cy="1508760"/>
          </a:xfrm>
          <a:prstGeom prst="rect">
            <a:avLst/>
          </a:prstGeom>
          <a:noFill/>
          <a:ln w="19050">
            <a:solidFill>
              <a:srgbClr val="152D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lamp label"/>
          <p:cNvSpPr txBox="1"/>
          <p:nvPr/>
        </p:nvSpPr>
        <p:spPr>
          <a:xfrm>
            <a:off x="777240" y="3090672"/>
            <a:ext cx="1280160" cy="256032"/>
          </a:xfrm>
          <a:prstGeom prst="rect">
            <a:avLst/>
          </a:prstGeom>
          <a:noFill/>
        </p:spPr>
        <p:txBody>
          <a:bodyPr wrap="square" lIns="0" tIns="0" rIns="0" bIns="0" anchor="t">
            <a:spAutoFit/>
          </a:bodyPr>
          <a:lstStyle/>
          <a:p>
            <a:pPr algn="l">
              <a:spcAft>
                <a:spcPts val="800"/>
              </a:spcAft>
            </a:pPr>
            <a:r>
              <a:rPr sz="1100" b="0" i="0">
                <a:solidFill>
                  <a:srgbClr val="506476"/>
                </a:solidFill>
              </a:rPr>
              <a:t>Hg lamp light</a:t>
            </a:r>
          </a:p>
        </p:txBody>
      </p:sp>
      <p:sp>
        <p:nvSpPr>
          <p:cNvPr id="8" name="cathode label"/>
          <p:cNvSpPr txBox="1"/>
          <p:nvPr/>
        </p:nvSpPr>
        <p:spPr>
          <a:xfrm>
            <a:off x="1600200" y="3090672"/>
            <a:ext cx="1188720" cy="256032"/>
          </a:xfrm>
          <a:prstGeom prst="rect">
            <a:avLst/>
          </a:prstGeom>
          <a:noFill/>
        </p:spPr>
        <p:txBody>
          <a:bodyPr wrap="square" lIns="0" tIns="0" rIns="0" bIns="0" anchor="t">
            <a:spAutoFit/>
          </a:bodyPr>
          <a:lstStyle/>
          <a:p>
            <a:pPr algn="ctr">
              <a:spcAft>
                <a:spcPts val="800"/>
              </a:spcAft>
            </a:pPr>
            <a:r>
              <a:rPr sz="1100" b="0" i="0">
                <a:solidFill>
                  <a:srgbClr val="506476"/>
                </a:solidFill>
              </a:rPr>
              <a:t>metal (φ)</a:t>
            </a:r>
          </a:p>
        </p:txBody>
      </p:sp>
      <p:sp>
        <p:nvSpPr>
          <p:cNvPr id="9" name="collector label"/>
          <p:cNvSpPr txBox="1"/>
          <p:nvPr/>
        </p:nvSpPr>
        <p:spPr>
          <a:xfrm>
            <a:off x="4526280" y="3090672"/>
            <a:ext cx="1188720" cy="256032"/>
          </a:xfrm>
          <a:prstGeom prst="rect">
            <a:avLst/>
          </a:prstGeom>
          <a:noFill/>
        </p:spPr>
        <p:txBody>
          <a:bodyPr wrap="square" lIns="0" tIns="0" rIns="0" bIns="0" anchor="t">
            <a:spAutoFit/>
          </a:bodyPr>
          <a:lstStyle/>
          <a:p>
            <a:pPr algn="ctr">
              <a:spcAft>
                <a:spcPts val="800"/>
              </a:spcAft>
            </a:pPr>
            <a:r>
              <a:rPr sz="1100" b="0" i="0">
                <a:solidFill>
                  <a:srgbClr val="506476"/>
                </a:solidFill>
              </a:rPr>
              <a:t>collector</a:t>
            </a:r>
          </a:p>
        </p:txBody>
      </p:sp>
      <p:sp>
        <p:nvSpPr>
          <p:cNvPr id="10" name="photon 1"/>
          <p:cNvSpPr/>
          <p:nvPr/>
        </p:nvSpPr>
        <p:spPr>
          <a:xfrm>
            <a:off x="542239" y="1296619"/>
            <a:ext cx="373075" cy="199339"/>
          </a:xfrm>
          <a:custGeom>
            <a:avLst/>
            <a:gdLst/>
            <a:ahLst/>
            <a:cxnLst/>
            <a:rect l="l" t="t" r="r" b="b"/>
            <a:pathLst>
              <a:path w="408" h="218">
                <a:moveTo>
                  <a:pt x="0" y="0"/>
                </a:moveTo>
                <a:lnTo>
                  <a:pt x="2" y="22"/>
                </a:lnTo>
                <a:lnTo>
                  <a:pt x="6" y="42"/>
                </a:lnTo>
                <a:lnTo>
                  <a:pt x="11" y="56"/>
                </a:lnTo>
                <a:lnTo>
                  <a:pt x="20" y="64"/>
                </a:lnTo>
                <a:lnTo>
                  <a:pt x="32" y="66"/>
                </a:lnTo>
                <a:lnTo>
                  <a:pt x="47" y="61"/>
                </a:lnTo>
                <a:lnTo>
                  <a:pt x="64" y="51"/>
                </a:lnTo>
                <a:lnTo>
                  <a:pt x="82" y="38"/>
                </a:lnTo>
                <a:lnTo>
                  <a:pt x="100" y="26"/>
                </a:lnTo>
                <a:lnTo>
                  <a:pt x="117" y="16"/>
                </a:lnTo>
                <a:lnTo>
                  <a:pt x="132" y="11"/>
                </a:lnTo>
                <a:lnTo>
                  <a:pt x="144" y="12"/>
                </a:lnTo>
                <a:lnTo>
                  <a:pt x="152" y="20"/>
                </a:lnTo>
                <a:lnTo>
                  <a:pt x="158" y="35"/>
                </a:lnTo>
                <a:lnTo>
                  <a:pt x="161" y="54"/>
                </a:lnTo>
                <a:lnTo>
                  <a:pt x="163" y="76"/>
                </a:lnTo>
                <a:lnTo>
                  <a:pt x="166" y="98"/>
                </a:lnTo>
                <a:lnTo>
                  <a:pt x="169" y="118"/>
                </a:lnTo>
                <a:lnTo>
                  <a:pt x="175" y="132"/>
                </a:lnTo>
                <a:lnTo>
                  <a:pt x="183" y="141"/>
                </a:lnTo>
                <a:lnTo>
                  <a:pt x="195" y="142"/>
                </a:lnTo>
                <a:lnTo>
                  <a:pt x="210" y="137"/>
                </a:lnTo>
                <a:lnTo>
                  <a:pt x="227" y="127"/>
                </a:lnTo>
                <a:lnTo>
                  <a:pt x="245" y="114"/>
                </a:lnTo>
                <a:lnTo>
                  <a:pt x="263" y="102"/>
                </a:lnTo>
                <a:lnTo>
                  <a:pt x="280" y="92"/>
                </a:lnTo>
                <a:lnTo>
                  <a:pt x="295" y="87"/>
                </a:lnTo>
                <a:lnTo>
                  <a:pt x="307" y="88"/>
                </a:lnTo>
                <a:lnTo>
                  <a:pt x="316" y="96"/>
                </a:lnTo>
                <a:lnTo>
                  <a:pt x="321" y="111"/>
                </a:lnTo>
                <a:lnTo>
                  <a:pt x="324" y="130"/>
                </a:lnTo>
                <a:lnTo>
                  <a:pt x="327" y="152"/>
                </a:lnTo>
                <a:lnTo>
                  <a:pt x="329" y="174"/>
                </a:lnTo>
                <a:lnTo>
                  <a:pt x="332" y="194"/>
                </a:lnTo>
                <a:lnTo>
                  <a:pt x="338" y="208"/>
                </a:lnTo>
                <a:lnTo>
                  <a:pt x="346" y="217"/>
                </a:lnTo>
                <a:lnTo>
                  <a:pt x="358" y="218"/>
                </a:lnTo>
                <a:lnTo>
                  <a:pt x="373" y="213"/>
                </a:lnTo>
                <a:lnTo>
                  <a:pt x="390" y="203"/>
                </a:lnTo>
                <a:lnTo>
                  <a:pt x="408" y="190"/>
                </a:lnTo>
              </a:path>
            </a:pathLst>
          </a:custGeom>
          <a:noFill/>
          <a:ln w="25400">
            <a:solidFill>
              <a:srgbClr val="A31F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hoton 2"/>
          <p:cNvSpPr/>
          <p:nvPr/>
        </p:nvSpPr>
        <p:spPr>
          <a:xfrm>
            <a:off x="542239" y="1616659"/>
            <a:ext cx="373075" cy="199339"/>
          </a:xfrm>
          <a:custGeom>
            <a:avLst/>
            <a:gdLst/>
            <a:ahLst/>
            <a:cxnLst/>
            <a:rect l="l" t="t" r="r" b="b"/>
            <a:pathLst>
              <a:path w="408" h="218">
                <a:moveTo>
                  <a:pt x="0" y="0"/>
                </a:moveTo>
                <a:lnTo>
                  <a:pt x="2" y="22"/>
                </a:lnTo>
                <a:lnTo>
                  <a:pt x="6" y="42"/>
                </a:lnTo>
                <a:lnTo>
                  <a:pt x="11" y="56"/>
                </a:lnTo>
                <a:lnTo>
                  <a:pt x="20" y="64"/>
                </a:lnTo>
                <a:lnTo>
                  <a:pt x="32" y="66"/>
                </a:lnTo>
                <a:lnTo>
                  <a:pt x="47" y="61"/>
                </a:lnTo>
                <a:lnTo>
                  <a:pt x="64" y="51"/>
                </a:lnTo>
                <a:lnTo>
                  <a:pt x="82" y="38"/>
                </a:lnTo>
                <a:lnTo>
                  <a:pt x="100" y="26"/>
                </a:lnTo>
                <a:lnTo>
                  <a:pt x="117" y="16"/>
                </a:lnTo>
                <a:lnTo>
                  <a:pt x="132" y="11"/>
                </a:lnTo>
                <a:lnTo>
                  <a:pt x="144" y="12"/>
                </a:lnTo>
                <a:lnTo>
                  <a:pt x="152" y="20"/>
                </a:lnTo>
                <a:lnTo>
                  <a:pt x="158" y="35"/>
                </a:lnTo>
                <a:lnTo>
                  <a:pt x="161" y="54"/>
                </a:lnTo>
                <a:lnTo>
                  <a:pt x="163" y="76"/>
                </a:lnTo>
                <a:lnTo>
                  <a:pt x="166" y="98"/>
                </a:lnTo>
                <a:lnTo>
                  <a:pt x="169" y="118"/>
                </a:lnTo>
                <a:lnTo>
                  <a:pt x="175" y="132"/>
                </a:lnTo>
                <a:lnTo>
                  <a:pt x="183" y="141"/>
                </a:lnTo>
                <a:lnTo>
                  <a:pt x="195" y="142"/>
                </a:lnTo>
                <a:lnTo>
                  <a:pt x="210" y="137"/>
                </a:lnTo>
                <a:lnTo>
                  <a:pt x="227" y="127"/>
                </a:lnTo>
                <a:lnTo>
                  <a:pt x="245" y="114"/>
                </a:lnTo>
                <a:lnTo>
                  <a:pt x="263" y="102"/>
                </a:lnTo>
                <a:lnTo>
                  <a:pt x="280" y="92"/>
                </a:lnTo>
                <a:lnTo>
                  <a:pt x="295" y="87"/>
                </a:lnTo>
                <a:lnTo>
                  <a:pt x="307" y="88"/>
                </a:lnTo>
                <a:lnTo>
                  <a:pt x="316" y="96"/>
                </a:lnTo>
                <a:lnTo>
                  <a:pt x="321" y="111"/>
                </a:lnTo>
                <a:lnTo>
                  <a:pt x="324" y="130"/>
                </a:lnTo>
                <a:lnTo>
                  <a:pt x="327" y="152"/>
                </a:lnTo>
                <a:lnTo>
                  <a:pt x="329" y="174"/>
                </a:lnTo>
                <a:lnTo>
                  <a:pt x="332" y="194"/>
                </a:lnTo>
                <a:lnTo>
                  <a:pt x="338" y="208"/>
                </a:lnTo>
                <a:lnTo>
                  <a:pt x="346" y="217"/>
                </a:lnTo>
                <a:lnTo>
                  <a:pt x="358" y="218"/>
                </a:lnTo>
                <a:lnTo>
                  <a:pt x="373" y="213"/>
                </a:lnTo>
                <a:lnTo>
                  <a:pt x="390" y="203"/>
                </a:lnTo>
                <a:lnTo>
                  <a:pt x="408" y="190"/>
                </a:lnTo>
              </a:path>
            </a:pathLst>
          </a:custGeom>
          <a:noFill/>
          <a:ln w="25400">
            <a:solidFill>
              <a:srgbClr val="A31F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hoton 3"/>
          <p:cNvSpPr/>
          <p:nvPr/>
        </p:nvSpPr>
        <p:spPr>
          <a:xfrm>
            <a:off x="542239" y="1936699"/>
            <a:ext cx="373075" cy="199339"/>
          </a:xfrm>
          <a:custGeom>
            <a:avLst/>
            <a:gdLst/>
            <a:ahLst/>
            <a:cxnLst/>
            <a:rect l="l" t="t" r="r" b="b"/>
            <a:pathLst>
              <a:path w="408" h="218">
                <a:moveTo>
                  <a:pt x="0" y="0"/>
                </a:moveTo>
                <a:lnTo>
                  <a:pt x="2" y="22"/>
                </a:lnTo>
                <a:lnTo>
                  <a:pt x="6" y="42"/>
                </a:lnTo>
                <a:lnTo>
                  <a:pt x="11" y="56"/>
                </a:lnTo>
                <a:lnTo>
                  <a:pt x="20" y="64"/>
                </a:lnTo>
                <a:lnTo>
                  <a:pt x="32" y="66"/>
                </a:lnTo>
                <a:lnTo>
                  <a:pt x="47" y="61"/>
                </a:lnTo>
                <a:lnTo>
                  <a:pt x="64" y="51"/>
                </a:lnTo>
                <a:lnTo>
                  <a:pt x="82" y="38"/>
                </a:lnTo>
                <a:lnTo>
                  <a:pt x="100" y="26"/>
                </a:lnTo>
                <a:lnTo>
                  <a:pt x="117" y="16"/>
                </a:lnTo>
                <a:lnTo>
                  <a:pt x="132" y="11"/>
                </a:lnTo>
                <a:lnTo>
                  <a:pt x="144" y="12"/>
                </a:lnTo>
                <a:lnTo>
                  <a:pt x="152" y="20"/>
                </a:lnTo>
                <a:lnTo>
                  <a:pt x="158" y="35"/>
                </a:lnTo>
                <a:lnTo>
                  <a:pt x="161" y="54"/>
                </a:lnTo>
                <a:lnTo>
                  <a:pt x="163" y="76"/>
                </a:lnTo>
                <a:lnTo>
                  <a:pt x="166" y="98"/>
                </a:lnTo>
                <a:lnTo>
                  <a:pt x="169" y="118"/>
                </a:lnTo>
                <a:lnTo>
                  <a:pt x="175" y="132"/>
                </a:lnTo>
                <a:lnTo>
                  <a:pt x="183" y="141"/>
                </a:lnTo>
                <a:lnTo>
                  <a:pt x="195" y="142"/>
                </a:lnTo>
                <a:lnTo>
                  <a:pt x="210" y="137"/>
                </a:lnTo>
                <a:lnTo>
                  <a:pt x="227" y="127"/>
                </a:lnTo>
                <a:lnTo>
                  <a:pt x="245" y="114"/>
                </a:lnTo>
                <a:lnTo>
                  <a:pt x="263" y="102"/>
                </a:lnTo>
                <a:lnTo>
                  <a:pt x="280" y="92"/>
                </a:lnTo>
                <a:lnTo>
                  <a:pt x="295" y="87"/>
                </a:lnTo>
                <a:lnTo>
                  <a:pt x="307" y="88"/>
                </a:lnTo>
                <a:lnTo>
                  <a:pt x="316" y="96"/>
                </a:lnTo>
                <a:lnTo>
                  <a:pt x="321" y="111"/>
                </a:lnTo>
                <a:lnTo>
                  <a:pt x="324" y="130"/>
                </a:lnTo>
                <a:lnTo>
                  <a:pt x="327" y="152"/>
                </a:lnTo>
                <a:lnTo>
                  <a:pt x="329" y="174"/>
                </a:lnTo>
                <a:lnTo>
                  <a:pt x="332" y="194"/>
                </a:lnTo>
                <a:lnTo>
                  <a:pt x="338" y="208"/>
                </a:lnTo>
                <a:lnTo>
                  <a:pt x="346" y="217"/>
                </a:lnTo>
                <a:lnTo>
                  <a:pt x="358" y="218"/>
                </a:lnTo>
                <a:lnTo>
                  <a:pt x="373" y="213"/>
                </a:lnTo>
                <a:lnTo>
                  <a:pt x="390" y="203"/>
                </a:lnTo>
                <a:lnTo>
                  <a:pt x="408" y="190"/>
                </a:lnTo>
              </a:path>
            </a:pathLst>
          </a:custGeom>
          <a:noFill/>
          <a:ln w="25400">
            <a:solidFill>
              <a:srgbClr val="A31F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electron 1"/>
          <p:cNvSpPr/>
          <p:nvPr/>
        </p:nvSpPr>
        <p:spPr>
          <a:xfrm>
            <a:off x="2286000" y="2002536"/>
            <a:ext cx="109728" cy="109728"/>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electron 2"/>
          <p:cNvSpPr/>
          <p:nvPr/>
        </p:nvSpPr>
        <p:spPr>
          <a:xfrm>
            <a:off x="2286000" y="2322576"/>
            <a:ext cx="109728" cy="109728"/>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electron 3"/>
          <p:cNvSpPr/>
          <p:nvPr/>
        </p:nvSpPr>
        <p:spPr>
          <a:xfrm>
            <a:off x="2286000" y="2642616"/>
            <a:ext cx="109728" cy="109728"/>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anel note"/>
          <p:cNvSpPr txBox="1"/>
          <p:nvPr/>
        </p:nvSpPr>
        <p:spPr>
          <a:xfrm>
            <a:off x="2423160" y="1298448"/>
            <a:ext cx="2560320" cy="502920"/>
          </a:xfrm>
          <a:prstGeom prst="rect">
            <a:avLst/>
          </a:prstGeom>
          <a:noFill/>
        </p:spPr>
        <p:txBody>
          <a:bodyPr wrap="square" lIns="0" tIns="0" rIns="0" bIns="0" anchor="t">
            <a:spAutoFit/>
          </a:bodyPr>
          <a:lstStyle/>
          <a:p>
            <a:pPr algn="l">
              <a:spcAft>
                <a:spcPts val="800"/>
              </a:spcAft>
            </a:pPr>
            <a:r>
              <a:rPr sz="1100" b="0" i="0">
                <a:solidFill>
                  <a:srgbClr val="506476"/>
                </a:solidFill>
              </a:rPr>
              <a:t>−Vₛ on the collector turns the fastest electrons back just in time.</a:t>
            </a:r>
          </a:p>
        </p:txBody>
      </p:sp>
      <p:sp>
        <p:nvSpPr>
          <p:cNvPr id="17" name="given find"/>
          <p:cNvSpPr txBox="1"/>
          <p:nvPr/>
        </p:nvSpPr>
        <p:spPr>
          <a:xfrm>
            <a:off x="612648" y="3520440"/>
            <a:ext cx="5486400" cy="1097280"/>
          </a:xfrm>
          <a:prstGeom prst="rect">
            <a:avLst/>
          </a:prstGeom>
          <a:noFill/>
        </p:spPr>
        <p:txBody>
          <a:bodyPr wrap="square" lIns="0" tIns="0" rIns="0" bIns="0" anchor="t">
            <a:spAutoFit/>
          </a:bodyPr>
          <a:lstStyle/>
          <a:p>
            <a:pPr algn="l">
              <a:spcAft>
                <a:spcPts val="600"/>
              </a:spcAft>
            </a:pPr>
            <a:r>
              <a:rPr sz="1400" b="1" i="0">
                <a:solidFill>
                  <a:srgbClr val="152D42"/>
                </a:solidFill>
              </a:rPr>
              <a:t>Given. </a:t>
            </a:r>
            <a:r>
              <a:rPr sz="1400" b="0" i="0">
                <a:solidFill>
                  <a:srgbClr val="152D42"/>
                </a:solidFill>
              </a:rPr>
              <a:t>Mercury lines 365.0, 404.7, 435.8, 546.1 nm; stopping voltages 1.510, 1.175, 0.944, 0.380 V (synthetic).</a:t>
            </a:r>
          </a:p>
          <a:p>
            <a:pPr algn="l">
              <a:spcAft>
                <a:spcPts val="600"/>
              </a:spcAft>
            </a:pPr>
            <a:r>
              <a:rPr sz="1400" b="1" i="0">
                <a:solidFill>
                  <a:srgbClr val="152D42"/>
                </a:solidFill>
              </a:rPr>
              <a:t>Find. </a:t>
            </a:r>
            <a:r>
              <a:rPr sz="1400" b="0" i="0">
                <a:solidFill>
                  <a:srgbClr val="152D42"/>
                </a:solidFill>
              </a:rPr>
              <a:t>Planck's constant h and the work function φ.</a:t>
            </a:r>
          </a:p>
        </p:txBody>
      </p:sp>
      <p:pic>
        <p:nvPicPr>
          <p:cNvPr id="18" name="eq pe_model" descr="e\,V_s = h f - \phi \ \ \Rightarrow\ \ V_s = \frac{h}{e}\,f - \frac{\phi}{e}"/>
          <p:cNvPicPr>
            <a:picLocks noChangeAspect="1"/>
          </p:cNvPicPr>
          <p:nvPr/>
        </p:nvPicPr>
        <p:blipFill>
          <a:blip r:embed="rId3"/>
          <a:stretch>
            <a:fillRect/>
          </a:stretch>
        </p:blipFill>
        <p:spPr>
          <a:xfrm>
            <a:off x="6309360" y="1280160"/>
            <a:ext cx="3585476" cy="562470"/>
          </a:xfrm>
          <a:prstGeom prst="rect">
            <a:avLst/>
          </a:prstGeom>
        </p:spPr>
      </p:pic>
      <p:sp>
        <p:nvSpPr>
          <p:cNvPr id="19" name="b1_answer 1"/>
          <p:cNvSpPr txBox="1"/>
          <p:nvPr/>
        </p:nvSpPr>
        <p:spPr>
          <a:xfrm>
            <a:off x="612648" y="4681728"/>
            <a:ext cx="5486400" cy="566928"/>
          </a:xfrm>
          <a:prstGeom prst="rect">
            <a:avLst/>
          </a:prstGeom>
          <a:noFill/>
        </p:spPr>
        <p:txBody>
          <a:bodyPr wrap="square" lIns="0" tIns="0" rIns="0" bIns="0" anchor="t">
            <a:spAutoFit/>
          </a:bodyPr>
          <a:lstStyle/>
          <a:p>
            <a:pPr algn="l">
              <a:spcAft>
                <a:spcPts val="800"/>
              </a:spcAft>
            </a:pPr>
            <a:r>
              <a:rPr sz="1400" b="1" i="0">
                <a:solidFill>
                  <a:srgbClr val="152D42"/>
                </a:solidFill>
              </a:rPr>
              <a:t>Answer. </a:t>
            </a:r>
            <a:r>
              <a:rPr sz="1400" b="0" i="0">
                <a:solidFill>
                  <a:srgbClr val="152D42"/>
                </a:solidFill>
              </a:rPr>
              <a:t>Columns f and 1, with f in units of 10¹⁴ Hz (slide 12). Slope: </a:t>
            </a:r>
            <a:r>
              <a:rPr sz="1400" b="1" i="0">
                <a:solidFill>
                  <a:srgbClr val="152D42"/>
                </a:solidFill>
              </a:rPr>
              <a:t>h = 6.65 × 10⁻³⁴ J s</a:t>
            </a:r>
            <a:r>
              <a:rPr sz="1400" b="0" i="0">
                <a:solidFill>
                  <a:srgbClr val="152D42"/>
                </a:solidFill>
              </a:rPr>
              <a:t> (6.626 × 10⁻³⁴).</a:t>
            </a:r>
          </a:p>
        </p:txBody>
      </p:sp>
      <p:sp>
        <p:nvSpPr>
          <p:cNvPr id="20" name="b2_answer 2"/>
          <p:cNvSpPr txBox="1"/>
          <p:nvPr/>
        </p:nvSpPr>
        <p:spPr>
          <a:xfrm>
            <a:off x="612648" y="5276088"/>
            <a:ext cx="5486400" cy="566928"/>
          </a:xfrm>
          <a:prstGeom prst="rect">
            <a:avLst/>
          </a:prstGeom>
          <a:noFill/>
        </p:spPr>
        <p:txBody>
          <a:bodyPr wrap="square" lIns="0" tIns="0" rIns="0" bIns="0" anchor="t">
            <a:spAutoFit/>
          </a:bodyPr>
          <a:lstStyle/>
          <a:p>
            <a:pPr algn="l">
              <a:spcAft>
                <a:spcPts val="800"/>
              </a:spcAft>
            </a:pPr>
            <a:r>
              <a:rPr sz="1400" b="0" i="0">
                <a:solidFill>
                  <a:srgbClr val="506476"/>
                </a:solidFill>
              </a:rPr>
              <a:t>Intercept: φ = 1.90 eV. Light beyond 654 nm ejects no electrons.</a:t>
            </a:r>
          </a:p>
        </p:txBody>
      </p:sp>
      <p:graphicFrame>
        <p:nvGraphicFramePr>
          <p:cNvPr id="21" name="chart pe"/>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b1_chart pe fit"/>
          <p:cNvGraphicFramePr>
            <a:graphicFrameLocks noGrp="1"/>
          </p:cNvGraphicFramePr>
          <p:nvPr/>
        </p:nvGraphicFramePr>
        <p:xfrm>
          <a:off x="6309360" y="2103120"/>
          <a:ext cx="5276088" cy="3703320"/>
        </p:xfrm>
        <a:graphic>
          <a:graphicData uri="http://schemas.openxmlformats.org/drawingml/2006/chart">
            <c:chart xmlns:c="http://schemas.openxmlformats.org/drawingml/2006/chart" xmlns:r="http://schemas.openxmlformats.org/officeDocument/2006/relationships" r:id="rId5"/>
          </a:graphicData>
        </a:graphic>
      </p:graphicFrame>
      <p:sp>
        <p:nvSpPr>
          <p:cNvPr id="23"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Hg wavelengths: RP Photonics, standard spectral lines. Synthetic: φ = 1.90 eV, 15 mV noise, seed 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grpId="0" nodeType="withEffect">
                                  <p:stCondLst>
                                    <p:cond delay="0"/>
                                  </p:stCondLst>
                                  <p:childTnLst>
                                    <p:animMotion origin="layout" path="M 0 0 L 0.095162 0.078889 E" pathEditMode="relative" rAng="0" ptsTypes="AA">
                                      <p:cBhvr>
                                        <p:cTn id="6" dur="1200" fill="hold"/>
                                        <p:tgtEl>
                                          <p:spTgt spid="10"/>
                                        </p:tgtEl>
                                        <p:attrNameLst>
                                          <p:attrName>ppt_x</p:attrName>
                                          <p:attrName>ppt_y</p:attrName>
                                        </p:attrNameLst>
                                      </p:cBhvr>
                                      <p:rCtr x="4758" y="3944"/>
                                    </p:animMotion>
                                  </p:childTnLst>
                                </p:cTn>
                              </p:par>
                              <p:par>
                                <p:cTn id="7" presetID="0" presetClass="path" presetSubtype="0" repeatCount="indefinite" fill="hold" grpId="0" nodeType="withEffect">
                                  <p:stCondLst>
                                    <p:cond delay="400"/>
                                  </p:stCondLst>
                                  <p:childTnLst>
                                    <p:animMotion origin="layout" path="M 0 0 L 0.095162 0.078889 E" pathEditMode="relative" rAng="0" ptsTypes="AA">
                                      <p:cBhvr>
                                        <p:cTn id="8" dur="1200" fill="hold"/>
                                        <p:tgtEl>
                                          <p:spTgt spid="11"/>
                                        </p:tgtEl>
                                        <p:attrNameLst>
                                          <p:attrName>ppt_x</p:attrName>
                                          <p:attrName>ppt_y</p:attrName>
                                        </p:attrNameLst>
                                      </p:cBhvr>
                                      <p:rCtr x="4758" y="3944"/>
                                    </p:animMotion>
                                  </p:childTnLst>
                                </p:cTn>
                              </p:par>
                              <p:par>
                                <p:cTn id="9" presetID="0" presetClass="path" presetSubtype="0" repeatCount="indefinite" fill="hold" grpId="0" nodeType="withEffect">
                                  <p:stCondLst>
                                    <p:cond delay="800"/>
                                  </p:stCondLst>
                                  <p:childTnLst>
                                    <p:animMotion origin="layout" path="M 0 0 L 0.095162 0.078889 E" pathEditMode="relative" rAng="0" ptsTypes="AA">
                                      <p:cBhvr>
                                        <p:cTn id="10" dur="1200" fill="hold"/>
                                        <p:tgtEl>
                                          <p:spTgt spid="12"/>
                                        </p:tgtEl>
                                        <p:attrNameLst>
                                          <p:attrName>ppt_x</p:attrName>
                                          <p:attrName>ppt_y</p:attrName>
                                        </p:attrNameLst>
                                      </p:cBhvr>
                                      <p:rCtr x="4758" y="3944"/>
                                    </p:animMotion>
                                  </p:childTnLst>
                                </p:cTn>
                              </p:par>
                              <p:par>
                                <p:cTn id="11" presetID="0" presetClass="path" presetSubtype="0" repeatCount="indefinite" decel="100000" autoRev="1" fill="hold" grpId="0" nodeType="withEffect">
                                  <p:stCondLst>
                                    <p:cond delay="300"/>
                                  </p:stCondLst>
                                  <p:childTnLst>
                                    <p:animMotion origin="layout" path="M 0 0 L 0.206250 0.000000 E" pathEditMode="relative" rAng="0" ptsTypes="AA">
                                      <p:cBhvr>
                                        <p:cTn id="12" dur="1300" fill="hold"/>
                                        <p:tgtEl>
                                          <p:spTgt spid="13"/>
                                        </p:tgtEl>
                                        <p:attrNameLst>
                                          <p:attrName>ppt_x</p:attrName>
                                          <p:attrName>ppt_y</p:attrName>
                                        </p:attrNameLst>
                                      </p:cBhvr>
                                      <p:rCtr x="10312" y="0"/>
                                    </p:animMotion>
                                  </p:childTnLst>
                                </p:cTn>
                              </p:par>
                              <p:par>
                                <p:cTn id="13" presetID="0" presetClass="path" presetSubtype="0" repeatCount="indefinite" decel="100000" autoRev="1" fill="hold" grpId="0" nodeType="withEffect">
                                  <p:stCondLst>
                                    <p:cond delay="750"/>
                                  </p:stCondLst>
                                  <p:childTnLst>
                                    <p:animMotion origin="layout" path="M 0 0 L 0.187500 0.000000 E" pathEditMode="relative" rAng="0" ptsTypes="AA">
                                      <p:cBhvr>
                                        <p:cTn id="14" dur="1300" fill="hold"/>
                                        <p:tgtEl>
                                          <p:spTgt spid="14"/>
                                        </p:tgtEl>
                                        <p:attrNameLst>
                                          <p:attrName>ppt_x</p:attrName>
                                          <p:attrName>ppt_y</p:attrName>
                                        </p:attrNameLst>
                                      </p:cBhvr>
                                      <p:rCtr x="9375" y="0"/>
                                    </p:animMotion>
                                  </p:childTnLst>
                                </p:cTn>
                              </p:par>
                              <p:par>
                                <p:cTn id="15" presetID="0" presetClass="path" presetSubtype="0" repeatCount="indefinite" decel="100000" autoRev="1" fill="hold" grpId="0" nodeType="withEffect">
                                  <p:stCondLst>
                                    <p:cond delay="1200"/>
                                  </p:stCondLst>
                                  <p:childTnLst>
                                    <p:animMotion origin="layout" path="M 0 0 L 0.168750 0.000000 E" pathEditMode="relative" rAng="0" ptsTypes="AA">
                                      <p:cBhvr>
                                        <p:cTn id="16" dur="1300" fill="hold"/>
                                        <p:tgtEl>
                                          <p:spTgt spid="15"/>
                                        </p:tgtEl>
                                        <p:attrNameLst>
                                          <p:attrName>ppt_x</p:attrName>
                                          <p:attrName>ppt_y</p:attrName>
                                        </p:attrNameLst>
                                      </p:cBhvr>
                                      <p:rCtr x="8437" y="0"/>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9" grpId="0"/>
      <p:bldP spid="20" grpId="0"/>
      <p:bldGraphic spid="22"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Six fits from the lab</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19</a:t>
            </a:fld>
            <a:endParaRPr lang="en-US"/>
          </a:p>
        </p:txBody>
      </p:sp>
      <p:sp>
        <p:nvSpPr>
          <p:cNvPr id="4" name="card 1"/>
          <p:cNvSpPr/>
          <p:nvPr/>
        </p:nvSpPr>
        <p:spPr>
          <a:xfrm>
            <a:off x="612648" y="132588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number 1"/>
          <p:cNvSpPr/>
          <p:nvPr/>
        </p:nvSpPr>
        <p:spPr>
          <a:xfrm>
            <a:off x="813816" y="152704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1</a:t>
            </a:r>
          </a:p>
        </p:txBody>
      </p:sp>
      <p:sp>
        <p:nvSpPr>
          <p:cNvPr id="6" name="card 1 title"/>
          <p:cNvSpPr txBox="1"/>
          <p:nvPr/>
        </p:nvSpPr>
        <p:spPr>
          <a:xfrm>
            <a:off x="1435608" y="152704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Circuits</a:t>
            </a:r>
          </a:p>
          <a:p>
            <a:pPr algn="l">
              <a:spcAft>
                <a:spcPts val="0"/>
              </a:spcAft>
            </a:pPr>
            <a:r>
              <a:rPr sz="1400" b="0" i="0">
                <a:solidFill>
                  <a:srgbClr val="506476"/>
                </a:solidFill>
              </a:rPr>
              <a:t>RC discharge</a:t>
            </a:r>
          </a:p>
        </p:txBody>
      </p:sp>
      <p:sp>
        <p:nvSpPr>
          <p:cNvPr id="7" name="card 1 model"/>
          <p:cNvSpPr txBox="1"/>
          <p:nvPr/>
        </p:nvSpPr>
        <p:spPr>
          <a:xfrm>
            <a:off x="813816" y="224028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ln V = ln V₀ − t/τ</a:t>
            </a:r>
          </a:p>
        </p:txBody>
      </p:sp>
      <p:sp>
        <p:nvSpPr>
          <p:cNvPr id="8" name="card 1 columns"/>
          <p:cNvSpPr txBox="1"/>
          <p:nvPr/>
        </p:nvSpPr>
        <p:spPr>
          <a:xfrm>
            <a:off x="813816" y="278892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t, 1</a:t>
            </a:r>
          </a:p>
        </p:txBody>
      </p:sp>
      <p:sp>
        <p:nvSpPr>
          <p:cNvPr id="9" name="card 2"/>
          <p:cNvSpPr/>
          <p:nvPr/>
        </p:nvSpPr>
        <p:spPr>
          <a:xfrm>
            <a:off x="4334256" y="132588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0" name="number 2"/>
          <p:cNvSpPr/>
          <p:nvPr/>
        </p:nvSpPr>
        <p:spPr>
          <a:xfrm>
            <a:off x="4535424" y="152704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2</a:t>
            </a:r>
          </a:p>
        </p:txBody>
      </p:sp>
      <p:sp>
        <p:nvSpPr>
          <p:cNvPr id="11" name="card 2 title"/>
          <p:cNvSpPr txBox="1"/>
          <p:nvPr/>
        </p:nvSpPr>
        <p:spPr>
          <a:xfrm>
            <a:off x="5157216" y="152704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Optics</a:t>
            </a:r>
          </a:p>
          <a:p>
            <a:pPr algn="l">
              <a:spcAft>
                <a:spcPts val="0"/>
              </a:spcAft>
            </a:pPr>
            <a:r>
              <a:rPr sz="1400" b="0" i="0">
                <a:solidFill>
                  <a:srgbClr val="506476"/>
                </a:solidFill>
              </a:rPr>
              <a:t>Dispersion of N-BK7</a:t>
            </a:r>
          </a:p>
        </p:txBody>
      </p:sp>
      <p:sp>
        <p:nvSpPr>
          <p:cNvPr id="12" name="card 2 model"/>
          <p:cNvSpPr txBox="1"/>
          <p:nvPr/>
        </p:nvSpPr>
        <p:spPr>
          <a:xfrm>
            <a:off x="4535424" y="224028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n = A + B/λ²</a:t>
            </a:r>
          </a:p>
        </p:txBody>
      </p:sp>
      <p:sp>
        <p:nvSpPr>
          <p:cNvPr id="13" name="card 2 columns"/>
          <p:cNvSpPr txBox="1"/>
          <p:nvPr/>
        </p:nvSpPr>
        <p:spPr>
          <a:xfrm>
            <a:off x="4535424" y="278892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1, 1/λ²</a:t>
            </a:r>
          </a:p>
        </p:txBody>
      </p:sp>
      <p:sp>
        <p:nvSpPr>
          <p:cNvPr id="14" name="card 3"/>
          <p:cNvSpPr/>
          <p:nvPr/>
        </p:nvSpPr>
        <p:spPr>
          <a:xfrm>
            <a:off x="8055864" y="132588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5" name="number 3"/>
          <p:cNvSpPr/>
          <p:nvPr/>
        </p:nvSpPr>
        <p:spPr>
          <a:xfrm>
            <a:off x="8257032" y="152704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3</a:t>
            </a:r>
          </a:p>
        </p:txBody>
      </p:sp>
      <p:sp>
        <p:nvSpPr>
          <p:cNvPr id="16" name="card 3 title"/>
          <p:cNvSpPr txBox="1"/>
          <p:nvPr/>
        </p:nvSpPr>
        <p:spPr>
          <a:xfrm>
            <a:off x="8878824" y="152704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Electromagnetism</a:t>
            </a:r>
          </a:p>
          <a:p>
            <a:pPr algn="l">
              <a:spcAft>
                <a:spcPts val="0"/>
              </a:spcAft>
            </a:pPr>
            <a:r>
              <a:rPr sz="1400" b="0" i="0">
                <a:solidFill>
                  <a:srgbClr val="506476"/>
                </a:solidFill>
              </a:rPr>
              <a:t>WR-90 waveguide</a:t>
            </a:r>
          </a:p>
        </p:txBody>
      </p:sp>
      <p:sp>
        <p:nvSpPr>
          <p:cNvPr id="17" name="card 3 model"/>
          <p:cNvSpPr txBox="1"/>
          <p:nvPr/>
        </p:nvSpPr>
        <p:spPr>
          <a:xfrm>
            <a:off x="8257032" y="224028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f² = f</a:t>
            </a:r>
            <a:r>
              <a:rPr sz="1400" b="0" i="0" baseline="-25000">
                <a:solidFill>
                  <a:srgbClr val="152D42"/>
                </a:solidFill>
              </a:rPr>
              <a:t>c</a:t>
            </a:r>
            <a:r>
              <a:rPr sz="1400" b="0" i="0">
                <a:solidFill>
                  <a:srgbClr val="152D42"/>
                </a:solidFill>
              </a:rPr>
              <a:t>² + c²/λ</a:t>
            </a:r>
            <a:r>
              <a:rPr sz="1400" b="0" i="0" baseline="-25000">
                <a:solidFill>
                  <a:srgbClr val="152D42"/>
                </a:solidFill>
              </a:rPr>
              <a:t>g</a:t>
            </a:r>
            <a:r>
              <a:rPr sz="1400" b="0" i="0">
                <a:solidFill>
                  <a:srgbClr val="152D42"/>
                </a:solidFill>
              </a:rPr>
              <a:t>²</a:t>
            </a:r>
          </a:p>
        </p:txBody>
      </p:sp>
      <p:sp>
        <p:nvSpPr>
          <p:cNvPr id="18" name="card 3 columns"/>
          <p:cNvSpPr txBox="1"/>
          <p:nvPr/>
        </p:nvSpPr>
        <p:spPr>
          <a:xfrm>
            <a:off x="8257032" y="278892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1/λ</a:t>
            </a:r>
            <a:r>
              <a:rPr sz="1400" b="0" i="0" baseline="-25000">
                <a:solidFill>
                  <a:srgbClr val="152D42"/>
                </a:solidFill>
              </a:rPr>
              <a:t>g</a:t>
            </a:r>
            <a:r>
              <a:rPr sz="1400" b="0" i="0">
                <a:solidFill>
                  <a:srgbClr val="152D42"/>
                </a:solidFill>
              </a:rPr>
              <a:t>², 1</a:t>
            </a:r>
          </a:p>
        </p:txBody>
      </p:sp>
      <p:sp>
        <p:nvSpPr>
          <p:cNvPr id="19" name="card 4"/>
          <p:cNvSpPr/>
          <p:nvPr/>
        </p:nvSpPr>
        <p:spPr>
          <a:xfrm>
            <a:off x="612648" y="356616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20" name="number 4"/>
          <p:cNvSpPr/>
          <p:nvPr/>
        </p:nvSpPr>
        <p:spPr>
          <a:xfrm>
            <a:off x="813816" y="376732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4</a:t>
            </a:r>
          </a:p>
        </p:txBody>
      </p:sp>
      <p:sp>
        <p:nvSpPr>
          <p:cNvPr id="21" name="card 4 title"/>
          <p:cNvSpPr txBox="1"/>
          <p:nvPr/>
        </p:nvSpPr>
        <p:spPr>
          <a:xfrm>
            <a:off x="1435608" y="376732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Water waves</a:t>
            </a:r>
          </a:p>
          <a:p>
            <a:pPr algn="l">
              <a:spcAft>
                <a:spcPts val="0"/>
              </a:spcAft>
            </a:pPr>
            <a:r>
              <a:rPr sz="1400" b="0" i="0">
                <a:solidFill>
                  <a:srgbClr val="506476"/>
                </a:solidFill>
              </a:rPr>
              <a:t>Tides at Boston</a:t>
            </a:r>
          </a:p>
        </p:txBody>
      </p:sp>
      <p:sp>
        <p:nvSpPr>
          <p:cNvPr id="22" name="card 4 model"/>
          <p:cNvSpPr txBox="1"/>
          <p:nvPr/>
        </p:nvSpPr>
        <p:spPr>
          <a:xfrm>
            <a:off x="813816" y="448056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h = Z₀ + Σ (p cos ωt + q sin ωt)</a:t>
            </a:r>
          </a:p>
        </p:txBody>
      </p:sp>
      <p:sp>
        <p:nvSpPr>
          <p:cNvPr id="23" name="card 4 columns"/>
          <p:cNvSpPr txBox="1"/>
          <p:nvPr/>
        </p:nvSpPr>
        <p:spPr>
          <a:xfrm>
            <a:off x="813816" y="502920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1, cos ωt, sin ωt</a:t>
            </a:r>
          </a:p>
        </p:txBody>
      </p:sp>
      <p:sp>
        <p:nvSpPr>
          <p:cNvPr id="24" name="card 5"/>
          <p:cNvSpPr/>
          <p:nvPr/>
        </p:nvSpPr>
        <p:spPr>
          <a:xfrm>
            <a:off x="4334256" y="356616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25" name="number 5"/>
          <p:cNvSpPr/>
          <p:nvPr/>
        </p:nvSpPr>
        <p:spPr>
          <a:xfrm>
            <a:off x="4535424" y="376732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5</a:t>
            </a:r>
          </a:p>
        </p:txBody>
      </p:sp>
      <p:sp>
        <p:nvSpPr>
          <p:cNvPr id="26" name="card 5 title"/>
          <p:cNvSpPr txBox="1"/>
          <p:nvPr/>
        </p:nvSpPr>
        <p:spPr>
          <a:xfrm>
            <a:off x="5157216" y="376732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Nonlinear optics</a:t>
            </a:r>
          </a:p>
          <a:p>
            <a:pPr algn="l">
              <a:spcAft>
                <a:spcPts val="0"/>
              </a:spcAft>
            </a:pPr>
            <a:r>
              <a:rPr sz="1400" b="0" i="0">
                <a:solidFill>
                  <a:srgbClr val="506476"/>
                </a:solidFill>
              </a:rPr>
              <a:t>Second-harmonic power</a:t>
            </a:r>
          </a:p>
        </p:txBody>
      </p:sp>
      <p:sp>
        <p:nvSpPr>
          <p:cNvPr id="27" name="card 5 model"/>
          <p:cNvSpPr txBox="1"/>
          <p:nvPr/>
        </p:nvSpPr>
        <p:spPr>
          <a:xfrm>
            <a:off x="4535424" y="448056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log P₂ = log η + p log P</a:t>
            </a:r>
          </a:p>
        </p:txBody>
      </p:sp>
      <p:sp>
        <p:nvSpPr>
          <p:cNvPr id="28" name="card 5 columns"/>
          <p:cNvSpPr txBox="1"/>
          <p:nvPr/>
        </p:nvSpPr>
        <p:spPr>
          <a:xfrm>
            <a:off x="4535424" y="502920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log P, 1</a:t>
            </a:r>
          </a:p>
        </p:txBody>
      </p:sp>
      <p:sp>
        <p:nvSpPr>
          <p:cNvPr id="29" name="card 6"/>
          <p:cNvSpPr/>
          <p:nvPr/>
        </p:nvSpPr>
        <p:spPr>
          <a:xfrm>
            <a:off x="8055864" y="3566160"/>
            <a:ext cx="3520440" cy="205740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30" name="number 6"/>
          <p:cNvSpPr/>
          <p:nvPr/>
        </p:nvSpPr>
        <p:spPr>
          <a:xfrm>
            <a:off x="8257032" y="3767328"/>
            <a:ext cx="457200" cy="45720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6</a:t>
            </a:r>
          </a:p>
        </p:txBody>
      </p:sp>
      <p:sp>
        <p:nvSpPr>
          <p:cNvPr id="31" name="card 6 title"/>
          <p:cNvSpPr txBox="1"/>
          <p:nvPr/>
        </p:nvSpPr>
        <p:spPr>
          <a:xfrm>
            <a:off x="8878824" y="3767328"/>
            <a:ext cx="2560320" cy="548640"/>
          </a:xfrm>
          <a:prstGeom prst="rect">
            <a:avLst/>
          </a:prstGeom>
          <a:noFill/>
        </p:spPr>
        <p:txBody>
          <a:bodyPr wrap="square" lIns="0" tIns="0" rIns="0" bIns="0" anchor="t">
            <a:spAutoFit/>
          </a:bodyPr>
          <a:lstStyle/>
          <a:p>
            <a:pPr algn="l">
              <a:spcAft>
                <a:spcPts val="0"/>
              </a:spcAft>
            </a:pPr>
            <a:r>
              <a:rPr sz="1600" b="1" i="0">
                <a:solidFill>
                  <a:srgbClr val="152D42"/>
                </a:solidFill>
              </a:rPr>
              <a:t>Structured light</a:t>
            </a:r>
          </a:p>
          <a:p>
            <a:pPr algn="l">
              <a:spcAft>
                <a:spcPts val="0"/>
              </a:spcAft>
            </a:pPr>
            <a:r>
              <a:rPr sz="1400" b="0" i="0">
                <a:solidFill>
                  <a:srgbClr val="506476"/>
                </a:solidFill>
              </a:rPr>
              <a:t>Centre of a ring beam</a:t>
            </a:r>
          </a:p>
        </p:txBody>
      </p:sp>
      <p:sp>
        <p:nvSpPr>
          <p:cNvPr id="32" name="card 6 model"/>
          <p:cNvSpPr txBox="1"/>
          <p:nvPr/>
        </p:nvSpPr>
        <p:spPr>
          <a:xfrm>
            <a:off x="8257032" y="4480560"/>
            <a:ext cx="3154680" cy="457200"/>
          </a:xfrm>
          <a:prstGeom prst="rect">
            <a:avLst/>
          </a:prstGeom>
          <a:noFill/>
        </p:spPr>
        <p:txBody>
          <a:bodyPr wrap="square" lIns="0" tIns="0" rIns="0" bIns="0" anchor="t">
            <a:spAutoFit/>
          </a:bodyPr>
          <a:lstStyle/>
          <a:p>
            <a:pPr algn="l">
              <a:spcAft>
                <a:spcPts val="800"/>
              </a:spcAft>
            </a:pPr>
            <a:r>
              <a:rPr sz="1400" b="0" i="0">
                <a:solidFill>
                  <a:srgbClr val="152D42"/>
                </a:solidFill>
              </a:rPr>
              <a:t>x² + y² = 2ax + 2by + c</a:t>
            </a:r>
          </a:p>
        </p:txBody>
      </p:sp>
      <p:sp>
        <p:nvSpPr>
          <p:cNvPr id="33" name="card 6 columns"/>
          <p:cNvSpPr txBox="1"/>
          <p:nvPr/>
        </p:nvSpPr>
        <p:spPr>
          <a:xfrm>
            <a:off x="8257032" y="5029200"/>
            <a:ext cx="3154680" cy="411480"/>
          </a:xfrm>
          <a:prstGeom prst="rect">
            <a:avLst/>
          </a:prstGeom>
          <a:noFill/>
        </p:spPr>
        <p:txBody>
          <a:bodyPr wrap="square" lIns="0" tIns="0" rIns="0" bIns="0" anchor="t">
            <a:spAutoFit/>
          </a:bodyPr>
          <a:lstStyle/>
          <a:p>
            <a:pPr algn="l">
              <a:spcAft>
                <a:spcPts val="800"/>
              </a:spcAft>
            </a:pPr>
            <a:r>
              <a:rPr sz="1400" b="0" i="0">
                <a:solidFill>
                  <a:srgbClr val="506476"/>
                </a:solidFill>
              </a:rPr>
              <a:t>columns of X:  </a:t>
            </a:r>
            <a:r>
              <a:rPr sz="1400" b="0" i="0">
                <a:solidFill>
                  <a:srgbClr val="152D42"/>
                </a:solidFill>
              </a:rPr>
              <a:t>2x, 2y, 1</a:t>
            </a:r>
          </a:p>
        </p:txBody>
      </p:sp>
      <p:sp>
        <p:nvSpPr>
          <p:cNvPr id="34" name="caption"/>
          <p:cNvSpPr txBox="1"/>
          <p:nvPr/>
        </p:nvSpPr>
        <p:spPr>
          <a:xfrm>
            <a:off x="612648" y="580644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After a change of variables each model is linear in its unknowns: ln V₀ and 1/τ; A and B; f</a:t>
            </a:r>
            <a:r>
              <a:rPr sz="1200" b="0" i="0" baseline="-25000">
                <a:solidFill>
                  <a:srgbClr val="506476"/>
                </a:solidFill>
              </a:rPr>
              <a:t>c</a:t>
            </a:r>
            <a:r>
              <a:rPr sz="1200" b="0" i="0">
                <a:solidFill>
                  <a:srgbClr val="506476"/>
                </a:solidFill>
              </a:rPr>
              <a:t>² and c²; the cos and sin coefficients; log η and p; a, b and 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Circuits: the time constant of an RC discharge</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20</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A 4.7 µF capacitor discharges through 10 kΩ; 16 voltage samples over 150 ms, 1% noise (synthetic).</a:t>
            </a:r>
          </a:p>
          <a:p>
            <a:pPr algn="l">
              <a:spcAft>
                <a:spcPts val="1000"/>
              </a:spcAft>
            </a:pPr>
            <a:r>
              <a:rPr sz="1600" b="1" i="0">
                <a:solidFill>
                  <a:srgbClr val="152D42"/>
                </a:solidFill>
              </a:rPr>
              <a:t>Find. </a:t>
            </a:r>
            <a:r>
              <a:rPr sz="1600" b="0" i="0">
                <a:solidFill>
                  <a:srgbClr val="152D42"/>
                </a:solidFill>
              </a:rPr>
              <a:t>τ and V</a:t>
            </a:r>
            <a:r>
              <a:rPr sz="1600" b="0" i="0" baseline="-25000">
                <a:solidFill>
                  <a:srgbClr val="152D42"/>
                </a:solidFill>
              </a:rPr>
              <a:t>0</a:t>
            </a:r>
            <a:r>
              <a:rPr sz="1600" b="0" i="0">
                <a:solidFill>
                  <a:srgbClr val="152D42"/>
                </a:solidFill>
              </a:rPr>
              <a:t> from a straight-line fit.</a:t>
            </a:r>
          </a:p>
        </p:txBody>
      </p:sp>
      <p:pic>
        <p:nvPicPr>
          <p:cNvPr id="5" name="eq rc" descr="V = V_0\, e^{-t/\tau} \quad\Rightarrow\quad \ln V = \ln V_0 - \frac{1}{\tau}\, t"/>
          <p:cNvPicPr>
            <a:picLocks noChangeAspect="1"/>
          </p:cNvPicPr>
          <p:nvPr/>
        </p:nvPicPr>
        <p:blipFill>
          <a:blip r:embed="rId3"/>
          <a:stretch>
            <a:fillRect/>
          </a:stretch>
        </p:blipFill>
        <p:spPr>
          <a:xfrm>
            <a:off x="612648" y="3154680"/>
            <a:ext cx="4622292" cy="598932"/>
          </a:xfrm>
          <a:prstGeom prst="rect">
            <a:avLst/>
          </a:prstGeom>
        </p:spPr>
      </p:pic>
      <p:sp>
        <p:nvSpPr>
          <p:cNvPr id="6" name="b1_answer 1"/>
          <p:cNvSpPr txBox="1"/>
          <p:nvPr/>
        </p:nvSpPr>
        <p:spPr>
          <a:xfrm>
            <a:off x="612648" y="3931920"/>
            <a:ext cx="5486400" cy="91440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Columns t and 1 for ln V. Slope −21.288 s</a:t>
            </a:r>
            <a:r>
              <a:rPr sz="1600" b="0" i="0" baseline="30000">
                <a:solidFill>
                  <a:srgbClr val="152D42"/>
                </a:solidFill>
              </a:rPr>
              <a:t>−1</a:t>
            </a:r>
            <a:r>
              <a:rPr sz="1600" b="0" i="0">
                <a:solidFill>
                  <a:srgbClr val="152D42"/>
                </a:solidFill>
              </a:rPr>
              <a:t>, so τ = 46.98 ms (47.00 nominal), V</a:t>
            </a:r>
            <a:r>
              <a:rPr sz="1600" b="0" i="0" baseline="-25000">
                <a:solidFill>
                  <a:srgbClr val="152D42"/>
                </a:solidFill>
              </a:rPr>
              <a:t>0</a:t>
            </a:r>
            <a:r>
              <a:rPr sz="1600" b="0" i="0">
                <a:solidFill>
                  <a:srgbClr val="152D42"/>
                </a:solidFill>
              </a:rPr>
              <a:t> = 4.992 V.</a:t>
            </a:r>
          </a:p>
        </p:txBody>
      </p:sp>
      <p:sp>
        <p:nvSpPr>
          <p:cNvPr id="7" name="b2_answer 2"/>
          <p:cNvSpPr txBox="1"/>
          <p:nvPr/>
        </p:nvSpPr>
        <p:spPr>
          <a:xfrm>
            <a:off x="612648" y="489204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The noise is 1% of V, so after the log every point has the same error size and equal weights are right.</a:t>
            </a:r>
          </a:p>
        </p:txBody>
      </p:sp>
      <p:graphicFrame>
        <p:nvGraphicFramePr>
          <p:cNvPr id="8" name="chart rc"/>
          <p:cNvGraphicFramePr>
            <a:graphicFrameLocks noGrp="1"/>
          </p:cNvGraphicFramePr>
          <p:nvPr/>
        </p:nvGraphicFramePr>
        <p:xfrm>
          <a:off x="6309360" y="1280160"/>
          <a:ext cx="5276088"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Synthetic data: V₀ = 5 V, τ = 47 ms, 1% multiplicative noise, seed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Optics: Cauchy's equation for N-BK7</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21</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SCHOTT's N-BK7 indices at 11 spectral lines from 404.7 to 706.5 nm.</a:t>
            </a:r>
          </a:p>
          <a:p>
            <a:pPr algn="l">
              <a:spcAft>
                <a:spcPts val="1000"/>
              </a:spcAft>
            </a:pPr>
            <a:r>
              <a:rPr sz="1600" b="1" i="0">
                <a:solidFill>
                  <a:srgbClr val="152D42"/>
                </a:solidFill>
              </a:rPr>
              <a:t>Find. </a:t>
            </a:r>
            <a:r>
              <a:rPr sz="1600" b="0" i="0">
                <a:solidFill>
                  <a:srgbClr val="152D42"/>
                </a:solidFill>
              </a:rPr>
              <a:t>A and B in n = A + B/λ</a:t>
            </a:r>
            <a:r>
              <a:rPr sz="1600" b="0" i="0" baseline="30000">
                <a:solidFill>
                  <a:srgbClr val="152D42"/>
                </a:solidFill>
              </a:rPr>
              <a:t>2</a:t>
            </a:r>
            <a:r>
              <a:rPr sz="1600" b="0" i="0">
                <a:solidFill>
                  <a:srgbClr val="152D42"/>
                </a:solidFill>
              </a:rPr>
              <a:t>; how well does it fit, and does it hold at 1060 nm?</a:t>
            </a:r>
          </a:p>
        </p:txBody>
      </p:sp>
      <p:pic>
        <p:nvPicPr>
          <p:cNvPr id="5" name="eq cauchy" descr="n(\lambda) = A + \frac{B}{\lambda^2}"/>
          <p:cNvPicPr>
            <a:picLocks noChangeAspect="1"/>
          </p:cNvPicPr>
          <p:nvPr/>
        </p:nvPicPr>
        <p:blipFill>
          <a:blip r:embed="rId3"/>
          <a:stretch>
            <a:fillRect/>
          </a:stretch>
        </p:blipFill>
        <p:spPr>
          <a:xfrm>
            <a:off x="612648" y="3154680"/>
            <a:ext cx="1748790" cy="676656"/>
          </a:xfrm>
          <a:prstGeom prst="rect">
            <a:avLst/>
          </a:prstGeom>
        </p:spPr>
      </p:pic>
      <p:sp>
        <p:nvSpPr>
          <p:cNvPr id="6" name="b1_answer 1"/>
          <p:cNvSpPr txBox="1"/>
          <p:nvPr/>
        </p:nvSpPr>
        <p:spPr>
          <a:xfrm>
            <a:off x="612648" y="3931920"/>
            <a:ext cx="5486400" cy="91440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Columns 1 and 1/λ</a:t>
            </a:r>
            <a:r>
              <a:rPr sz="1600" b="0" i="0" baseline="30000">
                <a:solidFill>
                  <a:srgbClr val="152D42"/>
                </a:solidFill>
              </a:rPr>
              <a:t>2</a:t>
            </a:r>
            <a:r>
              <a:rPr sz="1600" b="0" i="0">
                <a:solidFill>
                  <a:srgbClr val="152D42"/>
                </a:solidFill>
              </a:rPr>
              <a:t>: A = 1.50457, B = 0.00421 µm</a:t>
            </a:r>
            <a:r>
              <a:rPr sz="1600" b="0" i="0" baseline="30000">
                <a:solidFill>
                  <a:srgbClr val="152D42"/>
                </a:solidFill>
              </a:rPr>
              <a:t>2</a:t>
            </a:r>
            <a:r>
              <a:rPr sz="1600" b="0" i="0">
                <a:solidFill>
                  <a:srgbClr val="152D42"/>
                </a:solidFill>
              </a:rPr>
              <a:t>; rms misfit 4.3 × 10⁻⁵.</a:t>
            </a:r>
          </a:p>
        </p:txBody>
      </p:sp>
      <p:sp>
        <p:nvSpPr>
          <p:cNvPr id="7" name="b2_answer 2"/>
          <p:cNvSpPr txBox="1"/>
          <p:nvPr/>
        </p:nvSpPr>
        <p:spPr>
          <a:xfrm>
            <a:off x="612648" y="489204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At 1060 nm Cauchy gives 1.50831, the data sheet 1.50669: off by 1.6 × 10⁻³, about 40 times the misfit. A fit says little outside its data.</a:t>
            </a:r>
          </a:p>
        </p:txBody>
      </p:sp>
      <p:graphicFrame>
        <p:nvGraphicFramePr>
          <p:cNvPr id="8" name="chart bk7"/>
          <p:cNvGraphicFramePr>
            <a:graphicFrameLocks noGrp="1"/>
          </p:cNvGraphicFramePr>
          <p:nvPr/>
        </p:nvGraphicFramePr>
        <p:xfrm>
          <a:off x="6309360" y="1280160"/>
          <a:ext cx="5276088"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dirty="0">
                <a:solidFill>
                  <a:srgbClr val="506476"/>
                </a:solidFill>
              </a:rPr>
              <a:t>Data: SCHOTT N-BK7 data sheet (1 Feb 2014), via Edmund Optics.</a:t>
            </a:r>
          </a:p>
        </p:txBody>
      </p:sp>
      <p:pic>
        <p:nvPicPr>
          <p:cNvPr id="10" name="Picture 9" descr="Refraction Index - an overview | ScienceDirect Topics">
            <a:extLst>
              <a:ext uri="{FF2B5EF4-FFF2-40B4-BE49-F238E27FC236}">
                <a16:creationId xmlns:a16="http://schemas.microsoft.com/office/drawing/2014/main" id="{6B446C2A-9892-C7CD-5467-C6537B315A2B}"/>
              </a:ext>
            </a:extLst>
          </p:cNvPr>
          <p:cNvPicPr>
            <a:picLocks noChangeAspect="1"/>
          </p:cNvPicPr>
          <p:nvPr/>
        </p:nvPicPr>
        <p:blipFill>
          <a:blip r:embed="rId5"/>
          <a:stretch>
            <a:fillRect/>
          </a:stretch>
        </p:blipFill>
        <p:spPr>
          <a:xfrm>
            <a:off x="10912978" y="78279"/>
            <a:ext cx="1260225" cy="1255263"/>
          </a:xfrm>
          <a:prstGeom prst="rect">
            <a:avLst/>
          </a:prstGeom>
        </p:spPr>
      </p:pic>
      <p:pic>
        <p:nvPicPr>
          <p:cNvPr id="11" name="Picture 10" descr="N-BK7 Windows ~ Optical Window Manufacturer ~ Advanced Optics">
            <a:extLst>
              <a:ext uri="{FF2B5EF4-FFF2-40B4-BE49-F238E27FC236}">
                <a16:creationId xmlns:a16="http://schemas.microsoft.com/office/drawing/2014/main" id="{1E759F09-D924-5FD0-C193-4D516556AC8A}"/>
              </a:ext>
            </a:extLst>
          </p:cNvPr>
          <p:cNvPicPr>
            <a:picLocks noChangeAspect="1"/>
          </p:cNvPicPr>
          <p:nvPr/>
        </p:nvPicPr>
        <p:blipFill>
          <a:blip r:embed="rId6"/>
          <a:srcRect l="7304" t="12270" r="8693"/>
          <a:stretch>
            <a:fillRect/>
          </a:stretch>
        </p:blipFill>
        <p:spPr>
          <a:xfrm>
            <a:off x="4540909" y="5394960"/>
            <a:ext cx="1663295" cy="11356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dirty="0"/>
              <a:t>Electromagnetism: the WR-90 cut-off</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22</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X-band guide, broad wall a = 22.86 mm. Guide wavelength λ</a:t>
            </a:r>
            <a:r>
              <a:rPr sz="1600" b="0" i="0" baseline="-25000">
                <a:solidFill>
                  <a:srgbClr val="152D42"/>
                </a:solidFill>
              </a:rPr>
              <a:t>g</a:t>
            </a:r>
            <a:r>
              <a:rPr sz="1600" b="0" i="0">
                <a:solidFill>
                  <a:srgbClr val="152D42"/>
                </a:solidFill>
              </a:rPr>
              <a:t> read with a slotted line at 8 frequencies, 8.2 to 12.4 GHz, 0.3% reading error (synthetic).</a:t>
            </a:r>
          </a:p>
          <a:p>
            <a:pPr algn="l">
              <a:spcAft>
                <a:spcPts val="1000"/>
              </a:spcAft>
            </a:pPr>
            <a:r>
              <a:rPr sz="1600" b="1" i="0">
                <a:solidFill>
                  <a:srgbClr val="152D42"/>
                </a:solidFill>
              </a:rPr>
              <a:t>Find. </a:t>
            </a:r>
            <a:r>
              <a:rPr sz="1600" b="0" i="0">
                <a:solidFill>
                  <a:srgbClr val="152D42"/>
                </a:solidFill>
              </a:rPr>
              <a:t>The cut-off f</a:t>
            </a:r>
            <a:r>
              <a:rPr sz="1600" b="0" i="0" baseline="-25000">
                <a:solidFill>
                  <a:srgbClr val="152D42"/>
                </a:solidFill>
              </a:rPr>
              <a:t>c</a:t>
            </a:r>
            <a:r>
              <a:rPr sz="1600" b="0" i="0">
                <a:solidFill>
                  <a:srgbClr val="152D42"/>
                </a:solidFill>
              </a:rPr>
              <a:t> and the speed of light c in the air-filled guide.</a:t>
            </a:r>
          </a:p>
        </p:txBody>
      </p:sp>
      <p:pic>
        <p:nvPicPr>
          <p:cNvPr id="5" name="eq wg" descr="f^2 = f_c^2 + \frac{c^2}{\lambda_g^2}"/>
          <p:cNvPicPr>
            <a:picLocks noChangeAspect="1"/>
          </p:cNvPicPr>
          <p:nvPr/>
        </p:nvPicPr>
        <p:blipFill>
          <a:blip r:embed="rId3"/>
          <a:stretch>
            <a:fillRect/>
          </a:stretch>
        </p:blipFill>
        <p:spPr>
          <a:xfrm>
            <a:off x="612648" y="3429000"/>
            <a:ext cx="1474470" cy="818388"/>
          </a:xfrm>
          <a:prstGeom prst="rect">
            <a:avLst/>
          </a:prstGeom>
        </p:spPr>
      </p:pic>
      <p:sp>
        <p:nvSpPr>
          <p:cNvPr id="6" name="b1_answer 1"/>
          <p:cNvSpPr txBox="1"/>
          <p:nvPr/>
        </p:nvSpPr>
        <p:spPr>
          <a:xfrm>
            <a:off x="612648" y="4315968"/>
            <a:ext cx="5486400" cy="91440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Plot f</a:t>
            </a:r>
            <a:r>
              <a:rPr sz="1600" b="0" i="0" baseline="30000">
                <a:solidFill>
                  <a:srgbClr val="152D42"/>
                </a:solidFill>
              </a:rPr>
              <a:t>2</a:t>
            </a:r>
            <a:r>
              <a:rPr sz="1600" b="0" i="0">
                <a:solidFill>
                  <a:srgbClr val="152D42"/>
                </a:solidFill>
              </a:rPr>
              <a:t> against 1/λ</a:t>
            </a:r>
            <a:r>
              <a:rPr sz="1600" b="0" i="0" baseline="-25000">
                <a:solidFill>
                  <a:srgbClr val="152D42"/>
                </a:solidFill>
              </a:rPr>
              <a:t>g</a:t>
            </a:r>
            <a:r>
              <a:rPr sz="1600" b="0" i="0" baseline="30000">
                <a:solidFill>
                  <a:srgbClr val="152D42"/>
                </a:solidFill>
              </a:rPr>
              <a:t>2</a:t>
            </a:r>
            <a:r>
              <a:rPr sz="1600" b="0" i="0">
                <a:solidFill>
                  <a:srgbClr val="152D42"/>
                </a:solidFill>
              </a:rPr>
              <a:t>: a straight line. The slope c</a:t>
            </a:r>
            <a:r>
              <a:rPr sz="1600" b="0" i="0" baseline="30000">
                <a:solidFill>
                  <a:srgbClr val="152D42"/>
                </a:solidFill>
              </a:rPr>
              <a:t>2</a:t>
            </a:r>
            <a:r>
              <a:rPr sz="1600" b="0" i="0">
                <a:solidFill>
                  <a:srgbClr val="152D42"/>
                </a:solidFill>
              </a:rPr>
              <a:t> gives c = 2.994 × 10</a:t>
            </a:r>
            <a:r>
              <a:rPr sz="1600" b="0" i="0" baseline="30000">
                <a:solidFill>
                  <a:srgbClr val="152D42"/>
                </a:solidFill>
              </a:rPr>
              <a:t>8</a:t>
            </a:r>
            <a:r>
              <a:rPr sz="1600" b="0" i="0">
                <a:solidFill>
                  <a:srgbClr val="152D42"/>
                </a:solidFill>
              </a:rPr>
              <a:t> m/s; the intercept gives f</a:t>
            </a:r>
            <a:r>
              <a:rPr sz="1600" b="0" i="0" baseline="-25000">
                <a:solidFill>
                  <a:srgbClr val="152D42"/>
                </a:solidFill>
              </a:rPr>
              <a:t>c</a:t>
            </a:r>
            <a:r>
              <a:rPr sz="1600" b="0" i="0">
                <a:solidFill>
                  <a:srgbClr val="152D42"/>
                </a:solidFill>
              </a:rPr>
              <a:t> = 6.565 GHz.</a:t>
            </a:r>
          </a:p>
        </p:txBody>
      </p:sp>
      <p:sp>
        <p:nvSpPr>
          <p:cNvPr id="7" name="b2_answer 2"/>
          <p:cNvSpPr txBox="1"/>
          <p:nvPr/>
        </p:nvSpPr>
        <p:spPr>
          <a:xfrm>
            <a:off x="612648" y="525780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Theory: f</a:t>
            </a:r>
            <a:r>
              <a:rPr sz="1600" b="0" i="0" baseline="-25000">
                <a:solidFill>
                  <a:srgbClr val="506476"/>
                </a:solidFill>
              </a:rPr>
              <a:t>c</a:t>
            </a:r>
            <a:r>
              <a:rPr sz="1600" b="0" i="0">
                <a:solidFill>
                  <a:srgbClr val="506476"/>
                </a:solidFill>
              </a:rPr>
              <a:t> = c/2a = 6.557 GHz for the TE</a:t>
            </a:r>
            <a:r>
              <a:rPr sz="1600" b="0" i="0" baseline="-25000">
                <a:solidFill>
                  <a:srgbClr val="506476"/>
                </a:solidFill>
              </a:rPr>
              <a:t>10</a:t>
            </a:r>
            <a:r>
              <a:rPr sz="1600" b="0" i="0">
                <a:solidFill>
                  <a:srgbClr val="506476"/>
                </a:solidFill>
              </a:rPr>
              <a:t> mode. Change variables until the unknowns enter linearly.</a:t>
            </a:r>
          </a:p>
        </p:txBody>
      </p:sp>
      <p:graphicFrame>
        <p:nvGraphicFramePr>
          <p:cNvPr id="8" name="chart wg"/>
          <p:cNvGraphicFramePr>
            <a:graphicFrameLocks noGrp="1"/>
          </p:cNvGraphicFramePr>
          <p:nvPr>
            <p:extLst>
              <p:ext uri="{D42A27DB-BD31-4B8C-83A1-F6EECF244321}">
                <p14:modId xmlns:p14="http://schemas.microsoft.com/office/powerpoint/2010/main" val="641541553"/>
              </p:ext>
            </p:extLst>
          </p:nvPr>
        </p:nvGraphicFramePr>
        <p:xfrm>
          <a:off x="6309360" y="1342205"/>
          <a:ext cx="5276088"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Synthetic: exact TE₁₀ dispersion plus 0.3% noise, seed 5.</a:t>
            </a:r>
          </a:p>
        </p:txBody>
      </p:sp>
      <p:pic>
        <p:nvPicPr>
          <p:cNvPr id="10" name="Picture 9" descr="WR-90 Commercial Grade Straight Waveguide Section 9 Inch Length with CPR-90G Flange Operating from 8.2 GHz to 12.4 GHz">
            <a:extLst>
              <a:ext uri="{FF2B5EF4-FFF2-40B4-BE49-F238E27FC236}">
                <a16:creationId xmlns:a16="http://schemas.microsoft.com/office/drawing/2014/main" id="{16140147-15BA-D78E-B3FF-760A8F36F71D}"/>
              </a:ext>
            </a:extLst>
          </p:cNvPr>
          <p:cNvPicPr>
            <a:picLocks noChangeAspect="1"/>
          </p:cNvPicPr>
          <p:nvPr/>
        </p:nvPicPr>
        <p:blipFill>
          <a:blip r:embed="rId5"/>
          <a:srcRect/>
          <a:stretch>
            <a:fillRect/>
          </a:stretch>
        </p:blipFill>
        <p:spPr>
          <a:xfrm>
            <a:off x="9964396" y="0"/>
            <a:ext cx="2227604" cy="14880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84C913-7D71-5DDF-C154-6199524063EB}"/>
              </a:ext>
            </a:extLst>
          </p:cNvPr>
          <p:cNvPicPr>
            <a:picLocks noChangeAspect="1"/>
          </p:cNvPicPr>
          <p:nvPr/>
        </p:nvPicPr>
        <p:blipFill>
          <a:blip r:embed="rId2"/>
          <a:srcRect t="6477" b="11560"/>
          <a:stretch>
            <a:fillRect/>
          </a:stretch>
        </p:blipFill>
        <p:spPr>
          <a:xfrm>
            <a:off x="1249187" y="459336"/>
            <a:ext cx="9693625" cy="5939327"/>
          </a:xfrm>
          <a:prstGeom prst="rect">
            <a:avLst/>
          </a:prstGeom>
        </p:spPr>
      </p:pic>
      <p:sp>
        <p:nvSpPr>
          <p:cNvPr id="5" name="TextBox 4">
            <a:extLst>
              <a:ext uri="{FF2B5EF4-FFF2-40B4-BE49-F238E27FC236}">
                <a16:creationId xmlns:a16="http://schemas.microsoft.com/office/drawing/2014/main" id="{1588ED20-6DCA-B9B7-5DDF-9D6AA1959EA8}"/>
              </a:ext>
            </a:extLst>
          </p:cNvPr>
          <p:cNvSpPr txBox="1"/>
          <p:nvPr/>
        </p:nvSpPr>
        <p:spPr>
          <a:xfrm>
            <a:off x="1177183" y="-63884"/>
            <a:ext cx="6097424" cy="523220"/>
          </a:xfrm>
          <a:prstGeom prst="rect">
            <a:avLst/>
          </a:prstGeom>
          <a:noFill/>
        </p:spPr>
        <p:txBody>
          <a:bodyPr wrap="square">
            <a:spAutoFit/>
          </a:bodyPr>
          <a:lstStyle/>
          <a:p>
            <a:r>
              <a:rPr lang="en-US" sz="2800" b="1" dirty="0"/>
              <a:t>The tide at Boston</a:t>
            </a:r>
            <a:endParaRPr lang="en-US" b="1" dirty="0"/>
          </a:p>
        </p:txBody>
      </p:sp>
    </p:spTree>
    <p:extLst>
      <p:ext uri="{BB962C8B-B14F-4D97-AF65-F5344CB8AC3E}">
        <p14:creationId xmlns:p14="http://schemas.microsoft.com/office/powerpoint/2010/main" val="252185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dirty="0"/>
              <a:t>Water waves: harmonic analysis of the tide at Boston</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24</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29 days of hourly heights (696 values), built from NOAA's five largest constituents at Boston plus 8 cm of random noise.</a:t>
            </a:r>
          </a:p>
          <a:p>
            <a:pPr algn="l">
              <a:spcAft>
                <a:spcPts val="1000"/>
              </a:spcAft>
            </a:pPr>
            <a:r>
              <a:rPr sz="1600" b="1" i="0">
                <a:solidFill>
                  <a:srgbClr val="152D42"/>
                </a:solidFill>
              </a:rPr>
              <a:t>Find. </a:t>
            </a:r>
            <a:r>
              <a:rPr sz="1600" b="0" i="0">
                <a:solidFill>
                  <a:srgbClr val="152D42"/>
                </a:solidFill>
              </a:rPr>
              <a:t>The amplitude and phase of each constituent.</a:t>
            </a:r>
          </a:p>
        </p:txBody>
      </p:sp>
      <p:pic>
        <p:nvPicPr>
          <p:cNvPr id="5" name="eq tide" descr="h(t) = Z_0 + \sum_{j=1}^{5} \bigl( p_j \cos\omega_j t + q_j \sin\omega_j t \bigr), \qquad \text{amplitude } \sqrt{p_j^2 + q_j^2}"/>
          <p:cNvPicPr>
            <a:picLocks noChangeAspect="1"/>
          </p:cNvPicPr>
          <p:nvPr/>
        </p:nvPicPr>
        <p:blipFill>
          <a:blip r:embed="rId3"/>
          <a:stretch>
            <a:fillRect/>
          </a:stretch>
        </p:blipFill>
        <p:spPr>
          <a:xfrm>
            <a:off x="612648" y="3017520"/>
            <a:ext cx="5467746" cy="653430"/>
          </a:xfrm>
          <a:prstGeom prst="rect">
            <a:avLst/>
          </a:prstGeom>
        </p:spPr>
      </p:pic>
      <p:sp>
        <p:nvSpPr>
          <p:cNvPr id="6" name="b1_answer 1"/>
          <p:cNvSpPr txBox="1"/>
          <p:nvPr/>
        </p:nvSpPr>
        <p:spPr>
          <a:xfrm>
            <a:off x="612648" y="3794760"/>
            <a:ext cx="5486400" cy="100584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696 equations, 11 unknowns (a cos and a sin column per constituent). M2 comes out </a:t>
            </a:r>
            <a:r>
              <a:rPr sz="1600" b="1" i="0">
                <a:solidFill>
                  <a:srgbClr val="152D42"/>
                </a:solidFill>
              </a:rPr>
              <a:t>1.365 m</a:t>
            </a:r>
            <a:r>
              <a:rPr sz="1600" b="0" i="0">
                <a:solidFill>
                  <a:srgbClr val="152D42"/>
                </a:solidFill>
              </a:rPr>
              <a:t> against NOAA's 1.371 m.</a:t>
            </a:r>
          </a:p>
        </p:txBody>
      </p:sp>
      <p:sp>
        <p:nvSpPr>
          <p:cNvPr id="7" name="b2_answer 2"/>
          <p:cNvSpPr txBox="1"/>
          <p:nvPr/>
        </p:nvSpPr>
        <p:spPr>
          <a:xfrm>
            <a:off x="612648" y="484632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With its columns scaled to equal length, cond(X) = 1.06: over 29 days these 11 columns are nearly orthogonal, so M2, S2 and N2 separate.</a:t>
            </a:r>
          </a:p>
        </p:txBody>
      </p:sp>
      <p:graphicFrame>
        <p:nvGraphicFramePr>
          <p:cNvPr id="8" name="chart tide"/>
          <p:cNvGraphicFramePr>
            <a:graphicFrameLocks noGrp="1"/>
          </p:cNvGraphicFramePr>
          <p:nvPr/>
        </p:nvGraphicFramePr>
        <p:xfrm>
          <a:off x="6309360" y="1280160"/>
          <a:ext cx="5276088" cy="2514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b1_table tide"/>
          <p:cNvGraphicFramePr>
            <a:graphicFrameLocks noGrp="1"/>
          </p:cNvGraphicFramePr>
          <p:nvPr/>
        </p:nvGraphicFramePr>
        <p:xfrm>
          <a:off x="6309360" y="3840480"/>
          <a:ext cx="5276088" cy="2005584"/>
        </p:xfrm>
        <a:graphic>
          <a:graphicData uri="http://schemas.openxmlformats.org/drawingml/2006/table">
            <a:tbl>
              <a:tblPr firstRow="1">
                <a:tableStyleId>{5C22544A-7EE6-4342-B048-85BDC9FD1C3A}</a:tableStyleId>
              </a:tblPr>
              <a:tblGrid>
                <a:gridCol w="6400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55648">
                  <a:extLst>
                    <a:ext uri="{9D8B030D-6E8A-4147-A177-3AD203B41FA5}">
                      <a16:colId xmlns:a16="http://schemas.microsoft.com/office/drawing/2014/main" val="20003"/>
                    </a:ext>
                  </a:extLst>
                </a:gridCol>
              </a:tblGrid>
              <a:tr h="310896">
                <a:tc>
                  <a:txBody>
                    <a:bodyPr/>
                    <a:lstStyle/>
                    <a:p>
                      <a:endParaRPr/>
                    </a:p>
                  </a:txBody>
                  <a:tcPr marL="73152" marR="73152" marT="27432" marB="27432" anchor="ctr">
                    <a:solidFill>
                      <a:srgbClr val="152D42"/>
                    </a:solidFill>
                  </a:tcPr>
                </a:tc>
                <a:tc>
                  <a:txBody>
                    <a:bodyPr/>
                    <a:lstStyle/>
                    <a:p>
                      <a:pPr algn="ctr"/>
                      <a:r>
                        <a:rPr sz="1300" b="1" i="0">
                          <a:solidFill>
                            <a:srgbClr val="FFFFFF"/>
                          </a:solidFill>
                        </a:rPr>
                        <a:t>Period (h)</a:t>
                      </a:r>
                    </a:p>
                  </a:txBody>
                  <a:tcPr marL="73152" marR="73152" marT="27432" marB="27432" anchor="ctr">
                    <a:solidFill>
                      <a:srgbClr val="152D42"/>
                    </a:solidFill>
                  </a:tcPr>
                </a:tc>
                <a:tc>
                  <a:txBody>
                    <a:bodyPr/>
                    <a:lstStyle/>
                    <a:p>
                      <a:pPr algn="ctr"/>
                      <a:r>
                        <a:rPr sz="1300" b="1" i="0">
                          <a:solidFill>
                            <a:srgbClr val="FFFFFF"/>
                          </a:solidFill>
                        </a:rPr>
                        <a:t>Amplitude (m) fit / NOAA</a:t>
                      </a:r>
                    </a:p>
                  </a:txBody>
                  <a:tcPr marL="73152" marR="73152" marT="27432" marB="27432" anchor="ctr">
                    <a:solidFill>
                      <a:srgbClr val="152D42"/>
                    </a:solidFill>
                  </a:tcPr>
                </a:tc>
                <a:tc>
                  <a:txBody>
                    <a:bodyPr/>
                    <a:lstStyle/>
                    <a:p>
                      <a:pPr algn="ctr"/>
                      <a:r>
                        <a:rPr sz="1300" b="1" i="0">
                          <a:solidFill>
                            <a:srgbClr val="FFFFFF"/>
                          </a:solidFill>
                        </a:rPr>
                        <a:t>Phase (°) fit / used</a:t>
                      </a:r>
                    </a:p>
                  </a:txBody>
                  <a:tcPr marL="73152" marR="73152" marT="27432" marB="27432" anchor="ctr">
                    <a:solidFill>
                      <a:srgbClr val="152D42"/>
                    </a:solidFill>
                  </a:tcPr>
                </a:tc>
                <a:extLst>
                  <a:ext uri="{0D108BD9-81ED-4DB2-BD59-A6C34878D82A}">
                    <a16:rowId xmlns:a16="http://schemas.microsoft.com/office/drawing/2014/main" val="10000"/>
                  </a:ext>
                </a:extLst>
              </a:tr>
              <a:tr h="310896">
                <a:tc>
                  <a:txBody>
                    <a:bodyPr/>
                    <a:lstStyle/>
                    <a:p>
                      <a:r>
                        <a:rPr sz="1300" b="0" i="0">
                          <a:solidFill>
                            <a:srgbClr val="152D42"/>
                          </a:solidFill>
                        </a:rPr>
                        <a:t>M2</a:t>
                      </a:r>
                    </a:p>
                  </a:txBody>
                  <a:tcPr marL="73152" marR="73152" marT="27432" marB="27432" anchor="ctr">
                    <a:solidFill>
                      <a:srgbClr val="FFFFFF"/>
                    </a:solidFill>
                  </a:tcPr>
                </a:tc>
                <a:tc>
                  <a:txBody>
                    <a:bodyPr/>
                    <a:lstStyle/>
                    <a:p>
                      <a:pPr algn="ctr"/>
                      <a:r>
                        <a:rPr sz="1300" b="0" i="0">
                          <a:solidFill>
                            <a:srgbClr val="152D42"/>
                          </a:solidFill>
                        </a:rPr>
                        <a:t>12.42</a:t>
                      </a:r>
                    </a:p>
                  </a:txBody>
                  <a:tcPr marL="73152" marR="73152" marT="27432" marB="27432" anchor="ctr">
                    <a:solidFill>
                      <a:srgbClr val="FFFFFF"/>
                    </a:solidFill>
                  </a:tcPr>
                </a:tc>
                <a:tc>
                  <a:txBody>
                    <a:bodyPr/>
                    <a:lstStyle/>
                    <a:p>
                      <a:pPr algn="ctr"/>
                      <a:r>
                        <a:rPr sz="1300" b="0" i="0">
                          <a:solidFill>
                            <a:srgbClr val="152D42"/>
                          </a:solidFill>
                        </a:rPr>
                        <a:t>1.365 / 1.371</a:t>
                      </a:r>
                    </a:p>
                  </a:txBody>
                  <a:tcPr marL="73152" marR="73152" marT="27432" marB="27432" anchor="ctr">
                    <a:solidFill>
                      <a:srgbClr val="FFFFFF"/>
                    </a:solidFill>
                  </a:tcPr>
                </a:tc>
                <a:tc>
                  <a:txBody>
                    <a:bodyPr/>
                    <a:lstStyle/>
                    <a:p>
                      <a:pPr algn="ctr"/>
                      <a:r>
                        <a:rPr sz="1300" b="0" i="0">
                          <a:solidFill>
                            <a:srgbClr val="152D42"/>
                          </a:solidFill>
                        </a:rPr>
                        <a:t>323.9 / 324.2</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r>
                        <a:rPr sz="1300" b="0" i="0">
                          <a:solidFill>
                            <a:srgbClr val="152D42"/>
                          </a:solidFill>
                        </a:rPr>
                        <a:t>S2</a:t>
                      </a:r>
                    </a:p>
                  </a:txBody>
                  <a:tcPr marL="73152" marR="73152" marT="27432" marB="27432" anchor="ctr">
                    <a:solidFill>
                      <a:srgbClr val="F5F7F9"/>
                    </a:solidFill>
                  </a:tcPr>
                </a:tc>
                <a:tc>
                  <a:txBody>
                    <a:bodyPr/>
                    <a:lstStyle/>
                    <a:p>
                      <a:pPr algn="ctr"/>
                      <a:r>
                        <a:rPr sz="1300" b="0" i="0">
                          <a:solidFill>
                            <a:srgbClr val="152D42"/>
                          </a:solidFill>
                        </a:rPr>
                        <a:t>12.00</a:t>
                      </a:r>
                    </a:p>
                  </a:txBody>
                  <a:tcPr marL="73152" marR="73152" marT="27432" marB="27432" anchor="ctr">
                    <a:solidFill>
                      <a:srgbClr val="F5F7F9"/>
                    </a:solidFill>
                  </a:tcPr>
                </a:tc>
                <a:tc>
                  <a:txBody>
                    <a:bodyPr/>
                    <a:lstStyle/>
                    <a:p>
                      <a:pPr algn="ctr"/>
                      <a:r>
                        <a:rPr sz="1300" b="0" i="0">
                          <a:solidFill>
                            <a:srgbClr val="152D42"/>
                          </a:solidFill>
                        </a:rPr>
                        <a:t>0.206 / 0.208</a:t>
                      </a:r>
                    </a:p>
                  </a:txBody>
                  <a:tcPr marL="73152" marR="73152" marT="27432" marB="27432" anchor="ctr">
                    <a:solidFill>
                      <a:srgbClr val="F5F7F9"/>
                    </a:solidFill>
                  </a:tcPr>
                </a:tc>
                <a:tc>
                  <a:txBody>
                    <a:bodyPr/>
                    <a:lstStyle/>
                    <a:p>
                      <a:pPr algn="ctr"/>
                      <a:r>
                        <a:rPr sz="1300" b="0" i="0">
                          <a:solidFill>
                            <a:srgbClr val="152D42"/>
                          </a:solidFill>
                        </a:rPr>
                        <a:t>355.4 / 356.2</a:t>
                      </a:r>
                    </a:p>
                  </a:txBody>
                  <a:tcPr marL="73152" marR="73152" marT="27432" marB="27432" anchor="ctr">
                    <a:solidFill>
                      <a:srgbClr val="F5F7F9"/>
                    </a:solidFill>
                  </a:tcPr>
                </a:tc>
                <a:extLst>
                  <a:ext uri="{0D108BD9-81ED-4DB2-BD59-A6C34878D82A}">
                    <a16:rowId xmlns:a16="http://schemas.microsoft.com/office/drawing/2014/main" val="10002"/>
                  </a:ext>
                </a:extLst>
              </a:tr>
              <a:tr h="310896">
                <a:tc>
                  <a:txBody>
                    <a:bodyPr/>
                    <a:lstStyle/>
                    <a:p>
                      <a:r>
                        <a:rPr sz="1300" b="0" i="0">
                          <a:solidFill>
                            <a:srgbClr val="152D42"/>
                          </a:solidFill>
                        </a:rPr>
                        <a:t>N2</a:t>
                      </a:r>
                    </a:p>
                  </a:txBody>
                  <a:tcPr marL="73152" marR="73152" marT="27432" marB="27432" anchor="ctr">
                    <a:solidFill>
                      <a:srgbClr val="FFFFFF"/>
                    </a:solidFill>
                  </a:tcPr>
                </a:tc>
                <a:tc>
                  <a:txBody>
                    <a:bodyPr/>
                    <a:lstStyle/>
                    <a:p>
                      <a:pPr algn="ctr"/>
                      <a:r>
                        <a:rPr sz="1300" b="0" i="0">
                          <a:solidFill>
                            <a:srgbClr val="152D42"/>
                          </a:solidFill>
                        </a:rPr>
                        <a:t>12.66</a:t>
                      </a:r>
                    </a:p>
                  </a:txBody>
                  <a:tcPr marL="73152" marR="73152" marT="27432" marB="27432" anchor="ctr">
                    <a:solidFill>
                      <a:srgbClr val="FFFFFF"/>
                    </a:solidFill>
                  </a:tcPr>
                </a:tc>
                <a:tc>
                  <a:txBody>
                    <a:bodyPr/>
                    <a:lstStyle/>
                    <a:p>
                      <a:pPr algn="ctr"/>
                      <a:r>
                        <a:rPr sz="1300" b="0" i="0">
                          <a:solidFill>
                            <a:srgbClr val="152D42"/>
                          </a:solidFill>
                        </a:rPr>
                        <a:t>0.305 / 0.305</a:t>
                      </a:r>
                    </a:p>
                  </a:txBody>
                  <a:tcPr marL="73152" marR="73152" marT="27432" marB="27432" anchor="ctr">
                    <a:solidFill>
                      <a:srgbClr val="FFFFFF"/>
                    </a:solidFill>
                  </a:tcPr>
                </a:tc>
                <a:tc>
                  <a:txBody>
                    <a:bodyPr/>
                    <a:lstStyle/>
                    <a:p>
                      <a:pPr algn="ctr"/>
                      <a:r>
                        <a:rPr sz="1300" b="0" i="0">
                          <a:solidFill>
                            <a:srgbClr val="152D42"/>
                          </a:solidFill>
                        </a:rPr>
                        <a:t>294.8 / 294.5</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r>
                        <a:rPr sz="1300" b="0" i="0">
                          <a:solidFill>
                            <a:srgbClr val="152D42"/>
                          </a:solidFill>
                        </a:rPr>
                        <a:t>K1</a:t>
                      </a:r>
                    </a:p>
                  </a:txBody>
                  <a:tcPr marL="73152" marR="73152" marT="27432" marB="27432" anchor="ctr">
                    <a:solidFill>
                      <a:srgbClr val="F5F7F9"/>
                    </a:solidFill>
                  </a:tcPr>
                </a:tc>
                <a:tc>
                  <a:txBody>
                    <a:bodyPr/>
                    <a:lstStyle/>
                    <a:p>
                      <a:pPr algn="ctr"/>
                      <a:r>
                        <a:rPr sz="1300" b="0" i="0">
                          <a:solidFill>
                            <a:srgbClr val="152D42"/>
                          </a:solidFill>
                        </a:rPr>
                        <a:t>23.93</a:t>
                      </a:r>
                    </a:p>
                  </a:txBody>
                  <a:tcPr marL="73152" marR="73152" marT="27432" marB="27432" anchor="ctr">
                    <a:solidFill>
                      <a:srgbClr val="F5F7F9"/>
                    </a:solidFill>
                  </a:tcPr>
                </a:tc>
                <a:tc>
                  <a:txBody>
                    <a:bodyPr/>
                    <a:lstStyle/>
                    <a:p>
                      <a:pPr algn="ctr"/>
                      <a:r>
                        <a:rPr sz="1300" b="0" i="0">
                          <a:solidFill>
                            <a:srgbClr val="152D42"/>
                          </a:solidFill>
                        </a:rPr>
                        <a:t>0.148 / 0.143</a:t>
                      </a:r>
                    </a:p>
                  </a:txBody>
                  <a:tcPr marL="73152" marR="73152" marT="27432" marB="27432" anchor="ctr">
                    <a:solidFill>
                      <a:srgbClr val="F5F7F9"/>
                    </a:solidFill>
                  </a:tcPr>
                </a:tc>
                <a:tc>
                  <a:txBody>
                    <a:bodyPr/>
                    <a:lstStyle/>
                    <a:p>
                      <a:pPr algn="ctr"/>
                      <a:r>
                        <a:rPr sz="1300" b="0" i="0">
                          <a:solidFill>
                            <a:srgbClr val="152D42"/>
                          </a:solidFill>
                        </a:rPr>
                        <a:t>131.7 / 130.4</a:t>
                      </a:r>
                    </a:p>
                  </a:txBody>
                  <a:tcPr marL="73152" marR="73152" marT="27432" marB="27432" anchor="ctr">
                    <a:solidFill>
                      <a:srgbClr val="F5F7F9"/>
                    </a:solidFill>
                  </a:tcPr>
                </a:tc>
                <a:extLst>
                  <a:ext uri="{0D108BD9-81ED-4DB2-BD59-A6C34878D82A}">
                    <a16:rowId xmlns:a16="http://schemas.microsoft.com/office/drawing/2014/main" val="10004"/>
                  </a:ext>
                </a:extLst>
              </a:tr>
              <a:tr h="310896">
                <a:tc>
                  <a:txBody>
                    <a:bodyPr/>
                    <a:lstStyle/>
                    <a:p>
                      <a:r>
                        <a:rPr sz="1300" b="0" i="0">
                          <a:solidFill>
                            <a:srgbClr val="152D42"/>
                          </a:solidFill>
                        </a:rPr>
                        <a:t>O1</a:t>
                      </a:r>
                    </a:p>
                  </a:txBody>
                  <a:tcPr marL="73152" marR="73152" marT="27432" marB="27432" anchor="ctr">
                    <a:solidFill>
                      <a:srgbClr val="FFFFFF"/>
                    </a:solidFill>
                  </a:tcPr>
                </a:tc>
                <a:tc>
                  <a:txBody>
                    <a:bodyPr/>
                    <a:lstStyle/>
                    <a:p>
                      <a:pPr algn="ctr"/>
                      <a:r>
                        <a:rPr sz="1300" b="0" i="0">
                          <a:solidFill>
                            <a:srgbClr val="152D42"/>
                          </a:solidFill>
                        </a:rPr>
                        <a:t>25.82</a:t>
                      </a:r>
                    </a:p>
                  </a:txBody>
                  <a:tcPr marL="73152" marR="73152" marT="27432" marB="27432" anchor="ctr">
                    <a:solidFill>
                      <a:srgbClr val="FFFFFF"/>
                    </a:solidFill>
                  </a:tcPr>
                </a:tc>
                <a:tc>
                  <a:txBody>
                    <a:bodyPr/>
                    <a:lstStyle/>
                    <a:p>
                      <a:pPr algn="ctr"/>
                      <a:r>
                        <a:rPr sz="1300" b="0" i="0">
                          <a:solidFill>
                            <a:srgbClr val="152D42"/>
                          </a:solidFill>
                        </a:rPr>
                        <a:t>0.116 / 0.116</a:t>
                      </a:r>
                    </a:p>
                  </a:txBody>
                  <a:tcPr marL="73152" marR="73152" marT="27432" marB="27432" anchor="ctr">
                    <a:solidFill>
                      <a:srgbClr val="FFFFFF"/>
                    </a:solidFill>
                  </a:tcPr>
                </a:tc>
                <a:tc>
                  <a:txBody>
                    <a:bodyPr/>
                    <a:lstStyle/>
                    <a:p>
                      <a:pPr algn="ctr"/>
                      <a:r>
                        <a:rPr sz="1300" b="0" i="0">
                          <a:solidFill>
                            <a:srgbClr val="152D42"/>
                          </a:solidFill>
                        </a:rPr>
                        <a:t>116.1 / 117.4</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caption"/>
          <p:cNvSpPr txBox="1"/>
          <p:nvPr/>
        </p:nvSpPr>
        <p:spPr>
          <a:xfrm>
            <a:off x="6309360" y="5897880"/>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Amplitudes: NOAA station 8443970 (Boston), converted from feet. Record synthetic, seed 29.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Graphic spid="9"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Nonlinear optics: the second-harmonic exponent</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25</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Second-harmonic power at 16 pump powers from 0.01 to 4 W, 3% noise (synthetic, with pump depletion at the top).</a:t>
            </a:r>
          </a:p>
          <a:p>
            <a:pPr algn="l">
              <a:spcAft>
                <a:spcPts val="1000"/>
              </a:spcAft>
            </a:pPr>
            <a:r>
              <a:rPr sz="1600" b="1" i="0">
                <a:solidFill>
                  <a:srgbClr val="152D42"/>
                </a:solidFill>
              </a:rPr>
              <a:t>Find. </a:t>
            </a:r>
            <a:r>
              <a:rPr sz="1600" b="0" i="0">
                <a:solidFill>
                  <a:srgbClr val="152D42"/>
                </a:solidFill>
              </a:rPr>
              <a:t>The exponent p in P</a:t>
            </a:r>
            <a:r>
              <a:rPr sz="1600" b="0" i="0" baseline="-25000">
                <a:solidFill>
                  <a:srgbClr val="152D42"/>
                </a:solidFill>
              </a:rPr>
              <a:t>2</a:t>
            </a:r>
            <a:r>
              <a:rPr sz="1600" b="0" i="0">
                <a:solidFill>
                  <a:srgbClr val="152D42"/>
                </a:solidFill>
              </a:rPr>
              <a:t> ∝ P</a:t>
            </a:r>
            <a:r>
              <a:rPr sz="1600" b="0" i="0" baseline="30000">
                <a:solidFill>
                  <a:srgbClr val="152D42"/>
                </a:solidFill>
              </a:rPr>
              <a:t>p</a:t>
            </a:r>
            <a:r>
              <a:rPr sz="1600" b="0" i="0">
                <a:solidFill>
                  <a:srgbClr val="152D42"/>
                </a:solidFill>
              </a:rPr>
              <a:t>.</a:t>
            </a:r>
          </a:p>
        </p:txBody>
      </p:sp>
      <p:pic>
        <p:nvPicPr>
          <p:cNvPr id="5" name="eq shg" descr="P_2 = \eta\, P^{\,p} \quad\Rightarrow\quad \log P_2 = \log\eta + p\,\log P"/>
          <p:cNvPicPr>
            <a:picLocks noChangeAspect="1"/>
          </p:cNvPicPr>
          <p:nvPr/>
        </p:nvPicPr>
        <p:blipFill>
          <a:blip r:embed="rId3"/>
          <a:stretch>
            <a:fillRect/>
          </a:stretch>
        </p:blipFill>
        <p:spPr>
          <a:xfrm>
            <a:off x="612648" y="3154680"/>
            <a:ext cx="5141214" cy="315468"/>
          </a:xfrm>
          <a:prstGeom prst="rect">
            <a:avLst/>
          </a:prstGeom>
        </p:spPr>
      </p:pic>
      <p:sp>
        <p:nvSpPr>
          <p:cNvPr id="6" name="b1_answer 1"/>
          <p:cNvSpPr txBox="1"/>
          <p:nvPr/>
        </p:nvSpPr>
        <p:spPr>
          <a:xfrm>
            <a:off x="612648" y="3931920"/>
            <a:ext cx="5486400" cy="91440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Columns log P and 1. The 10 points below 0.4 W give slope 1.99: a second-order process.</a:t>
            </a:r>
          </a:p>
        </p:txBody>
      </p:sp>
      <p:sp>
        <p:nvSpPr>
          <p:cNvPr id="7" name="b2_answer 2"/>
          <p:cNvSpPr txBox="1"/>
          <p:nvPr/>
        </p:nvSpPr>
        <p:spPr>
          <a:xfrm>
            <a:off x="612648" y="489204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All 16 points give 1.93. At 4 W, 58% of the pump is converted, so P</a:t>
            </a:r>
            <a:r>
              <a:rPr sz="1600" b="0" i="0" baseline="-25000">
                <a:solidFill>
                  <a:srgbClr val="506476"/>
                </a:solidFill>
              </a:rPr>
              <a:t>2</a:t>
            </a:r>
            <a:r>
              <a:rPr sz="1600" b="0" i="0">
                <a:solidFill>
                  <a:srgbClr val="506476"/>
                </a:solidFill>
              </a:rPr>
              <a:t> grows more slowly. Fit only where the model holds.</a:t>
            </a:r>
          </a:p>
        </p:txBody>
      </p:sp>
      <p:graphicFrame>
        <p:nvGraphicFramePr>
          <p:cNvPr id="8" name="chart shg"/>
          <p:cNvGraphicFramePr>
            <a:graphicFrameLocks noGrp="1"/>
          </p:cNvGraphicFramePr>
          <p:nvPr/>
        </p:nvGraphicFramePr>
        <p:xfrm>
          <a:off x="6309360" y="1280160"/>
          <a:ext cx="5276088"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Synthetic: P₂ = P tanh²(√(0.25 P)), 3% noise, seed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Structured light: the centre of a ring beam</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26</a:t>
            </a:fld>
            <a:endParaRPr lang="en-US"/>
          </a:p>
        </p:txBody>
      </p:sp>
      <p:sp>
        <p:nvSpPr>
          <p:cNvPr id="4" name="given find"/>
          <p:cNvSpPr txBox="1"/>
          <p:nvPr/>
        </p:nvSpPr>
        <p:spPr>
          <a:xfrm>
            <a:off x="612648" y="1280160"/>
            <a:ext cx="5486400" cy="1828800"/>
          </a:xfrm>
          <a:prstGeom prst="rect">
            <a:avLst/>
          </a:prstGeom>
          <a:noFill/>
        </p:spPr>
        <p:txBody>
          <a:bodyPr wrap="square" lIns="0" tIns="0" rIns="0" bIns="0" anchor="t">
            <a:spAutoFit/>
          </a:bodyPr>
          <a:lstStyle/>
          <a:p>
            <a:pPr algn="l">
              <a:spcAft>
                <a:spcPts val="1000"/>
              </a:spcAft>
            </a:pPr>
            <a:r>
              <a:rPr sz="1600" b="1" i="0">
                <a:solidFill>
                  <a:srgbClr val="152D42"/>
                </a:solidFill>
              </a:rPr>
              <a:t>Given. </a:t>
            </a:r>
            <a:r>
              <a:rPr sz="1600" b="0" i="0">
                <a:solidFill>
                  <a:srgbClr val="152D42"/>
                </a:solidFill>
              </a:rPr>
              <a:t>36 edge points of a ring-shaped (Laguerre–Gauss) beam on a camera, at uneven angles, 1.5 px noise (synthetic).</a:t>
            </a:r>
          </a:p>
          <a:p>
            <a:pPr algn="l">
              <a:spcAft>
                <a:spcPts val="1000"/>
              </a:spcAft>
            </a:pPr>
            <a:r>
              <a:rPr sz="1600" b="1" i="0">
                <a:solidFill>
                  <a:srgbClr val="152D42"/>
                </a:solidFill>
              </a:rPr>
              <a:t>Find. </a:t>
            </a:r>
            <a:r>
              <a:rPr sz="1600" b="0" i="0">
                <a:solidFill>
                  <a:srgbClr val="152D42"/>
                </a:solidFill>
              </a:rPr>
              <a:t>The centre and the radius.</a:t>
            </a:r>
          </a:p>
        </p:txBody>
      </p:sp>
      <p:pic>
        <p:nvPicPr>
          <p:cNvPr id="5" name="eq ring" descr="\begin{aligned} (x-a)^2 + (y-b)^2 &amp;= r^2 \\ \Leftrightarrow\quad x^2 + y^2 &amp;= 2a\,x + 2b\,y + c \end{aligned}"/>
          <p:cNvPicPr>
            <a:picLocks noChangeAspect="1"/>
          </p:cNvPicPr>
          <p:nvPr/>
        </p:nvPicPr>
        <p:blipFill>
          <a:blip r:embed="rId3"/>
          <a:stretch>
            <a:fillRect/>
          </a:stretch>
        </p:blipFill>
        <p:spPr>
          <a:xfrm>
            <a:off x="612648" y="3154680"/>
            <a:ext cx="4320540" cy="758952"/>
          </a:xfrm>
          <a:prstGeom prst="rect">
            <a:avLst/>
          </a:prstGeom>
        </p:spPr>
      </p:pic>
      <p:sp>
        <p:nvSpPr>
          <p:cNvPr id="6" name="b1_answer 1"/>
          <p:cNvSpPr txBox="1"/>
          <p:nvPr/>
        </p:nvSpPr>
        <p:spPr>
          <a:xfrm>
            <a:off x="612648" y="4069080"/>
            <a:ext cx="5486400" cy="914400"/>
          </a:xfrm>
          <a:prstGeom prst="rect">
            <a:avLst/>
          </a:prstGeom>
          <a:noFill/>
        </p:spPr>
        <p:txBody>
          <a:bodyPr wrap="square" lIns="0" tIns="0" rIns="0" bIns="0" anchor="t">
            <a:spAutoFit/>
          </a:bodyPr>
          <a:lstStyle/>
          <a:p>
            <a:pPr algn="l">
              <a:spcAft>
                <a:spcPts val="800"/>
              </a:spcAft>
            </a:pPr>
            <a:r>
              <a:rPr sz="1600" b="1" i="0">
                <a:solidFill>
                  <a:srgbClr val="152D42"/>
                </a:solidFill>
              </a:rPr>
              <a:t>Answer. </a:t>
            </a:r>
            <a:r>
              <a:rPr sz="1600" b="0" i="0">
                <a:solidFill>
                  <a:srgbClr val="152D42"/>
                </a:solidFill>
              </a:rPr>
              <a:t>With c = r² − a² − b² the unknowns a, b, c enter linearly: columns 2x, 2y, 1. Centre (312.6, 240.8) px, radius 84.5 px (true 312.4, 240.7 and 85).</a:t>
            </a:r>
          </a:p>
        </p:txBody>
      </p:sp>
      <p:sp>
        <p:nvSpPr>
          <p:cNvPr id="7" name="b2_answer 2"/>
          <p:cNvSpPr txBox="1"/>
          <p:nvPr/>
        </p:nvSpPr>
        <p:spPr>
          <a:xfrm>
            <a:off x="612648" y="5029200"/>
            <a:ext cx="5486400" cy="1005840"/>
          </a:xfrm>
          <a:prstGeom prst="rect">
            <a:avLst/>
          </a:prstGeom>
          <a:noFill/>
        </p:spPr>
        <p:txBody>
          <a:bodyPr wrap="square" lIns="0" tIns="0" rIns="0" bIns="0" anchor="t">
            <a:spAutoFit/>
          </a:bodyPr>
          <a:lstStyle/>
          <a:p>
            <a:pPr algn="l">
              <a:spcAft>
                <a:spcPts val="800"/>
              </a:spcAft>
            </a:pPr>
            <a:r>
              <a:rPr sz="1600" b="0" i="0">
                <a:solidFill>
                  <a:srgbClr val="506476"/>
                </a:solidFill>
              </a:rPr>
              <a:t>The mean of the points, (325.2, 230.3), is 16.5 px off: the points are not spread evenly around the ring.</a:t>
            </a:r>
          </a:p>
        </p:txBody>
      </p:sp>
      <p:graphicFrame>
        <p:nvGraphicFramePr>
          <p:cNvPr id="8" name="chart ring"/>
          <p:cNvGraphicFramePr>
            <a:graphicFrameLocks noGrp="1"/>
          </p:cNvGraphicFramePr>
          <p:nvPr/>
        </p:nvGraphicFramePr>
        <p:xfrm>
          <a:off x="6720840" y="1280160"/>
          <a:ext cx="4480560"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9" name="caption"/>
          <p:cNvSpPr txBox="1"/>
          <p:nvPr/>
        </p:nvSpPr>
        <p:spPr>
          <a:xfrm>
            <a:off x="6309360" y="5870448"/>
            <a:ext cx="5276088" cy="411480"/>
          </a:xfrm>
          <a:prstGeom prst="rect">
            <a:avLst/>
          </a:prstGeom>
          <a:noFill/>
        </p:spPr>
        <p:txBody>
          <a:bodyPr wrap="square" lIns="0" tIns="0" rIns="0" bIns="0" anchor="t">
            <a:spAutoFit/>
          </a:bodyPr>
          <a:lstStyle/>
          <a:p>
            <a:pPr algn="l">
              <a:spcAft>
                <a:spcPts val="800"/>
              </a:spcAft>
            </a:pPr>
            <a:r>
              <a:rPr sz="1200" b="0" i="0">
                <a:solidFill>
                  <a:srgbClr val="506476"/>
                </a:solidFill>
              </a:rPr>
              <a:t>Synthetic: centre (312.4, 240.7) px, radius 85 px, seed 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Summary</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27</a:t>
            </a:fld>
            <a:endParaRPr lang="en-US"/>
          </a:p>
        </p:txBody>
      </p:sp>
      <p:graphicFrame>
        <p:nvGraphicFramePr>
          <p:cNvPr id="4" name="table summary"/>
          <p:cNvGraphicFramePr>
            <a:graphicFrameLocks noGrp="1"/>
          </p:cNvGraphicFramePr>
          <p:nvPr/>
        </p:nvGraphicFramePr>
        <p:xfrm>
          <a:off x="612648" y="1234440"/>
          <a:ext cx="10972800" cy="4517136"/>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347472">
                <a:tc>
                  <a:txBody>
                    <a:bodyPr/>
                    <a:lstStyle/>
                    <a:p>
                      <a:r>
                        <a:rPr sz="1400" b="1" i="0">
                          <a:solidFill>
                            <a:srgbClr val="FFFFFF"/>
                          </a:solidFill>
                        </a:rPr>
                        <a:t>Example</a:t>
                      </a:r>
                    </a:p>
                  </a:txBody>
                  <a:tcPr marL="73152" marR="73152" marT="27432" marB="27432" anchor="ctr">
                    <a:solidFill>
                      <a:srgbClr val="152D42"/>
                    </a:solidFill>
                  </a:tcPr>
                </a:tc>
                <a:tc>
                  <a:txBody>
                    <a:bodyPr/>
                    <a:lstStyle/>
                    <a:p>
                      <a:r>
                        <a:rPr sz="1400" b="1" i="0">
                          <a:solidFill>
                            <a:srgbClr val="FFFFFF"/>
                          </a:solidFill>
                        </a:rPr>
                        <a:t>Columns of X</a:t>
                      </a:r>
                    </a:p>
                  </a:txBody>
                  <a:tcPr marL="73152" marR="73152" marT="27432" marB="27432" anchor="ctr">
                    <a:solidFill>
                      <a:srgbClr val="152D42"/>
                    </a:solidFill>
                  </a:tcPr>
                </a:tc>
                <a:tc>
                  <a:txBody>
                    <a:bodyPr/>
                    <a:lstStyle/>
                    <a:p>
                      <a:r>
                        <a:rPr sz="1400" b="1" i="0">
                          <a:solidFill>
                            <a:srgbClr val="FFFFFF"/>
                          </a:solidFill>
                        </a:rPr>
                        <a:t>Result</a:t>
                      </a:r>
                    </a:p>
                  </a:txBody>
                  <a:tcPr marL="73152" marR="73152" marT="27432" marB="27432" anchor="ctr">
                    <a:solidFill>
                      <a:srgbClr val="152D42"/>
                    </a:solidFill>
                  </a:tcPr>
                </a:tc>
                <a:tc>
                  <a:txBody>
                    <a:bodyPr/>
                    <a:lstStyle/>
                    <a:p>
                      <a:r>
                        <a:rPr sz="1400" b="1" i="0">
                          <a:solidFill>
                            <a:srgbClr val="FFFFFF"/>
                          </a:solidFill>
                        </a:rPr>
                        <a:t>Lesson</a:t>
                      </a:r>
                    </a:p>
                  </a:txBody>
                  <a:tcPr marL="73152" marR="73152" marT="27432" marB="27432" anchor="ctr">
                    <a:solidFill>
                      <a:srgbClr val="152D42"/>
                    </a:solidFill>
                  </a:tcPr>
                </a:tc>
                <a:extLst>
                  <a:ext uri="{0D108BD9-81ED-4DB2-BD59-A6C34878D82A}">
                    <a16:rowId xmlns:a16="http://schemas.microsoft.com/office/drawing/2014/main" val="10000"/>
                  </a:ext>
                </a:extLst>
              </a:tr>
              <a:tr h="347472">
                <a:tc>
                  <a:txBody>
                    <a:bodyPr/>
                    <a:lstStyle/>
                    <a:p>
                      <a:r>
                        <a:rPr sz="1400" b="0" i="0">
                          <a:solidFill>
                            <a:srgbClr val="152D42"/>
                          </a:solidFill>
                        </a:rPr>
                        <a:t>Five points</a:t>
                      </a:r>
                    </a:p>
                  </a:txBody>
                  <a:tcPr marL="73152" marR="73152" marT="27432" marB="27432" anchor="ctr">
                    <a:solidFill>
                      <a:srgbClr val="FFFFFF"/>
                    </a:solidFill>
                  </a:tcPr>
                </a:tc>
                <a:tc>
                  <a:txBody>
                    <a:bodyPr/>
                    <a:lstStyle/>
                    <a:p>
                      <a:r>
                        <a:rPr sz="1400" b="0" i="0">
                          <a:solidFill>
                            <a:srgbClr val="152D42"/>
                          </a:solidFill>
                        </a:rPr>
                        <a:t>x, 1</a:t>
                      </a:r>
                    </a:p>
                  </a:txBody>
                  <a:tcPr marL="73152" marR="73152" marT="27432" marB="27432" anchor="ctr">
                    <a:solidFill>
                      <a:srgbClr val="FFFFFF"/>
                    </a:solidFill>
                  </a:tcPr>
                </a:tc>
                <a:tc>
                  <a:txBody>
                    <a:bodyPr/>
                    <a:lstStyle/>
                    <a:p>
                      <a:r>
                        <a:rPr sz="1400" b="0" i="0">
                          <a:solidFill>
                            <a:srgbClr val="152D42"/>
                          </a:solidFill>
                        </a:rPr>
                        <a:t>y = 3x − 1, ēᵀē = 10</a:t>
                      </a:r>
                    </a:p>
                  </a:txBody>
                  <a:tcPr marL="73152" marR="73152" marT="27432" marB="27432" anchor="ctr">
                    <a:solidFill>
                      <a:srgbClr val="FFFFFF"/>
                    </a:solidFill>
                  </a:tcPr>
                </a:tc>
                <a:tc>
                  <a:txBody>
                    <a:bodyPr/>
                    <a:lstStyle/>
                    <a:p>
                      <a:r>
                        <a:rPr sz="1400" b="0" i="0">
                          <a:solidFill>
                            <a:srgbClr val="152D42"/>
                          </a:solidFill>
                        </a:rPr>
                        <a:t>the right angle gives the normal equations</a:t>
                      </a:r>
                    </a:p>
                  </a:txBody>
                  <a:tcPr marL="73152" marR="73152" marT="27432" marB="27432" anchor="ctr">
                    <a:solidFill>
                      <a:srgbClr val="FFFFFF"/>
                    </a:solidFill>
                  </a:tcPr>
                </a:tc>
                <a:extLst>
                  <a:ext uri="{0D108BD9-81ED-4DB2-BD59-A6C34878D82A}">
                    <a16:rowId xmlns:a16="http://schemas.microsoft.com/office/drawing/2014/main" val="10001"/>
                  </a:ext>
                </a:extLst>
              </a:tr>
              <a:tr h="347472">
                <a:tc>
                  <a:txBody>
                    <a:bodyPr/>
                    <a:lstStyle/>
                    <a:p>
                      <a:r>
                        <a:rPr sz="1400" b="0" i="0">
                          <a:solidFill>
                            <a:srgbClr val="152D42"/>
                          </a:solidFill>
                        </a:rPr>
                        <a:t>Time stamps</a:t>
                      </a:r>
                    </a:p>
                  </a:txBody>
                  <a:tcPr marL="73152" marR="73152" marT="27432" marB="27432" anchor="ctr">
                    <a:solidFill>
                      <a:srgbClr val="F5F7F9"/>
                    </a:solidFill>
                  </a:tcPr>
                </a:tc>
                <a:tc>
                  <a:txBody>
                    <a:bodyPr/>
                    <a:lstStyle/>
                    <a:p>
                      <a:r>
                        <a:rPr sz="1400" b="0" i="0">
                          <a:solidFill>
                            <a:srgbClr val="152D42"/>
                          </a:solidFill>
                        </a:rPr>
                        <a:t>t − t₀, 1</a:t>
                      </a:r>
                    </a:p>
                  </a:txBody>
                  <a:tcPr marL="73152" marR="73152" marT="27432" marB="27432" anchor="ctr">
                    <a:solidFill>
                      <a:srgbClr val="F5F7F9"/>
                    </a:solidFill>
                  </a:tcPr>
                </a:tc>
                <a:tc>
                  <a:txBody>
                    <a:bodyPr/>
                    <a:lstStyle/>
                    <a:p>
                      <a:r>
                        <a:rPr sz="1400" b="0" i="0">
                          <a:solidFill>
                            <a:srgbClr val="152D42"/>
                          </a:solidFill>
                        </a:rPr>
                        <a:t>0.01998 K/min</a:t>
                      </a:r>
                    </a:p>
                  </a:txBody>
                  <a:tcPr marL="73152" marR="73152" marT="27432" marB="27432" anchor="ctr">
                    <a:solidFill>
                      <a:srgbClr val="F5F7F9"/>
                    </a:solidFill>
                  </a:tcPr>
                </a:tc>
                <a:tc>
                  <a:txBody>
                    <a:bodyPr/>
                    <a:lstStyle/>
                    <a:p>
                      <a:r>
                        <a:rPr sz="1400" b="0" i="0">
                          <a:solidFill>
                            <a:srgbClr val="152D42"/>
                          </a:solidFill>
                        </a:rPr>
                        <a:t>shift the columns first</a:t>
                      </a:r>
                    </a:p>
                  </a:txBody>
                  <a:tcPr marL="73152" marR="73152" marT="27432" marB="27432" anchor="ctr">
                    <a:solidFill>
                      <a:srgbClr val="F5F7F9"/>
                    </a:solidFill>
                  </a:tcPr>
                </a:tc>
                <a:extLst>
                  <a:ext uri="{0D108BD9-81ED-4DB2-BD59-A6C34878D82A}">
                    <a16:rowId xmlns:a16="http://schemas.microsoft.com/office/drawing/2014/main" val="10002"/>
                  </a:ext>
                </a:extLst>
              </a:tr>
              <a:tr h="347472">
                <a:tc>
                  <a:txBody>
                    <a:bodyPr/>
                    <a:lstStyle/>
                    <a:p>
                      <a:r>
                        <a:rPr sz="1400" b="0" i="0">
                          <a:solidFill>
                            <a:srgbClr val="152D42"/>
                          </a:solidFill>
                        </a:rPr>
                        <a:t>Glider on springs</a:t>
                      </a:r>
                    </a:p>
                  </a:txBody>
                  <a:tcPr marL="73152" marR="73152" marT="27432" marB="27432" anchor="ctr">
                    <a:solidFill>
                      <a:srgbClr val="FFFFFF"/>
                    </a:solidFill>
                  </a:tcPr>
                </a:tc>
                <a:tc>
                  <a:txBody>
                    <a:bodyPr/>
                    <a:lstStyle/>
                    <a:p>
                      <a:r>
                        <a:rPr sz="1400" b="0" i="0">
                          <a:solidFill>
                            <a:srgbClr val="152D42"/>
                          </a:solidFill>
                        </a:rPr>
                        <a:t>x², x, 1</a:t>
                      </a:r>
                    </a:p>
                  </a:txBody>
                  <a:tcPr marL="73152" marR="73152" marT="27432" marB="27432" anchor="ctr">
                    <a:solidFill>
                      <a:srgbClr val="FFFFFF"/>
                    </a:solidFill>
                  </a:tcPr>
                </a:tc>
                <a:tc>
                  <a:txBody>
                    <a:bodyPr/>
                    <a:lstStyle/>
                    <a:p>
                      <a:r>
                        <a:rPr sz="1400" b="0" i="0">
                          <a:solidFill>
                            <a:srgbClr val="152D42"/>
                          </a:solidFill>
                        </a:rPr>
                        <a:t>κ = 20 N/m, x₀ = 5 cm</a:t>
                      </a:r>
                    </a:p>
                  </a:txBody>
                  <a:tcPr marL="73152" marR="73152" marT="27432" marB="27432" anchor="ctr">
                    <a:solidFill>
                      <a:srgbClr val="FFFFFF"/>
                    </a:solidFill>
                  </a:tcPr>
                </a:tc>
                <a:tc>
                  <a:txBody>
                    <a:bodyPr/>
                    <a:lstStyle/>
                    <a:p>
                      <a:r>
                        <a:rPr sz="1400" b="0" i="0">
                          <a:solidFill>
                            <a:srgbClr val="152D42"/>
                          </a:solidFill>
                        </a:rPr>
                        <a:t>a parabola is still linear in ℓ, m, b</a:t>
                      </a:r>
                    </a:p>
                  </a:txBody>
                  <a:tcPr marL="73152" marR="73152" marT="27432" marB="27432" anchor="ctr">
                    <a:solidFill>
                      <a:srgbClr val="FFFFFF"/>
                    </a:solidFill>
                  </a:tcPr>
                </a:tc>
                <a:extLst>
                  <a:ext uri="{0D108BD9-81ED-4DB2-BD59-A6C34878D82A}">
                    <a16:rowId xmlns:a16="http://schemas.microsoft.com/office/drawing/2014/main" val="10003"/>
                  </a:ext>
                </a:extLst>
              </a:tr>
              <a:tr h="347472">
                <a:tc>
                  <a:txBody>
                    <a:bodyPr/>
                    <a:lstStyle/>
                    <a:p>
                      <a:r>
                        <a:rPr sz="1400" b="0" i="0">
                          <a:solidFill>
                            <a:srgbClr val="152D42"/>
                          </a:solidFill>
                        </a:rPr>
                        <a:t>Mass on a spring</a:t>
                      </a:r>
                    </a:p>
                  </a:txBody>
                  <a:tcPr marL="73152" marR="73152" marT="27432" marB="27432" anchor="ctr">
                    <a:solidFill>
                      <a:srgbClr val="F5F7F9"/>
                    </a:solidFill>
                  </a:tcPr>
                </a:tc>
                <a:tc>
                  <a:txBody>
                    <a:bodyPr/>
                    <a:lstStyle/>
                    <a:p>
                      <a:r>
                        <a:rPr sz="1400" b="0" i="0">
                          <a:solidFill>
                            <a:srgbClr val="152D42"/>
                          </a:solidFill>
                        </a:rPr>
                        <a:t>M, 1</a:t>
                      </a:r>
                    </a:p>
                  </a:txBody>
                  <a:tcPr marL="73152" marR="73152" marT="27432" marB="27432" anchor="ctr">
                    <a:solidFill>
                      <a:srgbClr val="F5F7F9"/>
                    </a:solidFill>
                  </a:tcPr>
                </a:tc>
                <a:tc>
                  <a:txBody>
                    <a:bodyPr/>
                    <a:lstStyle/>
                    <a:p>
                      <a:r>
                        <a:rPr sz="1400" b="0" i="0">
                          <a:solidFill>
                            <a:srgbClr val="152D42"/>
                          </a:solidFill>
                        </a:rPr>
                        <a:t>κ = 10.02 N/m, mₛ = 30.2 g</a:t>
                      </a:r>
                    </a:p>
                  </a:txBody>
                  <a:tcPr marL="73152" marR="73152" marT="27432" marB="27432" anchor="ctr">
                    <a:solidFill>
                      <a:srgbClr val="F5F7F9"/>
                    </a:solidFill>
                  </a:tcPr>
                </a:tc>
                <a:tc>
                  <a:txBody>
                    <a:bodyPr/>
                    <a:lstStyle/>
                    <a:p>
                      <a:r>
                        <a:rPr sz="1400" b="0" i="0">
                          <a:solidFill>
                            <a:srgbClr val="152D42"/>
                          </a:solidFill>
                        </a:rPr>
                        <a:t>the intercept has a meaning</a:t>
                      </a:r>
                    </a:p>
                  </a:txBody>
                  <a:tcPr marL="73152" marR="73152" marT="27432" marB="27432" anchor="ctr">
                    <a:solidFill>
                      <a:srgbClr val="F5F7F9"/>
                    </a:solidFill>
                  </a:tcPr>
                </a:tc>
                <a:extLst>
                  <a:ext uri="{0D108BD9-81ED-4DB2-BD59-A6C34878D82A}">
                    <a16:rowId xmlns:a16="http://schemas.microsoft.com/office/drawing/2014/main" val="10004"/>
                  </a:ext>
                </a:extLst>
              </a:tr>
              <a:tr h="347472">
                <a:tc>
                  <a:txBody>
                    <a:bodyPr/>
                    <a:lstStyle/>
                    <a:p>
                      <a:r>
                        <a:rPr sz="1400" b="0" i="0">
                          <a:solidFill>
                            <a:srgbClr val="152D42"/>
                          </a:solidFill>
                        </a:rPr>
                        <a:t>Hydrogen (Bohr)</a:t>
                      </a:r>
                    </a:p>
                  </a:txBody>
                  <a:tcPr marL="73152" marR="73152" marT="27432" marB="27432" anchor="ctr">
                    <a:solidFill>
                      <a:srgbClr val="FFFFFF"/>
                    </a:solidFill>
                  </a:tcPr>
                </a:tc>
                <a:tc>
                  <a:txBody>
                    <a:bodyPr/>
                    <a:lstStyle/>
                    <a:p>
                      <a:r>
                        <a:rPr sz="1400" b="0" i="0">
                          <a:solidFill>
                            <a:srgbClr val="152D42"/>
                          </a:solidFill>
                        </a:rPr>
                        <a:t>1, 1/n²</a:t>
                      </a:r>
                    </a:p>
                  </a:txBody>
                  <a:tcPr marL="73152" marR="73152" marT="27432" marB="27432" anchor="ctr">
                    <a:solidFill>
                      <a:srgbClr val="FFFFFF"/>
                    </a:solidFill>
                  </a:tcPr>
                </a:tc>
                <a:tc>
                  <a:txBody>
                    <a:bodyPr/>
                    <a:lstStyle/>
                    <a:p>
                      <a:r>
                        <a:rPr sz="1400" b="0" i="0">
                          <a:solidFill>
                            <a:srgbClr val="152D42"/>
                          </a:solidFill>
                        </a:rPr>
                        <a:t>R = 1.096775 × 10⁷ m⁻¹</a:t>
                      </a:r>
                    </a:p>
                  </a:txBody>
                  <a:tcPr marL="73152" marR="73152" marT="27432" marB="27432" anchor="ctr">
                    <a:solidFill>
                      <a:srgbClr val="FFFFFF"/>
                    </a:solidFill>
                  </a:tcPr>
                </a:tc>
                <a:tc>
                  <a:txBody>
                    <a:bodyPr/>
                    <a:lstStyle/>
                    <a:p>
                      <a:r>
                        <a:rPr sz="1400" b="0" i="0">
                          <a:solidFill>
                            <a:srgbClr val="152D42"/>
                          </a:solidFill>
                        </a:rPr>
                        <a:t>fit both parameters to test a model</a:t>
                      </a:r>
                    </a:p>
                  </a:txBody>
                  <a:tcPr marL="73152" marR="73152" marT="27432" marB="27432" anchor="ctr">
                    <a:solidFill>
                      <a:srgbClr val="FFFFFF"/>
                    </a:solidFill>
                  </a:tcPr>
                </a:tc>
                <a:extLst>
                  <a:ext uri="{0D108BD9-81ED-4DB2-BD59-A6C34878D82A}">
                    <a16:rowId xmlns:a16="http://schemas.microsoft.com/office/drawing/2014/main" val="10005"/>
                  </a:ext>
                </a:extLst>
              </a:tr>
              <a:tr h="347472">
                <a:tc>
                  <a:txBody>
                    <a:bodyPr/>
                    <a:lstStyle/>
                    <a:p>
                      <a:r>
                        <a:rPr sz="1400" b="0" i="0">
                          <a:solidFill>
                            <a:srgbClr val="152D42"/>
                          </a:solidFill>
                        </a:rPr>
                        <a:t>Photoelectric</a:t>
                      </a:r>
                    </a:p>
                  </a:txBody>
                  <a:tcPr marL="73152" marR="73152" marT="27432" marB="27432" anchor="ctr">
                    <a:solidFill>
                      <a:srgbClr val="F5F7F9"/>
                    </a:solidFill>
                  </a:tcPr>
                </a:tc>
                <a:tc>
                  <a:txBody>
                    <a:bodyPr/>
                    <a:lstStyle/>
                    <a:p>
                      <a:r>
                        <a:rPr sz="1400" b="0" i="0">
                          <a:solidFill>
                            <a:srgbClr val="152D42"/>
                          </a:solidFill>
                        </a:rPr>
                        <a:t>f, 1</a:t>
                      </a:r>
                    </a:p>
                  </a:txBody>
                  <a:tcPr marL="73152" marR="73152" marT="27432" marB="27432" anchor="ctr">
                    <a:solidFill>
                      <a:srgbClr val="F5F7F9"/>
                    </a:solidFill>
                  </a:tcPr>
                </a:tc>
                <a:tc>
                  <a:txBody>
                    <a:bodyPr/>
                    <a:lstStyle/>
                    <a:p>
                      <a:r>
                        <a:rPr sz="1400" b="0" i="0">
                          <a:solidFill>
                            <a:srgbClr val="152D42"/>
                          </a:solidFill>
                        </a:rPr>
                        <a:t>h = 6.65 × 10⁻³⁴ J s</a:t>
                      </a:r>
                    </a:p>
                  </a:txBody>
                  <a:tcPr marL="73152" marR="73152" marT="27432" marB="27432" anchor="ctr">
                    <a:solidFill>
                      <a:srgbClr val="F5F7F9"/>
                    </a:solidFill>
                  </a:tcPr>
                </a:tc>
                <a:tc>
                  <a:txBody>
                    <a:bodyPr/>
                    <a:lstStyle/>
                    <a:p>
                      <a:r>
                        <a:rPr sz="1400" b="0" i="0">
                          <a:solidFill>
                            <a:srgbClr val="152D42"/>
                          </a:solidFill>
                        </a:rPr>
                        <a:t>choose sensible units</a:t>
                      </a:r>
                    </a:p>
                  </a:txBody>
                  <a:tcPr marL="73152" marR="73152" marT="27432" marB="27432" anchor="ctr">
                    <a:solidFill>
                      <a:srgbClr val="F5F7F9"/>
                    </a:solidFill>
                  </a:tcPr>
                </a:tc>
                <a:extLst>
                  <a:ext uri="{0D108BD9-81ED-4DB2-BD59-A6C34878D82A}">
                    <a16:rowId xmlns:a16="http://schemas.microsoft.com/office/drawing/2014/main" val="10006"/>
                  </a:ext>
                </a:extLst>
              </a:tr>
              <a:tr h="347472">
                <a:tc>
                  <a:txBody>
                    <a:bodyPr/>
                    <a:lstStyle/>
                    <a:p>
                      <a:r>
                        <a:rPr sz="1400" b="0" i="0">
                          <a:solidFill>
                            <a:srgbClr val="152D42"/>
                          </a:solidFill>
                        </a:rPr>
                        <a:t>RC discharge</a:t>
                      </a:r>
                    </a:p>
                  </a:txBody>
                  <a:tcPr marL="73152" marR="73152" marT="27432" marB="27432" anchor="ctr">
                    <a:solidFill>
                      <a:srgbClr val="FFFFFF"/>
                    </a:solidFill>
                  </a:tcPr>
                </a:tc>
                <a:tc>
                  <a:txBody>
                    <a:bodyPr/>
                    <a:lstStyle/>
                    <a:p>
                      <a:r>
                        <a:rPr sz="1400" b="0" i="0">
                          <a:solidFill>
                            <a:srgbClr val="152D42"/>
                          </a:solidFill>
                        </a:rPr>
                        <a:t>t, 1</a:t>
                      </a:r>
                    </a:p>
                  </a:txBody>
                  <a:tcPr marL="73152" marR="73152" marT="27432" marB="27432" anchor="ctr">
                    <a:solidFill>
                      <a:srgbClr val="FFFFFF"/>
                    </a:solidFill>
                  </a:tcPr>
                </a:tc>
                <a:tc>
                  <a:txBody>
                    <a:bodyPr/>
                    <a:lstStyle/>
                    <a:p>
                      <a:r>
                        <a:rPr sz="1400" b="0" i="0">
                          <a:solidFill>
                            <a:srgbClr val="152D42"/>
                          </a:solidFill>
                        </a:rPr>
                        <a:t>τ = 46.98 ms</a:t>
                      </a:r>
                    </a:p>
                  </a:txBody>
                  <a:tcPr marL="73152" marR="73152" marT="27432" marB="27432" anchor="ctr">
                    <a:solidFill>
                      <a:srgbClr val="FFFFFF"/>
                    </a:solidFill>
                  </a:tcPr>
                </a:tc>
                <a:tc>
                  <a:txBody>
                    <a:bodyPr/>
                    <a:lstStyle/>
                    <a:p>
                      <a:r>
                        <a:rPr sz="1400" b="0" i="0">
                          <a:solidFill>
                            <a:srgbClr val="152D42"/>
                          </a:solidFill>
                        </a:rPr>
                        <a:t>logs make it linear</a:t>
                      </a:r>
                    </a:p>
                  </a:txBody>
                  <a:tcPr marL="73152" marR="73152" marT="27432" marB="27432" anchor="ctr">
                    <a:solidFill>
                      <a:srgbClr val="FFFFFF"/>
                    </a:solidFill>
                  </a:tcPr>
                </a:tc>
                <a:extLst>
                  <a:ext uri="{0D108BD9-81ED-4DB2-BD59-A6C34878D82A}">
                    <a16:rowId xmlns:a16="http://schemas.microsoft.com/office/drawing/2014/main" val="10007"/>
                  </a:ext>
                </a:extLst>
              </a:tr>
              <a:tr h="347472">
                <a:tc>
                  <a:txBody>
                    <a:bodyPr/>
                    <a:lstStyle/>
                    <a:p>
                      <a:r>
                        <a:rPr sz="1400" b="0" i="0">
                          <a:solidFill>
                            <a:srgbClr val="152D42"/>
                          </a:solidFill>
                        </a:rPr>
                        <a:t>N-BK7</a:t>
                      </a:r>
                    </a:p>
                  </a:txBody>
                  <a:tcPr marL="73152" marR="73152" marT="27432" marB="27432" anchor="ctr">
                    <a:solidFill>
                      <a:srgbClr val="F5F7F9"/>
                    </a:solidFill>
                  </a:tcPr>
                </a:tc>
                <a:tc>
                  <a:txBody>
                    <a:bodyPr/>
                    <a:lstStyle/>
                    <a:p>
                      <a:r>
                        <a:rPr sz="1400" b="0" i="0">
                          <a:solidFill>
                            <a:srgbClr val="152D42"/>
                          </a:solidFill>
                        </a:rPr>
                        <a:t>1, 1/λ²</a:t>
                      </a:r>
                    </a:p>
                  </a:txBody>
                  <a:tcPr marL="73152" marR="73152" marT="27432" marB="27432" anchor="ctr">
                    <a:solidFill>
                      <a:srgbClr val="F5F7F9"/>
                    </a:solidFill>
                  </a:tcPr>
                </a:tc>
                <a:tc>
                  <a:txBody>
                    <a:bodyPr/>
                    <a:lstStyle/>
                    <a:p>
                      <a:r>
                        <a:rPr sz="1400" b="0" i="0">
                          <a:solidFill>
                            <a:srgbClr val="152D42"/>
                          </a:solidFill>
                        </a:rPr>
                        <a:t>A = 1.5046</a:t>
                      </a:r>
                    </a:p>
                  </a:txBody>
                  <a:tcPr marL="73152" marR="73152" marT="27432" marB="27432" anchor="ctr">
                    <a:solidFill>
                      <a:srgbClr val="F5F7F9"/>
                    </a:solidFill>
                  </a:tcPr>
                </a:tc>
                <a:tc>
                  <a:txBody>
                    <a:bodyPr/>
                    <a:lstStyle/>
                    <a:p>
                      <a:r>
                        <a:rPr sz="1400" b="0" i="0">
                          <a:solidFill>
                            <a:srgbClr val="152D42"/>
                          </a:solidFill>
                        </a:rPr>
                        <a:t>do not extrapolate</a:t>
                      </a:r>
                    </a:p>
                  </a:txBody>
                  <a:tcPr marL="73152" marR="73152" marT="27432" marB="27432" anchor="ctr">
                    <a:solidFill>
                      <a:srgbClr val="F5F7F9"/>
                    </a:solidFill>
                  </a:tcPr>
                </a:tc>
                <a:extLst>
                  <a:ext uri="{0D108BD9-81ED-4DB2-BD59-A6C34878D82A}">
                    <a16:rowId xmlns:a16="http://schemas.microsoft.com/office/drawing/2014/main" val="10008"/>
                  </a:ext>
                </a:extLst>
              </a:tr>
              <a:tr h="347472">
                <a:tc>
                  <a:txBody>
                    <a:bodyPr/>
                    <a:lstStyle/>
                    <a:p>
                      <a:r>
                        <a:rPr sz="1400" b="0" i="0">
                          <a:solidFill>
                            <a:srgbClr val="152D42"/>
                          </a:solidFill>
                        </a:rPr>
                        <a:t>WR-90</a:t>
                      </a:r>
                    </a:p>
                  </a:txBody>
                  <a:tcPr marL="73152" marR="73152" marT="27432" marB="27432" anchor="ctr">
                    <a:solidFill>
                      <a:srgbClr val="FFFFFF"/>
                    </a:solidFill>
                  </a:tcPr>
                </a:tc>
                <a:tc>
                  <a:txBody>
                    <a:bodyPr/>
                    <a:lstStyle/>
                    <a:p>
                      <a:r>
                        <a:rPr sz="1400" b="0" i="0">
                          <a:solidFill>
                            <a:srgbClr val="152D42"/>
                          </a:solidFill>
                        </a:rPr>
                        <a:t>1/λ</a:t>
                      </a:r>
                      <a:r>
                        <a:rPr sz="1400" b="0" i="0" baseline="-25000">
                          <a:solidFill>
                            <a:srgbClr val="152D42"/>
                          </a:solidFill>
                        </a:rPr>
                        <a:t>g</a:t>
                      </a:r>
                      <a:r>
                        <a:rPr sz="1400" b="0" i="0">
                          <a:solidFill>
                            <a:srgbClr val="152D42"/>
                          </a:solidFill>
                        </a:rPr>
                        <a:t>², 1</a:t>
                      </a:r>
                    </a:p>
                  </a:txBody>
                  <a:tcPr marL="73152" marR="73152" marT="27432" marB="27432" anchor="ctr">
                    <a:solidFill>
                      <a:srgbClr val="FFFFFF"/>
                    </a:solidFill>
                  </a:tcPr>
                </a:tc>
                <a:tc>
                  <a:txBody>
                    <a:bodyPr/>
                    <a:lstStyle/>
                    <a:p>
                      <a:r>
                        <a:rPr sz="1400" b="0" i="0">
                          <a:solidFill>
                            <a:srgbClr val="152D42"/>
                          </a:solidFill>
                        </a:rPr>
                        <a:t>f</a:t>
                      </a:r>
                      <a:r>
                        <a:rPr sz="1400" b="0" i="0" baseline="-25000">
                          <a:solidFill>
                            <a:srgbClr val="152D42"/>
                          </a:solidFill>
                        </a:rPr>
                        <a:t>c</a:t>
                      </a:r>
                      <a:r>
                        <a:rPr sz="1400" b="0" i="0">
                          <a:solidFill>
                            <a:srgbClr val="152D42"/>
                          </a:solidFill>
                        </a:rPr>
                        <a:t> = 6.565 GHz</a:t>
                      </a:r>
                    </a:p>
                  </a:txBody>
                  <a:tcPr marL="73152" marR="73152" marT="27432" marB="27432" anchor="ctr">
                    <a:solidFill>
                      <a:srgbClr val="FFFFFF"/>
                    </a:solidFill>
                  </a:tcPr>
                </a:tc>
                <a:tc>
                  <a:txBody>
                    <a:bodyPr/>
                    <a:lstStyle/>
                    <a:p>
                      <a:r>
                        <a:rPr sz="1400" b="0" i="0">
                          <a:solidFill>
                            <a:srgbClr val="152D42"/>
                          </a:solidFill>
                        </a:rPr>
                        <a:t>change variables</a:t>
                      </a:r>
                    </a:p>
                  </a:txBody>
                  <a:tcPr marL="73152" marR="73152" marT="27432" marB="27432" anchor="ctr">
                    <a:solidFill>
                      <a:srgbClr val="FFFFFF"/>
                    </a:solidFill>
                  </a:tcPr>
                </a:tc>
                <a:extLst>
                  <a:ext uri="{0D108BD9-81ED-4DB2-BD59-A6C34878D82A}">
                    <a16:rowId xmlns:a16="http://schemas.microsoft.com/office/drawing/2014/main" val="10009"/>
                  </a:ext>
                </a:extLst>
              </a:tr>
              <a:tr h="347472">
                <a:tc>
                  <a:txBody>
                    <a:bodyPr/>
                    <a:lstStyle/>
                    <a:p>
                      <a:r>
                        <a:rPr sz="1400" b="0" i="0">
                          <a:solidFill>
                            <a:srgbClr val="152D42"/>
                          </a:solidFill>
                        </a:rPr>
                        <a:t>Tides</a:t>
                      </a:r>
                    </a:p>
                  </a:txBody>
                  <a:tcPr marL="73152" marR="73152" marT="27432" marB="27432" anchor="ctr">
                    <a:solidFill>
                      <a:srgbClr val="F5F7F9"/>
                    </a:solidFill>
                  </a:tcPr>
                </a:tc>
                <a:tc>
                  <a:txBody>
                    <a:bodyPr/>
                    <a:lstStyle/>
                    <a:p>
                      <a:r>
                        <a:rPr sz="1400" b="0" i="0">
                          <a:solidFill>
                            <a:srgbClr val="152D42"/>
                          </a:solidFill>
                        </a:rPr>
                        <a:t>1, cos ωt, sin ωt</a:t>
                      </a:r>
                    </a:p>
                  </a:txBody>
                  <a:tcPr marL="73152" marR="73152" marT="27432" marB="27432" anchor="ctr">
                    <a:solidFill>
                      <a:srgbClr val="F5F7F9"/>
                    </a:solidFill>
                  </a:tcPr>
                </a:tc>
                <a:tc>
                  <a:txBody>
                    <a:bodyPr/>
                    <a:lstStyle/>
                    <a:p>
                      <a:r>
                        <a:rPr sz="1400" b="0" i="0">
                          <a:solidFill>
                            <a:srgbClr val="152D42"/>
                          </a:solidFill>
                        </a:rPr>
                        <a:t>M2: 1.365 m</a:t>
                      </a:r>
                    </a:p>
                  </a:txBody>
                  <a:tcPr marL="73152" marR="73152" marT="27432" marB="27432" anchor="ctr">
                    <a:solidFill>
                      <a:srgbClr val="F5F7F9"/>
                    </a:solidFill>
                  </a:tcPr>
                </a:tc>
                <a:tc>
                  <a:txBody>
                    <a:bodyPr/>
                    <a:lstStyle/>
                    <a:p>
                      <a:r>
                        <a:rPr sz="1400" b="0" i="0">
                          <a:solidFill>
                            <a:srgbClr val="152D42"/>
                          </a:solidFill>
                        </a:rPr>
                        <a:t>orthogonal columns</a:t>
                      </a:r>
                    </a:p>
                  </a:txBody>
                  <a:tcPr marL="73152" marR="73152" marT="27432" marB="27432" anchor="ctr">
                    <a:solidFill>
                      <a:srgbClr val="F5F7F9"/>
                    </a:solidFill>
                  </a:tcPr>
                </a:tc>
                <a:extLst>
                  <a:ext uri="{0D108BD9-81ED-4DB2-BD59-A6C34878D82A}">
                    <a16:rowId xmlns:a16="http://schemas.microsoft.com/office/drawing/2014/main" val="10010"/>
                  </a:ext>
                </a:extLst>
              </a:tr>
              <a:tr h="347472">
                <a:tc>
                  <a:txBody>
                    <a:bodyPr/>
                    <a:lstStyle/>
                    <a:p>
                      <a:r>
                        <a:rPr sz="1400" b="0" i="0">
                          <a:solidFill>
                            <a:srgbClr val="152D42"/>
                          </a:solidFill>
                        </a:rPr>
                        <a:t>SHG</a:t>
                      </a:r>
                    </a:p>
                  </a:txBody>
                  <a:tcPr marL="73152" marR="73152" marT="27432" marB="27432" anchor="ctr">
                    <a:solidFill>
                      <a:srgbClr val="FFFFFF"/>
                    </a:solidFill>
                  </a:tcPr>
                </a:tc>
                <a:tc>
                  <a:txBody>
                    <a:bodyPr/>
                    <a:lstStyle/>
                    <a:p>
                      <a:r>
                        <a:rPr sz="1400" b="0" i="0">
                          <a:solidFill>
                            <a:srgbClr val="152D42"/>
                          </a:solidFill>
                        </a:rPr>
                        <a:t>log P, 1</a:t>
                      </a:r>
                    </a:p>
                  </a:txBody>
                  <a:tcPr marL="73152" marR="73152" marT="27432" marB="27432" anchor="ctr">
                    <a:solidFill>
                      <a:srgbClr val="FFFFFF"/>
                    </a:solidFill>
                  </a:tcPr>
                </a:tc>
                <a:tc>
                  <a:txBody>
                    <a:bodyPr/>
                    <a:lstStyle/>
                    <a:p>
                      <a:r>
                        <a:rPr sz="1400" b="0" i="0">
                          <a:solidFill>
                            <a:srgbClr val="152D42"/>
                          </a:solidFill>
                        </a:rPr>
                        <a:t>p = 1.99</a:t>
                      </a:r>
                    </a:p>
                  </a:txBody>
                  <a:tcPr marL="73152" marR="73152" marT="27432" marB="27432" anchor="ctr">
                    <a:solidFill>
                      <a:srgbClr val="FFFFFF"/>
                    </a:solidFill>
                  </a:tcPr>
                </a:tc>
                <a:tc>
                  <a:txBody>
                    <a:bodyPr/>
                    <a:lstStyle/>
                    <a:p>
                      <a:r>
                        <a:rPr sz="1400" b="0" i="0">
                          <a:solidFill>
                            <a:srgbClr val="152D42"/>
                          </a:solidFill>
                        </a:rPr>
                        <a:t>choose the range</a:t>
                      </a:r>
                    </a:p>
                  </a:txBody>
                  <a:tcPr marL="73152" marR="73152" marT="27432" marB="27432" anchor="ctr">
                    <a:solidFill>
                      <a:srgbClr val="FFFFFF"/>
                    </a:solidFill>
                  </a:tcPr>
                </a:tc>
                <a:extLst>
                  <a:ext uri="{0D108BD9-81ED-4DB2-BD59-A6C34878D82A}">
                    <a16:rowId xmlns:a16="http://schemas.microsoft.com/office/drawing/2014/main" val="10011"/>
                  </a:ext>
                </a:extLst>
              </a:tr>
              <a:tr h="347472">
                <a:tc>
                  <a:txBody>
                    <a:bodyPr/>
                    <a:lstStyle/>
                    <a:p>
                      <a:r>
                        <a:rPr sz="1400" b="0" i="0">
                          <a:solidFill>
                            <a:srgbClr val="152D42"/>
                          </a:solidFill>
                        </a:rPr>
                        <a:t>Ring beam</a:t>
                      </a:r>
                    </a:p>
                  </a:txBody>
                  <a:tcPr marL="73152" marR="73152" marT="27432" marB="27432" anchor="ctr">
                    <a:solidFill>
                      <a:srgbClr val="F5F7F9"/>
                    </a:solidFill>
                  </a:tcPr>
                </a:tc>
                <a:tc>
                  <a:txBody>
                    <a:bodyPr/>
                    <a:lstStyle/>
                    <a:p>
                      <a:r>
                        <a:rPr sz="1400" b="0" i="0">
                          <a:solidFill>
                            <a:srgbClr val="152D42"/>
                          </a:solidFill>
                        </a:rPr>
                        <a:t>2x, 2y, 1</a:t>
                      </a:r>
                    </a:p>
                  </a:txBody>
                  <a:tcPr marL="73152" marR="73152" marT="27432" marB="27432" anchor="ctr">
                    <a:solidFill>
                      <a:srgbClr val="F5F7F9"/>
                    </a:solidFill>
                  </a:tcPr>
                </a:tc>
                <a:tc>
                  <a:txBody>
                    <a:bodyPr/>
                    <a:lstStyle/>
                    <a:p>
                      <a:r>
                        <a:rPr sz="1400" b="0" i="0">
                          <a:solidFill>
                            <a:srgbClr val="152D42"/>
                          </a:solidFill>
                        </a:rPr>
                        <a:t>(312.6, 240.8) px</a:t>
                      </a:r>
                    </a:p>
                  </a:txBody>
                  <a:tcPr marL="73152" marR="73152" marT="27432" marB="27432" anchor="ctr">
                    <a:solidFill>
                      <a:srgbClr val="F5F7F9"/>
                    </a:solidFill>
                  </a:tcPr>
                </a:tc>
                <a:tc>
                  <a:txBody>
                    <a:bodyPr/>
                    <a:lstStyle/>
                    <a:p>
                      <a:r>
                        <a:rPr sz="1400" b="0" i="0">
                          <a:solidFill>
                            <a:srgbClr val="152D42"/>
                          </a:solidFill>
                        </a:rPr>
                        <a:t>linear in a, b, c</a:t>
                      </a:r>
                    </a:p>
                  </a:txBody>
                  <a:tcPr marL="73152" marR="73152" marT="27432" marB="27432" anchor="ctr">
                    <a:solidFill>
                      <a:srgbClr val="F5F7F9"/>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Questions for the room</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28</a:t>
            </a:fld>
            <a:endParaRPr lang="en-US"/>
          </a:p>
        </p:txBody>
      </p:sp>
      <p:sp>
        <p:nvSpPr>
          <p:cNvPr id="4" name="card q1"/>
          <p:cNvSpPr/>
          <p:nvPr/>
        </p:nvSpPr>
        <p:spPr>
          <a:xfrm>
            <a:off x="612648" y="1325880"/>
            <a:ext cx="5349240" cy="21488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5" name="number 1"/>
          <p:cNvSpPr/>
          <p:nvPr/>
        </p:nvSpPr>
        <p:spPr>
          <a:xfrm>
            <a:off x="795528" y="150876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1</a:t>
            </a:r>
          </a:p>
        </p:txBody>
      </p:sp>
      <p:sp>
        <p:nvSpPr>
          <p:cNvPr id="6" name="question 1"/>
          <p:cNvSpPr txBox="1"/>
          <p:nvPr/>
        </p:nvSpPr>
        <p:spPr>
          <a:xfrm>
            <a:off x="1389888" y="1508760"/>
            <a:ext cx="4389120" cy="868680"/>
          </a:xfrm>
          <a:prstGeom prst="rect">
            <a:avLst/>
          </a:prstGeom>
          <a:noFill/>
        </p:spPr>
        <p:txBody>
          <a:bodyPr wrap="square" lIns="0" tIns="0" rIns="0" bIns="0" anchor="t">
            <a:spAutoFit/>
          </a:bodyPr>
          <a:lstStyle/>
          <a:p>
            <a:pPr algn="l">
              <a:spcAft>
                <a:spcPts val="800"/>
              </a:spcAft>
            </a:pPr>
            <a:r>
              <a:rPr sz="1500" b="1" i="0">
                <a:solidFill>
                  <a:srgbClr val="152D42"/>
                </a:solidFill>
              </a:rPr>
              <a:t>Add 2 to every yᵢ in the five points. What happens to k̄ and b̄?</a:t>
            </a:r>
          </a:p>
        </p:txBody>
      </p:sp>
      <p:sp>
        <p:nvSpPr>
          <p:cNvPr id="7" name="b1_answer 1"/>
          <p:cNvSpPr txBox="1"/>
          <p:nvPr/>
        </p:nvSpPr>
        <p:spPr>
          <a:xfrm>
            <a:off x="1389888" y="2423160"/>
            <a:ext cx="4389120" cy="960120"/>
          </a:xfrm>
          <a:prstGeom prst="rect">
            <a:avLst/>
          </a:prstGeom>
          <a:noFill/>
        </p:spPr>
        <p:txBody>
          <a:bodyPr wrap="square" lIns="0" tIns="0" rIns="0" bIns="0" anchor="t">
            <a:spAutoFit/>
          </a:bodyPr>
          <a:lstStyle/>
          <a:p>
            <a:pPr algn="l">
              <a:spcAft>
                <a:spcPts val="800"/>
              </a:spcAft>
            </a:pPr>
            <a:r>
              <a:rPr sz="1400" b="0" i="0">
                <a:solidFill>
                  <a:srgbClr val="A31F34"/>
                </a:solidFill>
              </a:rPr>
              <a:t>k̄ = 3 still and b̄ = 1: the shift lies in col(X) (it is 2 times the column of ones), so ē is unchanged.</a:t>
            </a:r>
          </a:p>
        </p:txBody>
      </p:sp>
      <p:sp>
        <p:nvSpPr>
          <p:cNvPr id="8" name="card q2"/>
          <p:cNvSpPr/>
          <p:nvPr/>
        </p:nvSpPr>
        <p:spPr>
          <a:xfrm>
            <a:off x="6236208" y="1325880"/>
            <a:ext cx="5349240" cy="21488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9" name="number 2"/>
          <p:cNvSpPr/>
          <p:nvPr/>
        </p:nvSpPr>
        <p:spPr>
          <a:xfrm>
            <a:off x="6419088" y="150876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2</a:t>
            </a:r>
          </a:p>
        </p:txBody>
      </p:sp>
      <p:sp>
        <p:nvSpPr>
          <p:cNvPr id="10" name="question 2"/>
          <p:cNvSpPr txBox="1"/>
          <p:nvPr/>
        </p:nvSpPr>
        <p:spPr>
          <a:xfrm>
            <a:off x="7013448" y="1508760"/>
            <a:ext cx="4389120" cy="868680"/>
          </a:xfrm>
          <a:prstGeom prst="rect">
            <a:avLst/>
          </a:prstGeom>
          <a:noFill/>
        </p:spPr>
        <p:txBody>
          <a:bodyPr wrap="square" lIns="0" tIns="0" rIns="0" bIns="0" anchor="t">
            <a:spAutoFit/>
          </a:bodyPr>
          <a:lstStyle/>
          <a:p>
            <a:pPr algn="l">
              <a:spcAft>
                <a:spcPts val="800"/>
              </a:spcAft>
            </a:pPr>
            <a:r>
              <a:rPr sz="1500" b="1" i="0">
                <a:solidFill>
                  <a:srgbClr val="152D42"/>
                </a:solidFill>
              </a:rPr>
              <a:t>A sixth point (4, 11) is added. Does the best line change?</a:t>
            </a:r>
          </a:p>
        </p:txBody>
      </p:sp>
      <p:sp>
        <p:nvSpPr>
          <p:cNvPr id="11" name="b2_answer 2"/>
          <p:cNvSpPr txBox="1"/>
          <p:nvPr/>
        </p:nvSpPr>
        <p:spPr>
          <a:xfrm>
            <a:off x="7013448" y="2423160"/>
            <a:ext cx="4389120" cy="960120"/>
          </a:xfrm>
          <a:prstGeom prst="rect">
            <a:avLst/>
          </a:prstGeom>
          <a:noFill/>
        </p:spPr>
        <p:txBody>
          <a:bodyPr wrap="square" lIns="0" tIns="0" rIns="0" bIns="0" anchor="t">
            <a:spAutoFit/>
          </a:bodyPr>
          <a:lstStyle/>
          <a:p>
            <a:pPr algn="l">
              <a:spcAft>
                <a:spcPts val="800"/>
              </a:spcAft>
            </a:pPr>
            <a:r>
              <a:rPr sz="1400" b="0" i="0">
                <a:solidFill>
                  <a:srgbClr val="A31F34"/>
                </a:solidFill>
              </a:rPr>
              <a:t>No. It lies on y = 3x − 1, so the old k̄ still satisfies the new normal equations; ēᵀē stays 10.</a:t>
            </a:r>
          </a:p>
        </p:txBody>
      </p:sp>
      <p:sp>
        <p:nvSpPr>
          <p:cNvPr id="12" name="card q3"/>
          <p:cNvSpPr/>
          <p:nvPr/>
        </p:nvSpPr>
        <p:spPr>
          <a:xfrm>
            <a:off x="612648" y="3657600"/>
            <a:ext cx="5349240" cy="21488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3" name="number 3"/>
          <p:cNvSpPr/>
          <p:nvPr/>
        </p:nvSpPr>
        <p:spPr>
          <a:xfrm>
            <a:off x="795528" y="384048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3</a:t>
            </a:r>
          </a:p>
        </p:txBody>
      </p:sp>
      <p:sp>
        <p:nvSpPr>
          <p:cNvPr id="14" name="question 3"/>
          <p:cNvSpPr txBox="1"/>
          <p:nvPr/>
        </p:nvSpPr>
        <p:spPr>
          <a:xfrm>
            <a:off x="1389888" y="3840480"/>
            <a:ext cx="4389120" cy="868680"/>
          </a:xfrm>
          <a:prstGeom prst="rect">
            <a:avLst/>
          </a:prstGeom>
          <a:noFill/>
        </p:spPr>
        <p:txBody>
          <a:bodyPr wrap="square" lIns="0" tIns="0" rIns="0" bIns="0" anchor="t">
            <a:spAutoFit/>
          </a:bodyPr>
          <a:lstStyle/>
          <a:p>
            <a:pPr algn="l">
              <a:spcAft>
                <a:spcPts val="800"/>
              </a:spcAft>
            </a:pPr>
            <a:r>
              <a:rPr sz="1500" b="1" i="0">
                <a:solidFill>
                  <a:srgbClr val="152D42"/>
                </a:solidFill>
              </a:rPr>
              <a:t>With raw time stamps, what goes wrong, and what one line fixes it?</a:t>
            </a:r>
          </a:p>
        </p:txBody>
      </p:sp>
      <p:sp>
        <p:nvSpPr>
          <p:cNvPr id="15" name="b3_answer 3"/>
          <p:cNvSpPr txBox="1"/>
          <p:nvPr/>
        </p:nvSpPr>
        <p:spPr>
          <a:xfrm>
            <a:off x="1389888" y="4754880"/>
            <a:ext cx="4389120" cy="960120"/>
          </a:xfrm>
          <a:prstGeom prst="rect">
            <a:avLst/>
          </a:prstGeom>
          <a:noFill/>
        </p:spPr>
        <p:txBody>
          <a:bodyPr wrap="square" lIns="0" tIns="0" rIns="0" bIns="0" anchor="t">
            <a:spAutoFit/>
          </a:bodyPr>
          <a:lstStyle/>
          <a:p>
            <a:pPr algn="l">
              <a:spcAft>
                <a:spcPts val="800"/>
              </a:spcAft>
            </a:pPr>
            <a:r>
              <a:rPr sz="1400" b="0" i="0">
                <a:solidFill>
                  <a:srgbClr val="A31F34"/>
                </a:solidFill>
              </a:rPr>
              <a:t>The normal equations keep 4 digits and lstsq treats X as rank one. Subtract the first time stamp.</a:t>
            </a:r>
          </a:p>
        </p:txBody>
      </p:sp>
      <p:sp>
        <p:nvSpPr>
          <p:cNvPr id="16" name="card q4"/>
          <p:cNvSpPr/>
          <p:nvPr/>
        </p:nvSpPr>
        <p:spPr>
          <a:xfrm>
            <a:off x="6236208" y="3657600"/>
            <a:ext cx="5349240" cy="2148840"/>
          </a:xfrm>
          <a:prstGeom prst="roundRect">
            <a:avLst>
              <a:gd name="adj" fmla="val 5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ctr"/>
            <a:endParaRPr/>
          </a:p>
        </p:txBody>
      </p:sp>
      <p:sp>
        <p:nvSpPr>
          <p:cNvPr id="17" name="number 4"/>
          <p:cNvSpPr/>
          <p:nvPr/>
        </p:nvSpPr>
        <p:spPr>
          <a:xfrm>
            <a:off x="6419088" y="3840480"/>
            <a:ext cx="411480" cy="411480"/>
          </a:xfrm>
          <a:prstGeom prst="ellipse">
            <a:avLst/>
          </a:prstGeom>
          <a:solidFill>
            <a:srgbClr val="152D4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FFFFFF"/>
                </a:solidFill>
              </a:rPr>
              <a:t>4</a:t>
            </a:r>
          </a:p>
        </p:txBody>
      </p:sp>
      <p:sp>
        <p:nvSpPr>
          <p:cNvPr id="18" name="question 4"/>
          <p:cNvSpPr txBox="1"/>
          <p:nvPr/>
        </p:nvSpPr>
        <p:spPr>
          <a:xfrm>
            <a:off x="7013448" y="3840480"/>
            <a:ext cx="4389120" cy="868680"/>
          </a:xfrm>
          <a:prstGeom prst="rect">
            <a:avLst/>
          </a:prstGeom>
          <a:noFill/>
        </p:spPr>
        <p:txBody>
          <a:bodyPr wrap="square" lIns="0" tIns="0" rIns="0" bIns="0" anchor="t">
            <a:spAutoFit/>
          </a:bodyPr>
          <a:lstStyle/>
          <a:p>
            <a:pPr algn="l">
              <a:spcAft>
                <a:spcPts val="800"/>
              </a:spcAft>
            </a:pPr>
            <a:r>
              <a:rPr sz="1500" b="1" i="0">
                <a:solidFill>
                  <a:srgbClr val="152D42"/>
                </a:solidFill>
              </a:rPr>
              <a:t>Is V = V₀ exp(−t/τ) linear in its unknowns?</a:t>
            </a:r>
          </a:p>
        </p:txBody>
      </p:sp>
      <p:sp>
        <p:nvSpPr>
          <p:cNvPr id="19" name="b4_answer 4"/>
          <p:cNvSpPr txBox="1"/>
          <p:nvPr/>
        </p:nvSpPr>
        <p:spPr>
          <a:xfrm>
            <a:off x="7013448" y="4754880"/>
            <a:ext cx="4389120" cy="960120"/>
          </a:xfrm>
          <a:prstGeom prst="rect">
            <a:avLst/>
          </a:prstGeom>
          <a:noFill/>
        </p:spPr>
        <p:txBody>
          <a:bodyPr wrap="square" lIns="0" tIns="0" rIns="0" bIns="0" anchor="t">
            <a:spAutoFit/>
          </a:bodyPr>
          <a:lstStyle/>
          <a:p>
            <a:pPr algn="l">
              <a:spcAft>
                <a:spcPts val="800"/>
              </a:spcAft>
            </a:pPr>
            <a:r>
              <a:rPr sz="1400" b="0" i="0">
                <a:solidFill>
                  <a:srgbClr val="A31F34"/>
                </a:solidFill>
              </a:rPr>
              <a:t>Not in τ. ln V = ln V₀ − t/τ is linear in ln V₀ and 1/τ; the log also reweights the errors.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A: the five points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29</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200" b="0" i="0">
                <a:solidFill>
                  <a:srgbClr val="152D42"/>
                </a:solidFill>
                <a:latin typeface="DejaVu Sans Mono"/>
              </a:rPr>
              <a:t>import numpy as np                                    </a:t>
            </a:r>
            <a:r>
              <a:rPr sz="1200" b="0" i="0">
                <a:solidFill>
                  <a:srgbClr val="506476"/>
                </a:solidFill>
                <a:latin typeface="DejaVu Sans Mono"/>
              </a:rPr>
              <a:t># arrays and linear algebra</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x = np.array([1.0, 3.0, 4.0, 5.0, 7.0])               </a:t>
            </a:r>
            <a:r>
              <a:rPr sz="1200" b="0" i="0">
                <a:solidFill>
                  <a:srgbClr val="506476"/>
                </a:solidFill>
                <a:latin typeface="DejaVu Sans Mono"/>
              </a:rPr>
              <a:t># the five x values</a:t>
            </a:r>
          </a:p>
          <a:p>
            <a:pPr algn="l">
              <a:lnSpc>
                <a:spcPct val="100000"/>
              </a:lnSpc>
              <a:spcAft>
                <a:spcPts val="0"/>
              </a:spcAft>
            </a:pPr>
            <a:r>
              <a:rPr sz="1200" b="0" i="0">
                <a:solidFill>
                  <a:srgbClr val="152D42"/>
                </a:solidFill>
                <a:latin typeface="DejaVu Sans Mono"/>
              </a:rPr>
              <a:t>y = np.array([3.0, 7.0, 9.0, 16.0, 20.0])             </a:t>
            </a:r>
            <a:r>
              <a:rPr sz="1200" b="0" i="0">
                <a:solidFill>
                  <a:srgbClr val="506476"/>
                </a:solidFill>
                <a:latin typeface="DejaVu Sans Mono"/>
              </a:rPr>
              <a:t># the five measurements</a:t>
            </a:r>
          </a:p>
          <a:p>
            <a:pPr algn="l">
              <a:lnSpc>
                <a:spcPct val="100000"/>
              </a:lnSpc>
              <a:spcAft>
                <a:spcPts val="0"/>
              </a:spcAft>
            </a:pPr>
            <a:r>
              <a:rPr sz="1200" b="0" i="0">
                <a:solidFill>
                  <a:srgbClr val="152D42"/>
                </a:solidFill>
                <a:latin typeface="DejaVu Sans Mono"/>
              </a:rPr>
              <a:t>X = np.column_stack([x, np.ones_like(x)])             </a:t>
            </a:r>
            <a:r>
              <a:rPr sz="1200" b="0" i="0">
                <a:solidFill>
                  <a:srgbClr val="506476"/>
                </a:solidFill>
                <a:latin typeface="DejaVu Sans Mono"/>
              </a:rPr>
              <a:t># columns: x, then ones</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XtX = X.T @ X                                         </a:t>
            </a:r>
            <a:r>
              <a:rPr sz="1200" b="0" i="0">
                <a:solidFill>
                  <a:srgbClr val="506476"/>
                </a:solidFill>
                <a:latin typeface="DejaVu Sans Mono"/>
              </a:rPr>
              <a:t># [[sum x^2, sum x], [sum x, m]]</a:t>
            </a:r>
          </a:p>
          <a:p>
            <a:pPr algn="l">
              <a:lnSpc>
                <a:spcPct val="100000"/>
              </a:lnSpc>
              <a:spcAft>
                <a:spcPts val="0"/>
              </a:spcAft>
            </a:pPr>
            <a:r>
              <a:rPr sz="1200" b="0" i="0">
                <a:solidFill>
                  <a:srgbClr val="152D42"/>
                </a:solidFill>
                <a:latin typeface="DejaVu Sans Mono"/>
              </a:rPr>
              <a:t>Xty = X.T @ y                                         </a:t>
            </a:r>
            <a:r>
              <a:rPr sz="1200" b="0" i="0">
                <a:solidFill>
                  <a:srgbClr val="506476"/>
                </a:solidFill>
                <a:latin typeface="DejaVu Sans Mono"/>
              </a:rPr>
              <a:t># [sum x y, sum y]</a:t>
            </a:r>
          </a:p>
          <a:p>
            <a:pPr algn="l">
              <a:lnSpc>
                <a:spcPct val="100000"/>
              </a:lnSpc>
              <a:spcAft>
                <a:spcPts val="0"/>
              </a:spcAft>
            </a:pPr>
            <a:r>
              <a:rPr sz="1200" b="0" i="0">
                <a:solidFill>
                  <a:srgbClr val="152D42"/>
                </a:solidFill>
                <a:latin typeface="DejaVu Sans Mono"/>
              </a:rPr>
              <a:t>k = np.linalg.solve(XtX, Xty)                         </a:t>
            </a:r>
            <a:r>
              <a:rPr sz="1200" b="0" i="0">
                <a:solidFill>
                  <a:srgbClr val="506476"/>
                </a:solidFill>
                <a:latin typeface="DejaVu Sans Mono"/>
              </a:rPr>
              <a:t># normal equations X^T X k = X^T y</a:t>
            </a:r>
          </a:p>
          <a:p>
            <a:pPr algn="l">
              <a:lnSpc>
                <a:spcPct val="100000"/>
              </a:lnSpc>
              <a:spcAft>
                <a:spcPts val="0"/>
              </a:spcAft>
            </a:pPr>
            <a:r>
              <a:rPr sz="1200" b="0" i="0">
                <a:solidFill>
                  <a:srgbClr val="152D42"/>
                </a:solidFill>
                <a:latin typeface="DejaVu Sans Mono"/>
              </a:rPr>
              <a:t>e = y - X @ k                                         </a:t>
            </a:r>
            <a:r>
              <a:rPr sz="1200" b="0" i="0">
                <a:solidFill>
                  <a:srgbClr val="506476"/>
                </a:solidFill>
                <a:latin typeface="DejaVu Sans Mono"/>
              </a:rPr>
              <a:t># residual at the best line</a:t>
            </a:r>
          </a:p>
          <a:p>
            <a:pPr algn="l">
              <a:lnSpc>
                <a:spcPct val="100000"/>
              </a:lnSpc>
              <a:spcAft>
                <a:spcPts val="0"/>
              </a:spcAft>
            </a:pPr>
            <a:r>
              <a:rPr sz="1200" b="0" i="0">
                <a:solidFill>
                  <a:srgbClr val="152D42"/>
                </a:solidFill>
                <a:latin typeface="DejaVu Sans Mono"/>
              </a:rPr>
              <a:t>guess = y - X @ np.array([2.0, 1.0])                  </a:t>
            </a:r>
            <a:r>
              <a:rPr sz="1200" b="0" i="0">
                <a:solidFill>
                  <a:srgbClr val="506476"/>
                </a:solidFill>
                <a:latin typeface="DejaVu Sans Mono"/>
              </a:rPr>
              <a:t># error of the guess y = 2x + 1</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r = lambda v: np.round(v, 10) + 0.0                   </a:t>
            </a:r>
            <a:r>
              <a:rPr sz="1200" b="0" i="0">
                <a:solidFill>
                  <a:srgbClr val="506476"/>
                </a:solidFill>
                <a:latin typeface="DejaVu Sans Mono"/>
              </a:rPr>
              <a:t># round off last-digit noise</a:t>
            </a:r>
          </a:p>
          <a:p>
            <a:pPr algn="l">
              <a:lnSpc>
                <a:spcPct val="100000"/>
              </a:lnSpc>
              <a:spcAft>
                <a:spcPts val="0"/>
              </a:spcAft>
            </a:pPr>
            <a:r>
              <a:rPr sz="1200" b="0" i="0">
                <a:solidFill>
                  <a:srgbClr val="152D42"/>
                </a:solidFill>
                <a:latin typeface="DejaVu Sans Mono"/>
              </a:rPr>
              <a:t>print("X^T X       =", r(XtX).tolist())               </a:t>
            </a:r>
            <a:r>
              <a:rPr sz="1200" b="0" i="0">
                <a:solidFill>
                  <a:srgbClr val="506476"/>
                </a:solidFill>
                <a:latin typeface="DejaVu Sans Mono"/>
              </a:rPr>
              <a:t># [[100, 20], [20, 5]]</a:t>
            </a:r>
          </a:p>
          <a:p>
            <a:pPr algn="l">
              <a:lnSpc>
                <a:spcPct val="100000"/>
              </a:lnSpc>
              <a:spcAft>
                <a:spcPts val="0"/>
              </a:spcAft>
            </a:pPr>
            <a:r>
              <a:rPr sz="1200" b="0" i="0">
                <a:solidFill>
                  <a:srgbClr val="152D42"/>
                </a:solidFill>
                <a:latin typeface="DejaVu Sans Mono"/>
              </a:rPr>
              <a:t>print("X^T y       =", r(Xty))                        </a:t>
            </a:r>
            <a:r>
              <a:rPr sz="1200" b="0" i="0">
                <a:solidFill>
                  <a:srgbClr val="506476"/>
                </a:solidFill>
                <a:latin typeface="DejaVu Sans Mono"/>
              </a:rPr>
              <a:t># [280, 55]</a:t>
            </a:r>
          </a:p>
          <a:p>
            <a:pPr algn="l">
              <a:lnSpc>
                <a:spcPct val="100000"/>
              </a:lnSpc>
              <a:spcAft>
                <a:spcPts val="0"/>
              </a:spcAft>
            </a:pPr>
            <a:r>
              <a:rPr sz="1200" b="0" i="0">
                <a:solidFill>
                  <a:srgbClr val="152D42"/>
                </a:solidFill>
                <a:latin typeface="DejaVu Sans Mono"/>
              </a:rPr>
              <a:t>print("k, b        =", r(k))                          </a:t>
            </a:r>
            <a:r>
              <a:rPr sz="1200" b="0" i="0">
                <a:solidFill>
                  <a:srgbClr val="506476"/>
                </a:solidFill>
                <a:latin typeface="DejaVu Sans Mono"/>
              </a:rPr>
              <a:t># [3, -1]: y = 3x - 1</a:t>
            </a:r>
          </a:p>
          <a:p>
            <a:pPr algn="l">
              <a:lnSpc>
                <a:spcPct val="100000"/>
              </a:lnSpc>
              <a:spcAft>
                <a:spcPts val="0"/>
              </a:spcAft>
            </a:pPr>
            <a:r>
              <a:rPr sz="1200" b="0" i="0">
                <a:solidFill>
                  <a:srgbClr val="152D42"/>
                </a:solidFill>
                <a:latin typeface="DejaVu Sans Mono"/>
              </a:rPr>
              <a:t>print("residual    =", r(e))                          </a:t>
            </a:r>
            <a:r>
              <a:rPr sz="1200" b="0" i="0">
                <a:solidFill>
                  <a:srgbClr val="506476"/>
                </a:solidFill>
                <a:latin typeface="DejaVu Sans Mono"/>
              </a:rPr>
              <a:t># [1, -1, -2, 2, 0]</a:t>
            </a:r>
          </a:p>
          <a:p>
            <a:pPr algn="l">
              <a:lnSpc>
                <a:spcPct val="100000"/>
              </a:lnSpc>
              <a:spcAft>
                <a:spcPts val="0"/>
              </a:spcAft>
            </a:pPr>
            <a:r>
              <a:rPr sz="1200" b="0" i="0">
                <a:solidFill>
                  <a:srgbClr val="152D42"/>
                </a:solidFill>
                <a:latin typeface="DejaVu Sans Mono"/>
              </a:rPr>
              <a:t>print("X^T e       =", r(X.T @ e))                    </a:t>
            </a:r>
            <a:r>
              <a:rPr sz="1200" b="0" i="0">
                <a:solidFill>
                  <a:srgbClr val="506476"/>
                </a:solidFill>
                <a:latin typeface="DejaVu Sans Mono"/>
              </a:rPr>
              <a:t># [0, 0]: e is perpendicular to col(X)</a:t>
            </a:r>
          </a:p>
          <a:p>
            <a:pPr algn="l">
              <a:lnSpc>
                <a:spcPct val="100000"/>
              </a:lnSpc>
              <a:spcAft>
                <a:spcPts val="0"/>
              </a:spcAft>
            </a:pPr>
            <a:r>
              <a:rPr sz="1200" b="0" i="0">
                <a:solidFill>
                  <a:srgbClr val="152D42"/>
                </a:solidFill>
                <a:latin typeface="DejaVu Sans Mono"/>
              </a:rPr>
              <a:t>print("e.e         =", r(e @ e))                      </a:t>
            </a:r>
            <a:r>
              <a:rPr sz="1200" b="0" i="0">
                <a:solidFill>
                  <a:srgbClr val="506476"/>
                </a:solidFill>
                <a:latin typeface="DejaVu Sans Mono"/>
              </a:rPr>
              <a:t># 10, the smallest possible</a:t>
            </a:r>
          </a:p>
          <a:p>
            <a:pPr algn="l">
              <a:lnSpc>
                <a:spcPct val="100000"/>
              </a:lnSpc>
              <a:spcAft>
                <a:spcPts val="0"/>
              </a:spcAft>
            </a:pPr>
            <a:r>
              <a:rPr sz="1200" b="0" i="0">
                <a:solidFill>
                  <a:srgbClr val="152D42"/>
                </a:solidFill>
                <a:latin typeface="DejaVu Sans Mono"/>
              </a:rPr>
              <a:t>print("guess e.e   =", r(guess @ guess))              </a:t>
            </a:r>
            <a:r>
              <a:rPr sz="1200" b="0" i="0">
                <a:solidFill>
                  <a:srgbClr val="506476"/>
                </a:solidFill>
                <a:latin typeface="DejaVu Sans Mono"/>
              </a:rPr>
              <a:t># 50 = 10 + 40</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L11_least_squares.py: numpy only, every line commented; it prints the numbers on these slides.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B: raw time stamps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30</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200" b="0" i="0">
                <a:solidFill>
                  <a:srgbClr val="152D42"/>
                </a:solidFill>
                <a:latin typeface="DejaVu Sans Mono"/>
              </a:rPr>
              <a:t>import numpy as np                                    </a:t>
            </a:r>
            <a:r>
              <a:rPr sz="1200" b="0" i="0">
                <a:solidFill>
                  <a:srgbClr val="506476"/>
                </a:solidFill>
                <a:latin typeface="DejaVu Sans Mono"/>
              </a:rPr>
              <a:t># arrays and linear algebra</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t0 = 1792573200.0                                     </a:t>
            </a:r>
            <a:r>
              <a:rPr sz="1200" b="0" i="0">
                <a:solidFill>
                  <a:srgbClr val="506476"/>
                </a:solidFill>
                <a:latin typeface="DejaVu Sans Mono"/>
              </a:rPr>
              <a:t># 21 Oct 2026, 09:00 UTC, in Unix seconds</a:t>
            </a:r>
          </a:p>
          <a:p>
            <a:pPr algn="l">
              <a:lnSpc>
                <a:spcPct val="100000"/>
              </a:lnSpc>
              <a:spcAft>
                <a:spcPts val="0"/>
              </a:spcAft>
            </a:pPr>
            <a:r>
              <a:rPr sz="1200" b="0" i="0">
                <a:solidFill>
                  <a:srgbClr val="152D42"/>
                </a:solidFill>
                <a:latin typeface="DejaVu Sans Mono"/>
              </a:rPr>
              <a:t>t = t0 + 60.0 * np.arange(61)                         </a:t>
            </a:r>
            <a:r>
              <a:rPr sz="1200" b="0" i="0">
                <a:solidFill>
                  <a:srgbClr val="506476"/>
                </a:solidFill>
                <a:latin typeface="DejaVu Sans Mono"/>
              </a:rPr>
              <a:t># one reading a minute for an hour</a:t>
            </a:r>
          </a:p>
          <a:p>
            <a:pPr algn="l">
              <a:lnSpc>
                <a:spcPct val="100000"/>
              </a:lnSpc>
              <a:spcAft>
                <a:spcPts val="0"/>
              </a:spcAft>
            </a:pPr>
            <a:r>
              <a:rPr sz="1200" b="0" i="0">
                <a:solidFill>
                  <a:srgbClr val="152D42"/>
                </a:solidFill>
                <a:latin typeface="DejaVu Sans Mono"/>
              </a:rPr>
              <a:t>rng = np.random.default_rng(11)                       </a:t>
            </a:r>
            <a:r>
              <a:rPr sz="1200" b="0" i="0">
                <a:solidFill>
                  <a:srgbClr val="506476"/>
                </a:solidFill>
                <a:latin typeface="DejaVu Sans Mono"/>
              </a:rPr>
              <a:t># fixed seed, same numbers every run</a:t>
            </a:r>
          </a:p>
          <a:p>
            <a:pPr algn="l">
              <a:lnSpc>
                <a:spcPct val="100000"/>
              </a:lnSpc>
              <a:spcAft>
                <a:spcPts val="0"/>
              </a:spcAft>
            </a:pPr>
            <a:r>
              <a:rPr sz="1200" b="0" i="0">
                <a:solidFill>
                  <a:srgbClr val="152D42"/>
                </a:solidFill>
                <a:latin typeface="DejaVu Sans Mono"/>
              </a:rPr>
              <a:t>y = 21.0 + (0.02 / 60) * (t - t0) \</a:t>
            </a:r>
          </a:p>
          <a:p>
            <a:pPr algn="l">
              <a:lnSpc>
                <a:spcPct val="100000"/>
              </a:lnSpc>
              <a:spcAft>
                <a:spcPts val="0"/>
              </a:spcAft>
            </a:pPr>
            <a:r>
              <a:rPr sz="1200" b="0" i="0">
                <a:solidFill>
                  <a:srgbClr val="152D42"/>
                </a:solidFill>
                <a:latin typeface="DejaVu Sans Mono"/>
              </a:rPr>
              <a:t>    + 0.01 * rng.standard_normal(t.size)              </a:t>
            </a:r>
            <a:r>
              <a:rPr sz="1200" b="0" i="0">
                <a:solidFill>
                  <a:srgbClr val="506476"/>
                </a:solidFill>
                <a:latin typeface="DejaVu Sans Mono"/>
              </a:rPr>
              <a:t># 21 C, drifting 0.02 K/min, 0.01 K noise</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def routes(X):                                        </a:t>
            </a:r>
            <a:r>
              <a:rPr sz="1200" b="0" i="0">
                <a:solidFill>
                  <a:srgbClr val="506476"/>
                </a:solidFill>
                <a:latin typeface="DejaVu Sans Mono"/>
              </a:rPr>
              <a:t># solve the same fit two ways</a:t>
            </a:r>
          </a:p>
          <a:p>
            <a:pPr algn="l">
              <a:lnSpc>
                <a:spcPct val="100000"/>
              </a:lnSpc>
              <a:spcAft>
                <a:spcPts val="0"/>
              </a:spcAft>
            </a:pPr>
            <a:r>
              <a:rPr sz="1200" b="0" i="0">
                <a:solidFill>
                  <a:srgbClr val="152D42"/>
                </a:solidFill>
                <a:latin typeface="DejaVu Sans Mono"/>
              </a:rPr>
              <a:t>    return {"normal equations": np.linalg.solve(X.T @ X, X.T @ y),</a:t>
            </a:r>
          </a:p>
          <a:p>
            <a:pPr algn="l">
              <a:lnSpc>
                <a:spcPct val="100000"/>
              </a:lnSpc>
              <a:spcAft>
                <a:spcPts val="0"/>
              </a:spcAft>
            </a:pPr>
            <a:r>
              <a:rPr sz="1200" b="0" i="0">
                <a:solidFill>
                  <a:srgbClr val="152D42"/>
                </a:solidFill>
                <a:latin typeface="DejaVu Sans Mono"/>
              </a:rPr>
              <a:t>            "lstsq": np.linalg.lstsq(X, y, rcond=None)[0]}</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X_raw = np.column_stack([t, np.ones_like(t)])         </a:t>
            </a:r>
            <a:r>
              <a:rPr sz="1200" b="0" i="0">
                <a:solidFill>
                  <a:srgbClr val="506476"/>
                </a:solidFill>
                <a:latin typeface="DejaVu Sans Mono"/>
              </a:rPr>
              <a:t># columns: raw time stamps, ones</a:t>
            </a:r>
          </a:p>
          <a:p>
            <a:pPr algn="l">
              <a:lnSpc>
                <a:spcPct val="100000"/>
              </a:lnSpc>
              <a:spcAft>
                <a:spcPts val="0"/>
              </a:spcAft>
            </a:pPr>
            <a:r>
              <a:rPr sz="1200" b="0" i="0">
                <a:solidFill>
                  <a:srgbClr val="152D42"/>
                </a:solidFill>
                <a:latin typeface="DejaVu Sans Mono"/>
              </a:rPr>
              <a:t>X_new = np.column_stack([t - t0, np.ones_like(t)])    </a:t>
            </a:r>
            <a:r>
              <a:rPr sz="1200" b="0" i="0">
                <a:solidFill>
                  <a:srgbClr val="506476"/>
                </a:solidFill>
                <a:latin typeface="DejaVu Sans Mono"/>
              </a:rPr>
              <a:t># columns: seconds since t0, ones</a:t>
            </a:r>
          </a:p>
          <a:p>
            <a:pPr algn="l">
              <a:lnSpc>
                <a:spcPct val="100000"/>
              </a:lnSpc>
              <a:spcAft>
                <a:spcPts val="0"/>
              </a:spcAft>
            </a:pPr>
            <a:r>
              <a:rPr sz="1200" b="0" i="0">
                <a:solidFill>
                  <a:srgbClr val="152D42"/>
                </a:solidFill>
                <a:latin typeface="DejaVu Sans Mono"/>
              </a:rPr>
              <a:t>k_ref = routes(X_new)["lstsq"][0]                     </a:t>
            </a:r>
            <a:r>
              <a:rPr sz="1200" b="0" i="0">
                <a:solidFill>
                  <a:srgbClr val="506476"/>
                </a:solidFill>
                <a:latin typeface="DejaVu Sans Mono"/>
              </a:rPr>
              <a:t># reference slope from the shifted fit</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200" b="0" i="0">
                <a:solidFill>
                  <a:srgbClr val="152D42"/>
                </a:solidFill>
                <a:latin typeface="DejaVu Sans Mono"/>
              </a:rPr>
              <a:t>for name, X in [("raw t", X_raw), ("t - t0", X_new)]:</a:t>
            </a:r>
          </a:p>
          <a:p>
            <a:pPr algn="l">
              <a:lnSpc>
                <a:spcPct val="100000"/>
              </a:lnSpc>
              <a:spcAft>
                <a:spcPts val="0"/>
              </a:spcAft>
            </a:pPr>
            <a:r>
              <a:rPr sz="1200" b="0" i="0">
                <a:solidFill>
                  <a:srgbClr val="152D42"/>
                </a:solidFill>
                <a:latin typeface="DejaVu Sans Mono"/>
              </a:rPr>
              <a:t>    print(f"{name}: cond(X) = {np.linalg.cond(X):.1e}")  </a:t>
            </a:r>
            <a:r>
              <a:rPr sz="1200" b="0" i="0">
                <a:solidFill>
                  <a:srgbClr val="506476"/>
                </a:solidFill>
                <a:latin typeface="DejaVu Sans Mono"/>
              </a:rPr>
              <a:t># 3.0e+15, then 4.1e+03</a:t>
            </a:r>
          </a:p>
          <a:p>
            <a:pPr algn="l">
              <a:lnSpc>
                <a:spcPct val="100000"/>
              </a:lnSpc>
              <a:spcAft>
                <a:spcPts val="0"/>
              </a:spcAft>
            </a:pPr>
            <a:r>
              <a:rPr sz="1200" b="0" i="0">
                <a:solidFill>
                  <a:srgbClr val="152D42"/>
                </a:solidFill>
                <a:latin typeface="DejaVu Sans Mono"/>
              </a:rPr>
              <a:t>    for route, k in routes(X).items():                </a:t>
            </a:r>
            <a:r>
              <a:rPr sz="1200" b="0" i="0">
                <a:solidFill>
                  <a:srgbClr val="506476"/>
                </a:solidFill>
                <a:latin typeface="DejaVu Sans Mono"/>
              </a:rPr>
              <a:t># each route's slope and its error</a:t>
            </a:r>
          </a:p>
          <a:p>
            <a:pPr algn="l">
              <a:lnSpc>
                <a:spcPct val="100000"/>
              </a:lnSpc>
              <a:spcAft>
                <a:spcPts val="0"/>
              </a:spcAft>
            </a:pPr>
            <a:r>
              <a:rPr sz="1200" b="0" i="0">
                <a:solidFill>
                  <a:srgbClr val="152D42"/>
                </a:solidFill>
                <a:latin typeface="DejaVu Sans Mono"/>
              </a:rPr>
              <a:t>        err = abs(k[0] - k_ref) / abs(k_ref)          </a:t>
            </a:r>
            <a:r>
              <a:rPr sz="1200" b="0" i="0">
                <a:solidFill>
                  <a:srgbClr val="506476"/>
                </a:solidFill>
                <a:latin typeface="DejaVu Sans Mono"/>
              </a:rPr>
              <a:t># relative error in the slope</a:t>
            </a:r>
          </a:p>
          <a:p>
            <a:pPr algn="l">
              <a:lnSpc>
                <a:spcPct val="100000"/>
              </a:lnSpc>
              <a:spcAft>
                <a:spcPts val="0"/>
              </a:spcAft>
            </a:pPr>
            <a:r>
              <a:rPr sz="1200" b="0" i="0">
                <a:solidFill>
                  <a:srgbClr val="152D42"/>
                </a:solidFill>
                <a:latin typeface="DejaVu Sans Mono"/>
              </a:rPr>
              <a:t>        print(f"  {route:16s} slope {60 * k[0]:.6g} K/min  rel. error {err:.0e}")</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L11_conditioning.py: numpy only, every line commented; it prints the numbers on these slides.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C: RC discharge and N-BK7</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31</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050" b="0" i="0">
                <a:solidFill>
                  <a:srgbClr val="152D42"/>
                </a:solidFill>
                <a:latin typeface="DejaVu Sans Mono"/>
              </a:rPr>
              <a:t>import numpy as np                                    </a:t>
            </a:r>
            <a:r>
              <a:rPr sz="1050" b="0" i="0">
                <a:solidFill>
                  <a:srgbClr val="506476"/>
                </a:solidFill>
                <a:latin typeface="DejaVu Sans Mono"/>
              </a:rPr>
              <a:t># arrays and linear algebra</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050" b="0" i="0">
                <a:solidFill>
                  <a:srgbClr val="152D42"/>
                </a:solidFill>
                <a:latin typeface="DejaVu Sans Mono"/>
              </a:rPr>
              <a:t>def fit(columns, rhs):                                </a:t>
            </a:r>
            <a:r>
              <a:rPr sz="1050" b="0" i="0">
                <a:solidFill>
                  <a:srgbClr val="506476"/>
                </a:solidFill>
                <a:latin typeface="DejaVu Sans Mono"/>
              </a:rPr>
              <a:t># least squares for X k = rhs</a:t>
            </a:r>
          </a:p>
          <a:p>
            <a:pPr algn="l">
              <a:lnSpc>
                <a:spcPct val="100000"/>
              </a:lnSpc>
              <a:spcAft>
                <a:spcPts val="0"/>
              </a:spcAft>
            </a:pPr>
            <a:r>
              <a:rPr sz="1050" b="0" i="0">
                <a:solidFill>
                  <a:srgbClr val="152D42"/>
                </a:solidFill>
                <a:latin typeface="DejaVu Sans Mono"/>
              </a:rPr>
              <a:t>    X = np.column_stack(columns)                      </a:t>
            </a:r>
            <a:r>
              <a:rPr sz="1050" b="0" i="0">
                <a:solidFill>
                  <a:srgbClr val="506476"/>
                </a:solidFill>
                <a:latin typeface="DejaVu Sans Mono"/>
              </a:rPr>
              <a:t># build X from its columns</a:t>
            </a:r>
          </a:p>
          <a:p>
            <a:pPr algn="l">
              <a:lnSpc>
                <a:spcPct val="100000"/>
              </a:lnSpc>
              <a:spcAft>
                <a:spcPts val="0"/>
              </a:spcAft>
            </a:pPr>
            <a:r>
              <a:rPr sz="1050" b="0" i="0">
                <a:solidFill>
                  <a:srgbClr val="152D42"/>
                </a:solidFill>
                <a:latin typeface="DejaVu Sans Mono"/>
              </a:rPr>
              <a:t>    return np.linalg.lstsq(X, rhs, rcond=None)[0]     </a:t>
            </a:r>
            <a:r>
              <a:rPr sz="1050" b="0" i="0">
                <a:solidFill>
                  <a:srgbClr val="506476"/>
                </a:solidFill>
                <a:latin typeface="DejaVu Sans Mono"/>
              </a:rPr>
              <a:t># numpy least-squares solver</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050" b="0" i="0">
                <a:solidFill>
                  <a:srgbClr val="506476"/>
                </a:solidFill>
                <a:latin typeface="DejaVu Sans Mono"/>
              </a:rPr>
              <a:t># 1. Circuits: RC discharge, V = V0 exp(-t/tau), so ln V = ln V0 - t/tau</a:t>
            </a:r>
          </a:p>
          <a:p>
            <a:pPr algn="l">
              <a:lnSpc>
                <a:spcPct val="100000"/>
              </a:lnSpc>
              <a:spcAft>
                <a:spcPts val="0"/>
              </a:spcAft>
            </a:pPr>
            <a:r>
              <a:rPr sz="1050" b="0" i="0">
                <a:solidFill>
                  <a:srgbClr val="152D42"/>
                </a:solidFill>
                <a:latin typeface="DejaVu Sans Mono"/>
              </a:rPr>
              <a:t>t = np.linspace(0.0, 0.15, 16)                        </a:t>
            </a:r>
            <a:r>
              <a:rPr sz="1050" b="0" i="0">
                <a:solidFill>
                  <a:srgbClr val="506476"/>
                </a:solidFill>
                <a:latin typeface="DejaVu Sans Mono"/>
              </a:rPr>
              <a:t># 16 samples over 150 ms</a:t>
            </a:r>
          </a:p>
          <a:p>
            <a:pPr algn="l">
              <a:lnSpc>
                <a:spcPct val="100000"/>
              </a:lnSpc>
              <a:spcAft>
                <a:spcPts val="0"/>
              </a:spcAft>
            </a:pPr>
            <a:r>
              <a:rPr sz="1050" b="0" i="0">
                <a:solidFill>
                  <a:srgbClr val="152D42"/>
                </a:solidFill>
                <a:latin typeface="DejaVu Sans Mono"/>
              </a:rPr>
              <a:t>rng = np.random.default_rng(3)                        </a:t>
            </a:r>
            <a:r>
              <a:rPr sz="1050" b="0" i="0">
                <a:solidFill>
                  <a:srgbClr val="506476"/>
                </a:solidFill>
                <a:latin typeface="DejaVu Sans Mono"/>
              </a:rPr>
              <a:t># fixed seed (synthetic data)</a:t>
            </a:r>
          </a:p>
          <a:p>
            <a:pPr algn="l">
              <a:lnSpc>
                <a:spcPct val="100000"/>
              </a:lnSpc>
              <a:spcAft>
                <a:spcPts val="0"/>
              </a:spcAft>
            </a:pPr>
            <a:r>
              <a:rPr sz="1050" b="0" i="0">
                <a:solidFill>
                  <a:srgbClr val="152D42"/>
                </a:solidFill>
                <a:latin typeface="DejaVu Sans Mono"/>
              </a:rPr>
              <a:t>V = 5.0 * np.exp(-t / 0.047) \</a:t>
            </a:r>
          </a:p>
          <a:p>
            <a:pPr algn="l">
              <a:lnSpc>
                <a:spcPct val="100000"/>
              </a:lnSpc>
              <a:spcAft>
                <a:spcPts val="0"/>
              </a:spcAft>
            </a:pPr>
            <a:r>
              <a:rPr sz="1050" b="0" i="0">
                <a:solidFill>
                  <a:srgbClr val="152D42"/>
                </a:solidFill>
                <a:latin typeface="DejaVu Sans Mono"/>
              </a:rPr>
              <a:t>    * (1 + 0.01 * rng.standard_normal(t.size))        </a:t>
            </a:r>
            <a:r>
              <a:rPr sz="1050" b="0" i="0">
                <a:solidFill>
                  <a:srgbClr val="506476"/>
                </a:solidFill>
                <a:latin typeface="DejaVu Sans Mono"/>
              </a:rPr>
              <a:t># 10 kOhm, 4.7 uF, 1% noise</a:t>
            </a:r>
          </a:p>
          <a:p>
            <a:pPr algn="l">
              <a:lnSpc>
                <a:spcPct val="100000"/>
              </a:lnSpc>
              <a:spcAft>
                <a:spcPts val="0"/>
              </a:spcAft>
            </a:pPr>
            <a:r>
              <a:rPr sz="1050" b="0" i="0">
                <a:solidFill>
                  <a:srgbClr val="152D42"/>
                </a:solidFill>
                <a:latin typeface="DejaVu Sans Mono"/>
              </a:rPr>
              <a:t>s, c = fit([t, np.ones_like(t)], np.log(V))           </a:t>
            </a:r>
            <a:r>
              <a:rPr sz="1050" b="0" i="0">
                <a:solidFill>
                  <a:srgbClr val="506476"/>
                </a:solidFill>
                <a:latin typeface="DejaVu Sans Mono"/>
              </a:rPr>
              <a:t># straight line through (t, ln V)</a:t>
            </a:r>
          </a:p>
          <a:p>
            <a:pPr algn="l">
              <a:lnSpc>
                <a:spcPct val="100000"/>
              </a:lnSpc>
              <a:spcAft>
                <a:spcPts val="0"/>
              </a:spcAft>
            </a:pPr>
            <a:r>
              <a:rPr sz="1050" b="0" i="0">
                <a:solidFill>
                  <a:srgbClr val="152D42"/>
                </a:solidFill>
                <a:latin typeface="DejaVu Sans Mono"/>
              </a:rPr>
              <a:t>print(f"RC: tau = {-1e3 / s:.2f} ms (47.00), V0 = {np.exp(c):.3f} V (5.000)")</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050" b="0" i="0">
                <a:solidFill>
                  <a:srgbClr val="506476"/>
                </a:solidFill>
                <a:latin typeface="DejaVu Sans Mono"/>
              </a:rPr>
              <a:t># 2. Optics: Cauchy's equation n = A + B / lambda^2 for N-BK7 (SCHOTT data sheet)</a:t>
            </a:r>
          </a:p>
          <a:p>
            <a:pPr algn="l">
              <a:lnSpc>
                <a:spcPct val="100000"/>
              </a:lnSpc>
              <a:spcAft>
                <a:spcPts val="0"/>
              </a:spcAft>
            </a:pPr>
            <a:r>
              <a:rPr sz="1050" b="0" i="0">
                <a:solidFill>
                  <a:srgbClr val="152D42"/>
                </a:solidFill>
                <a:latin typeface="DejaVu Sans Mono"/>
              </a:rPr>
              <a:t>lam = np.array([404.7, 435.8, 480.0, 486.1, 546.1, 587.6,</a:t>
            </a:r>
          </a:p>
          <a:p>
            <a:pPr algn="l">
              <a:lnSpc>
                <a:spcPct val="100000"/>
              </a:lnSpc>
              <a:spcAft>
                <a:spcPts val="0"/>
              </a:spcAft>
            </a:pPr>
            <a:r>
              <a:rPr sz="1050" b="0" i="0">
                <a:solidFill>
                  <a:srgbClr val="152D42"/>
                </a:solidFill>
                <a:latin typeface="DejaVu Sans Mono"/>
              </a:rPr>
              <a:t>                589.3, 632.8, 643.8, 656.3, 706.5]) / 1e3  </a:t>
            </a:r>
            <a:r>
              <a:rPr sz="1050" b="0" i="0">
                <a:solidFill>
                  <a:srgbClr val="506476"/>
                </a:solidFill>
                <a:latin typeface="DejaVu Sans Mono"/>
              </a:rPr>
              <a:t># wavelength in um</a:t>
            </a:r>
          </a:p>
          <a:p>
            <a:pPr algn="l">
              <a:lnSpc>
                <a:spcPct val="100000"/>
              </a:lnSpc>
              <a:spcAft>
                <a:spcPts val="0"/>
              </a:spcAft>
            </a:pPr>
            <a:r>
              <a:rPr sz="1050" b="0" i="0">
                <a:solidFill>
                  <a:srgbClr val="152D42"/>
                </a:solidFill>
                <a:latin typeface="DejaVu Sans Mono"/>
              </a:rPr>
              <a:t>n = np.array([1.53024, 1.52668, 1.52283, 1.52238, 1.51872, 1.51680,</a:t>
            </a:r>
          </a:p>
          <a:p>
            <a:pPr algn="l">
              <a:lnSpc>
                <a:spcPct val="100000"/>
              </a:lnSpc>
              <a:spcAft>
                <a:spcPts val="0"/>
              </a:spcAft>
            </a:pPr>
            <a:r>
              <a:rPr sz="1050" b="0" i="0">
                <a:solidFill>
                  <a:srgbClr val="152D42"/>
                </a:solidFill>
                <a:latin typeface="DejaVu Sans Mono"/>
              </a:rPr>
              <a:t>              1.51673, 1.51509, 1.51472, 1.51432, 1.51289])  </a:t>
            </a:r>
            <a:r>
              <a:rPr sz="1050" b="0" i="0">
                <a:solidFill>
                  <a:srgbClr val="506476"/>
                </a:solidFill>
                <a:latin typeface="DejaVu Sans Mono"/>
              </a:rPr>
              <a:t># refractive index</a:t>
            </a:r>
          </a:p>
          <a:p>
            <a:pPr algn="l">
              <a:lnSpc>
                <a:spcPct val="100000"/>
              </a:lnSpc>
              <a:spcAft>
                <a:spcPts val="0"/>
              </a:spcAft>
            </a:pPr>
            <a:r>
              <a:rPr sz="1050" b="0" i="0">
                <a:solidFill>
                  <a:srgbClr val="152D42"/>
                </a:solidFill>
                <a:latin typeface="DejaVu Sans Mono"/>
              </a:rPr>
              <a:t>A, B = fit([np.ones_like(lam), 1 / lam**2], n)        </a:t>
            </a:r>
            <a:r>
              <a:rPr sz="1050" b="0" i="0">
                <a:solidFill>
                  <a:srgbClr val="506476"/>
                </a:solidFill>
                <a:latin typeface="DejaVu Sans Mono"/>
              </a:rPr>
              <a:t># columns 1 and 1/lambda^2</a:t>
            </a:r>
          </a:p>
          <a:p>
            <a:pPr algn="l">
              <a:lnSpc>
                <a:spcPct val="100000"/>
              </a:lnSpc>
              <a:spcAft>
                <a:spcPts val="0"/>
              </a:spcAft>
            </a:pPr>
            <a:r>
              <a:rPr sz="1050" b="0" i="0">
                <a:solidFill>
                  <a:srgbClr val="152D42"/>
                </a:solidFill>
                <a:latin typeface="DejaVu Sans Mono"/>
              </a:rPr>
              <a:t>rms = np.sqrt(np.mean((n - A - B / lam**2) ** 2))     </a:t>
            </a:r>
            <a:r>
              <a:rPr sz="1050" b="0" i="0">
                <a:solidFill>
                  <a:srgbClr val="506476"/>
                </a:solidFill>
                <a:latin typeface="DejaVu Sans Mono"/>
              </a:rPr>
              <a:t># size of the misfit</a:t>
            </a:r>
          </a:p>
          <a:p>
            <a:pPr algn="l">
              <a:lnSpc>
                <a:spcPct val="100000"/>
              </a:lnSpc>
              <a:spcAft>
                <a:spcPts val="0"/>
              </a:spcAft>
            </a:pPr>
            <a:r>
              <a:rPr sz="1050" b="0" i="0">
                <a:solidFill>
                  <a:srgbClr val="152D42"/>
                </a:solidFill>
                <a:latin typeface="DejaVu Sans Mono"/>
              </a:rPr>
              <a:t>print(f"BK7: A = {A:.5f}, B = {B:.5f} um^2, rms misfit {rms:.1e}")</a:t>
            </a:r>
          </a:p>
          <a:p>
            <a:pPr algn="l">
              <a:lnSpc>
                <a:spcPct val="100000"/>
              </a:lnSpc>
              <a:spcAft>
                <a:spcPts val="0"/>
              </a:spcAft>
            </a:pPr>
            <a:r>
              <a:rPr sz="1050" b="0" i="0">
                <a:solidFill>
                  <a:srgbClr val="152D42"/>
                </a:solidFill>
                <a:latin typeface="DejaVu Sans Mono"/>
              </a:rPr>
              <a:t>print(f"     at 1.060 um: Cauchy {A + B / 1.06**2:.5f}, data sheet 1.50669")</a:t>
            </a:r>
          </a:p>
          <a:p>
            <a:pPr algn="l">
              <a:lnSpc>
                <a:spcPct val="100000"/>
              </a:lnSpc>
              <a:spcAft>
                <a:spcPts val="0"/>
              </a:spcAft>
            </a:pPr>
            <a:r>
              <a:rPr sz="500" b="0" i="0">
                <a:solidFill>
                  <a:srgbClr val="152D42"/>
                </a:solidFill>
                <a:latin typeface="DejaVu Sans Mono"/>
              </a:rPr>
              <a:t> </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L11_applications.py: numpy only, every line commented; it prints the numbers on these slides.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D: WR-90 and the tides</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32</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000" b="0" i="0">
                <a:solidFill>
                  <a:srgbClr val="506476"/>
                </a:solidFill>
                <a:latin typeface="DejaVu Sans Mono"/>
              </a:rPr>
              <a:t># 3. EM: WR-90 waveguide, f^2 = fc^2 + c^2 / lambda_g^2</a:t>
            </a:r>
          </a:p>
          <a:p>
            <a:pPr algn="l">
              <a:lnSpc>
                <a:spcPct val="100000"/>
              </a:lnSpc>
              <a:spcAft>
                <a:spcPts val="0"/>
              </a:spcAft>
            </a:pPr>
            <a:r>
              <a:rPr sz="1000" b="0" i="0">
                <a:solidFill>
                  <a:srgbClr val="152D42"/>
                </a:solidFill>
                <a:latin typeface="DejaVu Sans Mono"/>
              </a:rPr>
              <a:t>c0, a = 299792458.0, 22.86e-3                         </a:t>
            </a:r>
            <a:r>
              <a:rPr sz="1000" b="0" i="0">
                <a:solidFill>
                  <a:srgbClr val="506476"/>
                </a:solidFill>
                <a:latin typeface="DejaVu Sans Mono"/>
              </a:rPr>
              <a:t># speed of light; broad wall 22.86 mm</a:t>
            </a:r>
          </a:p>
          <a:p>
            <a:pPr algn="l">
              <a:lnSpc>
                <a:spcPct val="100000"/>
              </a:lnSpc>
              <a:spcAft>
                <a:spcPts val="0"/>
              </a:spcAft>
            </a:pPr>
            <a:r>
              <a:rPr sz="1000" b="0" i="0">
                <a:solidFill>
                  <a:srgbClr val="152D42"/>
                </a:solidFill>
                <a:latin typeface="DejaVu Sans Mono"/>
              </a:rPr>
              <a:t>f = np.linspace(8.2e9, 12.4e9, 8)                     </a:t>
            </a:r>
            <a:r>
              <a:rPr sz="1000" b="0" i="0">
                <a:solidFill>
                  <a:srgbClr val="506476"/>
                </a:solidFill>
                <a:latin typeface="DejaVu Sans Mono"/>
              </a:rPr>
              <a:t># 8 frequencies across X band</a:t>
            </a:r>
          </a:p>
          <a:p>
            <a:pPr algn="l">
              <a:lnSpc>
                <a:spcPct val="100000"/>
              </a:lnSpc>
              <a:spcAft>
                <a:spcPts val="0"/>
              </a:spcAft>
            </a:pPr>
            <a:r>
              <a:rPr sz="1000" b="0" i="0">
                <a:solidFill>
                  <a:srgbClr val="152D42"/>
                </a:solidFill>
                <a:latin typeface="DejaVu Sans Mono"/>
              </a:rPr>
              <a:t>lg = c0 / np.sqrt(f**2 - (c0 / (2 * a)) ** 2) \</a:t>
            </a:r>
          </a:p>
          <a:p>
            <a:pPr algn="l">
              <a:lnSpc>
                <a:spcPct val="100000"/>
              </a:lnSpc>
              <a:spcAft>
                <a:spcPts val="0"/>
              </a:spcAft>
            </a:pPr>
            <a:r>
              <a:rPr sz="1000" b="0" i="0">
                <a:solidFill>
                  <a:srgbClr val="152D42"/>
                </a:solidFill>
                <a:latin typeface="DejaVu Sans Mono"/>
              </a:rPr>
              <a:t>    * (1 + 0.003 * np.random.default_rng(5).standard_normal(f.size))  </a:t>
            </a:r>
            <a:r>
              <a:rPr sz="1000" b="0" i="0">
                <a:solidFill>
                  <a:srgbClr val="506476"/>
                </a:solidFill>
                <a:latin typeface="DejaVu Sans Mono"/>
              </a:rPr>
              <a:t># 0.3% reading error</a:t>
            </a:r>
          </a:p>
          <a:p>
            <a:pPr algn="l">
              <a:lnSpc>
                <a:spcPct val="100000"/>
              </a:lnSpc>
              <a:spcAft>
                <a:spcPts val="0"/>
              </a:spcAft>
            </a:pPr>
            <a:r>
              <a:rPr sz="1000" b="0" i="0">
                <a:solidFill>
                  <a:srgbClr val="152D42"/>
                </a:solidFill>
                <a:latin typeface="DejaVu Sans Mono"/>
              </a:rPr>
              <a:t>s, c = fit([1 / lg**2, np.ones_like(f)], f**2)        </a:t>
            </a:r>
            <a:r>
              <a:rPr sz="1000" b="0" i="0">
                <a:solidFill>
                  <a:srgbClr val="506476"/>
                </a:solidFill>
                <a:latin typeface="DejaVu Sans Mono"/>
              </a:rPr>
              <a:t># slope c^2, intercept fc^2</a:t>
            </a:r>
          </a:p>
          <a:p>
            <a:pPr algn="l">
              <a:lnSpc>
                <a:spcPct val="100000"/>
              </a:lnSpc>
              <a:spcAft>
                <a:spcPts val="0"/>
              </a:spcAft>
            </a:pPr>
            <a:r>
              <a:rPr sz="1000" b="0" i="0">
                <a:solidFill>
                  <a:srgbClr val="152D42"/>
                </a:solidFill>
                <a:latin typeface="DejaVu Sans Mono"/>
              </a:rPr>
              <a:t>print(f"WR-90: c = {np.sqrt(s):.4e} m/s, fc = {np.sqrt(c) / 1e9:.3f} GHz (6.557)")</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000" b="0" i="0">
                <a:solidFill>
                  <a:srgbClr val="506476"/>
                </a:solidFill>
                <a:latin typeface="DejaVu Sans Mono"/>
              </a:rPr>
              <a:t># 4. Water waves: tides at Boston, 29 days of hourly heights, five constituents</a:t>
            </a:r>
          </a:p>
          <a:p>
            <a:pPr algn="l">
              <a:lnSpc>
                <a:spcPct val="100000"/>
              </a:lnSpc>
              <a:spcAft>
                <a:spcPts val="0"/>
              </a:spcAft>
            </a:pPr>
            <a:r>
              <a:rPr sz="1000" b="0" i="0">
                <a:solidFill>
                  <a:srgbClr val="152D42"/>
                </a:solidFill>
                <a:latin typeface="DejaVu Sans Mono"/>
              </a:rPr>
              <a:t>h_t = np.arange(29 * 24.0)                            </a:t>
            </a:r>
            <a:r>
              <a:rPr sz="1000" b="0" i="0">
                <a:solidFill>
                  <a:srgbClr val="506476"/>
                </a:solidFill>
                <a:latin typeface="DejaVu Sans Mono"/>
              </a:rPr>
              <a:t># time in hours</a:t>
            </a:r>
          </a:p>
          <a:p>
            <a:pPr algn="l">
              <a:lnSpc>
                <a:spcPct val="100000"/>
              </a:lnSpc>
              <a:spcAft>
                <a:spcPts val="0"/>
              </a:spcAft>
            </a:pPr>
            <a:r>
              <a:rPr sz="1000" b="0" i="0">
                <a:solidFill>
                  <a:srgbClr val="152D42"/>
                </a:solidFill>
                <a:latin typeface="DejaVu Sans Mono"/>
              </a:rPr>
              <a:t>speed = {"M2": 28.984104, "S2": 30.0, "N2": 28.43973,</a:t>
            </a:r>
          </a:p>
          <a:p>
            <a:pPr algn="l">
              <a:lnSpc>
                <a:spcPct val="100000"/>
              </a:lnSpc>
              <a:spcAft>
                <a:spcPts val="0"/>
              </a:spcAft>
            </a:pPr>
            <a:r>
              <a:rPr sz="1000" b="0" i="0">
                <a:solidFill>
                  <a:srgbClr val="152D42"/>
                </a:solidFill>
                <a:latin typeface="DejaVu Sans Mono"/>
              </a:rPr>
              <a:t>         "K1": 15.041069, "O1": 13.943035}            # degrees per hour (NOAA)</a:t>
            </a:r>
          </a:p>
          <a:p>
            <a:pPr algn="l">
              <a:lnSpc>
                <a:spcPct val="100000"/>
              </a:lnSpc>
              <a:spcAft>
                <a:spcPts val="0"/>
              </a:spcAft>
            </a:pPr>
            <a:r>
              <a:rPr sz="1000" b="0" i="0">
                <a:solidFill>
                  <a:srgbClr val="152D42"/>
                </a:solidFill>
                <a:latin typeface="DejaVu Sans Mono"/>
              </a:rPr>
              <a:t>amp = {"M2": 1.371, "S2": 0.208, "N2": 0.305,</a:t>
            </a:r>
          </a:p>
          <a:p>
            <a:pPr algn="l">
              <a:lnSpc>
                <a:spcPct val="100000"/>
              </a:lnSpc>
              <a:spcAft>
                <a:spcPts val="0"/>
              </a:spcAft>
            </a:pPr>
            <a:r>
              <a:rPr sz="1000" b="0" i="0">
                <a:solidFill>
                  <a:srgbClr val="152D42"/>
                </a:solidFill>
                <a:latin typeface="DejaVu Sans Mono"/>
              </a:rPr>
              <a:t>       "K1": 0.143, "O1": 0.116}                      # metres (NOAA 8443970, from feet)</a:t>
            </a:r>
          </a:p>
          <a:p>
            <a:pPr algn="l">
              <a:lnSpc>
                <a:spcPct val="100000"/>
              </a:lnSpc>
              <a:spcAft>
                <a:spcPts val="0"/>
              </a:spcAft>
            </a:pPr>
            <a:r>
              <a:rPr sz="1000" b="0" i="0">
                <a:solidFill>
                  <a:srgbClr val="152D42"/>
                </a:solidFill>
                <a:latin typeface="DejaVu Sans Mono"/>
              </a:rPr>
              <a:t>phase = {"M2": 324.2, "S2": 356.2, "N2": 294.5,</a:t>
            </a:r>
          </a:p>
          <a:p>
            <a:pPr algn="l">
              <a:lnSpc>
                <a:spcPct val="100000"/>
              </a:lnSpc>
              <a:spcAft>
                <a:spcPts val="0"/>
              </a:spcAft>
            </a:pPr>
            <a:r>
              <a:rPr sz="1000" b="0" i="0">
                <a:solidFill>
                  <a:srgbClr val="152D42"/>
                </a:solidFill>
                <a:latin typeface="DejaVu Sans Mono"/>
              </a:rPr>
              <a:t>         "K1": 130.4, "O1": 117.4}                    # degrees (NOAA local phases)</a:t>
            </a:r>
          </a:p>
          <a:p>
            <a:pPr algn="l">
              <a:lnSpc>
                <a:spcPct val="100000"/>
              </a:lnSpc>
              <a:spcAft>
                <a:spcPts val="0"/>
              </a:spcAft>
            </a:pPr>
            <a:r>
              <a:rPr sz="1000" b="0" i="0">
                <a:solidFill>
                  <a:srgbClr val="152D42"/>
                </a:solidFill>
                <a:latin typeface="DejaVu Sans Mono"/>
              </a:rPr>
              <a:t>h = sum(amp[k] * np.cos(np.radians(speed[k] * h_t - phase[k])) for k in speed) \</a:t>
            </a:r>
          </a:p>
          <a:p>
            <a:pPr algn="l">
              <a:lnSpc>
                <a:spcPct val="100000"/>
              </a:lnSpc>
              <a:spcAft>
                <a:spcPts val="0"/>
              </a:spcAft>
            </a:pPr>
            <a:r>
              <a:rPr sz="1000" b="0" i="0">
                <a:solidFill>
                  <a:srgbClr val="152D42"/>
                </a:solidFill>
                <a:latin typeface="DejaVu Sans Mono"/>
              </a:rPr>
              <a:t>    + 0.08 * np.random.default_rng(29).standard_normal(h_t.size)  </a:t>
            </a:r>
            <a:r>
              <a:rPr sz="1000" b="0" i="0">
                <a:solidFill>
                  <a:srgbClr val="506476"/>
                </a:solidFill>
                <a:latin typeface="DejaVu Sans Mono"/>
              </a:rPr>
              <a:t># 8 cm of weather</a:t>
            </a:r>
          </a:p>
          <a:p>
            <a:pPr algn="l">
              <a:lnSpc>
                <a:spcPct val="100000"/>
              </a:lnSpc>
              <a:spcAft>
                <a:spcPts val="0"/>
              </a:spcAft>
            </a:pPr>
            <a:r>
              <a:rPr sz="1000" b="0" i="0">
                <a:solidFill>
                  <a:srgbClr val="152D42"/>
                </a:solidFill>
                <a:latin typeface="DejaVu Sans Mono"/>
              </a:rPr>
              <a:t>cols = [np.ones_like(h_t)]                            </a:t>
            </a:r>
            <a:r>
              <a:rPr sz="1000" b="0" i="0">
                <a:solidFill>
                  <a:srgbClr val="506476"/>
                </a:solidFill>
                <a:latin typeface="DejaVu Sans Mono"/>
              </a:rPr>
              <a:t># first column: mean level</a:t>
            </a:r>
          </a:p>
          <a:p>
            <a:pPr algn="l">
              <a:lnSpc>
                <a:spcPct val="100000"/>
              </a:lnSpc>
              <a:spcAft>
                <a:spcPts val="0"/>
              </a:spcAft>
            </a:pPr>
            <a:r>
              <a:rPr sz="1000" b="0" i="0">
                <a:solidFill>
                  <a:srgbClr val="152D42"/>
                </a:solidFill>
                <a:latin typeface="DejaVu Sans Mono"/>
              </a:rPr>
              <a:t>for k in speed:                                       </a:t>
            </a:r>
            <a:r>
              <a:rPr sz="1000" b="0" i="0">
                <a:solidFill>
                  <a:srgbClr val="506476"/>
                </a:solidFill>
                <a:latin typeface="DejaVu Sans Mono"/>
              </a:rPr>
              <a:t># two columns per constituent</a:t>
            </a:r>
          </a:p>
          <a:p>
            <a:pPr algn="l">
              <a:lnSpc>
                <a:spcPct val="100000"/>
              </a:lnSpc>
              <a:spcAft>
                <a:spcPts val="0"/>
              </a:spcAft>
            </a:pPr>
            <a:r>
              <a:rPr sz="1000" b="0" i="0">
                <a:solidFill>
                  <a:srgbClr val="152D42"/>
                </a:solidFill>
                <a:latin typeface="DejaVu Sans Mono"/>
              </a:rPr>
              <a:t>    cols += [np.cos(np.radians(speed[k] * h_t)), np.sin(np.radians(speed[k] * h_t))]</a:t>
            </a:r>
          </a:p>
          <a:p>
            <a:pPr algn="l">
              <a:lnSpc>
                <a:spcPct val="100000"/>
              </a:lnSpc>
              <a:spcAft>
                <a:spcPts val="0"/>
              </a:spcAft>
            </a:pPr>
            <a:r>
              <a:rPr sz="1000" b="0" i="0">
                <a:solidFill>
                  <a:srgbClr val="152D42"/>
                </a:solidFill>
                <a:latin typeface="DejaVu Sans Mono"/>
              </a:rPr>
              <a:t>coef = fit(cols, h)                                   </a:t>
            </a:r>
            <a:r>
              <a:rPr sz="1000" b="0" i="0">
                <a:solidFill>
                  <a:srgbClr val="506476"/>
                </a:solidFill>
                <a:latin typeface="DejaVu Sans Mono"/>
              </a:rPr>
              <a:t># 696 equations, 11 unknowns</a:t>
            </a:r>
          </a:p>
          <a:p>
            <a:pPr algn="l">
              <a:lnSpc>
                <a:spcPct val="100000"/>
              </a:lnSpc>
              <a:spcAft>
                <a:spcPts val="0"/>
              </a:spcAft>
            </a:pPr>
            <a:r>
              <a:rPr sz="1000" b="0" i="0">
                <a:solidFill>
                  <a:srgbClr val="152D42"/>
                </a:solidFill>
                <a:latin typeface="DejaVu Sans Mono"/>
              </a:rPr>
              <a:t>print(f"Tides: cond(X) = {np.linalg.cond(np.column_stack(cols)):.2f}")</a:t>
            </a:r>
          </a:p>
          <a:p>
            <a:pPr algn="l">
              <a:lnSpc>
                <a:spcPct val="100000"/>
              </a:lnSpc>
              <a:spcAft>
                <a:spcPts val="0"/>
              </a:spcAft>
            </a:pPr>
            <a:r>
              <a:rPr sz="1000" b="0" i="0">
                <a:solidFill>
                  <a:srgbClr val="152D42"/>
                </a:solidFill>
                <a:latin typeface="DejaVu Sans Mono"/>
              </a:rPr>
              <a:t>for j, k in enumerate(speed):                         </a:t>
            </a:r>
            <a:r>
              <a:rPr sz="1000" b="0" i="0">
                <a:solidFill>
                  <a:srgbClr val="506476"/>
                </a:solidFill>
                <a:latin typeface="DejaVu Sans Mono"/>
              </a:rPr>
              <a:t># amplitude and phase of each</a:t>
            </a:r>
          </a:p>
          <a:p>
            <a:pPr algn="l">
              <a:lnSpc>
                <a:spcPct val="100000"/>
              </a:lnSpc>
              <a:spcAft>
                <a:spcPts val="0"/>
              </a:spcAft>
            </a:pPr>
            <a:r>
              <a:rPr sz="1000" b="0" i="0">
                <a:solidFill>
                  <a:srgbClr val="152D42"/>
                </a:solidFill>
                <a:latin typeface="DejaVu Sans Mono"/>
              </a:rPr>
              <a:t>    p, q = coef[1 + 2 * j], coef[2 + 2 * j]           </a:t>
            </a:r>
            <a:r>
              <a:rPr sz="1000" b="0" i="0">
                <a:solidFill>
                  <a:srgbClr val="506476"/>
                </a:solidFill>
                <a:latin typeface="DejaVu Sans Mono"/>
              </a:rPr>
              <a:t># cos and sin coefficients</a:t>
            </a:r>
          </a:p>
          <a:p>
            <a:pPr algn="l">
              <a:lnSpc>
                <a:spcPct val="100000"/>
              </a:lnSpc>
              <a:spcAft>
                <a:spcPts val="0"/>
              </a:spcAft>
            </a:pPr>
            <a:r>
              <a:rPr sz="1000" b="0" i="0">
                <a:solidFill>
                  <a:srgbClr val="152D42"/>
                </a:solidFill>
                <a:latin typeface="DejaVu Sans Mono"/>
              </a:rPr>
              <a:t>    print(f"  {k}: {np.hypot(p, q):.3f} m ({amp[k]:.3f}), "</a:t>
            </a:r>
          </a:p>
          <a:p>
            <a:pPr algn="l">
              <a:lnSpc>
                <a:spcPct val="100000"/>
              </a:lnSpc>
              <a:spcAft>
                <a:spcPts val="0"/>
              </a:spcAft>
            </a:pPr>
            <a:r>
              <a:rPr sz="1000" b="0" i="0">
                <a:solidFill>
                  <a:srgbClr val="152D42"/>
                </a:solidFill>
                <a:latin typeface="DejaVu Sans Mono"/>
              </a:rPr>
              <a:t>          f"{np.degrees(np.arctan2(q, p)) % 360:.1f} deg ({phase[k]})")</a:t>
            </a:r>
          </a:p>
          <a:p>
            <a:pPr algn="l">
              <a:lnSpc>
                <a:spcPct val="100000"/>
              </a:lnSpc>
              <a:spcAft>
                <a:spcPts val="0"/>
              </a:spcAft>
            </a:pPr>
            <a:r>
              <a:rPr sz="500" b="0" i="0">
                <a:solidFill>
                  <a:srgbClr val="152D42"/>
                </a:solidFill>
                <a:latin typeface="DejaVu Sans Mono"/>
              </a:rPr>
              <a:t> </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L11_applications.py: numpy only, every line commented; it prints the numbers on these slides.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E: second harmonic and the ring beam</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33</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100" b="0" i="0">
                <a:solidFill>
                  <a:srgbClr val="506476"/>
                </a:solidFill>
                <a:latin typeface="DejaVu Sans Mono"/>
              </a:rPr>
              <a:t># 5. Nonlinear optics: second-harmonic power P2 = eta P^2 at low pump power</a:t>
            </a:r>
          </a:p>
          <a:p>
            <a:pPr algn="l">
              <a:lnSpc>
                <a:spcPct val="100000"/>
              </a:lnSpc>
              <a:spcAft>
                <a:spcPts val="0"/>
              </a:spcAft>
            </a:pPr>
            <a:r>
              <a:rPr sz="1100" b="0" i="0">
                <a:solidFill>
                  <a:srgbClr val="152D42"/>
                </a:solidFill>
                <a:latin typeface="DejaVu Sans Mono"/>
              </a:rPr>
              <a:t>P = np.geomspace(0.01, 4.0, 16)                       </a:t>
            </a:r>
            <a:r>
              <a:rPr sz="1100" b="0" i="0">
                <a:solidFill>
                  <a:srgbClr val="506476"/>
                </a:solidFill>
                <a:latin typeface="DejaVu Sans Mono"/>
              </a:rPr>
              <a:t># pump power in W</a:t>
            </a:r>
          </a:p>
          <a:p>
            <a:pPr algn="l">
              <a:lnSpc>
                <a:spcPct val="100000"/>
              </a:lnSpc>
              <a:spcAft>
                <a:spcPts val="0"/>
              </a:spcAft>
            </a:pPr>
            <a:r>
              <a:rPr sz="1100" b="0" i="0">
                <a:solidFill>
                  <a:srgbClr val="152D42"/>
                </a:solidFill>
                <a:latin typeface="DejaVu Sans Mono"/>
              </a:rPr>
              <a:t>P2 = P * np.tanh(np.sqrt(0.25 * P)) ** 2 \</a:t>
            </a:r>
          </a:p>
          <a:p>
            <a:pPr algn="l">
              <a:lnSpc>
                <a:spcPct val="100000"/>
              </a:lnSpc>
              <a:spcAft>
                <a:spcPts val="0"/>
              </a:spcAft>
            </a:pPr>
            <a:r>
              <a:rPr sz="1100" b="0" i="0">
                <a:solidFill>
                  <a:srgbClr val="152D42"/>
                </a:solidFill>
                <a:latin typeface="DejaVu Sans Mono"/>
              </a:rPr>
              <a:t>     * (1 + 0.03 * np.random.default_rng(7).standard_normal(P.size))  </a:t>
            </a:r>
            <a:r>
              <a:rPr sz="1100" b="0" i="0">
                <a:solidFill>
                  <a:srgbClr val="506476"/>
                </a:solidFill>
                <a:latin typeface="DejaVu Sans Mono"/>
              </a:rPr>
              <a:t># with depletion</a:t>
            </a:r>
          </a:p>
          <a:p>
            <a:pPr algn="l">
              <a:lnSpc>
                <a:spcPct val="100000"/>
              </a:lnSpc>
              <a:spcAft>
                <a:spcPts val="0"/>
              </a:spcAft>
            </a:pPr>
            <a:r>
              <a:rPr sz="1100" b="0" i="0">
                <a:solidFill>
                  <a:srgbClr val="152D42"/>
                </a:solidFill>
                <a:latin typeface="DejaVu Sans Mono"/>
              </a:rPr>
              <a:t>low = P &lt; 0.4                                         </a:t>
            </a:r>
            <a:r>
              <a:rPr sz="1100" b="0" i="0">
                <a:solidFill>
                  <a:srgbClr val="506476"/>
                </a:solidFill>
                <a:latin typeface="DejaVu Sans Mono"/>
              </a:rPr>
              <a:t># the undepleted range</a:t>
            </a:r>
          </a:p>
          <a:p>
            <a:pPr algn="l">
              <a:lnSpc>
                <a:spcPct val="100000"/>
              </a:lnSpc>
              <a:spcAft>
                <a:spcPts val="0"/>
              </a:spcAft>
            </a:pPr>
            <a:r>
              <a:rPr sz="1100" b="0" i="0">
                <a:solidFill>
                  <a:srgbClr val="152D42"/>
                </a:solidFill>
                <a:latin typeface="DejaVu Sans Mono"/>
              </a:rPr>
              <a:t>for name, m in [("P &lt; 0.4 W", low), ("all points", P &gt; 0)]:</a:t>
            </a:r>
          </a:p>
          <a:p>
            <a:pPr algn="l">
              <a:lnSpc>
                <a:spcPct val="100000"/>
              </a:lnSpc>
              <a:spcAft>
                <a:spcPts val="0"/>
              </a:spcAft>
            </a:pPr>
            <a:r>
              <a:rPr sz="1100" b="0" i="0">
                <a:solidFill>
                  <a:srgbClr val="152D42"/>
                </a:solidFill>
                <a:latin typeface="DejaVu Sans Mono"/>
              </a:rPr>
              <a:t>    p, q = fit([np.log10(P[m]), np.ones(m.sum())], np.log10(P2[m]))  </a:t>
            </a:r>
            <a:r>
              <a:rPr sz="1100" b="0" i="0">
                <a:solidFill>
                  <a:srgbClr val="506476"/>
                </a:solidFill>
                <a:latin typeface="DejaVu Sans Mono"/>
              </a:rPr>
              <a:t># log-log line</a:t>
            </a:r>
          </a:p>
          <a:p>
            <a:pPr algn="l">
              <a:lnSpc>
                <a:spcPct val="100000"/>
              </a:lnSpc>
              <a:spcAft>
                <a:spcPts val="0"/>
              </a:spcAft>
            </a:pPr>
            <a:r>
              <a:rPr sz="1100" b="0" i="0">
                <a:solidFill>
                  <a:srgbClr val="152D42"/>
                </a:solidFill>
                <a:latin typeface="DejaVu Sans Mono"/>
              </a:rPr>
              <a:t>    print(f"SHG {name}: slope {p:.2f}, eta = {10**q:.3f} /W")</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100" b="0" i="0">
                <a:solidFill>
                  <a:srgbClr val="506476"/>
                </a:solidFill>
                <a:latin typeface="DejaVu Sans Mono"/>
              </a:rPr>
              <a:t># 6. Structured light: centre of a ring beam, x^2 + y^2 = 2 a x + 2 b y + c</a:t>
            </a:r>
          </a:p>
          <a:p>
            <a:pPr algn="l">
              <a:lnSpc>
                <a:spcPct val="100000"/>
              </a:lnSpc>
              <a:spcAft>
                <a:spcPts val="0"/>
              </a:spcAft>
            </a:pPr>
            <a:r>
              <a:rPr sz="1100" b="0" i="0">
                <a:solidFill>
                  <a:srgbClr val="152D42"/>
                </a:solidFill>
                <a:latin typeface="DejaVu Sans Mono"/>
              </a:rPr>
              <a:t>rng = np.random.default_rng(13)                       </a:t>
            </a:r>
            <a:r>
              <a:rPr sz="1100" b="0" i="0">
                <a:solidFill>
                  <a:srgbClr val="506476"/>
                </a:solidFill>
                <a:latin typeface="DejaVu Sans Mono"/>
              </a:rPr>
              <a:t># fixed seed (synthetic data)</a:t>
            </a:r>
          </a:p>
          <a:p>
            <a:pPr algn="l">
              <a:lnSpc>
                <a:spcPct val="100000"/>
              </a:lnSpc>
              <a:spcAft>
                <a:spcPts val="0"/>
              </a:spcAft>
            </a:pPr>
            <a:r>
              <a:rPr sz="1100" b="0" i="0">
                <a:solidFill>
                  <a:srgbClr val="152D42"/>
                </a:solidFill>
                <a:latin typeface="DejaVu Sans Mono"/>
              </a:rPr>
              <a:t>th = np.sort(rng.uniform(0, 2 * np.pi, 36))           </a:t>
            </a:r>
            <a:r>
              <a:rPr sz="1100" b="0" i="0">
                <a:solidFill>
                  <a:srgbClr val="506476"/>
                </a:solidFill>
                <a:latin typeface="DejaVu Sans Mono"/>
              </a:rPr>
              <a:t># 36 edge points, uneven angles</a:t>
            </a:r>
          </a:p>
          <a:p>
            <a:pPr algn="l">
              <a:lnSpc>
                <a:spcPct val="100000"/>
              </a:lnSpc>
              <a:spcAft>
                <a:spcPts val="0"/>
              </a:spcAft>
            </a:pPr>
            <a:r>
              <a:rPr sz="1100" b="0" i="0">
                <a:solidFill>
                  <a:srgbClr val="152D42"/>
                </a:solidFill>
                <a:latin typeface="DejaVu Sans Mono"/>
              </a:rPr>
              <a:t>xs = 312.4 + 85 * np.cos(th) + 1.5 * rng.standard_normal(th.size)  </a:t>
            </a:r>
            <a:r>
              <a:rPr sz="1100" b="0" i="0">
                <a:solidFill>
                  <a:srgbClr val="506476"/>
                </a:solidFill>
                <a:latin typeface="DejaVu Sans Mono"/>
              </a:rPr>
              <a:t># pixels</a:t>
            </a:r>
          </a:p>
          <a:p>
            <a:pPr algn="l">
              <a:lnSpc>
                <a:spcPct val="100000"/>
              </a:lnSpc>
              <a:spcAft>
                <a:spcPts val="0"/>
              </a:spcAft>
            </a:pPr>
            <a:r>
              <a:rPr sz="1100" b="0" i="0">
                <a:solidFill>
                  <a:srgbClr val="152D42"/>
                </a:solidFill>
                <a:latin typeface="DejaVu Sans Mono"/>
              </a:rPr>
              <a:t>ys = 240.7 + 85 * np.sin(th) + 1.5 * rng.standard_normal(th.size)  </a:t>
            </a:r>
            <a:r>
              <a:rPr sz="1100" b="0" i="0">
                <a:solidFill>
                  <a:srgbClr val="506476"/>
                </a:solidFill>
                <a:latin typeface="DejaVu Sans Mono"/>
              </a:rPr>
              <a:t># pixels</a:t>
            </a:r>
          </a:p>
          <a:p>
            <a:pPr algn="l">
              <a:lnSpc>
                <a:spcPct val="100000"/>
              </a:lnSpc>
              <a:spcAft>
                <a:spcPts val="0"/>
              </a:spcAft>
            </a:pPr>
            <a:r>
              <a:rPr sz="1100" b="0" i="0">
                <a:solidFill>
                  <a:srgbClr val="152D42"/>
                </a:solidFill>
                <a:latin typeface="DejaVu Sans Mono"/>
              </a:rPr>
              <a:t>a, b, c = fit([2 * xs, 2 * ys, np.ones_like(xs)], xs**2 + ys**2)    </a:t>
            </a:r>
            <a:r>
              <a:rPr sz="1100" b="0" i="0">
                <a:solidFill>
                  <a:srgbClr val="506476"/>
                </a:solidFill>
                <a:latin typeface="DejaVu Sans Mono"/>
              </a:rPr>
              <a:t># linear in a, b, c</a:t>
            </a:r>
          </a:p>
          <a:p>
            <a:pPr algn="l">
              <a:lnSpc>
                <a:spcPct val="100000"/>
              </a:lnSpc>
              <a:spcAft>
                <a:spcPts val="0"/>
              </a:spcAft>
            </a:pPr>
            <a:r>
              <a:rPr sz="1100" b="0" i="0">
                <a:solidFill>
                  <a:srgbClr val="152D42"/>
                </a:solidFill>
                <a:latin typeface="DejaVu Sans Mono"/>
              </a:rPr>
              <a:t>print(f"Ring: centre ({a:.1f}, {b:.1f}) px, radius {np.sqrt(c + a*a + b*b):.1f} px")</a:t>
            </a:r>
          </a:p>
          <a:p>
            <a:pPr algn="l">
              <a:lnSpc>
                <a:spcPct val="100000"/>
              </a:lnSpc>
              <a:spcAft>
                <a:spcPts val="0"/>
              </a:spcAft>
            </a:pPr>
            <a:r>
              <a:rPr sz="1100" b="0" i="0">
                <a:solidFill>
                  <a:srgbClr val="152D42"/>
                </a:solidFill>
                <a:latin typeface="DejaVu Sans Mono"/>
              </a:rPr>
              <a:t>print(f"      mean of the points ({xs.mean():.1f}, {ys.mean():.1f}) px")</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L11_applications.py: numpy only, every line commented; it prints the numbers on these slides.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F: the glider and the spring</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34</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100" b="0" i="0">
                <a:solidFill>
                  <a:srgbClr val="152D42"/>
                </a:solidFill>
                <a:latin typeface="DejaVu Sans Mono"/>
              </a:rPr>
              <a:t>import numpy as np                                    </a:t>
            </a:r>
            <a:r>
              <a:rPr sz="1100" b="0" i="0">
                <a:solidFill>
                  <a:srgbClr val="506476"/>
                </a:solidFill>
                <a:latin typeface="DejaVu Sans Mono"/>
              </a:rPr>
              <a:t># arrays and linear algebra</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100" b="0" i="0">
                <a:solidFill>
                  <a:srgbClr val="152D42"/>
                </a:solidFill>
                <a:latin typeface="DejaVu Sans Mono"/>
              </a:rPr>
              <a:t>def fit(columns, rhs):                                </a:t>
            </a:r>
            <a:r>
              <a:rPr sz="1100" b="0" i="0">
                <a:solidFill>
                  <a:srgbClr val="506476"/>
                </a:solidFill>
                <a:latin typeface="DejaVu Sans Mono"/>
              </a:rPr>
              <a:t># least squares for X k = rhs</a:t>
            </a:r>
          </a:p>
          <a:p>
            <a:pPr algn="l">
              <a:lnSpc>
                <a:spcPct val="100000"/>
              </a:lnSpc>
              <a:spcAft>
                <a:spcPts val="0"/>
              </a:spcAft>
            </a:pPr>
            <a:r>
              <a:rPr sz="1100" b="0" i="0">
                <a:solidFill>
                  <a:srgbClr val="152D42"/>
                </a:solidFill>
                <a:latin typeface="DejaVu Sans Mono"/>
              </a:rPr>
              <a:t>    X = np.column_stack(columns)                      </a:t>
            </a:r>
            <a:r>
              <a:rPr sz="1100" b="0" i="0">
                <a:solidFill>
                  <a:srgbClr val="506476"/>
                </a:solidFill>
                <a:latin typeface="DejaVu Sans Mono"/>
              </a:rPr>
              <a:t># build X from its columns</a:t>
            </a:r>
          </a:p>
          <a:p>
            <a:pPr algn="l">
              <a:lnSpc>
                <a:spcPct val="100000"/>
              </a:lnSpc>
              <a:spcAft>
                <a:spcPts val="0"/>
              </a:spcAft>
            </a:pPr>
            <a:r>
              <a:rPr sz="1100" b="0" i="0">
                <a:solidFill>
                  <a:srgbClr val="152D42"/>
                </a:solidFill>
                <a:latin typeface="DejaVu Sans Mono"/>
              </a:rPr>
              <a:t>    return np.linalg.solve(X.T @ X, X.T @ rhs)        </a:t>
            </a:r>
            <a:r>
              <a:rPr sz="1100" b="0" i="0">
                <a:solidFill>
                  <a:srgbClr val="506476"/>
                </a:solidFill>
                <a:latin typeface="DejaVu Sans Mono"/>
              </a:rPr>
              <a:t># normal equations X^T X k = X^T y</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100" b="0" i="0">
                <a:solidFill>
                  <a:srgbClr val="506476"/>
                </a:solidFill>
                <a:latin typeface="DejaVu Sans Mono"/>
              </a:rPr>
              <a:t># 1. Glider on springs (notes, Example 4.1): kinetic energy y against position x</a:t>
            </a:r>
          </a:p>
          <a:p>
            <a:pPr algn="l">
              <a:lnSpc>
                <a:spcPct val="100000"/>
              </a:lnSpc>
              <a:spcAft>
                <a:spcPts val="0"/>
              </a:spcAft>
            </a:pPr>
            <a:r>
              <a:rPr sz="1100" b="0" i="0">
                <a:solidFill>
                  <a:srgbClr val="152D42"/>
                </a:solidFill>
                <a:latin typeface="DejaVu Sans Mono"/>
              </a:rPr>
              <a:t>x = np.array([-20.0, -10.0, 0.0, 10.0, 20.0])         </a:t>
            </a:r>
            <a:r>
              <a:rPr sz="1100" b="0" i="0">
                <a:solidFill>
                  <a:srgbClr val="506476"/>
                </a:solidFill>
                <a:latin typeface="DejaVu Sans Mono"/>
              </a:rPr>
              <a:t># photogate positions, cm</a:t>
            </a:r>
          </a:p>
          <a:p>
            <a:pPr algn="l">
              <a:lnSpc>
                <a:spcPct val="100000"/>
              </a:lnSpc>
              <a:spcAft>
                <a:spcPts val="0"/>
              </a:spcAft>
            </a:pPr>
            <a:r>
              <a:rPr sz="1100" b="0" i="0">
                <a:solidFill>
                  <a:srgbClr val="152D42"/>
                </a:solidFill>
                <a:latin typeface="DejaVu Sans Mono"/>
              </a:rPr>
              <a:t>y = np.array([274.0, 673.0, 887.0, 861.0, 680.0])     </a:t>
            </a:r>
            <a:r>
              <a:rPr sz="1100" b="0" i="0">
                <a:solidFill>
                  <a:srgbClr val="506476"/>
                </a:solidFill>
                <a:latin typeface="DejaVu Sans Mono"/>
              </a:rPr>
              <a:t># kinetic energy, mJ</a:t>
            </a:r>
          </a:p>
          <a:p>
            <a:pPr algn="l">
              <a:lnSpc>
                <a:spcPct val="100000"/>
              </a:lnSpc>
              <a:spcAft>
                <a:spcPts val="0"/>
              </a:spcAft>
            </a:pPr>
            <a:r>
              <a:rPr sz="1100" b="0" i="0">
                <a:solidFill>
                  <a:srgbClr val="152D42"/>
                </a:solidFill>
                <a:latin typeface="DejaVu Sans Mono"/>
              </a:rPr>
              <a:t>l, m, b = fit([x**2, x, np.ones_like(x)], y)          </a:t>
            </a:r>
            <a:r>
              <a:rPr sz="1100" b="0" i="0">
                <a:solidFill>
                  <a:srgbClr val="506476"/>
                </a:solidFill>
                <a:latin typeface="DejaVu Sans Mono"/>
              </a:rPr>
              <a:t># columns x^2, x, 1</a:t>
            </a:r>
          </a:p>
          <a:p>
            <a:pPr algn="l">
              <a:lnSpc>
                <a:spcPct val="100000"/>
              </a:lnSpc>
              <a:spcAft>
                <a:spcPts val="0"/>
              </a:spcAft>
            </a:pPr>
            <a:r>
              <a:rPr sz="1100" b="0" i="0">
                <a:solidFill>
                  <a:srgbClr val="152D42"/>
                </a:solidFill>
                <a:latin typeface="DejaVu Sans Mono"/>
              </a:rPr>
              <a:t>print(f"Glider: y = {l:.3f} x^2 + {m:.3f} x + {b:.1f}")</a:t>
            </a:r>
          </a:p>
          <a:p>
            <a:pPr algn="l">
              <a:lnSpc>
                <a:spcPct val="100000"/>
              </a:lnSpc>
              <a:spcAft>
                <a:spcPts val="0"/>
              </a:spcAft>
            </a:pPr>
            <a:r>
              <a:rPr sz="1100" b="0" i="0">
                <a:solidFill>
                  <a:srgbClr val="152D42"/>
                </a:solidFill>
                <a:latin typeface="DejaVu Sans Mono"/>
              </a:rPr>
              <a:t>print(f"        kappa = {-2 * l * 10:.1f} N/m, x0 = {-m / (2 * l):.2f} cm, "</a:t>
            </a:r>
          </a:p>
          <a:p>
            <a:pPr algn="l">
              <a:lnSpc>
                <a:spcPct val="100000"/>
              </a:lnSpc>
              <a:spcAft>
                <a:spcPts val="0"/>
              </a:spcAft>
            </a:pPr>
            <a:r>
              <a:rPr sz="1100" b="0" i="0">
                <a:solidFill>
                  <a:srgbClr val="152D42"/>
                </a:solidFill>
                <a:latin typeface="DejaVu Sans Mono"/>
              </a:rPr>
              <a:t>      f"A = {np.sqrt((b - m**2 / (4 * l)) / -l):.1f} cm")  # 1 mJ/cm^2 = 10 N/m</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100" b="0" i="0">
                <a:solidFill>
                  <a:srgbClr val="506476"/>
                </a:solidFill>
                <a:latin typeface="DejaVu Sans Mono"/>
              </a:rPr>
              <a:t># 2. Mass on a spring: T^2 = (4 pi^2 / kappa) (M + ms/3), synthetic</a:t>
            </a:r>
          </a:p>
          <a:p>
            <a:pPr algn="l">
              <a:lnSpc>
                <a:spcPct val="100000"/>
              </a:lnSpc>
              <a:spcAft>
                <a:spcPts val="0"/>
              </a:spcAft>
            </a:pPr>
            <a:r>
              <a:rPr sz="1100" b="0" i="0">
                <a:solidFill>
                  <a:srgbClr val="152D42"/>
                </a:solidFill>
                <a:latin typeface="DejaVu Sans Mono"/>
              </a:rPr>
              <a:t>M = np.array([0.05, 0.10, 0.15, 0.20, 0.25, 0.30])    </a:t>
            </a:r>
            <a:r>
              <a:rPr sz="1100" b="0" i="0">
                <a:solidFill>
                  <a:srgbClr val="506476"/>
                </a:solidFill>
                <a:latin typeface="DejaVu Sans Mono"/>
              </a:rPr>
              <a:t># hanging mass, kg</a:t>
            </a:r>
          </a:p>
          <a:p>
            <a:pPr algn="l">
              <a:lnSpc>
                <a:spcPct val="100000"/>
              </a:lnSpc>
              <a:spcAft>
                <a:spcPts val="0"/>
              </a:spcAft>
            </a:pPr>
            <a:r>
              <a:rPr sz="1100" b="0" i="0">
                <a:solidFill>
                  <a:srgbClr val="152D42"/>
                </a:solidFill>
                <a:latin typeface="DejaVu Sans Mono"/>
              </a:rPr>
              <a:t>T = np.round(2 * np.pi * np.sqrt((M + 0.010) / 10.0)</a:t>
            </a:r>
          </a:p>
          <a:p>
            <a:pPr algn="l">
              <a:lnSpc>
                <a:spcPct val="100000"/>
              </a:lnSpc>
              <a:spcAft>
                <a:spcPts val="0"/>
              </a:spcAft>
            </a:pPr>
            <a:r>
              <a:rPr sz="1100" b="0" i="0">
                <a:solidFill>
                  <a:srgbClr val="152D42"/>
                </a:solidFill>
                <a:latin typeface="DejaVu Sans Mono"/>
              </a:rPr>
              <a:t>             * (1 + 0.004 * np.random.default_rng(29).standard_normal(6)), 3)  </a:t>
            </a:r>
            <a:r>
              <a:rPr sz="1100" b="0" i="0">
                <a:solidFill>
                  <a:srgbClr val="506476"/>
                </a:solidFill>
                <a:latin typeface="DejaVu Sans Mono"/>
              </a:rPr>
              <a:t># period, s</a:t>
            </a:r>
          </a:p>
          <a:p>
            <a:pPr algn="l">
              <a:lnSpc>
                <a:spcPct val="100000"/>
              </a:lnSpc>
              <a:spcAft>
                <a:spcPts val="0"/>
              </a:spcAft>
            </a:pPr>
            <a:r>
              <a:rPr sz="1100" b="0" i="0">
                <a:solidFill>
                  <a:srgbClr val="152D42"/>
                </a:solidFill>
                <a:latin typeface="DejaVu Sans Mono"/>
              </a:rPr>
              <a:t>s, c = fit([M, np.ones_like(M)], T**2)                </a:t>
            </a:r>
            <a:r>
              <a:rPr sz="1100" b="0" i="0">
                <a:solidFill>
                  <a:srgbClr val="506476"/>
                </a:solidFill>
                <a:latin typeface="DejaVu Sans Mono"/>
              </a:rPr>
              <a:t># columns M, 1</a:t>
            </a:r>
          </a:p>
          <a:p>
            <a:pPr algn="l">
              <a:lnSpc>
                <a:spcPct val="100000"/>
              </a:lnSpc>
              <a:spcAft>
                <a:spcPts val="0"/>
              </a:spcAft>
            </a:pPr>
            <a:r>
              <a:rPr sz="1100" b="0" i="0">
                <a:solidFill>
                  <a:srgbClr val="152D42"/>
                </a:solidFill>
                <a:latin typeface="DejaVu Sans Mono"/>
              </a:rPr>
              <a:t>print(f"Spring: T = {T.tolist()} s")</a:t>
            </a:r>
          </a:p>
          <a:p>
            <a:pPr algn="l">
              <a:lnSpc>
                <a:spcPct val="100000"/>
              </a:lnSpc>
              <a:spcAft>
                <a:spcPts val="0"/>
              </a:spcAft>
            </a:pPr>
            <a:r>
              <a:rPr sz="1100" b="0" i="0">
                <a:solidFill>
                  <a:srgbClr val="152D42"/>
                </a:solidFill>
                <a:latin typeface="DejaVu Sans Mono"/>
              </a:rPr>
              <a:t>print(f"        kappa = {4 * np.pi**2 / s:.2f} N/m, spring mass = {3 * c / s * 1e3:.1f} g")</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L11_experiments.py: numpy only, every line commented; it prints the numbers on these slides.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G: hydrogen and the photoelectric effect</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35</a:t>
            </a:fld>
            <a:endParaRPr lang="en-US"/>
          </a:p>
        </p:txBody>
      </p:sp>
      <p:sp>
        <p:nvSpPr>
          <p:cNvPr id="4" name="code"/>
          <p:cNvSpPr/>
          <p:nvPr/>
        </p:nvSpPr>
        <p:spPr>
          <a:xfrm>
            <a:off x="612648" y="1234440"/>
            <a:ext cx="10972800" cy="4617720"/>
          </a:xfrm>
          <a:prstGeom prst="roundRect">
            <a:avLst>
              <a:gd name="adj" fmla="val 2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91440" rtlCol="0" anchor="t"/>
          <a:lstStyle/>
          <a:p>
            <a:pPr algn="l">
              <a:lnSpc>
                <a:spcPct val="100000"/>
              </a:lnSpc>
              <a:spcAft>
                <a:spcPts val="0"/>
              </a:spcAft>
            </a:pPr>
            <a:r>
              <a:rPr sz="1050" b="0" i="0">
                <a:solidFill>
                  <a:srgbClr val="506476"/>
                </a:solidFill>
                <a:latin typeface="DejaVu Sans Mono"/>
              </a:rPr>
              <a:t># 3. Bohr model: hydrogen Balmer lines, 1/lambda = R/4 - R/n^2</a:t>
            </a:r>
          </a:p>
          <a:p>
            <a:pPr algn="l">
              <a:lnSpc>
                <a:spcPct val="100000"/>
              </a:lnSpc>
              <a:spcAft>
                <a:spcPts val="0"/>
              </a:spcAft>
            </a:pPr>
            <a:r>
              <a:rPr sz="1050" b="0" i="0">
                <a:solidFill>
                  <a:srgbClr val="152D42"/>
                </a:solidFill>
                <a:latin typeface="DejaVu Sans Mono"/>
              </a:rPr>
              <a:t>air = np.array([656.28, 486.13, 434.05, 410.17, 397.01])  </a:t>
            </a:r>
            <a:r>
              <a:rPr sz="1050" b="0" i="0">
                <a:solidFill>
                  <a:srgbClr val="506476"/>
                </a:solidFill>
                <a:latin typeface="DejaVu Sans Mono"/>
              </a:rPr>
              <a:t># nm, in air (Tatum, NIST)</a:t>
            </a:r>
          </a:p>
          <a:p>
            <a:pPr algn="l">
              <a:lnSpc>
                <a:spcPct val="100000"/>
              </a:lnSpc>
              <a:spcAft>
                <a:spcPts val="0"/>
              </a:spcAft>
            </a:pPr>
            <a:r>
              <a:rPr sz="1050" b="0" i="0">
                <a:solidFill>
                  <a:srgbClr val="152D42"/>
                </a:solidFill>
                <a:latin typeface="DejaVu Sans Mono"/>
              </a:rPr>
              <a:t>n = np.array([3, 4, 5, 6, 7])                         </a:t>
            </a:r>
            <a:r>
              <a:rPr sz="1050" b="0" i="0">
                <a:solidFill>
                  <a:srgbClr val="506476"/>
                </a:solidFill>
                <a:latin typeface="DejaVu Sans Mono"/>
              </a:rPr>
              <a:t># upper level of each line</a:t>
            </a:r>
          </a:p>
          <a:p>
            <a:pPr algn="l">
              <a:lnSpc>
                <a:spcPct val="100000"/>
              </a:lnSpc>
              <a:spcAft>
                <a:spcPts val="0"/>
              </a:spcAft>
            </a:pPr>
            <a:r>
              <a:rPr sz="1050" b="0" i="0">
                <a:solidFill>
                  <a:srgbClr val="152D42"/>
                </a:solidFill>
                <a:latin typeface="DejaVu Sans Mono"/>
              </a:rPr>
              <a:t>vac = air.copy()</a:t>
            </a:r>
          </a:p>
          <a:p>
            <a:pPr algn="l">
              <a:lnSpc>
                <a:spcPct val="100000"/>
              </a:lnSpc>
              <a:spcAft>
                <a:spcPts val="0"/>
              </a:spcAft>
            </a:pPr>
            <a:r>
              <a:rPr sz="1050" b="0" i="0">
                <a:solidFill>
                  <a:srgbClr val="152D42"/>
                </a:solidFill>
                <a:latin typeface="DejaVu Sans Mono"/>
              </a:rPr>
              <a:t>for _ in range(5):                                    </a:t>
            </a:r>
            <a:r>
              <a:rPr sz="1050" b="0" i="0">
                <a:solidFill>
                  <a:srgbClr val="506476"/>
                </a:solidFill>
                <a:latin typeface="DejaVu Sans Mono"/>
              </a:rPr>
              <a:t># Edlen (1966): air -&gt; vacuum</a:t>
            </a:r>
          </a:p>
          <a:p>
            <a:pPr algn="l">
              <a:lnSpc>
                <a:spcPct val="100000"/>
              </a:lnSpc>
              <a:spcAft>
                <a:spcPts val="0"/>
              </a:spcAft>
            </a:pPr>
            <a:r>
              <a:rPr sz="1050" b="0" i="0">
                <a:solidFill>
                  <a:srgbClr val="152D42"/>
                </a:solidFill>
                <a:latin typeface="DejaVu Sans Mono"/>
              </a:rPr>
              <a:t>    s2 = (1e3 / vac) ** 2                             </a:t>
            </a:r>
            <a:r>
              <a:rPr sz="1050" b="0" i="0">
                <a:solidFill>
                  <a:srgbClr val="506476"/>
                </a:solidFill>
                <a:latin typeface="DejaVu Sans Mono"/>
              </a:rPr>
              <a:t># wavenumber squared, um^-2</a:t>
            </a:r>
          </a:p>
          <a:p>
            <a:pPr algn="l">
              <a:lnSpc>
                <a:spcPct val="100000"/>
              </a:lnSpc>
              <a:spcAft>
                <a:spcPts val="0"/>
              </a:spcAft>
            </a:pPr>
            <a:r>
              <a:rPr sz="1050" b="0" i="0">
                <a:solidFill>
                  <a:srgbClr val="152D42"/>
                </a:solidFill>
                <a:latin typeface="DejaVu Sans Mono"/>
              </a:rPr>
              <a:t>    vac = air * (1 + 1e-8 * (8342.54 + 2406147 / (130 - s2) + 15998 / (38.9 - s2)))</a:t>
            </a:r>
          </a:p>
          <a:p>
            <a:pPr algn="l">
              <a:lnSpc>
                <a:spcPct val="100000"/>
              </a:lnSpc>
              <a:spcAft>
                <a:spcPts val="0"/>
              </a:spcAft>
            </a:pPr>
            <a:r>
              <a:rPr sz="1050" b="0" i="0">
                <a:solidFill>
                  <a:srgbClr val="152D42"/>
                </a:solidFill>
                <a:latin typeface="DejaVu Sans Mono"/>
              </a:rPr>
              <a:t>A, B = fit([np.ones(5), 1.0 / n**2], 1e9 / vac)       </a:t>
            </a:r>
            <a:r>
              <a:rPr sz="1050" b="0" i="0">
                <a:solidFill>
                  <a:srgbClr val="506476"/>
                </a:solidFill>
                <a:latin typeface="DejaVu Sans Mono"/>
              </a:rPr>
              <a:t># columns 1 and 1/n^2</a:t>
            </a:r>
          </a:p>
          <a:p>
            <a:pPr algn="l">
              <a:lnSpc>
                <a:spcPct val="100000"/>
              </a:lnSpc>
              <a:spcAft>
                <a:spcPts val="0"/>
              </a:spcAft>
            </a:pPr>
            <a:r>
              <a:rPr sz="1050" b="0" i="0">
                <a:solidFill>
                  <a:srgbClr val="152D42"/>
                </a:solidFill>
                <a:latin typeface="DejaVu Sans Mono"/>
              </a:rPr>
              <a:t>print(f"Bohr:   R = {-B:.6e} 1/m, 4A = {4 * A:.6e} 1/m")</a:t>
            </a:r>
          </a:p>
          <a:p>
            <a:pPr algn="l">
              <a:lnSpc>
                <a:spcPct val="100000"/>
              </a:lnSpc>
              <a:spcAft>
                <a:spcPts val="0"/>
              </a:spcAft>
            </a:pPr>
            <a:r>
              <a:rPr sz="1050" b="0" i="0">
                <a:solidFill>
                  <a:srgbClr val="152D42"/>
                </a:solidFill>
                <a:latin typeface="DejaVu Sans Mono"/>
              </a:rPr>
              <a:t>print(f"        series limit {1e9 / A:.2f} nm")</a:t>
            </a:r>
          </a:p>
          <a:p>
            <a:pPr algn="l">
              <a:lnSpc>
                <a:spcPct val="100000"/>
              </a:lnSpc>
              <a:spcAft>
                <a:spcPts val="0"/>
              </a:spcAft>
            </a:pPr>
            <a:r>
              <a:rPr sz="500" b="0" i="0">
                <a:solidFill>
                  <a:srgbClr val="152D42"/>
                </a:solidFill>
                <a:latin typeface="DejaVu Sans Mono"/>
              </a:rPr>
              <a:t> </a:t>
            </a:r>
          </a:p>
          <a:p>
            <a:pPr algn="l">
              <a:lnSpc>
                <a:spcPct val="100000"/>
              </a:lnSpc>
              <a:spcAft>
                <a:spcPts val="0"/>
              </a:spcAft>
            </a:pPr>
            <a:r>
              <a:rPr sz="1050" b="0" i="0">
                <a:solidFill>
                  <a:srgbClr val="506476"/>
                </a:solidFill>
                <a:latin typeface="DejaVu Sans Mono"/>
              </a:rPr>
              <a:t># 4. Photoelectric effect: e Vs = h f - phi, mercury lines, synthetic stopping voltages</a:t>
            </a:r>
          </a:p>
          <a:p>
            <a:pPr algn="l">
              <a:lnSpc>
                <a:spcPct val="100000"/>
              </a:lnSpc>
              <a:spcAft>
                <a:spcPts val="0"/>
              </a:spcAft>
            </a:pPr>
            <a:r>
              <a:rPr sz="1050" b="0" i="0">
                <a:solidFill>
                  <a:srgbClr val="152D42"/>
                </a:solidFill>
                <a:latin typeface="DejaVu Sans Mono"/>
              </a:rPr>
              <a:t>lam = np.array([365.0146, 404.6561, 435.8328, 546.074])  </a:t>
            </a:r>
            <a:r>
              <a:rPr sz="1050" b="0" i="0">
                <a:solidFill>
                  <a:srgbClr val="506476"/>
                </a:solidFill>
                <a:latin typeface="DejaVu Sans Mono"/>
              </a:rPr>
              <a:t># Hg lines, nm</a:t>
            </a:r>
          </a:p>
          <a:p>
            <a:pPr algn="l">
              <a:lnSpc>
                <a:spcPct val="100000"/>
              </a:lnSpc>
              <a:spcAft>
                <a:spcPts val="0"/>
              </a:spcAft>
            </a:pPr>
            <a:r>
              <a:rPr sz="1050" b="0" i="0">
                <a:solidFill>
                  <a:srgbClr val="152D42"/>
                </a:solidFill>
                <a:latin typeface="DejaVu Sans Mono"/>
              </a:rPr>
              <a:t>f = 299792458.0 / (lam * 1e-9) / 1e14                </a:t>
            </a:r>
            <a:r>
              <a:rPr sz="1050" b="0" i="0">
                <a:solidFill>
                  <a:srgbClr val="506476"/>
                </a:solidFill>
                <a:latin typeface="DejaVu Sans Mono"/>
              </a:rPr>
              <a:t># frequency in units of 1e14 Hz</a:t>
            </a:r>
          </a:p>
          <a:p>
            <a:pPr algn="l">
              <a:lnSpc>
                <a:spcPct val="100000"/>
              </a:lnSpc>
              <a:spcAft>
                <a:spcPts val="0"/>
              </a:spcAft>
            </a:pPr>
            <a:r>
              <a:rPr sz="1050" b="0" i="0">
                <a:solidFill>
                  <a:srgbClr val="152D42"/>
                </a:solidFill>
                <a:latin typeface="DejaVu Sans Mono"/>
              </a:rPr>
              <a:t>Vs = np.round(6.62607015e-34 / 1.602176634e-19 * f * 1e14 - 1.90</a:t>
            </a:r>
          </a:p>
          <a:p>
            <a:pPr algn="l">
              <a:lnSpc>
                <a:spcPct val="100000"/>
              </a:lnSpc>
              <a:spcAft>
                <a:spcPts val="0"/>
              </a:spcAft>
            </a:pPr>
            <a:r>
              <a:rPr sz="1050" b="0" i="0">
                <a:solidFill>
                  <a:srgbClr val="152D42"/>
                </a:solidFill>
                <a:latin typeface="DejaVu Sans Mono"/>
              </a:rPr>
              <a:t>              + 0.015 * np.random.default_rng(32).standard_normal(4), 3)  </a:t>
            </a:r>
            <a:r>
              <a:rPr sz="1050" b="0" i="0">
                <a:solidFill>
                  <a:srgbClr val="506476"/>
                </a:solidFill>
                <a:latin typeface="DejaVu Sans Mono"/>
              </a:rPr>
              <a:t># volts</a:t>
            </a:r>
          </a:p>
          <a:p>
            <a:pPr algn="l">
              <a:lnSpc>
                <a:spcPct val="100000"/>
              </a:lnSpc>
              <a:spcAft>
                <a:spcPts val="0"/>
              </a:spcAft>
            </a:pPr>
            <a:r>
              <a:rPr sz="1050" b="0" i="0">
                <a:solidFill>
                  <a:srgbClr val="152D42"/>
                </a:solidFill>
                <a:latin typeface="DejaVu Sans Mono"/>
              </a:rPr>
              <a:t>p, q = fit([f, np.ones_like(f)], Vs)                  </a:t>
            </a:r>
            <a:r>
              <a:rPr sz="1050" b="0" i="0">
                <a:solidFill>
                  <a:srgbClr val="506476"/>
                </a:solidFill>
                <a:latin typeface="DejaVu Sans Mono"/>
              </a:rPr>
              <a:t># columns f, 1</a:t>
            </a:r>
          </a:p>
          <a:p>
            <a:pPr algn="l">
              <a:lnSpc>
                <a:spcPct val="100000"/>
              </a:lnSpc>
              <a:spcAft>
                <a:spcPts val="0"/>
              </a:spcAft>
            </a:pPr>
            <a:r>
              <a:rPr sz="1050" b="0" i="0">
                <a:solidFill>
                  <a:srgbClr val="152D42"/>
                </a:solidFill>
                <a:latin typeface="DejaVu Sans Mono"/>
              </a:rPr>
              <a:t>print(f"Photo:  Vs = {Vs.tolist()} V")</a:t>
            </a:r>
          </a:p>
          <a:p>
            <a:pPr algn="l">
              <a:lnSpc>
                <a:spcPct val="100000"/>
              </a:lnSpc>
              <a:spcAft>
                <a:spcPts val="0"/>
              </a:spcAft>
            </a:pPr>
            <a:r>
              <a:rPr sz="1050" b="0" i="0">
                <a:solidFill>
                  <a:srgbClr val="152D42"/>
                </a:solidFill>
                <a:latin typeface="DejaVu Sans Mono"/>
              </a:rPr>
              <a:t>print(f"        h = {p * 1e-14 * 1.602176634e-19:.4e} J s, phi = {-q:.3f} eV, "</a:t>
            </a:r>
          </a:p>
          <a:p>
            <a:pPr algn="l">
              <a:lnSpc>
                <a:spcPct val="100000"/>
              </a:lnSpc>
              <a:spcAft>
                <a:spcPts val="0"/>
              </a:spcAft>
            </a:pPr>
            <a:r>
              <a:rPr sz="1050" b="0" i="0">
                <a:solidFill>
                  <a:srgbClr val="152D42"/>
                </a:solidFill>
                <a:latin typeface="DejaVu Sans Mono"/>
              </a:rPr>
              <a:t>      f"threshold {299792458.0 / (-q / p * 1e14) * 1e9:.0f} nm")</a:t>
            </a:r>
          </a:p>
        </p:txBody>
      </p:sp>
      <p:sp>
        <p:nvSpPr>
          <p:cNvPr id="5" name="caption"/>
          <p:cNvSpPr txBox="1"/>
          <p:nvPr/>
        </p:nvSpPr>
        <p:spPr>
          <a:xfrm>
            <a:off x="612648" y="5943600"/>
            <a:ext cx="10972800" cy="411480"/>
          </a:xfrm>
          <a:prstGeom prst="rect">
            <a:avLst/>
          </a:prstGeom>
          <a:noFill/>
        </p:spPr>
        <p:txBody>
          <a:bodyPr wrap="square" lIns="0" tIns="0" rIns="0" bIns="0" anchor="t">
            <a:spAutoFit/>
          </a:bodyPr>
          <a:lstStyle/>
          <a:p>
            <a:pPr algn="l">
              <a:spcAft>
                <a:spcPts val="800"/>
              </a:spcAft>
            </a:pPr>
            <a:r>
              <a:rPr sz="1200" b="0" i="0">
                <a:solidFill>
                  <a:srgbClr val="506476"/>
                </a:solidFill>
              </a:rPr>
              <a:t>L11_experiments.py: numpy only, every line commented; it prints the numbers on these slides.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Appendix H: printed output</a:t>
            </a:r>
          </a:p>
        </p:txBody>
      </p:sp>
      <p:sp>
        <p:nvSpPr>
          <p:cNvPr id="3" name="Slide Number Placeholder 0"/>
          <p:cNvSpPr>
            <a:spLocks noGrp="1"/>
          </p:cNvSpPr>
          <p:nvPr>
            <p:ph type="sldNum" sz="quarter" idx="4294967295"/>
          </p:nvPr>
        </p:nvSpPr>
        <p:spPr>
          <a:xfrm>
            <a:off x="11155680" y="646480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06476"/>
                </a:solidFill>
              </a:defRPr>
            </a:lvl1pPr>
          </a:lstStyle>
          <a:p>
            <a:pPr algn="r"/>
            <a:fld id="{F7021451-1387-4CA6-816F-3879F97B5CBC}" type="slidenum">
              <a:rPr lang="en-US" b="0"/>
              <a:t>36</a:t>
            </a:fld>
            <a:endParaRPr lang="en-US"/>
          </a:p>
        </p:txBody>
      </p:sp>
      <p:sp>
        <p:nvSpPr>
          <p:cNvPr id="4" name="output L11_least_squares.py"/>
          <p:cNvSpPr/>
          <p:nvPr/>
        </p:nvSpPr>
        <p:spPr>
          <a:xfrm>
            <a:off x="612648" y="1234440"/>
            <a:ext cx="5440680" cy="1463040"/>
          </a:xfrm>
          <a:prstGeom prst="roundRect">
            <a:avLst>
              <a:gd name="adj" fmla="val 3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lnSpc>
                <a:spcPct val="100000"/>
              </a:lnSpc>
              <a:spcAft>
                <a:spcPts val="0"/>
              </a:spcAft>
            </a:pPr>
            <a:r>
              <a:rPr sz="1100" b="1" i="0">
                <a:solidFill>
                  <a:srgbClr val="506476"/>
                </a:solidFill>
              </a:rPr>
              <a:t>L11_least_squares.py</a:t>
            </a:r>
          </a:p>
          <a:p>
            <a:pPr algn="l">
              <a:lnSpc>
                <a:spcPct val="100000"/>
              </a:lnSpc>
              <a:spcAft>
                <a:spcPts val="0"/>
              </a:spcAft>
            </a:pPr>
            <a:r>
              <a:rPr sz="900" b="0" i="0">
                <a:solidFill>
                  <a:srgbClr val="152D42"/>
                </a:solidFill>
                <a:latin typeface="DejaVu Sans Mono"/>
              </a:rPr>
              <a:t>X^T X       = [[100.0, 20.0], [20.0, 5.0]]</a:t>
            </a:r>
          </a:p>
          <a:p>
            <a:pPr algn="l">
              <a:lnSpc>
                <a:spcPct val="100000"/>
              </a:lnSpc>
              <a:spcAft>
                <a:spcPts val="0"/>
              </a:spcAft>
            </a:pPr>
            <a:r>
              <a:rPr sz="900" b="0" i="0">
                <a:solidFill>
                  <a:srgbClr val="152D42"/>
                </a:solidFill>
                <a:latin typeface="DejaVu Sans Mono"/>
              </a:rPr>
              <a:t>X^T y       = [280.  55.]</a:t>
            </a:r>
          </a:p>
          <a:p>
            <a:pPr algn="l">
              <a:lnSpc>
                <a:spcPct val="100000"/>
              </a:lnSpc>
              <a:spcAft>
                <a:spcPts val="0"/>
              </a:spcAft>
            </a:pPr>
            <a:r>
              <a:rPr sz="900" b="0" i="0">
                <a:solidFill>
                  <a:srgbClr val="152D42"/>
                </a:solidFill>
                <a:latin typeface="DejaVu Sans Mono"/>
              </a:rPr>
              <a:t>k, b        = [ 3. -1.]</a:t>
            </a:r>
          </a:p>
          <a:p>
            <a:pPr algn="l">
              <a:lnSpc>
                <a:spcPct val="100000"/>
              </a:lnSpc>
              <a:spcAft>
                <a:spcPts val="0"/>
              </a:spcAft>
            </a:pPr>
            <a:r>
              <a:rPr sz="900" b="0" i="0">
                <a:solidFill>
                  <a:srgbClr val="152D42"/>
                </a:solidFill>
                <a:latin typeface="DejaVu Sans Mono"/>
              </a:rPr>
              <a:t>residual    = [ 1. -1. -2.  2.  0.]</a:t>
            </a:r>
          </a:p>
          <a:p>
            <a:pPr algn="l">
              <a:lnSpc>
                <a:spcPct val="100000"/>
              </a:lnSpc>
              <a:spcAft>
                <a:spcPts val="0"/>
              </a:spcAft>
            </a:pPr>
            <a:r>
              <a:rPr sz="900" b="0" i="0">
                <a:solidFill>
                  <a:srgbClr val="152D42"/>
                </a:solidFill>
                <a:latin typeface="DejaVu Sans Mono"/>
              </a:rPr>
              <a:t>X^T e       = [0. 0.]</a:t>
            </a:r>
          </a:p>
          <a:p>
            <a:pPr algn="l">
              <a:lnSpc>
                <a:spcPct val="100000"/>
              </a:lnSpc>
              <a:spcAft>
                <a:spcPts val="0"/>
              </a:spcAft>
            </a:pPr>
            <a:r>
              <a:rPr sz="900" b="0" i="0">
                <a:solidFill>
                  <a:srgbClr val="152D42"/>
                </a:solidFill>
                <a:latin typeface="DejaVu Sans Mono"/>
              </a:rPr>
              <a:t>e.e         = 10.0</a:t>
            </a:r>
          </a:p>
          <a:p>
            <a:pPr algn="l">
              <a:lnSpc>
                <a:spcPct val="100000"/>
              </a:lnSpc>
              <a:spcAft>
                <a:spcPts val="0"/>
              </a:spcAft>
            </a:pPr>
            <a:r>
              <a:rPr sz="900" b="0" i="0">
                <a:solidFill>
                  <a:srgbClr val="152D42"/>
                </a:solidFill>
                <a:latin typeface="DejaVu Sans Mono"/>
              </a:rPr>
              <a:t>guess e.e   = 50.0</a:t>
            </a:r>
          </a:p>
        </p:txBody>
      </p:sp>
      <p:sp>
        <p:nvSpPr>
          <p:cNvPr id="5" name="output L11_conditioning.py"/>
          <p:cNvSpPr/>
          <p:nvPr/>
        </p:nvSpPr>
        <p:spPr>
          <a:xfrm>
            <a:off x="612648" y="2788920"/>
            <a:ext cx="5440680" cy="1463040"/>
          </a:xfrm>
          <a:prstGeom prst="roundRect">
            <a:avLst>
              <a:gd name="adj" fmla="val 3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lnSpc>
                <a:spcPct val="100000"/>
              </a:lnSpc>
              <a:spcAft>
                <a:spcPts val="0"/>
              </a:spcAft>
            </a:pPr>
            <a:r>
              <a:rPr sz="1100" b="1" i="0">
                <a:solidFill>
                  <a:srgbClr val="506476"/>
                </a:solidFill>
              </a:rPr>
              <a:t>L11_conditioning.py</a:t>
            </a:r>
          </a:p>
          <a:p>
            <a:pPr algn="l">
              <a:lnSpc>
                <a:spcPct val="100000"/>
              </a:lnSpc>
              <a:spcAft>
                <a:spcPts val="0"/>
              </a:spcAft>
            </a:pPr>
            <a:r>
              <a:rPr sz="900" b="0" i="0">
                <a:solidFill>
                  <a:srgbClr val="152D42"/>
                </a:solidFill>
                <a:latin typeface="DejaVu Sans Mono"/>
              </a:rPr>
              <a:t>raw t: cond(X) = 3.0e+15</a:t>
            </a:r>
          </a:p>
          <a:p>
            <a:pPr algn="l">
              <a:lnSpc>
                <a:spcPct val="100000"/>
              </a:lnSpc>
              <a:spcAft>
                <a:spcPts val="0"/>
              </a:spcAft>
            </a:pPr>
            <a:r>
              <a:rPr sz="900" b="0" i="0">
                <a:solidFill>
                  <a:srgbClr val="152D42"/>
                </a:solidFill>
                <a:latin typeface="DejaVu Sans Mono"/>
              </a:rPr>
              <a:t>  normal equations slope 0.0199823 K/min  rel. error 2e-04</a:t>
            </a:r>
          </a:p>
          <a:p>
            <a:pPr algn="l">
              <a:lnSpc>
                <a:spcPct val="100000"/>
              </a:lnSpc>
              <a:spcAft>
                <a:spcPts val="0"/>
              </a:spcAft>
            </a:pPr>
            <a:r>
              <a:rPr sz="900" b="0" i="0">
                <a:solidFill>
                  <a:srgbClr val="152D42"/>
                </a:solidFill>
                <a:latin typeface="DejaVu Sans Mono"/>
              </a:rPr>
              <a:t>  lstsq            slope 7.22962e-07 K/min  rel. error 1e+00</a:t>
            </a:r>
          </a:p>
          <a:p>
            <a:pPr algn="l">
              <a:lnSpc>
                <a:spcPct val="100000"/>
              </a:lnSpc>
              <a:spcAft>
                <a:spcPts val="0"/>
              </a:spcAft>
            </a:pPr>
            <a:r>
              <a:rPr sz="900" b="0" i="0">
                <a:solidFill>
                  <a:srgbClr val="152D42"/>
                </a:solidFill>
                <a:latin typeface="DejaVu Sans Mono"/>
              </a:rPr>
              <a:t>t - t0: cond(X) = 4.1e+03</a:t>
            </a:r>
          </a:p>
          <a:p>
            <a:pPr algn="l">
              <a:lnSpc>
                <a:spcPct val="100000"/>
              </a:lnSpc>
              <a:spcAft>
                <a:spcPts val="0"/>
              </a:spcAft>
            </a:pPr>
            <a:r>
              <a:rPr sz="900" b="0" i="0">
                <a:solidFill>
                  <a:srgbClr val="152D42"/>
                </a:solidFill>
                <a:latin typeface="DejaVu Sans Mono"/>
              </a:rPr>
              <a:t>  normal equations slope 0.0199783 K/min  rel. error 1e-14</a:t>
            </a:r>
          </a:p>
          <a:p>
            <a:pPr algn="l">
              <a:lnSpc>
                <a:spcPct val="100000"/>
              </a:lnSpc>
              <a:spcAft>
                <a:spcPts val="0"/>
              </a:spcAft>
            </a:pPr>
            <a:r>
              <a:rPr sz="900" b="0" i="0">
                <a:solidFill>
                  <a:srgbClr val="152D42"/>
                </a:solidFill>
                <a:latin typeface="DejaVu Sans Mono"/>
              </a:rPr>
              <a:t>  lstsq            slope 0.0199783 K/min  rel. error 0e+00</a:t>
            </a:r>
          </a:p>
        </p:txBody>
      </p:sp>
      <p:sp>
        <p:nvSpPr>
          <p:cNvPr id="6" name="output L11_experiments.py"/>
          <p:cNvSpPr/>
          <p:nvPr/>
        </p:nvSpPr>
        <p:spPr>
          <a:xfrm>
            <a:off x="612648" y="4343400"/>
            <a:ext cx="5440680" cy="1508760"/>
          </a:xfrm>
          <a:prstGeom prst="roundRect">
            <a:avLst>
              <a:gd name="adj" fmla="val 3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lnSpc>
                <a:spcPct val="100000"/>
              </a:lnSpc>
              <a:spcAft>
                <a:spcPts val="0"/>
              </a:spcAft>
            </a:pPr>
            <a:r>
              <a:rPr sz="1100" b="1" i="0">
                <a:solidFill>
                  <a:srgbClr val="506476"/>
                </a:solidFill>
              </a:rPr>
              <a:t>L11_experiments.py</a:t>
            </a:r>
          </a:p>
          <a:p>
            <a:pPr algn="l">
              <a:lnSpc>
                <a:spcPct val="100000"/>
              </a:lnSpc>
              <a:spcAft>
                <a:spcPts val="0"/>
              </a:spcAft>
            </a:pPr>
            <a:r>
              <a:rPr sz="900" b="0" i="0">
                <a:solidFill>
                  <a:srgbClr val="152D42"/>
                </a:solidFill>
                <a:latin typeface="DejaVu Sans Mono"/>
              </a:rPr>
              <a:t>Glider: y = -1.000 x^2 + 10.000 x + 875.0</a:t>
            </a:r>
          </a:p>
          <a:p>
            <a:pPr algn="l">
              <a:lnSpc>
                <a:spcPct val="100000"/>
              </a:lnSpc>
              <a:spcAft>
                <a:spcPts val="0"/>
              </a:spcAft>
            </a:pPr>
            <a:r>
              <a:rPr sz="900" b="0" i="0">
                <a:solidFill>
                  <a:srgbClr val="152D42"/>
                </a:solidFill>
                <a:latin typeface="DejaVu Sans Mono"/>
              </a:rPr>
              <a:t>        kappa = 20.0 N/m, x0 = 5.00 cm, A = 30.0 cm</a:t>
            </a:r>
          </a:p>
          <a:p>
            <a:pPr algn="l">
              <a:lnSpc>
                <a:spcPct val="100000"/>
              </a:lnSpc>
              <a:spcAft>
                <a:spcPts val="0"/>
              </a:spcAft>
            </a:pPr>
            <a:r>
              <a:rPr sz="900" b="0" i="0">
                <a:solidFill>
                  <a:srgbClr val="152D42"/>
                </a:solidFill>
                <a:latin typeface="DejaVu Sans Mono"/>
              </a:rPr>
              <a:t>Spring: T = [0.486, 0.659, 0.794, 0.91, 1.013, 1.105] s</a:t>
            </a:r>
          </a:p>
          <a:p>
            <a:pPr algn="l">
              <a:lnSpc>
                <a:spcPct val="100000"/>
              </a:lnSpc>
              <a:spcAft>
                <a:spcPts val="0"/>
              </a:spcAft>
            </a:pPr>
            <a:r>
              <a:rPr sz="900" b="0" i="0">
                <a:solidFill>
                  <a:srgbClr val="152D42"/>
                </a:solidFill>
                <a:latin typeface="DejaVu Sans Mono"/>
              </a:rPr>
              <a:t>        kappa = 10.02 N/m, spring mass = 30.2 g</a:t>
            </a:r>
          </a:p>
          <a:p>
            <a:pPr algn="l">
              <a:lnSpc>
                <a:spcPct val="100000"/>
              </a:lnSpc>
              <a:spcAft>
                <a:spcPts val="0"/>
              </a:spcAft>
            </a:pPr>
            <a:r>
              <a:rPr sz="900" b="0" i="0">
                <a:solidFill>
                  <a:srgbClr val="152D42"/>
                </a:solidFill>
                <a:latin typeface="DejaVu Sans Mono"/>
              </a:rPr>
              <a:t>Bohr:   R = 1.096775e+07 1/m, 4A = 1.096785e+07 1/m</a:t>
            </a:r>
          </a:p>
          <a:p>
            <a:pPr algn="l">
              <a:lnSpc>
                <a:spcPct val="100000"/>
              </a:lnSpc>
              <a:spcAft>
                <a:spcPts val="0"/>
              </a:spcAft>
            </a:pPr>
            <a:r>
              <a:rPr sz="900" b="0" i="0">
                <a:solidFill>
                  <a:srgbClr val="152D42"/>
                </a:solidFill>
                <a:latin typeface="DejaVu Sans Mono"/>
              </a:rPr>
              <a:t>        series limit 364.70 nm</a:t>
            </a:r>
          </a:p>
          <a:p>
            <a:pPr algn="l">
              <a:lnSpc>
                <a:spcPct val="100000"/>
              </a:lnSpc>
              <a:spcAft>
                <a:spcPts val="0"/>
              </a:spcAft>
            </a:pPr>
            <a:r>
              <a:rPr sz="900" b="0" i="0">
                <a:solidFill>
                  <a:srgbClr val="152D42"/>
                </a:solidFill>
                <a:latin typeface="DejaVu Sans Mono"/>
              </a:rPr>
              <a:t>Photo:  Vs = [1.51, 1.175, 0.944, 0.38] V</a:t>
            </a:r>
          </a:p>
          <a:p>
            <a:pPr algn="l">
              <a:lnSpc>
                <a:spcPct val="100000"/>
              </a:lnSpc>
              <a:spcAft>
                <a:spcPts val="0"/>
              </a:spcAft>
            </a:pPr>
            <a:r>
              <a:rPr sz="900" b="0" i="0">
                <a:solidFill>
                  <a:srgbClr val="152D42"/>
                </a:solidFill>
                <a:latin typeface="DejaVu Sans Mono"/>
              </a:rPr>
              <a:t>        h = 6.6523e-34 J s, phi = 1.903 eV, threshold 654 nm</a:t>
            </a:r>
          </a:p>
        </p:txBody>
      </p:sp>
      <p:sp>
        <p:nvSpPr>
          <p:cNvPr id="7" name="output L11_applications.py"/>
          <p:cNvSpPr/>
          <p:nvPr/>
        </p:nvSpPr>
        <p:spPr>
          <a:xfrm>
            <a:off x="6236208" y="1234440"/>
            <a:ext cx="5349240" cy="4617720"/>
          </a:xfrm>
          <a:prstGeom prst="roundRect">
            <a:avLst>
              <a:gd name="adj" fmla="val 3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l">
              <a:lnSpc>
                <a:spcPct val="100000"/>
              </a:lnSpc>
              <a:spcAft>
                <a:spcPts val="0"/>
              </a:spcAft>
            </a:pPr>
            <a:r>
              <a:rPr sz="1100" b="1" i="0">
                <a:solidFill>
                  <a:srgbClr val="506476"/>
                </a:solidFill>
              </a:rPr>
              <a:t>L11_applications.py</a:t>
            </a:r>
          </a:p>
          <a:p>
            <a:pPr algn="l">
              <a:lnSpc>
                <a:spcPct val="100000"/>
              </a:lnSpc>
              <a:spcAft>
                <a:spcPts val="0"/>
              </a:spcAft>
            </a:pPr>
            <a:r>
              <a:rPr sz="900" b="0" i="0">
                <a:solidFill>
                  <a:srgbClr val="152D42"/>
                </a:solidFill>
                <a:latin typeface="DejaVu Sans Mono"/>
              </a:rPr>
              <a:t>RC: tau = 46.98 ms (47.00), V0 = 4.992 V (5.000)</a:t>
            </a:r>
          </a:p>
          <a:p>
            <a:pPr algn="l">
              <a:lnSpc>
                <a:spcPct val="100000"/>
              </a:lnSpc>
              <a:spcAft>
                <a:spcPts val="0"/>
              </a:spcAft>
            </a:pPr>
            <a:r>
              <a:rPr sz="900" b="0" i="0">
                <a:solidFill>
                  <a:srgbClr val="152D42"/>
                </a:solidFill>
                <a:latin typeface="DejaVu Sans Mono"/>
              </a:rPr>
              <a:t>BK7: A = 1.50457, B = 0.00421 um^2, rms misfit 4.3e-05</a:t>
            </a:r>
          </a:p>
          <a:p>
            <a:pPr algn="l">
              <a:lnSpc>
                <a:spcPct val="100000"/>
              </a:lnSpc>
              <a:spcAft>
                <a:spcPts val="0"/>
              </a:spcAft>
            </a:pPr>
            <a:r>
              <a:rPr sz="900" b="0" i="0">
                <a:solidFill>
                  <a:srgbClr val="152D42"/>
                </a:solidFill>
                <a:latin typeface="DejaVu Sans Mono"/>
              </a:rPr>
              <a:t>     at 1.060 um: Cauchy 1.50831, data sheet 1.50669</a:t>
            </a:r>
          </a:p>
          <a:p>
            <a:pPr algn="l">
              <a:lnSpc>
                <a:spcPct val="100000"/>
              </a:lnSpc>
              <a:spcAft>
                <a:spcPts val="0"/>
              </a:spcAft>
            </a:pPr>
            <a:r>
              <a:rPr sz="900" b="0" i="0">
                <a:solidFill>
                  <a:srgbClr val="152D42"/>
                </a:solidFill>
                <a:latin typeface="DejaVu Sans Mono"/>
              </a:rPr>
              <a:t>WR-90: c = 2.9937e+08 m/s, fc = 6.565 GHz (6.557)</a:t>
            </a:r>
          </a:p>
          <a:p>
            <a:pPr algn="l">
              <a:lnSpc>
                <a:spcPct val="100000"/>
              </a:lnSpc>
              <a:spcAft>
                <a:spcPts val="0"/>
              </a:spcAft>
            </a:pPr>
            <a:r>
              <a:rPr sz="900" b="0" i="0">
                <a:solidFill>
                  <a:srgbClr val="152D42"/>
                </a:solidFill>
                <a:latin typeface="DejaVu Sans Mono"/>
              </a:rPr>
              <a:t>Tides: cond(X) = 1.46</a:t>
            </a:r>
          </a:p>
          <a:p>
            <a:pPr algn="l">
              <a:lnSpc>
                <a:spcPct val="100000"/>
              </a:lnSpc>
              <a:spcAft>
                <a:spcPts val="0"/>
              </a:spcAft>
            </a:pPr>
            <a:r>
              <a:rPr sz="900" b="0" i="0">
                <a:solidFill>
                  <a:srgbClr val="152D42"/>
                </a:solidFill>
                <a:latin typeface="DejaVu Sans Mono"/>
              </a:rPr>
              <a:t>  M2: 1.365 m (1.371), 323.9 deg (324.2)</a:t>
            </a:r>
          </a:p>
          <a:p>
            <a:pPr algn="l">
              <a:lnSpc>
                <a:spcPct val="100000"/>
              </a:lnSpc>
              <a:spcAft>
                <a:spcPts val="0"/>
              </a:spcAft>
            </a:pPr>
            <a:r>
              <a:rPr sz="900" b="0" i="0">
                <a:solidFill>
                  <a:srgbClr val="152D42"/>
                </a:solidFill>
                <a:latin typeface="DejaVu Sans Mono"/>
              </a:rPr>
              <a:t>  S2: 0.206 m (0.208), 355.4 deg (356.2)</a:t>
            </a:r>
          </a:p>
          <a:p>
            <a:pPr algn="l">
              <a:lnSpc>
                <a:spcPct val="100000"/>
              </a:lnSpc>
              <a:spcAft>
                <a:spcPts val="0"/>
              </a:spcAft>
            </a:pPr>
            <a:r>
              <a:rPr sz="900" b="0" i="0">
                <a:solidFill>
                  <a:srgbClr val="152D42"/>
                </a:solidFill>
                <a:latin typeface="DejaVu Sans Mono"/>
              </a:rPr>
              <a:t>  N2: 0.305 m (0.305), 294.8 deg (294.5)</a:t>
            </a:r>
          </a:p>
          <a:p>
            <a:pPr algn="l">
              <a:lnSpc>
                <a:spcPct val="100000"/>
              </a:lnSpc>
              <a:spcAft>
                <a:spcPts val="0"/>
              </a:spcAft>
            </a:pPr>
            <a:r>
              <a:rPr sz="900" b="0" i="0">
                <a:solidFill>
                  <a:srgbClr val="152D42"/>
                </a:solidFill>
                <a:latin typeface="DejaVu Sans Mono"/>
              </a:rPr>
              <a:t>  K1: 0.148 m (0.143), 131.7 deg (130.4)</a:t>
            </a:r>
          </a:p>
          <a:p>
            <a:pPr algn="l">
              <a:lnSpc>
                <a:spcPct val="100000"/>
              </a:lnSpc>
              <a:spcAft>
                <a:spcPts val="0"/>
              </a:spcAft>
            </a:pPr>
            <a:r>
              <a:rPr sz="900" b="0" i="0">
                <a:solidFill>
                  <a:srgbClr val="152D42"/>
                </a:solidFill>
                <a:latin typeface="DejaVu Sans Mono"/>
              </a:rPr>
              <a:t>  O1: 0.116 m (0.116), 116.1 deg (117.4)</a:t>
            </a:r>
          </a:p>
          <a:p>
            <a:pPr algn="l">
              <a:lnSpc>
                <a:spcPct val="100000"/>
              </a:lnSpc>
              <a:spcAft>
                <a:spcPts val="0"/>
              </a:spcAft>
            </a:pPr>
            <a:r>
              <a:rPr sz="900" b="0" i="0">
                <a:solidFill>
                  <a:srgbClr val="152D42"/>
                </a:solidFill>
                <a:latin typeface="DejaVu Sans Mono"/>
              </a:rPr>
              <a:t>SHG P &lt; 0.4 W: slope 1.99, eta = 0.234 /W</a:t>
            </a:r>
          </a:p>
          <a:p>
            <a:pPr algn="l">
              <a:lnSpc>
                <a:spcPct val="100000"/>
              </a:lnSpc>
              <a:spcAft>
                <a:spcPts val="0"/>
              </a:spcAft>
            </a:pPr>
            <a:r>
              <a:rPr sz="900" b="0" i="0">
                <a:solidFill>
                  <a:srgbClr val="152D42"/>
                </a:solidFill>
                <a:latin typeface="DejaVu Sans Mono"/>
              </a:rPr>
              <a:t>SHG all points: slope 1.93, eta = 0.200 /W</a:t>
            </a:r>
          </a:p>
          <a:p>
            <a:pPr algn="l">
              <a:lnSpc>
                <a:spcPct val="100000"/>
              </a:lnSpc>
              <a:spcAft>
                <a:spcPts val="0"/>
              </a:spcAft>
            </a:pPr>
            <a:r>
              <a:rPr sz="900" b="0" i="0">
                <a:solidFill>
                  <a:srgbClr val="152D42"/>
                </a:solidFill>
                <a:latin typeface="DejaVu Sans Mono"/>
              </a:rPr>
              <a:t>Ring: centre (312.6, 240.8) px, radius 84.5 px</a:t>
            </a:r>
          </a:p>
          <a:p>
            <a:pPr algn="l">
              <a:lnSpc>
                <a:spcPct val="100000"/>
              </a:lnSpc>
              <a:spcAft>
                <a:spcPts val="0"/>
              </a:spcAft>
            </a:pPr>
            <a:r>
              <a:rPr sz="900" b="0" i="0">
                <a:solidFill>
                  <a:srgbClr val="152D42"/>
                </a:solidFill>
                <a:latin typeface="DejaVu Sans Mono"/>
              </a:rPr>
              <a:t>      mean of the points (325.2, 230.3) px</a:t>
            </a:r>
          </a:p>
        </p:txBody>
      </p:sp>
    </p:spTree>
  </p:cSld>
  <p:clrMapOvr>
    <a:masterClrMapping/>
  </p:clrMapOvr>
</p:sld>
</file>

<file path=ppt/theme/theme1.xml><?xml version="1.0" encoding="utf-8"?>
<a:theme xmlns:a="http://schemas.openxmlformats.org/drawingml/2006/main" name="18.085 Fall 2026">
  <a:themeElements>
    <a:clrScheme name="18.085 Fall 2026">
      <a:dk1>
        <a:srgbClr val="152D42"/>
      </a:dk1>
      <a:lt1>
        <a:srgbClr val="FFFFFF"/>
      </a:lt1>
      <a:dk2>
        <a:srgbClr val="506476"/>
      </a:dk2>
      <a:lt2>
        <a:srgbClr val="F5F7F9"/>
      </a:lt2>
      <a:accent1>
        <a:srgbClr val="152D42"/>
      </a:accent1>
      <a:accent2>
        <a:srgbClr val="A31F34"/>
      </a:accent2>
      <a:accent3>
        <a:srgbClr val="506476"/>
      </a:accent3>
      <a:accent4>
        <a:srgbClr val="2E7D5B"/>
      </a:accent4>
      <a:accent5>
        <a:srgbClr val="C7A24A"/>
      </a:accent5>
      <a:accent6>
        <a:srgbClr val="8A9BA8"/>
      </a:accent6>
      <a:hlink>
        <a:srgbClr val="A31F34"/>
      </a:hlink>
      <a:folHlink>
        <a:srgbClr val="506476"/>
      </a:folHlink>
    </a:clrScheme>
    <a:fontScheme name="18.085 Fall 2026">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10331</Words>
  <Application>Microsoft Macintosh PowerPoint</Application>
  <PresentationFormat>Widescreen</PresentationFormat>
  <Paragraphs>721</Paragraphs>
  <Slides>36</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DejaVu Sans</vt:lpstr>
      <vt:lpstr>DejaVu Sans Mono</vt:lpstr>
      <vt:lpstr>18.085 Fall 2026</vt:lpstr>
      <vt:lpstr>Least squares in practice</vt:lpstr>
      <vt:lpstr>Plan</vt:lpstr>
      <vt:lpstr>Five points, two unknowns, no exact line</vt:lpstr>
      <vt:lpstr>Score a line by its total squared error</vt:lpstr>
      <vt:lpstr>All the data enter through three sums</vt:lpstr>
      <vt:lpstr>The picture: drop a perpendicular onto col(X)</vt:lpstr>
      <vt:lpstr>The right angle gives the normal equations</vt:lpstr>
      <vt:lpstr>Solving them: the best line</vt:lpstr>
      <vt:lpstr>The residual is perpendicular to the plane</vt:lpstr>
      <vt:lpstr>Every other line costs more: the error landscape</vt:lpstr>
      <vt:lpstr>Centre the data: the columns become orthogonal</vt:lpstr>
      <vt:lpstr>Raw time stamps: one fit, two answers</vt:lpstr>
      <vt:lpstr>Why the routes differ, and what to write</vt:lpstr>
      <vt:lpstr>Experiment: a glider on springs</vt:lpstr>
      <vt:lpstr>The glider: XᵀX and Xᵀy, step by step</vt:lpstr>
      <vt:lpstr>Experiment: a mass on a spring</vt:lpstr>
      <vt:lpstr>Experiment: the hydrogen atom, Bohr's model</vt:lpstr>
      <vt:lpstr>Experiment: the photoelectric effect</vt:lpstr>
      <vt:lpstr>Six fits from the lab</vt:lpstr>
      <vt:lpstr>Circuits: the time constant of an RC discharge</vt:lpstr>
      <vt:lpstr>Optics: Cauchy's equation for N-BK7</vt:lpstr>
      <vt:lpstr>Electromagnetism: the WR-90 cut-off</vt:lpstr>
      <vt:lpstr>PowerPoint Presentation</vt:lpstr>
      <vt:lpstr>Water waves: harmonic analysis of the tide at Boston</vt:lpstr>
      <vt:lpstr>Nonlinear optics: the second-harmonic exponent</vt:lpstr>
      <vt:lpstr>Structured light: the centre of a ring beam</vt:lpstr>
      <vt:lpstr>Summary</vt:lpstr>
      <vt:lpstr>Questions for the room</vt:lpstr>
      <vt:lpstr>Appendix A: the five points</vt:lpstr>
      <vt:lpstr>Appendix B: raw time stamps</vt:lpstr>
      <vt:lpstr>Appendix C: RC discharge and N-BK7</vt:lpstr>
      <vt:lpstr>Appendix D: WR-90 and the tides</vt:lpstr>
      <vt:lpstr>Appendix E: second harmonic and the ring beam</vt:lpstr>
      <vt:lpstr>Appendix F: the glider and the spring</vt:lpstr>
      <vt:lpstr>Appendix G: hydrogen and the photoelectric effect</vt:lpstr>
      <vt:lpstr>Appendix H: printed output</vt:lpstr>
    </vt:vector>
  </TitlesOfParts>
  <Company>MIT 18.085</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Least squares in practice</dc:title>
  <dc:subject>PptxGenJS Presentation</dc:subject>
  <dc:creator>G. G. Rozenman</dc:creator>
  <cp:lastModifiedBy>Georgi Gary Rozenman</cp:lastModifiedBy>
  <cp:revision>5</cp:revision>
  <dcterms:created xsi:type="dcterms:W3CDTF">2026-10-21T01:02:37Z</dcterms:created>
  <dcterms:modified xsi:type="dcterms:W3CDTF">2026-10-21T14:51:40Z</dcterms:modified>
</cp:coreProperties>
</file>