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6"/>
    <p:sldId id="282" r:id="rId5"/>
    <p:sldId id="283" r:id="rId4"/>
    <p:sldId id="284" r:id="rId3"/>
    <p:sldId id="285" r:id="rId2"/>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D33BB82-8E8B-56AF-B5A1-6077D7DCFD45}">
          <p14:sldIdLst>
            <p14:sldId id="256"/>
            <p14:sldId id="257"/>
          </p14:sldIdLst>
        </p14:section>
        <p14:section name="Two laws" id="{1AD43513-FE14-55B5-A520-B71B8F6CE399}">
          <p14:sldIdLst>
            <p14:sldId id="258"/>
            <p14:sldId id="259"/>
            <p14:sldId id="260"/>
            <p14:sldId id="261"/>
            <p14:sldId id="262"/>
            <p14:sldId id="263"/>
          </p14:sldIdLst>
        </p14:section>
        <p14:section name="The heat equation in one dimension" id="{F56FB522-6536-56A0-A552-0E3F7C9F33C4}">
          <p14:sldIdLst>
            <p14:sldId id="264"/>
            <p14:sldId id="265"/>
            <p14:sldId id="266"/>
          </p14:sldIdLst>
        </p14:section>
        <p14:section name="Two dimensions" id="{85596D36-729E-562B-9848-D2A349888B9F}">
          <p14:sldIdLst>
            <p14:sldId id="267"/>
            <p14:sldId id="268"/>
            <p14:sldId id="269"/>
          </p14:sldIdLst>
        </p14:section>
        <p14:section name="Coolers" id="{E6C5198E-2F5D-5692-9A53-1B9616F043FE}">
          <p14:sldIdLst>
            <p14:sldId id="270"/>
            <p14:sldId id="271"/>
            <p14:sldId id="272"/>
            <p14:sldId id="273"/>
            <p14:sldId id="274"/>
            <p14:sldId id="275"/>
            <p14:sldId id="276"/>
          </p14:sldIdLst>
        </p14:section>
        <p14:section name="Elsewhere" id="{04E9F652-8DAA-5019-8B69-F5F69E6A7090}">
          <p14:sldIdLst>
            <p14:sldId id="277"/>
            <p14:sldId id="278"/>
            <p14:sldId id="279"/>
            <p14:sldId id="280"/>
          </p14:sldIdLst>
        </p14:section>
        <p14:section name="Summary" id="{D36AD72F-C85A-5702-9D68-F446255BA630}">
          <p14:sldIdLst>
            <p14:sldId id="281"/>
            <p14:sldId id="282"/>
          </p14:sldIdLst>
        </p14:section>
        <p14:section name="Python appendix" id="{DCB4CBC5-7B44-5317-9778-A87DAC2DDF7B}">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0.xml"/><Relationship Id="rId3" Type="http://schemas.openxmlformats.org/officeDocument/2006/relationships/slide" Target="slides/slide29.xml"/><Relationship Id="rId4" Type="http://schemas.openxmlformats.org/officeDocument/2006/relationships/slide" Target="slides/slide28.xml"/><Relationship Id="rId5" Type="http://schemas.openxmlformats.org/officeDocument/2006/relationships/slide" Target="slides/slide27.xml"/><Relationship Id="rId6" Type="http://schemas.openxmlformats.org/officeDocument/2006/relationships/slide" Target="slides/slide2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0">
                <a:solidFill>
                  <a:srgbClr val="152D42"/>
                </a:solidFill>
              </a:rPr>
              <a:t>Thermal conductivity k, W/(m K), on a logarithmic axis</a:t>
            </a:r>
          </a:p>
        </c:rich>
      </c:tx>
      <c:layout/>
      <c:overlay val="0"/>
    </c:title>
    <c:autoTitleDeleted val="0"/>
    <c:plotArea>
      <c:barChart>
        <c:barDir val="bar"/>
        <c:grouping val="clustered"/>
        <c:varyColors val="0"/>
        <c:ser>
          <c:idx val="0"/>
          <c:order val="0"/>
          <c:tx>
            <c:strRef>
              <c:f>Sheet1!$B$1</c:f>
              <c:strCache>
                <c:ptCount val="1"/>
                <c:pt idx="0">
                  <c:v>values</c:v>
                </c:pt>
              </c:strCache>
            </c:strRef>
          </c:tx>
          <c:spPr>
            <a:solidFill>
              <a:srgbClr val="152D42"/>
            </a:solidFill>
          </c:spPr>
          <c:dPt>
            <c:idx val="0"/>
            <c:spPr>
              <a:solidFill>
                <a:srgbClr val="A31F34"/>
              </a:solidFill>
            </c:spPr>
          </c:dPt>
          <c:dPt>
            <c:idx val="3"/>
            <c:spPr>
              <a:solidFill>
                <a:srgbClr val="A31F34"/>
              </a:solidFill>
            </c:spPr>
          </c:dPt>
          <c:cat>
            <c:strRef>
              <c:f>Sheet1!$A$2:$A$10</c:f>
              <c:strCache>
                <c:ptCount val="9"/>
                <c:pt idx="0">
                  <c:v>air, 0.026</c:v>
                </c:pt>
                <c:pt idx="1">
                  <c:v>water, 0.6</c:v>
                </c:pt>
                <c:pt idx="2">
                  <c:v>glass, 1</c:v>
                </c:pt>
                <c:pt idx="3">
                  <c:v>thermal paste, 5</c:v>
                </c:pt>
                <c:pt idx="4">
                  <c:v>stainless steel, 15</c:v>
                </c:pt>
                <c:pt idx="5">
                  <c:v>silicon, 150</c:v>
                </c:pt>
                <c:pt idx="6">
                  <c:v>aluminium, 237</c:v>
                </c:pt>
                <c:pt idx="7">
                  <c:v>copper, 400</c:v>
                </c:pt>
                <c:pt idx="8">
                  <c:v>diamond, 2200</c:v>
                </c:pt>
              </c:strCache>
            </c:strRef>
          </c:cat>
          <c:val>
            <c:numRef>
              <c:f>Sheet1!$B$2:$B$10</c:f>
              <c:numCache>
                <c:formatCode>General</c:formatCode>
                <c:ptCount val="9"/>
                <c:pt idx="0">
                  <c:v>0.026</c:v>
                </c:pt>
                <c:pt idx="1">
                  <c:v>0.6</c:v>
                </c:pt>
                <c:pt idx="2">
                  <c:v>1.0</c:v>
                </c:pt>
                <c:pt idx="3">
                  <c:v>5.0</c:v>
                </c:pt>
                <c:pt idx="4">
                  <c:v>15.0</c:v>
                </c:pt>
                <c:pt idx="5">
                  <c:v>150.0</c:v>
                </c:pt>
                <c:pt idx="6">
                  <c:v>237.0</c:v>
                </c:pt>
                <c:pt idx="7">
                  <c:v>400.0</c:v>
                </c:pt>
                <c:pt idx="8">
                  <c:v>2200.0</c:v>
                </c:pt>
              </c:numCache>
            </c:numRef>
          </c:val>
        </c:ser>
        <c:gapWidth val="60"/>
        <c:axId val="-2068027336"/>
        <c:axId val="-2113994440"/>
      </c:barChart>
      <c:catAx>
        <c:axId val="-2068027336"/>
        <c:scaling>
          <c:orientation val="maxMin"/>
        </c:scaling>
        <c:delete val="0"/>
        <c:axPos val="l"/>
        <c:majorTickMark val="none"/>
        <c:minorTickMark val="none"/>
        <c:tickLblPos val="nextTo"/>
        <c:spPr>
          <a:ln>
            <a:solidFill>
              <a:srgbClr val="B8C4D0"/>
            </a:solidFill>
          </a:ln>
        </c:spPr>
        <c:txPr>
          <a:bodyPr/>
          <a:lstStyle/>
          <a:p>
            <a:pPr>
              <a:defRPr sz="1000">
                <a:solidFill>
                  <a:srgbClr val="152D42"/>
                </a:solidFill>
              </a:defRPr>
            </a:pPr>
          </a:p>
        </c:txPr>
        <c:crossAx val="-2113994440"/>
        <c:crossesAt val="0.01"/>
        <c:auto val="1"/>
        <c:lblAlgn val="ctr"/>
        <c:lblOffset val="100"/>
        <c:noMultiLvlLbl val="0"/>
      </c:catAx>
      <c:valAx>
        <c:axId val="-2113994440"/>
        <c:scaling>
          <c:logBase val="10"/>
          <c:max val="10000.0"/>
          <c:min val="0.01"/>
        </c:scaling>
        <c:delete val="0"/>
        <c:axPos val="b"/>
        <c:majorGridlines>
          <c:spPr>
            <a:ln w="9525">
              <a:solidFill>
                <a:srgbClr val="E3E8ED"/>
              </a:solidFill>
            </a:ln>
          </c:spPr>
        </c:majorGridlines>
        <c:numFmt formatCode="General" sourceLinked="0"/>
        <c:majorTickMark val="none"/>
        <c:minorTickMark val="none"/>
        <c:tickLblPos val="high"/>
        <c:spPr>
          <a:ln>
            <a:solidFill>
              <a:srgbClr val="B8C4D0"/>
            </a:solidFill>
          </a:ln>
        </c:spPr>
        <c:txPr>
          <a:bodyPr/>
          <a:lstStyle/>
          <a:p>
            <a:pPr>
              <a:defRPr sz="1000"/>
            </a:pPr>
          </a:p>
        </c:txPr>
        <c:crossAx val="-2068027336"/>
        <c:crosses val="autoZero"/>
      </c:valAx>
    </c:plotArea>
    <c:dispBlanksAs val="gap"/>
  </c:chart>
  <c:txPr>
    <a:bodyPr/>
    <a:lstStyle/>
    <a:p>
      <a:pPr>
        <a:defRPr sz="1000">
          <a:solidFill>
            <a:srgbClr val="50647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0">
                <a:solidFill>
                  <a:srgbClr val="152D42"/>
                </a:solidFill>
              </a:rPr>
              <a:t>Heat flux, W/cm², on a logarithmic axis</a:t>
            </a:r>
          </a:p>
        </c:rich>
      </c:tx>
      <c:layout/>
      <c:overlay val="0"/>
    </c:title>
    <c:autoTitleDeleted val="0"/>
    <c:plotArea>
      <c:barChart>
        <c:barDir val="bar"/>
        <c:grouping val="clustered"/>
        <c:varyColors val="0"/>
        <c:ser>
          <c:idx val="0"/>
          <c:order val="0"/>
          <c:tx>
            <c:strRef>
              <c:f>Sheet1!$B$1</c:f>
              <c:strCache>
                <c:ptCount val="1"/>
                <c:pt idx="0">
                  <c:v>values</c:v>
                </c:pt>
              </c:strCache>
            </c:strRef>
          </c:tx>
          <c:spPr>
            <a:solidFill>
              <a:srgbClr val="152D42"/>
            </a:solidFill>
          </c:spPr>
          <c:dPt>
            <c:idx val="2"/>
            <c:spPr>
              <a:solidFill>
                <a:srgbClr val="A31F34"/>
              </a:solidFill>
            </c:spPr>
          </c:dPt>
          <c:dPt>
            <c:idx val="3"/>
            <c:spPr>
              <a:solidFill>
                <a:srgbClr val="A31F34"/>
              </a:solidFill>
            </c:spPr>
          </c:dPt>
          <c:cat>
            <c:strRef>
              <c:f>Sheet1!$A$2:$A$6</c:f>
              <c:strCache>
                <c:ptCount val="5"/>
                <c:pt idx="0">
                  <c:v>sunlight above the atmosphere: 0.14</c:v>
                </c:pt>
                <c:pt idx="1">
                  <c:v>kitchen hob, 2 kW ring: 7.9</c:v>
                </c:pt>
                <c:pt idx="2">
                  <c:v>GeForce RTX 5090: up to 77</c:v>
                </c:pt>
                <c:pt idx="3">
                  <c:v>Core i9-14900K: 98</c:v>
                </c:pt>
                <c:pt idx="4">
                  <c:v>surface of the Sun: 6300</c:v>
                </c:pt>
              </c:strCache>
            </c:strRef>
          </c:cat>
          <c:val>
            <c:numRef>
              <c:f>Sheet1!$B$2:$B$6</c:f>
              <c:numCache>
                <c:formatCode>General</c:formatCode>
                <c:ptCount val="5"/>
                <c:pt idx="0">
                  <c:v>0.14</c:v>
                </c:pt>
                <c:pt idx="1">
                  <c:v>7.9</c:v>
                </c:pt>
                <c:pt idx="2">
                  <c:v>77</c:v>
                </c:pt>
                <c:pt idx="3">
                  <c:v>98</c:v>
                </c:pt>
                <c:pt idx="4">
                  <c:v>6300.0</c:v>
                </c:pt>
              </c:numCache>
            </c:numRef>
          </c:val>
        </c:ser>
        <c:gapWidth val="60"/>
        <c:axId val="-2068027336"/>
        <c:axId val="-2113994440"/>
      </c:barChart>
      <c:catAx>
        <c:axId val="-2068027336"/>
        <c:scaling>
          <c:orientation val="maxMin"/>
        </c:scaling>
        <c:delete val="0"/>
        <c:axPos val="l"/>
        <c:majorTickMark val="none"/>
        <c:minorTickMark val="none"/>
        <c:tickLblPos val="nextTo"/>
        <c:spPr>
          <a:ln>
            <a:solidFill>
              <a:srgbClr val="B8C4D0"/>
            </a:solidFill>
          </a:ln>
        </c:spPr>
        <c:txPr>
          <a:bodyPr/>
          <a:lstStyle/>
          <a:p>
            <a:pPr>
              <a:defRPr sz="1000">
                <a:solidFill>
                  <a:srgbClr val="152D42"/>
                </a:solidFill>
              </a:defRPr>
            </a:pPr>
          </a:p>
        </c:txPr>
        <c:crossAx val="-2113994440"/>
        <c:crossesAt val="0.01"/>
        <c:auto val="1"/>
        <c:lblAlgn val="ctr"/>
        <c:lblOffset val="100"/>
        <c:noMultiLvlLbl val="0"/>
      </c:catAx>
      <c:valAx>
        <c:axId val="-2113994440"/>
        <c:scaling>
          <c:logBase val="10"/>
          <c:max val="10000.0"/>
          <c:min val="0.01"/>
        </c:scaling>
        <c:delete val="0"/>
        <c:axPos val="b"/>
        <c:majorGridlines>
          <c:spPr>
            <a:ln w="9525">
              <a:solidFill>
                <a:srgbClr val="E3E8ED"/>
              </a:solidFill>
            </a:ln>
          </c:spPr>
        </c:majorGridlines>
        <c:numFmt formatCode="General" sourceLinked="0"/>
        <c:majorTickMark val="none"/>
        <c:minorTickMark val="none"/>
        <c:tickLblPos val="high"/>
        <c:spPr>
          <a:ln>
            <a:solidFill>
              <a:srgbClr val="B8C4D0"/>
            </a:solidFill>
          </a:ln>
        </c:spPr>
        <c:txPr>
          <a:bodyPr/>
          <a:lstStyle/>
          <a:p>
            <a:pPr>
              <a:defRPr sz="1000"/>
            </a:pPr>
          </a:p>
        </c:txPr>
        <c:crossAx val="-2068027336"/>
        <c:crosses val="autoZero"/>
      </c:valAx>
    </c:plotArea>
    <c:dispBlanksAs val="gap"/>
  </c:chart>
  <c:txPr>
    <a:bodyPr/>
    <a:lstStyle/>
    <a:p>
      <a:pPr>
        <a:defRPr sz="1000">
          <a:solidFill>
            <a:srgbClr val="50647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100" b="0">
                <a:solidFill>
                  <a:srgbClr val="152D42"/>
                </a:solidFill>
              </a:rPr>
              <a:t>Die temperature after 125 W is switched on, °C</a:t>
            </a:r>
          </a:p>
        </c:rich>
      </c:tx>
      <c:layout/>
      <c:overlay val="0"/>
    </c:title>
    <c:plotArea>
      <c:scatterChart>
        <c:scatterStyle val="lineMarker"/>
        <c:varyColors val="0"/>
        <c:ser>
          <c:idx val="0"/>
          <c:order val="0"/>
          <c:tx>
            <c:strRef>
              <c:f>Sheet1!$B$1</c:f>
              <c:strCache>
                <c:ptCount val="1"/>
                <c:pt idx="0">
                  <c:v>die temperature</c:v>
                </c:pt>
              </c:strCache>
            </c:strRef>
          </c:tx>
          <c:spPr>
            <a:ln w="28575">
              <a:solidFill>
                <a:srgbClr val="152D42"/>
              </a:solidFill>
            </a:ln>
          </c:spPr>
          <c:marker>
            <c:symbol val="none"/>
          </c:marker>
          <c:xVal>
            <c:numRef>
              <c:f>Sheet1!$A$2:$A$58</c:f>
              <c:numCache>
                <c:formatCode>General</c:formatCode>
                <c:ptCount val="57"/>
                <c:pt idx="0">
                  <c:v>0.0001</c:v>
                </c:pt>
                <c:pt idx="1">
                  <c:v>0.0001333521432163324</c:v>
                </c:pt>
                <c:pt idx="2">
                  <c:v>0.00017782794100389227</c:v>
                </c:pt>
                <c:pt idx="3">
                  <c:v>0.0002371373705661655</c:v>
                </c:pt>
                <c:pt idx="4">
                  <c:v>0.00031622776601683794</c:v>
                </c:pt>
                <c:pt idx="5">
                  <c:v>0.00042169650342858224</c:v>
                </c:pt>
                <c:pt idx="6">
                  <c:v>0.0005623413251903491</c:v>
                </c:pt>
                <c:pt idx="7">
                  <c:v>0.0007498942093324559</c:v>
                </c:pt>
                <c:pt idx="8">
                  <c:v>0.001</c:v>
                </c:pt>
                <c:pt idx="9">
                  <c:v>0.001333521432163324</c:v>
                </c:pt>
                <c:pt idx="10">
                  <c:v>0.0017782794100389228</c:v>
                </c:pt>
                <c:pt idx="11">
                  <c:v>0.0023713737056616554</c:v>
                </c:pt>
                <c:pt idx="12">
                  <c:v>0.0031622776601683794</c:v>
                </c:pt>
                <c:pt idx="13">
                  <c:v>0.004216965034285822</c:v>
                </c:pt>
                <c:pt idx="14">
                  <c:v>0.005623413251903491</c:v>
                </c:pt>
                <c:pt idx="15">
                  <c:v>0.007498942093324558</c:v>
                </c:pt>
                <c:pt idx="16">
                  <c:v>0.01</c:v>
                </c:pt>
                <c:pt idx="17">
                  <c:v>0.01333521432163324</c:v>
                </c:pt>
                <c:pt idx="18">
                  <c:v>0.01778279410038923</c:v>
                </c:pt>
                <c:pt idx="19">
                  <c:v>0.023713737056616554</c:v>
                </c:pt>
                <c:pt idx="20">
                  <c:v>0.03162277660168379</c:v>
                </c:pt>
                <c:pt idx="21">
                  <c:v>0.042169650342858224</c:v>
                </c:pt>
                <c:pt idx="22">
                  <c:v>0.056234132519034905</c:v>
                </c:pt>
                <c:pt idx="23">
                  <c:v>0.07498942093324558</c:v>
                </c:pt>
                <c:pt idx="24">
                  <c:v>0.1</c:v>
                </c:pt>
                <c:pt idx="25">
                  <c:v>0.1333521432163324</c:v>
                </c:pt>
                <c:pt idx="26">
                  <c:v>0.1778279410038923</c:v>
                </c:pt>
                <c:pt idx="27">
                  <c:v>0.23713737056616552</c:v>
                </c:pt>
                <c:pt idx="28">
                  <c:v>0.31622776601683794</c:v>
                </c:pt>
                <c:pt idx="29">
                  <c:v>0.4216965034285822</c:v>
                </c:pt>
                <c:pt idx="30">
                  <c:v>0.5623413251903491</c:v>
                </c:pt>
                <c:pt idx="31">
                  <c:v>0.7498942093324558</c:v>
                </c:pt>
                <c:pt idx="32">
                  <c:v>1.0</c:v>
                </c:pt>
                <c:pt idx="33">
                  <c:v>1.333521432163324</c:v>
                </c:pt>
                <c:pt idx="34">
                  <c:v>1.7782794100389228</c:v>
                </c:pt>
                <c:pt idx="35">
                  <c:v>2.371373705661655</c:v>
                </c:pt>
                <c:pt idx="36">
                  <c:v>3.1622776601683795</c:v>
                </c:pt>
                <c:pt idx="37">
                  <c:v>4.216965034285822</c:v>
                </c:pt>
                <c:pt idx="38">
                  <c:v>5.62341325190349</c:v>
                </c:pt>
                <c:pt idx="39">
                  <c:v>7.498942093324558</c:v>
                </c:pt>
                <c:pt idx="40">
                  <c:v>10.0</c:v>
                </c:pt>
                <c:pt idx="41">
                  <c:v>13.33521432163324</c:v>
                </c:pt>
                <c:pt idx="42">
                  <c:v>17.78279410038923</c:v>
                </c:pt>
                <c:pt idx="43">
                  <c:v>23.71373705661655</c:v>
                </c:pt>
                <c:pt idx="44">
                  <c:v>31.622776601683793</c:v>
                </c:pt>
                <c:pt idx="45">
                  <c:v>42.169650342858226</c:v>
                </c:pt>
                <c:pt idx="46">
                  <c:v>56.23413251903491</c:v>
                </c:pt>
                <c:pt idx="47">
                  <c:v>74.98942093324558</c:v>
                </c:pt>
                <c:pt idx="48">
                  <c:v>100.0</c:v>
                </c:pt>
                <c:pt idx="49">
                  <c:v>133.3521432163324</c:v>
                </c:pt>
                <c:pt idx="50">
                  <c:v>177.82794100389228</c:v>
                </c:pt>
                <c:pt idx="51">
                  <c:v>237.13737056616552</c:v>
                </c:pt>
                <c:pt idx="52">
                  <c:v>316.2277660168379</c:v>
                </c:pt>
                <c:pt idx="53">
                  <c:v>421.6965034285822</c:v>
                </c:pt>
                <c:pt idx="54">
                  <c:v>562.341325190349</c:v>
                </c:pt>
                <c:pt idx="55">
                  <c:v>749.8942093324558</c:v>
                </c:pt>
                <c:pt idx="56">
                  <c:v>1000.0</c:v>
                </c:pt>
              </c:numCache>
            </c:numRef>
          </c:xVal>
          <c:yVal>
            <c:numRef>
              <c:f>Sheet1!$B$2:$B$58</c:f>
              <c:numCache>
                <c:formatCode>General</c:formatCode>
                <c:ptCount val="57"/>
                <c:pt idx="0">
                  <c:v>25.332725069429486</c:v>
                </c:pt>
                <c:pt idx="1">
                  <c:v>25.38761333865681</c:v>
                </c:pt>
                <c:pt idx="2">
                  <c:v>25.450669458125887</c:v>
                </c:pt>
                <c:pt idx="3">
                  <c:v>25.523279715847575</c:v>
                </c:pt>
                <c:pt idx="4">
                  <c:v>25.607007128767226</c:v>
                </c:pt>
                <c:pt idx="5">
                  <c:v>25.703701968340557</c:v>
                </c:pt>
                <c:pt idx="6">
                  <c:v>25.815837577747086</c:v>
                </c:pt>
                <c:pt idx="7">
                  <c:v>25.94729747234362</c:v>
                </c:pt>
                <c:pt idx="8">
                  <c:v>26.104483881700997</c:v>
                </c:pt>
                <c:pt idx="9">
                  <c:v>26.297018959060612</c:v>
                </c:pt>
                <c:pt idx="10">
                  <c:v>26.537242928294834</c:v>
                </c:pt>
                <c:pt idx="11">
                  <c:v>26.838541125261045</c:v>
                </c:pt>
                <c:pt idx="12">
                  <c:v>27.213410089701725</c:v>
                </c:pt>
                <c:pt idx="13">
                  <c:v>27.67175328730461</c:v>
                </c:pt>
                <c:pt idx="14">
                  <c:v>28.218798992104126</c:v>
                </c:pt>
                <c:pt idx="15">
                  <c:v>28.852200778833122</c:v>
                </c:pt>
                <c:pt idx="16">
                  <c:v>29.559120026305774</c:v>
                </c:pt>
                <c:pt idx="17">
                  <c:v>30.315145614882965</c:v>
                </c:pt>
                <c:pt idx="18">
                  <c:v>31.087376238656898</c:v>
                </c:pt>
                <c:pt idx="19">
                  <c:v>31.843287349494712</c:v>
                </c:pt>
                <c:pt idx="20">
                  <c:v>32.56438861513615</c:v>
                </c:pt>
                <c:pt idx="21">
                  <c:v>33.25925155315954</c:v>
                </c:pt>
                <c:pt idx="22">
                  <c:v>33.96617680102653</c:v>
                </c:pt>
                <c:pt idx="23">
                  <c:v>34.73762937767479</c:v>
                </c:pt>
                <c:pt idx="24">
                  <c:v>35.612317234169964</c:v>
                </c:pt>
                <c:pt idx="25">
                  <c:v>36.593942640425176</c:v>
                </c:pt>
                <c:pt idx="26">
                  <c:v>37.646657029471534</c:v>
                </c:pt>
                <c:pt idx="27">
                  <c:v>38.70057401701123</c:v>
                </c:pt>
                <c:pt idx="28">
                  <c:v>39.664213896190546</c:v>
                </c:pt>
                <c:pt idx="29">
                  <c:v>40.44957247082392</c:v>
                </c:pt>
                <c:pt idx="30">
                  <c:v>41.007716459816876</c:v>
                </c:pt>
                <c:pt idx="31">
                  <c:v>41.355203515523144</c:v>
                </c:pt>
                <c:pt idx="32">
                  <c:v>41.56600079885257</c:v>
                </c:pt>
                <c:pt idx="33">
                  <c:v>41.72903281458843</c:v>
                </c:pt>
                <c:pt idx="34">
                  <c:v>41.908545952316025</c:v>
                </c:pt>
                <c:pt idx="35">
                  <c:v>42.13900690066551</c:v>
                </c:pt>
                <c:pt idx="36">
                  <c:v>42.44223488267473</c:v>
                </c:pt>
                <c:pt idx="37">
                  <c:v>42.84062534505069</c:v>
                </c:pt>
                <c:pt idx="38">
                  <c:v>43.3615122257377</c:v>
                </c:pt>
                <c:pt idx="39">
                  <c:v>44.038102022965866</c:v>
                </c:pt>
                <c:pt idx="40">
                  <c:v>44.90927794007863</c:v>
                </c:pt>
                <c:pt idx="41">
                  <c:v>46.01799777039608</c:v>
                </c:pt>
                <c:pt idx="42">
                  <c:v>47.4072886759247</c:v>
                </c:pt>
                <c:pt idx="43">
                  <c:v>49.11253248632492</c:v>
                </c:pt>
                <c:pt idx="44">
                  <c:v>51.148803400859734</c:v>
                </c:pt>
                <c:pt idx="45">
                  <c:v>53.493068812358445</c:v>
                </c:pt>
                <c:pt idx="46">
                  <c:v>56.06401442359797</c:v>
                </c:pt>
                <c:pt idx="47">
                  <c:v>58.70774532583315</c:v>
                </c:pt>
                <c:pt idx="48">
                  <c:v>61.204221879935794</c:v>
                </c:pt>
                <c:pt idx="49">
                  <c:v>63.31069891912271</c:v>
                </c:pt>
                <c:pt idx="50">
                  <c:v>64.84331143172378</c:v>
                </c:pt>
                <c:pt idx="51">
                  <c:v>65.76147298465075</c:v>
                </c:pt>
                <c:pt idx="52">
                  <c:v>66.18834090800141</c:v>
                </c:pt>
                <c:pt idx="53">
                  <c:v>66.33118333597126</c:v>
                </c:pt>
                <c:pt idx="54">
                  <c:v>66.36247907412218</c:v>
                </c:pt>
                <c:pt idx="55">
                  <c:v>66.36646882276968</c:v>
                </c:pt>
                <c:pt idx="56">
                  <c:v>66.36672457198105</c:v>
                </c:pt>
              </c:numCache>
            </c:numRef>
          </c:yVal>
          <c:smooth val="0"/>
        </c:ser>
        <c:axId val="-2128940872"/>
        <c:axId val="-2129643912"/>
      </c:scatterChart>
      <c:valAx>
        <c:axId val="-2128940872"/>
        <c:scaling>
          <c:logBase val="10"/>
          <c:orientation val="minMax"/>
          <c:max val="1000.0"/>
          <c:min val="0.0001"/>
        </c:scaling>
        <c:delete val="0"/>
        <c:axPos val="b"/>
        <c:title>
          <c:tx>
            <c:rich>
              <a:bodyPr/>
              <a:lstStyle/>
              <a:p>
                <a:r>
                  <a:rPr sz="1000" b="0">
                    <a:solidFill>
                      <a:srgbClr val="506476"/>
                    </a:solidFill>
                  </a:rPr>
                  <a:t>seconds since power on, logarithmic axis</a:t>
                </a:r>
              </a:p>
            </c:rich>
          </c:tx>
          <c:layout/>
          <c:overlay val="0"/>
        </c:title>
        <c:numFmt formatCode="General" sourceLinked="0"/>
        <c:majorTickMark val="none"/>
        <c:minorTickMark val="none"/>
        <c:tickLblPos val="low"/>
        <c:spPr>
          <a:ln>
            <a:solidFill>
              <a:srgbClr val="B8C4D0"/>
            </a:solidFill>
          </a:ln>
        </c:spPr>
        <c:txPr>
          <a:bodyPr/>
          <a:lstStyle/>
          <a:p>
            <a:pPr>
              <a:defRPr sz="1000"/>
            </a:pPr>
          </a:p>
        </c:txPr>
        <c:crossAx val="-2129643912"/>
        <c:crosses val="autoZero"/>
        <c:crossBetween val="midCat"/>
      </c:valAx>
      <c:valAx>
        <c:axId val="-2129643912"/>
        <c:scaling>
          <c:orientation val="minMax"/>
          <c:max val="70.0"/>
          <c:min val="20.0"/>
        </c:scaling>
        <c:delete val="0"/>
        <c:axPos val="l"/>
        <c:majorGridlines>
          <c:spPr>
            <a:ln w="9525">
              <a:solidFill>
                <a:srgbClr val="E3E8ED"/>
              </a:solidFill>
            </a:ln>
          </c:spPr>
        </c:majorGridlines>
        <c:numFmt formatCode="General" sourceLinked="0"/>
        <c:majorTickMark val="none"/>
        <c:minorTickMark val="none"/>
        <c:tickLblPos val="nextTo"/>
        <c:spPr>
          <a:ln>
            <a:solidFill>
              <a:srgbClr val="B8C4D0"/>
            </a:solidFill>
          </a:ln>
        </c:spPr>
        <c:txPr>
          <a:bodyPr/>
          <a:lstStyle/>
          <a:p>
            <a:pPr>
              <a:defRPr sz="1000"/>
            </a:pPr>
          </a:p>
        </c:txPr>
        <c:crossAx val="-2128940872"/>
        <c:crossesAt val="0.0001"/>
        <c:crossBetween val="midCat"/>
        <c:majorUnit val="10.0"/>
      </c:valAx>
    </c:plotArea>
    <c:plotVisOnly val="1"/>
    <c:dispBlanksAs val="gap"/>
    <c:showDLblsOverMax val="0"/>
  </c:chart>
  <c:txPr>
    <a:bodyPr/>
    <a:lstStyle/>
    <a:p>
      <a:pPr>
        <a:defRPr sz="1000">
          <a:solidFill>
            <a:srgbClr val="50647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100" b="0">
                <a:solidFill>
                  <a:srgbClr val="152D42"/>
                </a:solidFill>
              </a:rPr>
              <a:t>Voltage at the far end after a unit step</a:t>
            </a:r>
          </a:p>
        </c:rich>
      </c:tx>
      <c:layout/>
      <c:overlay val="0"/>
    </c:title>
    <c:plotArea>
      <c:scatterChart>
        <c:scatterStyle val="lineMarker"/>
        <c:varyColors val="0"/>
        <c:ser>
          <c:idx val="0"/>
          <c:order val="0"/>
          <c:tx>
            <c:strRef>
              <c:f>Sheet1!$B$1</c:f>
              <c:strCache>
                <c:ptCount val="1"/>
                <c:pt idx="0">
                  <c:v>cable of length L</c:v>
                </c:pt>
              </c:strCache>
            </c:strRef>
          </c:tx>
          <c:spPr>
            <a:ln w="28575">
              <a:solidFill>
                <a:srgbClr val="2F6690"/>
              </a:solidFill>
            </a:ln>
          </c:spPr>
          <c:marker>
            <c:symbol val="none"/>
          </c:marker>
          <c:xVal>
            <c:numRef>
              <c:f>Sheet1!$A$2:$A$82</c:f>
              <c:numCache>
                <c:formatCode>General</c:formatCode>
                <c:ptCount val="81"/>
                <c:pt idx="0">
                  <c:v>0.0</c:v>
                </c:pt>
                <c:pt idx="1">
                  <c:v>0.025</c:v>
                </c:pt>
                <c:pt idx="2">
                  <c:v>0.05</c:v>
                </c:pt>
                <c:pt idx="3">
                  <c:v>0.07500000000000001</c:v>
                </c:pt>
                <c:pt idx="4">
                  <c:v>0.1</c:v>
                </c:pt>
                <c:pt idx="5">
                  <c:v>0.125</c:v>
                </c:pt>
                <c:pt idx="6">
                  <c:v>0.15000000000000002</c:v>
                </c:pt>
                <c:pt idx="7">
                  <c:v>0.17500000000000002</c:v>
                </c:pt>
                <c:pt idx="8">
                  <c:v>0.2</c:v>
                </c:pt>
                <c:pt idx="9">
                  <c:v>0.225</c:v>
                </c:pt>
                <c:pt idx="10">
                  <c:v>0.25</c:v>
                </c:pt>
                <c:pt idx="11">
                  <c:v>0.275</c:v>
                </c:pt>
                <c:pt idx="12">
                  <c:v>0.30000000000000004</c:v>
                </c:pt>
                <c:pt idx="13">
                  <c:v>0.325</c:v>
                </c:pt>
                <c:pt idx="14">
                  <c:v>0.35000000000000003</c:v>
                </c:pt>
                <c:pt idx="15">
                  <c:v>0.375</c:v>
                </c:pt>
                <c:pt idx="16">
                  <c:v>0.4</c:v>
                </c:pt>
                <c:pt idx="17">
                  <c:v>0.42500000000000004</c:v>
                </c:pt>
                <c:pt idx="18">
                  <c:v>0.45</c:v>
                </c:pt>
                <c:pt idx="19">
                  <c:v>0.47500000000000003</c:v>
                </c:pt>
                <c:pt idx="20">
                  <c:v>0.5</c:v>
                </c:pt>
                <c:pt idx="21">
                  <c:v>0.525</c:v>
                </c:pt>
                <c:pt idx="22">
                  <c:v>0.55</c:v>
                </c:pt>
                <c:pt idx="23">
                  <c:v>0.5750000000000001</c:v>
                </c:pt>
                <c:pt idx="24">
                  <c:v>0.6000000000000001</c:v>
                </c:pt>
                <c:pt idx="25">
                  <c:v>0.625</c:v>
                </c:pt>
                <c:pt idx="26">
                  <c:v>0.65</c:v>
                </c:pt>
                <c:pt idx="27">
                  <c:v>0.675</c:v>
                </c:pt>
                <c:pt idx="28">
                  <c:v>0.7000000000000001</c:v>
                </c:pt>
                <c:pt idx="29">
                  <c:v>0.7250000000000001</c:v>
                </c:pt>
                <c:pt idx="30">
                  <c:v>0.75</c:v>
                </c:pt>
                <c:pt idx="31">
                  <c:v>0.775</c:v>
                </c:pt>
                <c:pt idx="32">
                  <c:v>0.8</c:v>
                </c:pt>
                <c:pt idx="33">
                  <c:v>0.8250000000000001</c:v>
                </c:pt>
                <c:pt idx="34">
                  <c:v>0.8500000000000001</c:v>
                </c:pt>
                <c:pt idx="35">
                  <c:v>0.875</c:v>
                </c:pt>
                <c:pt idx="36">
                  <c:v>0.9</c:v>
                </c:pt>
                <c:pt idx="37">
                  <c:v>0.925</c:v>
                </c:pt>
                <c:pt idx="38">
                  <c:v>0.9500000000000001</c:v>
                </c:pt>
                <c:pt idx="39">
                  <c:v>0.9750000000000001</c:v>
                </c:pt>
                <c:pt idx="40">
                  <c:v>1.0</c:v>
                </c:pt>
                <c:pt idx="41">
                  <c:v>1.0250000000000001</c:v>
                </c:pt>
                <c:pt idx="42">
                  <c:v>1.05</c:v>
                </c:pt>
                <c:pt idx="43">
                  <c:v>1.075</c:v>
                </c:pt>
                <c:pt idx="44">
                  <c:v>1.1</c:v>
                </c:pt>
                <c:pt idx="45">
                  <c:v>1.125</c:v>
                </c:pt>
                <c:pt idx="46">
                  <c:v>1.1500000000000001</c:v>
                </c:pt>
                <c:pt idx="47">
                  <c:v>1.175</c:v>
                </c:pt>
                <c:pt idx="48">
                  <c:v>1.2000000000000002</c:v>
                </c:pt>
                <c:pt idx="49">
                  <c:v>1.225</c:v>
                </c:pt>
                <c:pt idx="50">
                  <c:v>1.25</c:v>
                </c:pt>
                <c:pt idx="51">
                  <c:v>1.2750000000000001</c:v>
                </c:pt>
                <c:pt idx="52">
                  <c:v>1.3</c:v>
                </c:pt>
                <c:pt idx="53">
                  <c:v>1.3250000000000002</c:v>
                </c:pt>
                <c:pt idx="54">
                  <c:v>1.35</c:v>
                </c:pt>
                <c:pt idx="55">
                  <c:v>1.375</c:v>
                </c:pt>
                <c:pt idx="56">
                  <c:v>1.4000000000000001</c:v>
                </c:pt>
                <c:pt idx="57">
                  <c:v>1.425</c:v>
                </c:pt>
                <c:pt idx="58">
                  <c:v>1.4500000000000002</c:v>
                </c:pt>
                <c:pt idx="59">
                  <c:v>1.475</c:v>
                </c:pt>
                <c:pt idx="60">
                  <c:v>1.5</c:v>
                </c:pt>
                <c:pt idx="61">
                  <c:v>1.5250000000000001</c:v>
                </c:pt>
                <c:pt idx="62">
                  <c:v>1.55</c:v>
                </c:pt>
                <c:pt idx="63">
                  <c:v>1.5750000000000002</c:v>
                </c:pt>
                <c:pt idx="64">
                  <c:v>1.6</c:v>
                </c:pt>
                <c:pt idx="65">
                  <c:v>1.625</c:v>
                </c:pt>
                <c:pt idx="66">
                  <c:v>1.6500000000000001</c:v>
                </c:pt>
                <c:pt idx="67">
                  <c:v>1.675</c:v>
                </c:pt>
                <c:pt idx="68">
                  <c:v>1.7000000000000002</c:v>
                </c:pt>
                <c:pt idx="69">
                  <c:v>1.725</c:v>
                </c:pt>
                <c:pt idx="70">
                  <c:v>1.75</c:v>
                </c:pt>
                <c:pt idx="71">
                  <c:v>1.7750000000000001</c:v>
                </c:pt>
                <c:pt idx="72">
                  <c:v>1.8</c:v>
                </c:pt>
                <c:pt idx="73">
                  <c:v>1.8250000000000002</c:v>
                </c:pt>
                <c:pt idx="74">
                  <c:v>1.85</c:v>
                </c:pt>
                <c:pt idx="75">
                  <c:v>1.875</c:v>
                </c:pt>
                <c:pt idx="76">
                  <c:v>1.9000000000000001</c:v>
                </c:pt>
                <c:pt idx="77">
                  <c:v>1.925</c:v>
                </c:pt>
                <c:pt idx="78">
                  <c:v>1.9500000000000002</c:v>
                </c:pt>
                <c:pt idx="79">
                  <c:v>1.975</c:v>
                </c:pt>
                <c:pt idx="80">
                  <c:v>2.0</c:v>
                </c:pt>
              </c:numCache>
            </c:numRef>
          </c:xVal>
          <c:yVal>
            <c:numRef>
              <c:f>Sheet1!$B$2:$B$82</c:f>
              <c:numCache>
                <c:formatCode>General</c:formatCode>
                <c:ptCount val="81"/>
                <c:pt idx="0">
                  <c:v>0.0</c:v>
                </c:pt>
                <c:pt idx="1">
                  <c:v>1.548843286192092e-05</c:v>
                </c:pt>
                <c:pt idx="2">
                  <c:v>0.0031308045160052256</c:v>
                </c:pt>
                <c:pt idx="3">
                  <c:v>0.0196465490150195</c:v>
                </c:pt>
                <c:pt idx="4">
                  <c:v>0.0506946373155297</c:v>
                </c:pt>
                <c:pt idx="5">
                  <c:v>0.09100052384636614</c:v>
                </c:pt>
                <c:pt idx="6">
                  <c:v>0.1357782233143967</c:v>
                </c:pt>
                <c:pt idx="7">
                  <c:v>0.18193710417936237</c:v>
                </c:pt>
                <c:pt idx="8">
                  <c:v>0.2276883931414092</c:v>
                </c:pt>
                <c:pt idx="9">
                  <c:v>0.2720587677956068</c:v>
                </c:pt>
                <c:pt idx="10">
                  <c:v>0.3145542331096478</c:v>
                </c:pt>
                <c:pt idx="11">
                  <c:v>0.3549551475398861</c:v>
                </c:pt>
                <c:pt idx="12">
                  <c:v>0.3931961827809123</c:v>
                </c:pt>
                <c:pt idx="13">
                  <c:v>0.42929709111899483</c:v>
                </c:pt>
                <c:pt idx="14">
                  <c:v>0.46332306481762</c:v>
                </c:pt>
                <c:pt idx="15">
                  <c:v>0.4953621624976404</c:v>
                </c:pt>
                <c:pt idx="16">
                  <c:v>0.5255125396202509</c:v>
                </c:pt>
                <c:pt idx="17">
                  <c:v>0.5538752991149568</c:v>
                </c:pt>
                <c:pt idx="18">
                  <c:v>0.5805505579317103</c:v>
                </c:pt>
                <c:pt idx="19">
                  <c:v>0.6056353494670939</c:v>
                </c:pt>
                <c:pt idx="20">
                  <c:v>0.6292225702004761</c:v>
                </c:pt>
                <c:pt idx="21">
                  <c:v>0.6514005166826868</c:v>
                </c:pt>
                <c:pt idx="22">
                  <c:v>0.6722527529050939</c:v>
                </c:pt>
                <c:pt idx="23">
                  <c:v>0.6918581593361497</c:v>
                </c:pt>
                <c:pt idx="24">
                  <c:v>0.7102910787436203</c:v>
                </c:pt>
                <c:pt idx="25">
                  <c:v>0.7276215105301072</c:v>
                </c:pt>
                <c:pt idx="26">
                  <c:v>0.7439153262956955</c:v>
                </c:pt>
                <c:pt idx="27">
                  <c:v>0.7592344913620037</c:v>
                </c:pt>
                <c:pt idx="28">
                  <c:v>0.7736372838676876</c:v>
                </c:pt>
                <c:pt idx="29">
                  <c:v>0.7871785069697272</c:v>
                </c:pt>
                <c:pt idx="30">
                  <c:v>0.7999096919163363</c:v>
                </c:pt>
                <c:pt idx="31">
                  <c:v>0.8118792910184831</c:v>
                </c:pt>
                <c:pt idx="32">
                  <c:v>0.8231328602523842</c:v>
                </c:pt>
                <c:pt idx="33">
                  <c:v>0.8337132316127955</c:v>
                </c:pt>
                <c:pt idx="34">
                  <c:v>0.843660675542966</c:v>
                </c:pt>
                <c:pt idx="35">
                  <c:v>0.853013053870001</c:v>
                </c:pt>
                <c:pt idx="36">
                  <c:v>0.8618059637189779</c:v>
                </c:pt>
                <c:pt idx="37">
                  <c:v>0.8700728728911523</c:v>
                </c:pt>
                <c:pt idx="38">
                  <c:v>0.877845247185708</c:v>
                </c:pt>
                <c:pt idx="39">
                  <c:v>0.8851526701290978</c:v>
                </c:pt>
                <c:pt idx="40">
                  <c:v>0.892022955555891</c:v>
                </c:pt>
                <c:pt idx="41">
                  <c:v>0.8984822534628617</c:v>
                </c:pt>
                <c:pt idx="42">
                  <c:v>0.9045551495353359</c:v>
                </c:pt>
                <c:pt idx="43">
                  <c:v>0.910264758722387</c:v>
                </c:pt>
                <c:pt idx="44">
                  <c:v>0.9156328132157682</c:v>
                </c:pt>
                <c:pt idx="45">
                  <c:v>0.9206797451667176</c:v>
                </c:pt>
                <c:pt idx="46">
                  <c:v>0.9254247644550532</c:v>
                </c:pt>
                <c:pt idx="47">
                  <c:v>0.9298859318063243</c:v>
                </c:pt>
                <c:pt idx="48">
                  <c:v>0.9340802275351838</c:v>
                </c:pt>
                <c:pt idx="49">
                  <c:v>0.9380236161765533</c:v>
                </c:pt>
                <c:pt idx="50">
                  <c:v>0.9417311072505403</c:v>
                </c:pt>
                <c:pt idx="51">
                  <c:v>0.9452168123923659</c:v>
                </c:pt>
                <c:pt idx="52">
                  <c:v>0.9484939990647386</c:v>
                </c:pt>
                <c:pt idx="53">
                  <c:v>0.9515751410571098</c:v>
                </c:pt>
                <c:pt idx="54">
                  <c:v>0.9544719659640168</c:v>
                </c:pt>
                <c:pt idx="55">
                  <c:v>0.9571954998232263</c:v>
                </c:pt>
                <c:pt idx="56">
                  <c:v>0.9597561090835799</c:v>
                </c:pt>
                <c:pt idx="57">
                  <c:v>0.9621635400622809</c:v>
                </c:pt>
                <c:pt idx="58">
                  <c:v>0.9644269560418066</c:v>
                </c:pt>
                <c:pt idx="59">
                  <c:v>0.9665549721476453</c:v>
                </c:pt>
                <c:pt idx="60">
                  <c:v>0.9685556881396109</c:v>
                </c:pt>
                <c:pt idx="61">
                  <c:v>0.9704367192415484</c:v>
                </c:pt>
                <c:pt idx="62">
                  <c:v>0.972205225126774</c:v>
                </c:pt>
                <c:pt idx="63">
                  <c:v>0.9738679371695763</c:v>
                </c:pt>
                <c:pt idx="64">
                  <c:v>0.9754311840665053</c:v>
                </c:pt>
                <c:pt idx="65">
                  <c:v>0.9769009159249694</c:v>
                </c:pt>
                <c:pt idx="66">
                  <c:v>0.9782827269108268</c:v>
                </c:pt>
                <c:pt idx="67">
                  <c:v>0.9795818765411763</c:v>
                </c:pt>
                <c:pt idx="68">
                  <c:v>0.9808033097033897</c:v>
                </c:pt>
                <c:pt idx="69">
                  <c:v>0.9819516754765865</c:v>
                </c:pt>
                <c:pt idx="70">
                  <c:v>0.9830313448271878</c:v>
                </c:pt>
                <c:pt idx="71">
                  <c:v>0.9840464272459044</c:v>
                </c:pt>
                <c:pt idx="72">
                  <c:v>0.9850007863894825</c:v>
                </c:pt>
                <c:pt idx="73">
                  <c:v>0.9858980547867452</c:v>
                </c:pt>
                <c:pt idx="74">
                  <c:v>0.9867416476649018</c:v>
                </c:pt>
                <c:pt idx="75">
                  <c:v>0.9875347759487548</c:v>
                </c:pt>
                <c:pt idx="76">
                  <c:v>0.9882804584822803</c:v>
                </c:pt>
                <c:pt idx="77">
                  <c:v>0.9889815335190998</c:v>
                </c:pt>
                <c:pt idx="78">
                  <c:v>0.9896406695255819</c:v>
                </c:pt>
                <c:pt idx="79">
                  <c:v>0.9902603753376904</c:v>
                </c:pt>
                <c:pt idx="80">
                  <c:v>0.9908430097102392</c:v>
                </c:pt>
              </c:numCache>
            </c:numRef>
          </c:yVal>
          <c:smooth val="0"/>
        </c:ser>
        <c:ser>
          <c:idx val="1"/>
          <c:order val="1"/>
          <c:tx>
            <c:strRef>
              <c:f>Sheet1!$B$84</c:f>
              <c:strCache>
                <c:ptCount val="1"/>
                <c:pt idx="0">
                  <c:v>cable of length 2L</c:v>
                </c:pt>
              </c:strCache>
            </c:strRef>
          </c:tx>
          <c:spPr>
            <a:ln w="28575">
              <a:solidFill>
                <a:srgbClr val="A31F34"/>
              </a:solidFill>
            </a:ln>
          </c:spPr>
          <c:marker>
            <c:symbol val="none"/>
          </c:marker>
          <c:xVal>
            <c:numRef>
              <c:f>Sheet1!$A$85:$A$165</c:f>
              <c:numCache>
                <c:formatCode>General</c:formatCode>
                <c:ptCount val="81"/>
                <c:pt idx="0">
                  <c:v>0.0</c:v>
                </c:pt>
                <c:pt idx="1">
                  <c:v>0.025</c:v>
                </c:pt>
                <c:pt idx="2">
                  <c:v>0.05</c:v>
                </c:pt>
                <c:pt idx="3">
                  <c:v>0.07500000000000001</c:v>
                </c:pt>
                <c:pt idx="4">
                  <c:v>0.1</c:v>
                </c:pt>
                <c:pt idx="5">
                  <c:v>0.125</c:v>
                </c:pt>
                <c:pt idx="6">
                  <c:v>0.15000000000000002</c:v>
                </c:pt>
                <c:pt idx="7">
                  <c:v>0.17500000000000002</c:v>
                </c:pt>
                <c:pt idx="8">
                  <c:v>0.2</c:v>
                </c:pt>
                <c:pt idx="9">
                  <c:v>0.225</c:v>
                </c:pt>
                <c:pt idx="10">
                  <c:v>0.25</c:v>
                </c:pt>
                <c:pt idx="11">
                  <c:v>0.275</c:v>
                </c:pt>
                <c:pt idx="12">
                  <c:v>0.30000000000000004</c:v>
                </c:pt>
                <c:pt idx="13">
                  <c:v>0.325</c:v>
                </c:pt>
                <c:pt idx="14">
                  <c:v>0.35000000000000003</c:v>
                </c:pt>
                <c:pt idx="15">
                  <c:v>0.375</c:v>
                </c:pt>
                <c:pt idx="16">
                  <c:v>0.4</c:v>
                </c:pt>
                <c:pt idx="17">
                  <c:v>0.42500000000000004</c:v>
                </c:pt>
                <c:pt idx="18">
                  <c:v>0.45</c:v>
                </c:pt>
                <c:pt idx="19">
                  <c:v>0.47500000000000003</c:v>
                </c:pt>
                <c:pt idx="20">
                  <c:v>0.5</c:v>
                </c:pt>
                <c:pt idx="21">
                  <c:v>0.525</c:v>
                </c:pt>
                <c:pt idx="22">
                  <c:v>0.55</c:v>
                </c:pt>
                <c:pt idx="23">
                  <c:v>0.5750000000000001</c:v>
                </c:pt>
                <c:pt idx="24">
                  <c:v>0.6000000000000001</c:v>
                </c:pt>
                <c:pt idx="25">
                  <c:v>0.625</c:v>
                </c:pt>
                <c:pt idx="26">
                  <c:v>0.65</c:v>
                </c:pt>
                <c:pt idx="27">
                  <c:v>0.675</c:v>
                </c:pt>
                <c:pt idx="28">
                  <c:v>0.7000000000000001</c:v>
                </c:pt>
                <c:pt idx="29">
                  <c:v>0.7250000000000001</c:v>
                </c:pt>
                <c:pt idx="30">
                  <c:v>0.75</c:v>
                </c:pt>
                <c:pt idx="31">
                  <c:v>0.775</c:v>
                </c:pt>
                <c:pt idx="32">
                  <c:v>0.8</c:v>
                </c:pt>
                <c:pt idx="33">
                  <c:v>0.8250000000000001</c:v>
                </c:pt>
                <c:pt idx="34">
                  <c:v>0.8500000000000001</c:v>
                </c:pt>
                <c:pt idx="35">
                  <c:v>0.875</c:v>
                </c:pt>
                <c:pt idx="36">
                  <c:v>0.9</c:v>
                </c:pt>
                <c:pt idx="37">
                  <c:v>0.925</c:v>
                </c:pt>
                <c:pt idx="38">
                  <c:v>0.9500000000000001</c:v>
                </c:pt>
                <c:pt idx="39">
                  <c:v>0.9750000000000001</c:v>
                </c:pt>
                <c:pt idx="40">
                  <c:v>1.0</c:v>
                </c:pt>
                <c:pt idx="41">
                  <c:v>1.0250000000000001</c:v>
                </c:pt>
                <c:pt idx="42">
                  <c:v>1.05</c:v>
                </c:pt>
                <c:pt idx="43">
                  <c:v>1.075</c:v>
                </c:pt>
                <c:pt idx="44">
                  <c:v>1.1</c:v>
                </c:pt>
                <c:pt idx="45">
                  <c:v>1.125</c:v>
                </c:pt>
                <c:pt idx="46">
                  <c:v>1.1500000000000001</c:v>
                </c:pt>
                <c:pt idx="47">
                  <c:v>1.175</c:v>
                </c:pt>
                <c:pt idx="48">
                  <c:v>1.2000000000000002</c:v>
                </c:pt>
                <c:pt idx="49">
                  <c:v>1.225</c:v>
                </c:pt>
                <c:pt idx="50">
                  <c:v>1.25</c:v>
                </c:pt>
                <c:pt idx="51">
                  <c:v>1.2750000000000001</c:v>
                </c:pt>
                <c:pt idx="52">
                  <c:v>1.3</c:v>
                </c:pt>
                <c:pt idx="53">
                  <c:v>1.3250000000000002</c:v>
                </c:pt>
                <c:pt idx="54">
                  <c:v>1.35</c:v>
                </c:pt>
                <c:pt idx="55">
                  <c:v>1.375</c:v>
                </c:pt>
                <c:pt idx="56">
                  <c:v>1.4000000000000001</c:v>
                </c:pt>
                <c:pt idx="57">
                  <c:v>1.425</c:v>
                </c:pt>
                <c:pt idx="58">
                  <c:v>1.4500000000000002</c:v>
                </c:pt>
                <c:pt idx="59">
                  <c:v>1.475</c:v>
                </c:pt>
                <c:pt idx="60">
                  <c:v>1.5</c:v>
                </c:pt>
                <c:pt idx="61">
                  <c:v>1.5250000000000001</c:v>
                </c:pt>
                <c:pt idx="62">
                  <c:v>1.55</c:v>
                </c:pt>
                <c:pt idx="63">
                  <c:v>1.5750000000000002</c:v>
                </c:pt>
                <c:pt idx="64">
                  <c:v>1.6</c:v>
                </c:pt>
                <c:pt idx="65">
                  <c:v>1.625</c:v>
                </c:pt>
                <c:pt idx="66">
                  <c:v>1.6500000000000001</c:v>
                </c:pt>
                <c:pt idx="67">
                  <c:v>1.675</c:v>
                </c:pt>
                <c:pt idx="68">
                  <c:v>1.7000000000000002</c:v>
                </c:pt>
                <c:pt idx="69">
                  <c:v>1.725</c:v>
                </c:pt>
                <c:pt idx="70">
                  <c:v>1.75</c:v>
                </c:pt>
                <c:pt idx="71">
                  <c:v>1.7750000000000001</c:v>
                </c:pt>
                <c:pt idx="72">
                  <c:v>1.8</c:v>
                </c:pt>
                <c:pt idx="73">
                  <c:v>1.8250000000000002</c:v>
                </c:pt>
                <c:pt idx="74">
                  <c:v>1.85</c:v>
                </c:pt>
                <c:pt idx="75">
                  <c:v>1.875</c:v>
                </c:pt>
                <c:pt idx="76">
                  <c:v>1.9000000000000001</c:v>
                </c:pt>
                <c:pt idx="77">
                  <c:v>1.925</c:v>
                </c:pt>
                <c:pt idx="78">
                  <c:v>1.9500000000000002</c:v>
                </c:pt>
                <c:pt idx="79">
                  <c:v>1.975</c:v>
                </c:pt>
                <c:pt idx="80">
                  <c:v>2.0</c:v>
                </c:pt>
              </c:numCache>
            </c:numRef>
          </c:xVal>
          <c:yVal>
            <c:numRef>
              <c:f>Sheet1!$B$85:$B$165</c:f>
              <c:numCache>
                <c:formatCode>General</c:formatCode>
                <c:ptCount val="81"/>
                <c:pt idx="0">
                  <c:v>0.0</c:v>
                </c:pt>
                <c:pt idx="1">
                  <c:v>0.0</c:v>
                </c:pt>
                <c:pt idx="2">
                  <c:v>5.079257014983796e-10</c:v>
                </c:pt>
                <c:pt idx="3">
                  <c:v>4.835127764835079e-07</c:v>
                </c:pt>
                <c:pt idx="4">
                  <c:v>1.548843286192092e-05</c:v>
                </c:pt>
                <c:pt idx="5">
                  <c:v>0.00012668496733259094</c:v>
                </c:pt>
                <c:pt idx="6">
                  <c:v>0.0005214592657104555</c:v>
                </c:pt>
                <c:pt idx="7">
                  <c:v>0.001446465432860311</c:v>
                </c:pt>
                <c:pt idx="8">
                  <c:v>0.0031308045160052256</c:v>
                </c:pt>
                <c:pt idx="9">
                  <c:v>0.005738225584153045</c:v>
                </c:pt>
                <c:pt idx="10">
                  <c:v>0.009355469962094687</c:v>
                </c:pt>
                <c:pt idx="11">
                  <c:v>0.014001883978896124</c:v>
                </c:pt>
                <c:pt idx="12">
                  <c:v>0.0196465490150195</c:v>
                </c:pt>
                <c:pt idx="13">
                  <c:v>0.026225326530113335</c:v>
                </c:pt>
                <c:pt idx="14">
                  <c:v>0.033654818964028665</c:v>
                </c:pt>
                <c:pt idx="15">
                  <c:v>0.0418426706670636</c:v>
                </c:pt>
                <c:pt idx="16">
                  <c:v>0.0506946373155297</c:v>
                </c:pt>
                <c:pt idx="17">
                  <c:v>0.06011913563242144</c:v>
                </c:pt>
                <c:pt idx="18">
                  <c:v>0.07002996153139929</c:v>
                </c:pt>
                <c:pt idx="19">
                  <c:v>0.08034773908369608</c:v>
                </c:pt>
                <c:pt idx="20">
                  <c:v>0.09100052384636614</c:v>
                </c:pt>
                <c:pt idx="21">
                  <c:v>0.10192386441828594</c:v>
                </c:pt>
                <c:pt idx="22">
                  <c:v>0.11306053312702613</c:v>
                </c:pt>
                <c:pt idx="23">
                  <c:v>0.12436006845261371</c:v>
                </c:pt>
                <c:pt idx="24">
                  <c:v>0.1357782233143967</c:v>
                </c:pt>
                <c:pt idx="25">
                  <c:v>0.14727637973837993</c:v>
                </c:pt>
                <c:pt idx="26">
                  <c:v>0.15882096754359243</c:v>
                </c:pt>
                <c:pt idx="27">
                  <c:v>0.17038290935898281</c:v>
                </c:pt>
                <c:pt idx="28">
                  <c:v>0.18193710417936237</c:v>
                </c:pt>
                <c:pt idx="29">
                  <c:v>0.19346195513292652</c:v>
                </c:pt>
                <c:pt idx="30">
                  <c:v>0.2049389430054822</c:v>
                </c:pt>
                <c:pt idx="31">
                  <c:v>0.21635224454834168</c:v>
                </c:pt>
                <c:pt idx="32">
                  <c:v>0.2276883931414092</c:v>
                </c:pt>
                <c:pt idx="33">
                  <c:v>0.23893597861972282</c:v>
                </c:pt>
                <c:pt idx="34">
                  <c:v>0.25008538275108505</c:v>
                </c:pt>
                <c:pt idx="35">
                  <c:v>0.261128546807715</c:v>
                </c:pt>
                <c:pt idx="36">
                  <c:v>0.2720587677956068</c:v>
                </c:pt>
                <c:pt idx="37">
                  <c:v>0.2828705201191154</c:v>
                </c:pt>
                <c:pt idx="38">
                  <c:v>0.29355929971841843</c:v>
                </c:pt>
                <c:pt idx="39">
                  <c:v>0.3041214879942712</c:v>
                </c:pt>
                <c:pt idx="40">
                  <c:v>0.3145542331096478</c:v>
                </c:pt>
                <c:pt idx="41">
                  <c:v>0.32485534652066983</c:v>
                </c:pt>
                <c:pt idx="42">
                  <c:v>0.3350232128338416</c:v>
                </c:pt>
                <c:pt idx="43">
                  <c:v>0.34505671131030813</c:v>
                </c:pt>
                <c:pt idx="44">
                  <c:v>0.3549551475398861</c:v>
                </c:pt>
                <c:pt idx="45">
                  <c:v>0.3647181939884746</c:v>
                </c:pt>
                <c:pt idx="46">
                  <c:v>0.37434583828324886</c:v>
                </c:pt>
                <c:pt idx="47">
                  <c:v>0.3838383382423155</c:v>
                </c:pt>
                <c:pt idx="48">
                  <c:v>0.3931961827809123</c:v>
                </c:pt>
                <c:pt idx="49">
                  <c:v>0.40242005793645486</c:v>
                </c:pt>
                <c:pt idx="50">
                  <c:v>0.4115108173513934</c:v>
                </c:pt>
                <c:pt idx="51">
                  <c:v>0.4204694566374738</c:v>
                </c:pt>
                <c:pt idx="52">
                  <c:v>0.42929709111899483</c:v>
                </c:pt>
                <c:pt idx="53">
                  <c:v>0.43799493651728805</c:v>
                </c:pt>
                <c:pt idx="54">
                  <c:v>0.44656429219506166</c:v>
                </c:pt>
                <c:pt idx="55">
                  <c:v>0.4550065266284644</c:v>
                </c:pt>
                <c:pt idx="56">
                  <c:v>0.46332306481762</c:v>
                </c:pt>
                <c:pt idx="57">
                  <c:v>0.47151537738378435</c:v>
                </c:pt>
                <c:pt idx="58">
                  <c:v>0.4795849711338568</c:v>
                </c:pt>
                <c:pt idx="59">
                  <c:v>0.48753338090134835</c:v>
                </c:pt>
                <c:pt idx="60">
                  <c:v>0.4953621624976404</c:v>
                </c:pt>
                <c:pt idx="61">
                  <c:v>0.5030728866288828</c:v>
                </c:pt>
                <c:pt idx="62">
                  <c:v>0.5106671336526254</c:v>
                </c:pt>
                <c:pt idx="63">
                  <c:v>0.5181464890645973</c:v>
                </c:pt>
                <c:pt idx="64">
                  <c:v>0.5255125396202509</c:v>
                </c:pt>
                <c:pt idx="65">
                  <c:v>0.5327668700080588</c:v>
                </c:pt>
                <c:pt idx="66">
                  <c:v>0.5399110600023153</c:v>
                </c:pt>
                <c:pt idx="67">
                  <c:v>0.5469466820325669</c:v>
                </c:pt>
                <c:pt idx="68">
                  <c:v>0.5538752991149568</c:v>
                </c:pt>
                <c:pt idx="69">
                  <c:v>0.5606984630978623</c:v>
                </c:pt>
                <c:pt idx="70">
                  <c:v>0.5674177131803951</c:v>
                </c:pt>
                <c:pt idx="71">
                  <c:v>0.5740345746677041</c:v>
                </c:pt>
                <c:pt idx="72">
                  <c:v>0.5805505579317103</c:v>
                </c:pt>
                <c:pt idx="73">
                  <c:v>0.5869671575499777</c:v>
                </c:pt>
                <c:pt idx="74">
                  <c:v>0.593285851598969</c:v>
                </c:pt>
                <c:pt idx="75">
                  <c:v>0.5995081010810246</c:v>
                </c:pt>
                <c:pt idx="76">
                  <c:v>0.6056353494670939</c:v>
                </c:pt>
                <c:pt idx="77">
                  <c:v>0.6116690223395791</c:v>
                </c:pt>
                <c:pt idx="78">
                  <c:v>0.6176105271216975</c:v>
                </c:pt>
                <c:pt idx="79">
                  <c:v>0.62346125288153</c:v>
                </c:pt>
                <c:pt idx="80">
                  <c:v>0.6292225702004761</c:v>
                </c:pt>
              </c:numCache>
            </c:numRef>
          </c:yVal>
          <c:smooth val="0"/>
        </c:ser>
        <c:axId val="-2128940872"/>
        <c:axId val="-2129643912"/>
      </c:scatterChart>
      <c:valAx>
        <c:axId val="-2128940872"/>
        <c:scaling>
          <c:orientation val="minMax"/>
          <c:max val="2.0"/>
          <c:min val="0.0"/>
        </c:scaling>
        <c:delete val="0"/>
        <c:axPos val="b"/>
        <c:title>
          <c:tx>
            <c:rich>
              <a:bodyPr/>
              <a:lstStyle/>
              <a:p>
                <a:r>
                  <a:rPr sz="1000" b="0">
                    <a:solidFill>
                      <a:srgbClr val="506476"/>
                    </a:solidFill>
                  </a:rPr>
                  <a:t>time, in units of r c L²</a:t>
                </a:r>
              </a:p>
            </c:rich>
          </c:tx>
          <c:layout/>
          <c:overlay val="0"/>
        </c:title>
        <c:numFmt formatCode="General" sourceLinked="0"/>
        <c:majorTickMark val="none"/>
        <c:minorTickMark val="none"/>
        <c:tickLblPos val="low"/>
        <c:spPr>
          <a:ln>
            <a:solidFill>
              <a:srgbClr val="B8C4D0"/>
            </a:solidFill>
          </a:ln>
        </c:spPr>
        <c:txPr>
          <a:bodyPr/>
          <a:lstStyle/>
          <a:p>
            <a:pPr>
              <a:defRPr sz="1000"/>
            </a:pPr>
          </a:p>
        </c:txPr>
        <c:crossAx val="-2129643912"/>
        <c:crosses val="autoZero"/>
        <c:crossBetween val="midCat"/>
        <c:majorUnit val="0.5"/>
      </c:valAx>
      <c:valAx>
        <c:axId val="-2129643912"/>
        <c:scaling>
          <c:orientation val="minMax"/>
          <c:max val="1.0"/>
          <c:min val="0.0"/>
        </c:scaling>
        <c:delete val="0"/>
        <c:axPos val="l"/>
        <c:majorGridlines>
          <c:spPr>
            <a:ln w="9525">
              <a:solidFill>
                <a:srgbClr val="E3E8ED"/>
              </a:solidFill>
            </a:ln>
          </c:spPr>
        </c:majorGridlines>
        <c:numFmt formatCode="General" sourceLinked="0"/>
        <c:majorTickMark val="none"/>
        <c:minorTickMark val="none"/>
        <c:tickLblPos val="nextTo"/>
        <c:spPr>
          <a:ln>
            <a:solidFill>
              <a:srgbClr val="B8C4D0"/>
            </a:solidFill>
          </a:ln>
        </c:spPr>
        <c:txPr>
          <a:bodyPr/>
          <a:lstStyle/>
          <a:p>
            <a:pPr>
              <a:defRPr sz="1000"/>
            </a:pPr>
          </a:p>
        </c:txPr>
        <c:crossAx val="-2128940872"/>
        <c:crosses val="autoZero"/>
        <c:crossBetween val="midCat"/>
        <c:majorUnit val="0.25"/>
      </c:valAx>
    </c:plotArea>
    <c:legend>
      <c:legendPos val="b"/>
      <c:layout/>
      <c:overlay val="0"/>
      <c:txPr>
        <a:bodyPr/>
        <a:lstStyle/>
        <a:p>
          <a:pPr>
            <a:defRPr sz="1000"/>
          </a:pPr>
        </a:p>
      </c:txPr>
    </c:legend>
    <c:plotVisOnly val="1"/>
    <c:dispBlanksAs val="gap"/>
    <c:showDLblsOverMax val="0"/>
  </c:chart>
  <c:txPr>
    <a:bodyPr/>
    <a:lstStyle/>
    <a:p>
      <a:pPr>
        <a:defRPr sz="1000">
          <a:solidFill>
            <a:srgbClr val="50647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Companion deck to the Lecture 9 notes (L09_v2). It adds numbers, devices and nine short simulations to Sections 1 to 6. About 50 minutes in full, and about 43 without slides 5, 14, 19, 24 and 25, which are marked in their notes.</a:t>
            </a:r>
          </a:p>
          <a:p/>
          <a:p>
            <a:r>
              <a:t>Videos: each one starts on the next click and loops until you leave the slide. Clicking on the picture pauses and resumes it. The still shown before the first click is a frame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The four parts of the deck. Parts 1 and 2 follow the notes; parts 3 and 4 go beyond them but use nothing new: the same two laws, written cell by cell on a grid.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Section 2 of the notes in one line: stored = in minus out. Click 1 and 2 build the equation. Click 3 starts the video: the arrows are the fluxes between neighbouring cells, and the line under the rod reads the two arrows of the red cell and their difference. The total stays at 24.0 because nothing crosses the ends. The cell temperatures are the solution of du/dt = -Bu, computed from the eigenvectors of B as in Lecture 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Ask the room for the answer before click 1. The only step that needs care is the heat capacity of the piece: C times sigma times the length, 3.45 J/K. Two watts stored then gives 0.58 K/s, about 35 K per minute. Click 3: equal flux in and out means no change. Steady does not mean no 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can be skipped. The point of the aside in Section 3 of the notes: a conservation law plus a constitutive law. The first four rows give, in order, the heat equation, the diffusion equation, charge relaxation, and traffic waves (a nonlinear law, which is why traffic forms jams). The last row is the continuity equation of quantum mechanics, where the current is |ψ|² times the gradient of the phase, times ħ/m.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Equation (2) of the notes, written per unit area so that k is the handbook conductivity. The chart shows what a designer has to work with: copper and aluminium are within a factor of two of each other, silicon is a good conductor, and air is fifteen thousand times worse than copper. The two red bars, air and paste, are the poor conductors that end up in the path between a chip and its cooler.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Ask which filling they expect to matter. Click 1: the formula reduces to 30 over k. Click 2: 1150 K for air, 6 K for paste, 0.4 K for solder. The air figure is not physical, since real surfaces touch at asperities, but it shows why the gap must be filled. Click 3 names the thermal resistance L/(kA), which the cooler slides 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Click 1 plays the video: the temperature profile through die, paste and lid from the instant the power is switched on. The profile is a broken line in steady state; the cliff is the paste. Click 2: the three drops, f L / k, add to 12.5 K. Click 3: flux continuity at an interface is the continuity equation with nothing stored, and it explains the kinks. Model: 60 W/cm² into the bottom of the die, lid surface held at 50 °C, no sideways spreading.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Section 4 of the notes sets the global factor to 1; here it is put back. Alpha is k over the heat capacity per volume; in the symbols of the notes, whose k is the handbook k times the area, it is k/(C sigma). The decay rates of Section 6 are alpha times (pi/L) squared times a number, so times scale as L squared over alpha. Read the copper row: 9 ms, 0.9 s, 86 s. Then water: 7 s, 12 min, 19 h, which is why an egg takes minutes and a roast takes hours.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Click to play. Left: Example 6.1, the dip at the midpoint fills in by t = 0.14 and the arch then decays at rate 1. Middle: Example 6.2, total heat is conserved and the rod settles at 1. Right: Example 6.3, four times slower. The pale curve is the initial temperature in each panel. The video plots the three formulas of the notes; nothing is solved numerically.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The fin is the rod of Example 6.3, mirrored so that the held end comes first, with one more term: each piece also loses heat to the air through its two faces. Click 1: the equation. Click 2: its steady solution, a hyperbolic cosine with decay length 1/m. Click 3: the video, three fins whose base is suddenly held at 80 °C in air at 25 °C. Click 4 and 5: the numbers. The heat removed is proportional to tanh(mL), which is 0.76 at L = 1/m and 0.96 at L = 2/m. Doubling the fin from 40 to 80 mm adds a third more heat, not twice. Click 6: the design rule. This is one reason coolers have many short thin fins. The alloy is 6063, k = 200 W/(m K), a little below the 237 of pure aluminium on slide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The two-dimensional heat equation from the aside in Section 4 of the notes. Click 1: the five-point stencil and its reading as an average of four neighbours. Click 2: the matrix is a Kronecker sum of the one-dimensional matrix with itself, with at most five non-zeros in a row. Students do not need the Kronecker product today; the point is that the matrix is sparse, symmetric and positive definite when the edges are held at a fixed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Click to play. The same initial hot spot on two square plates. Left: the rim is held at zero, and the heat on the plate falls to 46% at t = 0.5 and 2% at t = 2. Right: the rim is insulated, the readout stays at 100%, and the plate ends at a uniform temperature, the average. The colour scale is a square root so that the late, faint temperatures stay visible. Grid 120 by 120, backward Euler.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can be skipped. This is the computational content of the lecture. The stack, the fins and every two-dimensional simulation in the deck use these three lines. Click 1: backward Euler. Click 2: the code, and the cost. Click 3: the explicit alternative and its step limit. Click 4: why the implicit step is stable, in the language of Lecture 8: A is positive definite when heat can leave and semidefinite when every edge is insulated, so no mode grows. The constant mode of an insulated plate has lambda = 0 and is multiplied by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The numbers: Intel lists 125 W base power, 253 W maximum turbo power and a 100 °C junction limit for the Core i9-14900K; the die is about 257 mm². The GeForce RTX 5090 is rated at 575 W for the whole card, with a 750 mm² die, so 77 W/cm² is an upper bound for the chip. Both are near 100 W/cm² at full load, about ten times a kitchen hob and between one and two per cent of the flux at the surface of the Sun. Sources: Intel product specifications for the Core i9-14900K; TechSpot review of the GeForce RTX 5090 (575 W, 750 mm²); Hardwareluxx wafer measurement of the Raptor Lake die (257 mm²).</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The circuit picture: heat flow is the current, temperature the voltage, and each layer a resistor L/(kA). Click 1: with Intel's numbers the total must stay under 0.30 K/W. Click 2: the simulated heatsink of slide 18 reaches 0.20 K/W with the fan and 0.84 K/W without; both come from a simple model and are optimistic. Click 3: the metal layers are hundredths of a K/W each, and the transfer to air is the largest single resistance.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Click 1 plays the video: the temperature of the lid seen from above. For 1.6 s one busy thread hops between four cores, as an operating system does; then all eight cores are loaded. The video stops after four seconds of full load, at 80 °C; the steady values are 81 °C at the hottest point and 69 °C on average. Click 2 and 3: the numbers. These are lid temperatures. The transistors under a busy core are about 18 K hotter, by the drops across die and paste of slide 8 at 133 W/cm². Click 4: the sideways spreading time is L squared over alpha, about 80 ms for 3 mm of copper. Model: the lid is a thin plate; each cell loses heat upward to a cooler held at 40 °C. The layout is not a real floor plan.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Click to play. A cross-section of a straight-fin aluminium heatsink, 80 mm wide and 80 mm deep, with 125 W entering under the middle of the base. For the first 180 s the air is still, h = 8 W/(m² K): the metal warms almost as one block, at about 0.4 K per second, heading for 130 °C. At 180 s the fan starts, h = 45: the temperature falls to 50 °C with a time constant near one minute. Look at the fins after the fan starts: the tips are 12 K cooler than the base, the fin effect of slide 11. Model: every exposed metal face loses h times its area times its excess over 25 °C air. This is optimistic: in a real heatsink the air warms as it passes between the fins, and h is lower deep in the channels. Steady values of the model: 130 °C without the fan, 50 °C with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can be skipped. The step response has two plateaus. The first, reached in about a second, is the chip sitting about 16 K above a heatsink that has not yet warmed: 125 W times the 0.13 K/W of die, paste, lid and contact. The second, reached after a few minutes, adds the 25 K rise of the heatsink above the air. The same two time scales are in the videos of slides 17 and 18: tenths of a second under the lid, minutes for the heatsink. This is one reason a processor can run above its sustained power for a short time.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Click to play. The plate between a graphics chip and its fins, seen from above, with 575 W entering through the outlined die. 575 W is the rating of the whole card, so it is an upper bound for the die. Both panels have the same fins above them, 0.09 K/W in total. Left: solid copper. The heat does not spread far enough, about 26 mm (slide 21): the die reaches 134 °C and the corners stay at 56 °C, so the outer fins do little. Right: a vapour chamber, modelled as a plate with an effective conductivity of 5000 W/(m K). The plate is within 8 K of uniform and every fin works. Only the final state is meaningful: the fins have no heat capacity in this model, so the warm-up is faster than in a real card. A vapour chamber is a flat sealed box in which water evaporates over the chip and condenses under the fins. Electronics Cooling (2010) quotes effective conductivities of 1000 to 1500 W/(m K) for a chamber used as a spreader and 5000 to 10 000 when heat is carried over a distance; with 1000 to 1500 this model gives 102 to 94 °C at the die. Reviews of this card measured 73 to 77 °C at the chip; the fin resistance here was chosen so that perfect spreading gives 77 °C.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One click per card. Card 2: the spreading length is the plate version of the fin length 1/m, with the heat leaving through one face; 26 mm and 93 mm are the values for the graphics card plate of slide 20, where the fins above act as h = 1700 W/(m² K) per unit area of plate. Card 3: for the heatsink, 1/(hA) with h = 45 and A = 0.16 m² is 0.14 K/W before the fin efficiency is counted. Card 4: the efficiency of the fins of slide 11 is 0.94, 0.80 and 0.53 for 20, 40 and 80 mm.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Click to play. Two eggs from the fridge, 4 °C, put into boiling water and drawn to scale: a 57 g hen's egg and a 1.9 kg ostrich egg. The surface is held at 100 °C, a fixed end; the heat diffuses inward. The curve is the temperature at the edge of the yolk, taken at 0.69 of the radius. It passes 63 °C after 5.0 minutes for the hen's egg and 51 minutes for the ostrich egg. One account (Tastes of History) gives 45 to 50 minutes for soft-boiled. Model: a uniform sphere with one set of properties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The modes of a sphere are sin(n pi r/R)/r: the one-dimensional sines of Example 6.1 divided by r. The decay rates have the same form, alpha n² pi² / R². After the first minutes only n = 1 matters much, and solving for the time gives Williams's formula. In this model the factor 0.76 is twice the first mode at r = 0.69 R, which is where the video places the edge of the yolk. Click 2: the formula gives 4.5 and 47 minutes; with every mode kept the times are 5.0 and 51 minutes, so one mode is within 9 per cent. Click 3: the scaling. (1.9/0.057) to the power 2/3 is 10.4. Alpha is 0.14 mm²/s, close to water.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can be skipped. The steady heat equation in a cylinder with a uniform source. The solution is a parabola, 8.2 K from axis to surface for these numbers. Because the refractive index rises with temperature, the rod is optically thicker on its axis and acts as a converging lens, about 1 m here. This thermal lens has to be allowed for in the design of high-power solid-state lasers. The lens formula is for uniform pumping and purely radial heat flow.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can be skipped. A cable with distributed resistance and capacitance, with no inductance, obeys the heat equation with alpha = 1/(rc). The driven end is a fixed end and the open end is an insulated end, so the modes are those of Example 6.3, mirrored. The far end reaches half the applied step at 0.38 r c L². William Thomson, later Lord Kelvin, published this in 1855; it predicted that a transatlantic cable would be slow. The same scaling limits long wires on a chip.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Every row is the continuity equation plus Fourier's law. What changes from row to row is the geometry, the boundary conditions and the material.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minutes. One click per answer. 1: time goes as length squared. 2: k is 400 for copper, 5 for paste and 0.026 for air; the paste layer is tens of micrometres thick. 3: slide 11. 4: Example 6.2.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of the one-dimensional script: assemble the tridiagonal matrix from Fourier's law between neighbouring cells, then backward Euler with one factorisation. Running the script prints the numbers on slides 4, 7, 8, 9, 11, 19, 23, 24 and 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of the two-dimensional script. Left: the graph Laplacian of the solid cells, which for a full rectangle is the five-point matrix with insulated edges, and the backward Euler stepper. Right: the plate of slide 13. The processor lid, the heatsink and the graphics card plate use the same two pieces with different conductances, capacities and sources. With a cold rim the rim lies half a cell beyond the outer cell centres, so the one-dimensional factor has 3, not 2, at the two ends of its diagonal: close to the K of Lecture 2 but not identical to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output of the two scripts, for checking the numbers on the slides. A third script, L09_make_videos.py, renders the nine videos with matplotlib and ffmpeg.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09 Titl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051560"/>
            <a:ext cx="10515600" cy="365760"/>
          </a:xfrm>
          <a:prstGeom prst="rect">
            <a:avLst/>
          </a:prstGeom>
          <a:noFill/>
          <a:ln/>
        </p:spPr>
        <p:txBody>
          <a:bodyPr wrap="square" lIns="0" tIns="0" rIns="0" bIns="0" rtlCol="0" anchor="ctr"/>
          <a:lstStyle/>
          <a:p>
            <a:pPr indent="0" marL="0">
              <a:buNone/>
            </a:pPr>
            <a:r>
              <a:rPr lang="en-US" sz="1500" dirty="0">
                <a:solidFill>
                  <a:schemeClr val="accent4"/>
                </a:solidFill>
              </a:rPr>
              <a:t>18.085  ·  Computational Science and Engineering I  ·  Fall 2026</a:t>
            </a:r>
            <a:endParaRPr lang="en-US" sz="1500" dirty="0"/>
          </a:p>
        </p:txBody>
      </p:sp>
      <p:sp>
        <p:nvSpPr>
          <p:cNvPr id="3" name="Text 1"/>
          <p:cNvSpPr/>
          <p:nvPr>
            <p:ph idx="101" type="title" hasCustomPrompt="1"/>
          </p:nvPr>
        </p:nvSpPr>
        <p:spPr>
          <a:xfrm>
            <a:off x="822960" y="1600200"/>
            <a:ext cx="105156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822960" y="3520440"/>
            <a:ext cx="10515600" cy="41148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09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612648" y="6464808"/>
            <a:ext cx="7315200" cy="274320"/>
          </a:xfrm>
          <a:prstGeom prst="rect">
            <a:avLst/>
          </a:prstGeom>
          <a:noFill/>
          <a:ln/>
        </p:spPr>
        <p:txBody>
          <a:bodyPr wrap="square" lIns="0" tIns="0" rIns="0" bIns="0" rtlCol="0" anchor="ctr"/>
          <a:lstStyle/>
          <a:p>
            <a:pPr indent="0" marL="0">
              <a:buNone/>
            </a:pPr>
            <a:r>
              <a:rPr lang="en-US" sz="1000" dirty="0">
                <a:solidFill>
                  <a:schemeClr val="tx2"/>
                </a:solidFill>
              </a:rPr>
              <a:t>18.085  ·  Lecture 9  ·  The heat equation in practice</a:t>
            </a:r>
            <a:endParaRPr lang="en-US" sz="1000" dirty="0"/>
          </a:p>
        </p:txBody>
      </p:sp>
      <p:sp>
        <p:nvSpPr>
          <p:cNvPr id="2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1.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chart" Target="../charts/char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18.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21.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image" Target="../media/image23.png"/><Relationship Id="rId4" Type="http://schemas.microsoft.com/office/2007/relationships/media" Target="../media/media4.mp4"/><Relationship Id="rId5" Type="http://schemas.openxmlformats.org/officeDocument/2006/relationships/video" Target="../media/media4.mp4"/><Relationship Id="rId6" Type="http://schemas.openxmlformats.org/officeDocument/2006/relationships/image" Target="../media/image24.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34.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35.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36.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9.mp4"/><Relationship Id="rId3" Type="http://schemas.openxmlformats.org/officeDocument/2006/relationships/video" Target="../media/media9.mp4"/><Relationship Id="rId4" Type="http://schemas.openxmlformats.org/officeDocument/2006/relationships/image" Target="../media/image41.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chart" Target="../charts/char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wrap="square" lIns="0" tIns="0" rIns="0" bIns="0" rtlCol="0" anchor="t"/>
          <a:lstStyle/>
          <a:p>
            <a:pPr algn="l" indent="0" marL="0">
              <a:buNone/>
            </a:pPr>
            <a:r>
              <a:rPr lang="en-US" sz="4400" b="1" dirty="0">
                <a:solidFill>
                  <a:schemeClr val="bg1"/>
                </a:solidFill>
              </a:rPr>
              <a:t>The heat equation</a:t>
            </a:r>
            <a:endParaRPr lang="en-US" sz="4400" dirty="0"/>
          </a:p>
          <a:p>
            <a:pPr algn="l" indent="0" marL="0">
              <a:buNone/>
            </a:pPr>
            <a:r>
              <a:rPr lang="en-US" sz="4400" b="1" dirty="0">
                <a:solidFill>
                  <a:schemeClr val="bg1"/>
                </a:solidFill>
              </a:rPr>
              <a:t>in practice</a:t>
            </a:r>
            <a:endParaRPr lang="en-US" sz="4400" dirty="0"/>
          </a:p>
        </p:txBody>
      </p:sp>
      <p:sp>
        <p:nvSpPr>
          <p:cNvPr id="3" name="Text Placeholder 2"/>
          <p:cNvSpPr>
            <a:spLocks noGrp="1"/>
          </p:cNvSpPr>
          <p:nvPr>
            <p:ph type="body" idx="102"/>
          </p:nvPr>
        </p:nvSpPr>
        <p:spPr/>
        <p:txBody>
          <a:bodyPr wrap="square" lIns="0" tIns="0" rIns="0" bIns="0" rtlCol="0" anchor="t"/>
          <a:lstStyle/>
          <a:p>
            <a:pPr algn="l" indent="0" marL="0">
              <a:buNone/>
            </a:pPr>
            <a:r>
              <a:rPr lang="en-US" sz="1800" dirty="0">
                <a:solidFill>
                  <a:schemeClr val="bg1"/>
                </a:solidFill>
              </a:rPr>
              <a:t>Lecture 9  ·  continuity  ·  Fourier's law  ·  one and two dimensions  ·  coolers</a:t>
            </a:r>
            <a:endParaRPr lang="en-US" sz="1800" dirty="0"/>
          </a:p>
        </p:txBody>
      </p:sp>
      <p:sp>
        <p:nvSpPr>
          <p:cNvPr id="4" name="t-1-1"/>
          <p:cNvSpPr txBox="1"/>
          <p:nvPr/>
        </p:nvSpPr>
        <p:spPr>
          <a:xfrm>
            <a:off x="822960" y="4023360"/>
            <a:ext cx="10515600" cy="320040"/>
          </a:xfrm>
          <a:prstGeom prst="rect">
            <a:avLst/>
          </a:prstGeom>
          <a:noFill/>
        </p:spPr>
        <p:txBody>
          <a:bodyPr wrap="square" lIns="0" tIns="0" rIns="0" bIns="0" rtlCol="0" anchor="t"/>
          <a:lstStyle/>
          <a:p>
            <a:pPr algn="l" indent="0" marL="0">
              <a:buNone/>
            </a:pPr>
            <a:r>
              <a:rPr lang="en-US" sz="1500" dirty="0">
                <a:solidFill>
                  <a:schemeClr val="accent4"/>
                </a:solidFill>
              </a:rPr>
              <a:t>Wednesday 7 October 2026</a:t>
            </a:r>
            <a:endParaRPr lang="en-US" sz="1500" dirty="0"/>
          </a:p>
        </p:txBody>
      </p:sp>
      <p:sp>
        <p:nvSpPr>
          <p:cNvPr id="5" name="t-1-2"/>
          <p:cNvSpPr txBox="1"/>
          <p:nvPr/>
        </p:nvSpPr>
        <p:spPr>
          <a:xfrm>
            <a:off x="822960" y="4892040"/>
            <a:ext cx="10515600" cy="274320"/>
          </a:xfrm>
          <a:prstGeom prst="rect">
            <a:avLst/>
          </a:prstGeom>
          <a:noFill/>
        </p:spPr>
        <p:txBody>
          <a:bodyPr wrap="square" lIns="0" tIns="0" rIns="0" bIns="0" rtlCol="0" anchor="t"/>
          <a:lstStyle/>
          <a:p>
            <a:pPr algn="l" indent="0" marL="0">
              <a:buNone/>
            </a:pPr>
            <a:r>
              <a:rPr lang="en-US" sz="1300" b="1" dirty="0">
                <a:solidFill>
                  <a:schemeClr val="accent4"/>
                </a:solidFill>
              </a:rPr>
              <a:t>Where it shows up today</a:t>
            </a:r>
            <a:endParaRPr lang="en-US" sz="1300" dirty="0"/>
          </a:p>
        </p:txBody>
      </p:sp>
      <p:pic>
        <p:nvPicPr>
          <p:cNvPr id="6" name="icon-1-3" descr=""/>
          <p:cNvPicPr>
            <a:picLocks noChangeAspect="1"/>
          </p:cNvPicPr>
          <p:nvPr/>
        </p:nvPicPr>
        <p:blipFill>
          <a:blip r:embed="rId2"/>
          <a:stretch>
            <a:fillRect/>
          </a:stretch>
        </p:blipFill>
        <p:spPr>
          <a:xfrm>
            <a:off x="822960" y="5349240"/>
            <a:ext cx="411480" cy="411480"/>
          </a:xfrm>
          <a:prstGeom prst="rect">
            <a:avLst/>
          </a:prstGeom>
        </p:spPr>
      </p:pic>
      <p:sp>
        <p:nvSpPr>
          <p:cNvPr id="7" name="t-1-4"/>
          <p:cNvSpPr txBox="1"/>
          <p:nvPr/>
        </p:nvSpPr>
        <p:spPr>
          <a:xfrm>
            <a:off x="1389888" y="5349240"/>
            <a:ext cx="1920240" cy="411480"/>
          </a:xfrm>
          <a:prstGeom prst="rect">
            <a:avLst/>
          </a:prstGeom>
          <a:noFill/>
        </p:spPr>
        <p:txBody>
          <a:bodyPr wrap="square" lIns="0" tIns="0" rIns="0" bIns="0" rtlCol="0" anchor="ctr"/>
          <a:lstStyle/>
          <a:p>
            <a:pPr algn="l" indent="0" marL="0">
              <a:buNone/>
            </a:pPr>
            <a:r>
              <a:rPr lang="en-US" sz="1400" dirty="0">
                <a:solidFill>
                  <a:schemeClr val="bg1"/>
                </a:solidFill>
              </a:rPr>
              <a:t>Processors</a:t>
            </a:r>
            <a:endParaRPr lang="en-US" sz="1400" dirty="0"/>
          </a:p>
        </p:txBody>
      </p:sp>
      <p:pic>
        <p:nvPicPr>
          <p:cNvPr id="8" name="icon-1-5" descr=""/>
          <p:cNvPicPr>
            <a:picLocks noChangeAspect="1"/>
          </p:cNvPicPr>
          <p:nvPr/>
        </p:nvPicPr>
        <p:blipFill>
          <a:blip r:embed="rId3"/>
          <a:stretch>
            <a:fillRect/>
          </a:stretch>
        </p:blipFill>
        <p:spPr>
          <a:xfrm>
            <a:off x="3337560" y="5349240"/>
            <a:ext cx="411480" cy="411480"/>
          </a:xfrm>
          <a:prstGeom prst="rect">
            <a:avLst/>
          </a:prstGeom>
        </p:spPr>
      </p:pic>
      <p:sp>
        <p:nvSpPr>
          <p:cNvPr id="9" name="t-1-6"/>
          <p:cNvSpPr txBox="1"/>
          <p:nvPr/>
        </p:nvSpPr>
        <p:spPr>
          <a:xfrm>
            <a:off x="3904488" y="5349240"/>
            <a:ext cx="1920240" cy="411480"/>
          </a:xfrm>
          <a:prstGeom prst="rect">
            <a:avLst/>
          </a:prstGeom>
          <a:noFill/>
        </p:spPr>
        <p:txBody>
          <a:bodyPr wrap="square" lIns="0" tIns="0" rIns="0" bIns="0" rtlCol="0" anchor="ctr"/>
          <a:lstStyle/>
          <a:p>
            <a:pPr algn="l" indent="0" marL="0">
              <a:buNone/>
            </a:pPr>
            <a:r>
              <a:rPr lang="en-US" sz="1400" dirty="0">
                <a:solidFill>
                  <a:schemeClr val="bg1"/>
                </a:solidFill>
              </a:rPr>
              <a:t>Coolers</a:t>
            </a:r>
            <a:endParaRPr lang="en-US" sz="1400" dirty="0"/>
          </a:p>
        </p:txBody>
      </p:sp>
      <p:pic>
        <p:nvPicPr>
          <p:cNvPr id="10" name="icon-1-7" descr=""/>
          <p:cNvPicPr>
            <a:picLocks noChangeAspect="1"/>
          </p:cNvPicPr>
          <p:nvPr/>
        </p:nvPicPr>
        <p:blipFill>
          <a:blip r:embed="rId4"/>
          <a:stretch>
            <a:fillRect/>
          </a:stretch>
        </p:blipFill>
        <p:spPr>
          <a:xfrm>
            <a:off x="5852160" y="5349240"/>
            <a:ext cx="411480" cy="411480"/>
          </a:xfrm>
          <a:prstGeom prst="rect">
            <a:avLst/>
          </a:prstGeom>
        </p:spPr>
      </p:pic>
      <p:sp>
        <p:nvSpPr>
          <p:cNvPr id="11" name="t-1-8"/>
          <p:cNvSpPr txBox="1"/>
          <p:nvPr/>
        </p:nvSpPr>
        <p:spPr>
          <a:xfrm>
            <a:off x="6419088" y="5349240"/>
            <a:ext cx="1920240" cy="411480"/>
          </a:xfrm>
          <a:prstGeom prst="rect">
            <a:avLst/>
          </a:prstGeom>
          <a:noFill/>
        </p:spPr>
        <p:txBody>
          <a:bodyPr wrap="square" lIns="0" tIns="0" rIns="0" bIns="0" rtlCol="0" anchor="ctr"/>
          <a:lstStyle/>
          <a:p>
            <a:pPr algn="l" indent="0" marL="0">
              <a:buNone/>
            </a:pPr>
            <a:r>
              <a:rPr lang="en-US" sz="1400" dirty="0">
                <a:solidFill>
                  <a:schemeClr val="bg1"/>
                </a:solidFill>
              </a:rPr>
              <a:t>Kitchens</a:t>
            </a:r>
            <a:endParaRPr lang="en-US" sz="1400" dirty="0"/>
          </a:p>
        </p:txBody>
      </p:sp>
      <p:pic>
        <p:nvPicPr>
          <p:cNvPr id="12" name="icon-1-9" descr=""/>
          <p:cNvPicPr>
            <a:picLocks noChangeAspect="1"/>
          </p:cNvPicPr>
          <p:nvPr/>
        </p:nvPicPr>
        <p:blipFill>
          <a:blip r:embed="rId5"/>
          <a:stretch>
            <a:fillRect/>
          </a:stretch>
        </p:blipFill>
        <p:spPr>
          <a:xfrm>
            <a:off x="8366760" y="5349240"/>
            <a:ext cx="411480" cy="411480"/>
          </a:xfrm>
          <a:prstGeom prst="rect">
            <a:avLst/>
          </a:prstGeom>
        </p:spPr>
      </p:pic>
      <p:sp>
        <p:nvSpPr>
          <p:cNvPr id="13" name="t-1-10"/>
          <p:cNvSpPr txBox="1"/>
          <p:nvPr/>
        </p:nvSpPr>
        <p:spPr>
          <a:xfrm>
            <a:off x="8933688" y="5349240"/>
            <a:ext cx="1920240" cy="411480"/>
          </a:xfrm>
          <a:prstGeom prst="rect">
            <a:avLst/>
          </a:prstGeom>
          <a:noFill/>
        </p:spPr>
        <p:txBody>
          <a:bodyPr wrap="square" lIns="0" tIns="0" rIns="0" bIns="0" rtlCol="0" anchor="ctr"/>
          <a:lstStyle/>
          <a:p>
            <a:pPr algn="l" indent="0" marL="0">
              <a:buNone/>
            </a:pPr>
            <a:r>
              <a:rPr lang="en-US" sz="1400" dirty="0">
                <a:solidFill>
                  <a:schemeClr val="bg1"/>
                </a:solidFill>
              </a:rPr>
              <a:t>Lasers and cables</a:t>
            </a:r>
            <a:endParaRPr lang="en-US" sz="14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Today: two laws, one equation, many machines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
        <p:nvSpPr>
          <p:cNvPr id="4" name="box-2-1"/>
          <p:cNvSpPr/>
          <p:nvPr/>
        </p:nvSpPr>
        <p:spPr>
          <a:xfrm>
            <a:off x="612648" y="1325880"/>
            <a:ext cx="2578608" cy="3520440"/>
          </a:xfrm>
          <a:prstGeom prst="roundRect">
            <a:avLst>
              <a:gd name="adj" fmla="val 2127"/>
            </a:avLst>
          </a:prstGeom>
          <a:solidFill>
            <a:schemeClr val="bg2"/>
          </a:solidFill>
        </p:spPr>
      </p:sp>
      <p:sp>
        <p:nvSpPr>
          <p:cNvPr id="5" name="badge-2-2"/>
          <p:cNvSpPr/>
          <p:nvPr/>
        </p:nvSpPr>
        <p:spPr>
          <a:xfrm>
            <a:off x="841248" y="1554480"/>
            <a:ext cx="457200" cy="457200"/>
          </a:xfrm>
          <a:prstGeom prst="ellipse">
            <a:avLst/>
          </a:prstGeom>
          <a:solidFill>
            <a:schemeClr val="tx1"/>
          </a:solidFill>
        </p:spPr>
      </p:sp>
      <p:sp>
        <p:nvSpPr>
          <p:cNvPr id="6" name="t-2-3"/>
          <p:cNvSpPr txBox="1"/>
          <p:nvPr/>
        </p:nvSpPr>
        <p:spPr>
          <a:xfrm>
            <a:off x="841248"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2-4"/>
          <p:cNvSpPr txBox="1"/>
          <p:nvPr/>
        </p:nvSpPr>
        <p:spPr>
          <a:xfrm>
            <a:off x="841248" y="2221992"/>
            <a:ext cx="2121408" cy="320040"/>
          </a:xfrm>
          <a:prstGeom prst="rect">
            <a:avLst/>
          </a:prstGeom>
          <a:noFill/>
        </p:spPr>
        <p:txBody>
          <a:bodyPr wrap="square" lIns="0" tIns="0" rIns="0" bIns="0" rtlCol="0" anchor="t"/>
          <a:lstStyle/>
          <a:p>
            <a:pPr algn="l" indent="0" marL="0">
              <a:buNone/>
            </a:pPr>
            <a:r>
              <a:rPr lang="en-US" sz="1600" b="1" dirty="0">
                <a:solidFill>
                  <a:schemeClr val="tx1"/>
                </a:solidFill>
              </a:rPr>
              <a:t>Two laws</a:t>
            </a:r>
            <a:endParaRPr lang="en-US" sz="1600" dirty="0"/>
          </a:p>
        </p:txBody>
      </p:sp>
      <p:pic>
        <p:nvPicPr>
          <p:cNvPr id="8" name="eq-2-5" descr="f = -k\,\pd{u}{x}"/>
          <p:cNvPicPr>
            <a:picLocks noChangeAspect="1"/>
          </p:cNvPicPr>
          <p:nvPr/>
        </p:nvPicPr>
        <p:blipFill>
          <a:blip r:embed="rId2"/>
          <a:stretch>
            <a:fillRect/>
          </a:stretch>
        </p:blipFill>
        <p:spPr>
          <a:xfrm>
            <a:off x="841248" y="2743200"/>
            <a:ext cx="870966" cy="400050"/>
          </a:xfrm>
          <a:prstGeom prst="rect">
            <a:avLst/>
          </a:prstGeom>
        </p:spPr>
      </p:pic>
      <p:sp>
        <p:nvSpPr>
          <p:cNvPr id="9" name="t-2-6"/>
          <p:cNvSpPr txBox="1"/>
          <p:nvPr/>
        </p:nvSpPr>
        <p:spPr>
          <a:xfrm>
            <a:off x="841248" y="3566160"/>
            <a:ext cx="2121408" cy="1143000"/>
          </a:xfrm>
          <a:prstGeom prst="rect">
            <a:avLst/>
          </a:prstGeom>
          <a:noFill/>
        </p:spPr>
        <p:txBody>
          <a:bodyPr wrap="square" lIns="0" tIns="0" rIns="0" bIns="0" rtlCol="0" anchor="t"/>
          <a:lstStyle/>
          <a:p>
            <a:pPr algn="l" indent="0" marL="0">
              <a:buNone/>
            </a:pPr>
            <a:r>
              <a:rPr lang="en-US" sz="1400" dirty="0">
                <a:solidFill>
                  <a:schemeClr val="tx2"/>
                </a:solidFill>
              </a:rPr>
              <a:t>Continuity counts the heat. Fourier's law says how fast it flows.</a:t>
            </a:r>
            <a:endParaRPr lang="en-US" sz="1400" dirty="0"/>
          </a:p>
        </p:txBody>
      </p:sp>
      <p:sp>
        <p:nvSpPr>
          <p:cNvPr id="10" name="box-2-7"/>
          <p:cNvSpPr/>
          <p:nvPr/>
        </p:nvSpPr>
        <p:spPr>
          <a:xfrm>
            <a:off x="3410712" y="1325880"/>
            <a:ext cx="2578608" cy="3520440"/>
          </a:xfrm>
          <a:prstGeom prst="roundRect">
            <a:avLst>
              <a:gd name="adj" fmla="val 2127"/>
            </a:avLst>
          </a:prstGeom>
          <a:solidFill>
            <a:schemeClr val="bg2"/>
          </a:solidFill>
        </p:spPr>
      </p:sp>
      <p:sp>
        <p:nvSpPr>
          <p:cNvPr id="11" name="badge-2-8"/>
          <p:cNvSpPr/>
          <p:nvPr/>
        </p:nvSpPr>
        <p:spPr>
          <a:xfrm>
            <a:off x="3639312" y="1554480"/>
            <a:ext cx="457200" cy="457200"/>
          </a:xfrm>
          <a:prstGeom prst="ellipse">
            <a:avLst/>
          </a:prstGeom>
          <a:solidFill>
            <a:schemeClr val="tx1"/>
          </a:solidFill>
        </p:spPr>
      </p:sp>
      <p:sp>
        <p:nvSpPr>
          <p:cNvPr id="12" name="t-2-9"/>
          <p:cNvSpPr txBox="1"/>
          <p:nvPr/>
        </p:nvSpPr>
        <p:spPr>
          <a:xfrm>
            <a:off x="3639312"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2-10"/>
          <p:cNvSpPr txBox="1"/>
          <p:nvPr/>
        </p:nvSpPr>
        <p:spPr>
          <a:xfrm>
            <a:off x="3639312" y="2221992"/>
            <a:ext cx="2121408" cy="320040"/>
          </a:xfrm>
          <a:prstGeom prst="rect">
            <a:avLst/>
          </a:prstGeom>
          <a:noFill/>
        </p:spPr>
        <p:txBody>
          <a:bodyPr wrap="square" lIns="0" tIns="0" rIns="0" bIns="0" rtlCol="0" anchor="t"/>
          <a:lstStyle/>
          <a:p>
            <a:pPr algn="l" indent="0" marL="0">
              <a:buNone/>
            </a:pPr>
            <a:r>
              <a:rPr lang="en-US" sz="1600" b="1" dirty="0">
                <a:solidFill>
                  <a:schemeClr val="tx1"/>
                </a:solidFill>
              </a:rPr>
              <a:t>One equation</a:t>
            </a:r>
            <a:endParaRPr lang="en-US" sz="1600" dirty="0"/>
          </a:p>
        </p:txBody>
      </p:sp>
      <p:pic>
        <p:nvPicPr>
          <p:cNvPr id="14" name="eq-2-11" descr="\pd{u}{t} = \alpha\,\pdn{u}{x}{2}"/>
          <p:cNvPicPr>
            <a:picLocks noChangeAspect="1"/>
          </p:cNvPicPr>
          <p:nvPr/>
        </p:nvPicPr>
        <p:blipFill>
          <a:blip r:embed="rId3"/>
          <a:stretch>
            <a:fillRect/>
          </a:stretch>
        </p:blipFill>
        <p:spPr>
          <a:xfrm>
            <a:off x="3639312" y="2743200"/>
            <a:ext cx="1024128" cy="445770"/>
          </a:xfrm>
          <a:prstGeom prst="rect">
            <a:avLst/>
          </a:prstGeom>
        </p:spPr>
      </p:pic>
      <p:sp>
        <p:nvSpPr>
          <p:cNvPr id="15" name="t-2-12"/>
          <p:cNvSpPr txBox="1"/>
          <p:nvPr/>
        </p:nvSpPr>
        <p:spPr>
          <a:xfrm>
            <a:off x="3639312" y="3566160"/>
            <a:ext cx="2121408" cy="1143000"/>
          </a:xfrm>
          <a:prstGeom prst="rect">
            <a:avLst/>
          </a:prstGeom>
          <a:noFill/>
        </p:spPr>
        <p:txBody>
          <a:bodyPr wrap="square" lIns="0" tIns="0" rIns="0" bIns="0" rtlCol="0" anchor="t"/>
          <a:lstStyle/>
          <a:p>
            <a:pPr algn="l" indent="0" marL="0">
              <a:buNone/>
            </a:pPr>
            <a:r>
              <a:rPr lang="en-US" sz="1400" dirty="0">
                <a:solidFill>
                  <a:schemeClr val="tx2"/>
                </a:solidFill>
              </a:rPr>
              <a:t>One number, the diffusivity. Time grows as length squared.</a:t>
            </a:r>
            <a:endParaRPr lang="en-US" sz="1400" dirty="0"/>
          </a:p>
        </p:txBody>
      </p:sp>
      <p:sp>
        <p:nvSpPr>
          <p:cNvPr id="16" name="box-2-13"/>
          <p:cNvSpPr/>
          <p:nvPr/>
        </p:nvSpPr>
        <p:spPr>
          <a:xfrm>
            <a:off x="6208776" y="1325880"/>
            <a:ext cx="2578608" cy="3520440"/>
          </a:xfrm>
          <a:prstGeom prst="roundRect">
            <a:avLst>
              <a:gd name="adj" fmla="val 2127"/>
            </a:avLst>
          </a:prstGeom>
          <a:solidFill>
            <a:schemeClr val="bg2"/>
          </a:solidFill>
        </p:spPr>
      </p:sp>
      <p:sp>
        <p:nvSpPr>
          <p:cNvPr id="17" name="badge-2-14"/>
          <p:cNvSpPr/>
          <p:nvPr/>
        </p:nvSpPr>
        <p:spPr>
          <a:xfrm>
            <a:off x="6437376" y="1554480"/>
            <a:ext cx="457200" cy="457200"/>
          </a:xfrm>
          <a:prstGeom prst="ellipse">
            <a:avLst/>
          </a:prstGeom>
          <a:solidFill>
            <a:schemeClr val="tx1"/>
          </a:solidFill>
        </p:spPr>
      </p:sp>
      <p:sp>
        <p:nvSpPr>
          <p:cNvPr id="18" name="t-2-15"/>
          <p:cNvSpPr txBox="1"/>
          <p:nvPr/>
        </p:nvSpPr>
        <p:spPr>
          <a:xfrm>
            <a:off x="6437376"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2-16"/>
          <p:cNvSpPr txBox="1"/>
          <p:nvPr/>
        </p:nvSpPr>
        <p:spPr>
          <a:xfrm>
            <a:off x="6437376" y="2221992"/>
            <a:ext cx="2121408" cy="320040"/>
          </a:xfrm>
          <a:prstGeom prst="rect">
            <a:avLst/>
          </a:prstGeom>
          <a:noFill/>
        </p:spPr>
        <p:txBody>
          <a:bodyPr wrap="square" lIns="0" tIns="0" rIns="0" bIns="0" rtlCol="0" anchor="t"/>
          <a:lstStyle/>
          <a:p>
            <a:pPr algn="l" indent="0" marL="0">
              <a:buNone/>
            </a:pPr>
            <a:r>
              <a:rPr lang="en-US" sz="1600" b="1" dirty="0">
                <a:solidFill>
                  <a:schemeClr val="tx1"/>
                </a:solidFill>
              </a:rPr>
              <a:t>Two dimensions</a:t>
            </a:r>
            <a:endParaRPr lang="en-US" sz="1600" dirty="0"/>
          </a:p>
        </p:txBody>
      </p:sp>
      <p:pic>
        <p:nvPicPr>
          <p:cNvPr id="20" name="eq-2-17" descr="\pd{u}{t} = \alpha\,\nabla^2 u"/>
          <p:cNvPicPr>
            <a:picLocks noChangeAspect="1"/>
          </p:cNvPicPr>
          <p:nvPr/>
        </p:nvPicPr>
        <p:blipFill>
          <a:blip r:embed="rId4"/>
          <a:stretch>
            <a:fillRect/>
          </a:stretch>
        </p:blipFill>
        <p:spPr>
          <a:xfrm>
            <a:off x="6437376" y="2743200"/>
            <a:ext cx="1042416" cy="400050"/>
          </a:xfrm>
          <a:prstGeom prst="rect">
            <a:avLst/>
          </a:prstGeom>
        </p:spPr>
      </p:pic>
      <p:sp>
        <p:nvSpPr>
          <p:cNvPr id="21" name="t-2-18"/>
          <p:cNvSpPr txBox="1"/>
          <p:nvPr/>
        </p:nvSpPr>
        <p:spPr>
          <a:xfrm>
            <a:off x="6437376" y="3566160"/>
            <a:ext cx="2121408" cy="1143000"/>
          </a:xfrm>
          <a:prstGeom prst="rect">
            <a:avLst/>
          </a:prstGeom>
          <a:noFill/>
        </p:spPr>
        <p:txBody>
          <a:bodyPr wrap="square" lIns="0" tIns="0" rIns="0" bIns="0" rtlCol="0" anchor="t"/>
          <a:lstStyle/>
          <a:p>
            <a:pPr algn="l" indent="0" marL="0">
              <a:buNone/>
            </a:pPr>
            <a:r>
              <a:rPr lang="en-US" sz="1400" dirty="0">
                <a:solidFill>
                  <a:schemeClr val="tx2"/>
                </a:solidFill>
              </a:rPr>
              <a:t>Four neighbours instead of two, and one sparse factorisation.</a:t>
            </a:r>
            <a:endParaRPr lang="en-US" sz="1400" dirty="0"/>
          </a:p>
        </p:txBody>
      </p:sp>
      <p:sp>
        <p:nvSpPr>
          <p:cNvPr id="22" name="box-2-19"/>
          <p:cNvSpPr/>
          <p:nvPr/>
        </p:nvSpPr>
        <p:spPr>
          <a:xfrm>
            <a:off x="9006840" y="1325880"/>
            <a:ext cx="2578608" cy="3520440"/>
          </a:xfrm>
          <a:prstGeom prst="roundRect">
            <a:avLst>
              <a:gd name="adj" fmla="val 2127"/>
            </a:avLst>
          </a:prstGeom>
          <a:solidFill>
            <a:schemeClr val="bg2"/>
          </a:solidFill>
        </p:spPr>
      </p:sp>
      <p:sp>
        <p:nvSpPr>
          <p:cNvPr id="23" name="badge-2-20"/>
          <p:cNvSpPr/>
          <p:nvPr/>
        </p:nvSpPr>
        <p:spPr>
          <a:xfrm>
            <a:off x="9235440" y="1554480"/>
            <a:ext cx="457200" cy="457200"/>
          </a:xfrm>
          <a:prstGeom prst="ellipse">
            <a:avLst/>
          </a:prstGeom>
          <a:solidFill>
            <a:schemeClr val="tx1"/>
          </a:solidFill>
        </p:spPr>
      </p:sp>
      <p:sp>
        <p:nvSpPr>
          <p:cNvPr id="24" name="t-2-21"/>
          <p:cNvSpPr txBox="1"/>
          <p:nvPr/>
        </p:nvSpPr>
        <p:spPr>
          <a:xfrm>
            <a:off x="9235440"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2-22"/>
          <p:cNvSpPr txBox="1"/>
          <p:nvPr/>
        </p:nvSpPr>
        <p:spPr>
          <a:xfrm>
            <a:off x="9235440" y="2221992"/>
            <a:ext cx="2121408" cy="320040"/>
          </a:xfrm>
          <a:prstGeom prst="rect">
            <a:avLst/>
          </a:prstGeom>
          <a:noFill/>
        </p:spPr>
        <p:txBody>
          <a:bodyPr wrap="square" lIns="0" tIns="0" rIns="0" bIns="0" rtlCol="0" anchor="t"/>
          <a:lstStyle/>
          <a:p>
            <a:pPr algn="l" indent="0" marL="0">
              <a:buNone/>
            </a:pPr>
            <a:r>
              <a:rPr lang="en-US" sz="1600" b="1" dirty="0">
                <a:solidFill>
                  <a:schemeClr val="tx1"/>
                </a:solidFill>
              </a:rPr>
              <a:t>Machines</a:t>
            </a:r>
            <a:endParaRPr lang="en-US" sz="1600" dirty="0"/>
          </a:p>
        </p:txBody>
      </p:sp>
      <p:pic>
        <p:nvPicPr>
          <p:cNvPr id="26" name="eq-2-23" descr="\Delta T = P\,R"/>
          <p:cNvPicPr>
            <a:picLocks noChangeAspect="1"/>
          </p:cNvPicPr>
          <p:nvPr/>
        </p:nvPicPr>
        <p:blipFill>
          <a:blip r:embed="rId5"/>
          <a:stretch>
            <a:fillRect/>
          </a:stretch>
        </p:blipFill>
        <p:spPr>
          <a:xfrm>
            <a:off x="9235440" y="2743200"/>
            <a:ext cx="800100" cy="164592"/>
          </a:xfrm>
          <a:prstGeom prst="rect">
            <a:avLst/>
          </a:prstGeom>
        </p:spPr>
      </p:pic>
      <p:sp>
        <p:nvSpPr>
          <p:cNvPr id="27" name="t-2-24"/>
          <p:cNvSpPr txBox="1"/>
          <p:nvPr/>
        </p:nvSpPr>
        <p:spPr>
          <a:xfrm>
            <a:off x="9235440" y="3566160"/>
            <a:ext cx="2121408" cy="1143000"/>
          </a:xfrm>
          <a:prstGeom prst="rect">
            <a:avLst/>
          </a:prstGeom>
          <a:noFill/>
        </p:spPr>
        <p:txBody>
          <a:bodyPr wrap="square" lIns="0" tIns="0" rIns="0" bIns="0" rtlCol="0" anchor="t"/>
          <a:lstStyle/>
          <a:p>
            <a:pPr algn="l" indent="0" marL="0">
              <a:buNone/>
            </a:pPr>
            <a:r>
              <a:rPr lang="en-US" sz="1400" dirty="0">
                <a:solidFill>
                  <a:schemeClr val="tx2"/>
                </a:solidFill>
              </a:rPr>
              <a:t>Processor and graphics coolers. Then an egg, a laser and a cable.</a:t>
            </a:r>
            <a:endParaRPr lang="en-US" sz="1400" dirty="0"/>
          </a:p>
        </p:txBody>
      </p:sp>
      <p:sp>
        <p:nvSpPr>
          <p:cNvPr id="28" name="t-2-25"/>
          <p:cNvSpPr txBox="1"/>
          <p:nvPr/>
        </p:nvSpPr>
        <p:spPr>
          <a:xfrm>
            <a:off x="612648" y="5166360"/>
            <a:ext cx="10972800" cy="365760"/>
          </a:xfrm>
          <a:prstGeom prst="rect">
            <a:avLst/>
          </a:prstGeom>
          <a:noFill/>
        </p:spPr>
        <p:txBody>
          <a:bodyPr wrap="square" lIns="0" tIns="0" rIns="0" bIns="0" rtlCol="0" anchor="t"/>
          <a:lstStyle/>
          <a:p>
            <a:pPr algn="l" indent="0" marL="0">
              <a:buNone/>
            </a:pPr>
            <a:r>
              <a:rPr lang="en-US" sz="1600" dirty="0">
                <a:solidFill>
                  <a:schemeClr val="tx1"/>
                </a:solidFill>
              </a:rPr>
              <a:t>The question behind every slide: </a:t>
            </a:r>
            <a:r>
              <a:rPr lang="en-US" sz="1600" b="1" dirty="0">
                <a:solidFill>
                  <a:schemeClr val="tx1"/>
                </a:solidFill>
              </a:rPr>
              <a:t>where does the heat go, and how long does it take?</a:t>
            </a:r>
            <a:endParaRPr lang="en-US" sz="1600" dirty="0"/>
          </a:p>
        </p:txBody>
      </p:sp>
      <p:sp>
        <p:nvSpPr>
          <p:cNvPr id="29" name="t-2-26"/>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These slides add numbers, devices and simulations to Sections 1 to 6 of the notes.</a:t>
            </a:r>
            <a:endParaRPr lang="en-US" sz="14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Continuity: heat is counted</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
        <p:nvSpPr>
          <p:cNvPr id="4" name="t-3-1"/>
          <p:cNvSpPr txBox="1"/>
          <p:nvPr/>
        </p:nvSpPr>
        <p:spPr>
          <a:xfrm>
            <a:off x="612648" y="1298448"/>
            <a:ext cx="4297680" cy="548640"/>
          </a:xfrm>
          <a:prstGeom prst="rect">
            <a:avLst/>
          </a:prstGeom>
          <a:noFill/>
        </p:spPr>
        <p:txBody>
          <a:bodyPr wrap="square" lIns="0" tIns="0" rIns="0" bIns="0" rtlCol="0" anchor="t"/>
          <a:lstStyle/>
          <a:p>
            <a:pPr algn="l" indent="0" marL="0">
              <a:buNone/>
            </a:pPr>
            <a:r>
              <a:rPr lang="en-US" sz="1600" dirty="0">
                <a:solidFill>
                  <a:schemeClr val="tx1"/>
                </a:solidFill>
              </a:rPr>
              <a:t>For a short piece of the rod, during a short time Δt:</a:t>
            </a:r>
            <a:endParaRPr lang="en-US" sz="1600" dirty="0"/>
          </a:p>
        </p:txBody>
      </p:sp>
      <p:pic>
        <p:nvPicPr>
          <p:cNvPr id="5" name="eq-3-2" descr="\underbrace{C\sigma\,\Delta x\,\Delta u\vphantom{f(x)}}_{\text{heat stored}} = \underbrace{f(x)\,\Delta t}_{\text{heat in}} - \underbrace{f(x+\Delta x)\,\Delta t}_{\text{heat out}}"/>
          <p:cNvPicPr>
            <a:picLocks noChangeAspect="1"/>
          </p:cNvPicPr>
          <p:nvPr/>
        </p:nvPicPr>
        <p:blipFill>
          <a:blip r:embed="rId2"/>
          <a:stretch>
            <a:fillRect/>
          </a:stretch>
        </p:blipFill>
        <p:spPr>
          <a:xfrm>
            <a:off x="612648" y="1938528"/>
            <a:ext cx="3198114" cy="507492"/>
          </a:xfrm>
          <a:prstGeom prst="rect">
            <a:avLst/>
          </a:prstGeom>
        </p:spPr>
      </p:pic>
      <p:sp>
        <p:nvSpPr>
          <p:cNvPr id="6" name="t-3-3"/>
          <p:cNvSpPr txBox="1"/>
          <p:nvPr/>
        </p:nvSpPr>
        <p:spPr>
          <a:xfrm>
            <a:off x="612648" y="2852928"/>
            <a:ext cx="4297680" cy="274320"/>
          </a:xfrm>
          <a:prstGeom prst="rect">
            <a:avLst/>
          </a:prstGeom>
          <a:noFill/>
        </p:spPr>
        <p:txBody>
          <a:bodyPr wrap="square" lIns="0" tIns="0" rIns="0" bIns="0" rtlCol="0" anchor="t"/>
          <a:lstStyle/>
          <a:p>
            <a:pPr algn="l" indent="0" marL="0">
              <a:buNone/>
            </a:pPr>
            <a:r>
              <a:rPr lang="en-US" sz="1600" dirty="0">
                <a:solidFill>
                  <a:schemeClr val="tx1"/>
                </a:solidFill>
              </a:rPr>
              <a:t>Divide by Δx Δt and let both go to zero:</a:t>
            </a:r>
            <a:endParaRPr lang="en-US" sz="1600" dirty="0"/>
          </a:p>
        </p:txBody>
      </p:sp>
      <p:pic>
        <p:nvPicPr>
          <p:cNvPr id="7" name="eq-3-4" descr="\pd{u}{t} = -\frac{1}{C\sigma}\,\pd{f}{x}"/>
          <p:cNvPicPr>
            <a:picLocks noChangeAspect="1"/>
          </p:cNvPicPr>
          <p:nvPr/>
        </p:nvPicPr>
        <p:blipFill>
          <a:blip r:embed="rId3"/>
          <a:stretch>
            <a:fillRect/>
          </a:stretch>
        </p:blipFill>
        <p:spPr>
          <a:xfrm>
            <a:off x="612648" y="3246120"/>
            <a:ext cx="1371600" cy="480060"/>
          </a:xfrm>
          <a:prstGeom prst="rect">
            <a:avLst/>
          </a:prstGeom>
        </p:spPr>
      </p:pic>
      <p:sp>
        <p:nvSpPr>
          <p:cNvPr id="8" name="t-3-5"/>
          <p:cNvSpPr txBox="1"/>
          <p:nvPr/>
        </p:nvSpPr>
        <p:spPr>
          <a:xfrm>
            <a:off x="2304288" y="3310128"/>
            <a:ext cx="2194560" cy="457200"/>
          </a:xfrm>
          <a:prstGeom prst="rect">
            <a:avLst/>
          </a:prstGeom>
          <a:noFill/>
        </p:spPr>
        <p:txBody>
          <a:bodyPr wrap="square" lIns="0" tIns="0" rIns="0" bIns="0" rtlCol="0" anchor="t"/>
          <a:lstStyle/>
          <a:p>
            <a:pPr algn="l" indent="0" marL="0">
              <a:buNone/>
            </a:pPr>
            <a:r>
              <a:rPr lang="en-US" sz="1400" dirty="0">
                <a:solidFill>
                  <a:schemeClr val="tx2"/>
                </a:solidFill>
              </a:rPr>
              <a:t>equation (1)</a:t>
            </a:r>
            <a:endParaRPr lang="en-US" sz="1400" dirty="0"/>
          </a:p>
          <a:p>
            <a:pPr algn="l" indent="0" marL="0">
              <a:buNone/>
            </a:pPr>
            <a:r>
              <a:rPr lang="en-US" sz="1400" dirty="0">
                <a:solidFill>
                  <a:schemeClr val="tx2"/>
                </a:solidFill>
              </a:rPr>
              <a:t>of the notes</a:t>
            </a:r>
            <a:endParaRPr lang="en-US" sz="1400" dirty="0"/>
          </a:p>
        </p:txBody>
      </p:sp>
      <p:sp>
        <p:nvSpPr>
          <p:cNvPr id="9" name="box-3-6"/>
          <p:cNvSpPr/>
          <p:nvPr/>
        </p:nvSpPr>
        <p:spPr>
          <a:xfrm>
            <a:off x="612648" y="4041648"/>
            <a:ext cx="4297680" cy="1572768"/>
          </a:xfrm>
          <a:prstGeom prst="roundRect">
            <a:avLst>
              <a:gd name="adj" fmla="val 3488"/>
            </a:avLst>
          </a:prstGeom>
          <a:solidFill>
            <a:schemeClr val="accent2"/>
          </a:solidFill>
        </p:spPr>
      </p:sp>
      <p:sp>
        <p:nvSpPr>
          <p:cNvPr id="10" name="t-3-7"/>
          <p:cNvSpPr txBox="1"/>
          <p:nvPr/>
        </p:nvSpPr>
        <p:spPr>
          <a:xfrm>
            <a:off x="841248" y="4169664"/>
            <a:ext cx="384048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1" name="t-3-8"/>
          <p:cNvSpPr txBox="1"/>
          <p:nvPr/>
        </p:nvSpPr>
        <p:spPr>
          <a:xfrm>
            <a:off x="841248" y="4462272"/>
            <a:ext cx="3840480" cy="1060704"/>
          </a:xfrm>
          <a:prstGeom prst="rect">
            <a:avLst/>
          </a:prstGeom>
          <a:noFill/>
        </p:spPr>
        <p:txBody>
          <a:bodyPr wrap="square" lIns="0" tIns="0" rIns="0" bIns="0" rtlCol="0" anchor="t"/>
          <a:lstStyle/>
          <a:p>
            <a:pPr algn="l" indent="0" marL="0">
              <a:buNone/>
            </a:pPr>
            <a:r>
              <a:rPr lang="en-US" sz="1500" dirty="0">
                <a:solidFill>
                  <a:schemeClr val="tx1"/>
                </a:solidFill>
              </a:rPr>
              <a:t>Nothing here is a model of heat. It is bookkeeping: heat that flows into a piece and does not flow out is stored there.</a:t>
            </a:r>
            <a:endParaRPr lang="en-US" sz="1500" dirty="0"/>
          </a:p>
        </p:txBody>
      </p:sp>
      <p:pic>
        <p:nvPicPr>
          <p:cNvPr id="12" name="video-3-9">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5184648" y="1261872"/>
            <a:ext cx="6400800" cy="4297680"/>
          </a:xfrm>
          <a:prstGeom prst="rect">
            <a:avLst/>
          </a:prstGeom>
        </p:spPr>
      </p:pic>
      <p:sp>
        <p:nvSpPr>
          <p:cNvPr id="13" name="t-3-10"/>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Video: twelve cells of a rod with insulated ends. The red cell stores the difference of its two arrows.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0466" fill="hold"/>
                                        <p:tgtEl>
                                          <p:spTgt spid="12"/>
                                        </p:tgtEl>
                                      </p:cBhvr>
                                    </p:cmd>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repeatCount="indefinite" fill="hold" display="0">
                  <p:stCondLst>
                    <p:cond delay="indefinite"/>
                  </p:stCondLst>
                </p:cTn>
                <p:tgtEl>
                  <p:spTgt spid="12"/>
                </p:tgtEl>
              </p:cMediaNode>
            </p:video>
            <p:seq concurrent="1" nextAc="seek">
              <p:cTn id="28" restart="whenNotActive" fill="hold" evtFilter="cancelBubble" nodeType="interactiveSeq">
                <p:stCondLst>
                  <p:cond evt="onClick" delay="0">
                    <p:tgtEl>
                      <p:spTgt spid="12"/>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2"/>
                                        </p:tgtEl>
                                      </p:cBhvr>
                                    </p:cmd>
                                  </p:childTnLst>
                                </p:cTn>
                              </p:par>
                            </p:childTnLst>
                          </p:cTn>
                        </p:par>
                      </p:childTnLst>
                    </p:cTn>
                  </p:par>
                </p:childTnLst>
              </p:cTn>
              <p:nextCondLst>
                <p:cond evt="onClick" delay="0">
                  <p:tgtEl>
                    <p:spTgt spid="12"/>
                  </p:tgtEl>
                </p:cond>
              </p:nextCondLst>
            </p:seq>
          </p:childTnLst>
        </p:cTn>
      </p:par>
    </p:tnLst>
    <p:bldLst>
      <p:bldP spid="6" grpId="0" animBg="1"/>
      <p:bldP spid="8" grpId="0" animBg="1"/>
      <p:bldP spid="9" grpId="0" animBg="1"/>
      <p:bldP spid="10" grpId="0" animBg="1"/>
      <p:bldP spid="1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Continuity in numbers: one centimetre of copper</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
        <p:nvSpPr>
          <p:cNvPr id="4" name="t-4-1"/>
          <p:cNvSpPr txBox="1"/>
          <p:nvPr/>
        </p:nvSpPr>
        <p:spPr>
          <a:xfrm>
            <a:off x="612648" y="1298448"/>
            <a:ext cx="5120640" cy="822960"/>
          </a:xfrm>
          <a:prstGeom prst="rect">
            <a:avLst/>
          </a:prstGeom>
          <a:noFill/>
        </p:spPr>
        <p:txBody>
          <a:bodyPr wrap="square" lIns="0" tIns="0" rIns="0" bIns="0" rtlCol="0" anchor="t"/>
          <a:lstStyle/>
          <a:p>
            <a:pPr algn="l" indent="0" marL="0">
              <a:buNone/>
            </a:pPr>
            <a:r>
              <a:rPr lang="en-US" sz="1600" b="1" dirty="0">
                <a:solidFill>
                  <a:schemeClr val="tx1"/>
                </a:solidFill>
              </a:rPr>
              <a:t>Given</a:t>
            </a:r>
            <a:r>
              <a:rPr lang="en-US" sz="1600" dirty="0">
                <a:solidFill>
                  <a:schemeClr val="tx1"/>
                </a:solidFill>
              </a:rPr>
              <a:t> a piece of copper rod 1 cm long, with a cross-section of 1 cm². Heat enters the left face at 5 W and leaves the right face at 3 W.</a:t>
            </a:r>
            <a:endParaRPr lang="en-US" sz="1600" dirty="0"/>
          </a:p>
        </p:txBody>
      </p:sp>
      <p:sp>
        <p:nvSpPr>
          <p:cNvPr id="5" name="t-4-2"/>
          <p:cNvSpPr txBox="1"/>
          <p:nvPr/>
        </p:nvSpPr>
        <p:spPr>
          <a:xfrm>
            <a:off x="612648" y="2286000"/>
            <a:ext cx="5120640" cy="320040"/>
          </a:xfrm>
          <a:prstGeom prst="rect">
            <a:avLst/>
          </a:prstGeom>
          <a:noFill/>
        </p:spPr>
        <p:txBody>
          <a:bodyPr wrap="square" lIns="0" tIns="0" rIns="0" bIns="0" rtlCol="0" anchor="t"/>
          <a:lstStyle/>
          <a:p>
            <a:pPr algn="l" indent="0" marL="0">
              <a:buNone/>
            </a:pPr>
            <a:r>
              <a:rPr lang="en-US" sz="1600" b="1" dirty="0">
                <a:solidFill>
                  <a:schemeClr val="tx1"/>
                </a:solidFill>
              </a:rPr>
              <a:t>Find</a:t>
            </a:r>
            <a:r>
              <a:rPr lang="en-US" sz="1600" dirty="0">
                <a:solidFill>
                  <a:schemeClr val="tx1"/>
                </a:solidFill>
              </a:rPr>
              <a:t> how fast its temperature rises.</a:t>
            </a:r>
            <a:endParaRPr lang="en-US" sz="1600" dirty="0"/>
          </a:p>
        </p:txBody>
      </p:sp>
      <p:sp>
        <p:nvSpPr>
          <p:cNvPr id="6" name="box-4-3"/>
          <p:cNvSpPr/>
          <p:nvPr/>
        </p:nvSpPr>
        <p:spPr>
          <a:xfrm>
            <a:off x="7635240" y="1600200"/>
            <a:ext cx="2103120" cy="914400"/>
          </a:xfrm>
          <a:prstGeom prst="roundRect">
            <a:avLst>
              <a:gd name="adj" fmla="val 4000"/>
            </a:avLst>
          </a:prstGeom>
          <a:solidFill>
            <a:schemeClr val="accent3"/>
          </a:solidFill>
          <a:ln w="15875">
            <a:solidFill>
              <a:schemeClr val="accent1"/>
            </a:solidFill>
          </a:ln>
        </p:spPr>
      </p:sp>
      <p:sp>
        <p:nvSpPr>
          <p:cNvPr id="7" name="t-4-4"/>
          <p:cNvSpPr txBox="1"/>
          <p:nvPr/>
        </p:nvSpPr>
        <p:spPr>
          <a:xfrm>
            <a:off x="7635240" y="1600200"/>
            <a:ext cx="2103120" cy="914400"/>
          </a:xfrm>
          <a:prstGeom prst="rect">
            <a:avLst/>
          </a:prstGeom>
          <a:noFill/>
        </p:spPr>
        <p:txBody>
          <a:bodyPr wrap="square" lIns="0" tIns="0" rIns="0" bIns="0" rtlCol="0" anchor="ctr"/>
          <a:lstStyle/>
          <a:p>
            <a:pPr algn="ctr" indent="0" marL="0">
              <a:buNone/>
            </a:pPr>
            <a:r>
              <a:rPr lang="en-US" sz="1400" dirty="0">
                <a:solidFill>
                  <a:schemeClr val="tx1"/>
                </a:solidFill>
              </a:rPr>
              <a:t>copper</a:t>
            </a:r>
            <a:endParaRPr lang="en-US" sz="1400" dirty="0"/>
          </a:p>
          <a:p>
            <a:pPr algn="ctr" indent="0" marL="0">
              <a:buNone/>
            </a:pPr>
            <a:r>
              <a:rPr lang="en-US" sz="1400" dirty="0">
                <a:solidFill>
                  <a:schemeClr val="tx1"/>
                </a:solidFill>
              </a:rPr>
              <a:t>1 cm × 1 cm²</a:t>
            </a:r>
            <a:endParaRPr lang="en-US" sz="1400" dirty="0"/>
          </a:p>
        </p:txBody>
      </p:sp>
      <p:cxnSp>
        <p:nvCxnSpPr>
          <p:cNvPr id="8" name="line-4-5"/>
          <p:cNvCxnSpPr/>
          <p:nvPr/>
        </p:nvCxnSpPr>
        <p:spPr>
          <a:xfrm>
            <a:off x="6309360" y="2057400"/>
            <a:ext cx="1234440" cy="0"/>
          </a:xfrm>
          <a:prstGeom prst="line">
            <a:avLst/>
          </a:prstGeom>
          <a:ln w="28575">
            <a:solidFill>
              <a:schemeClr val="tx1"/>
            </a:solidFill>
            <a:tailEnd type="triangle" w="med" len="med"/>
          </a:ln>
        </p:spPr>
      </p:cxnSp>
      <p:cxnSp>
        <p:nvCxnSpPr>
          <p:cNvPr id="9" name="line-4-6"/>
          <p:cNvCxnSpPr/>
          <p:nvPr/>
        </p:nvCxnSpPr>
        <p:spPr>
          <a:xfrm>
            <a:off x="9829800" y="2057400"/>
            <a:ext cx="868680" cy="0"/>
          </a:xfrm>
          <a:prstGeom prst="line">
            <a:avLst/>
          </a:prstGeom>
          <a:ln w="28575">
            <a:solidFill>
              <a:schemeClr val="tx1"/>
            </a:solidFill>
            <a:tailEnd type="triangle" w="med" len="med"/>
          </a:ln>
        </p:spPr>
      </p:cxnSp>
      <p:sp>
        <p:nvSpPr>
          <p:cNvPr id="10" name="t-4-7"/>
          <p:cNvSpPr txBox="1"/>
          <p:nvPr/>
        </p:nvSpPr>
        <p:spPr>
          <a:xfrm>
            <a:off x="6309360" y="1618488"/>
            <a:ext cx="1188720" cy="274320"/>
          </a:xfrm>
          <a:prstGeom prst="rect">
            <a:avLst/>
          </a:prstGeom>
          <a:noFill/>
        </p:spPr>
        <p:txBody>
          <a:bodyPr wrap="square" lIns="0" tIns="0" rIns="0" bIns="0" rtlCol="0" anchor="t"/>
          <a:lstStyle/>
          <a:p>
            <a:pPr algn="ctr" indent="0" marL="0">
              <a:buNone/>
            </a:pPr>
            <a:r>
              <a:rPr lang="en-US" sz="1400" dirty="0">
                <a:solidFill>
                  <a:schemeClr val="tx2"/>
                </a:solidFill>
              </a:rPr>
              <a:t>5 W in</a:t>
            </a:r>
            <a:endParaRPr lang="en-US" sz="1400" dirty="0"/>
          </a:p>
        </p:txBody>
      </p:sp>
      <p:sp>
        <p:nvSpPr>
          <p:cNvPr id="11" name="t-4-8"/>
          <p:cNvSpPr txBox="1"/>
          <p:nvPr/>
        </p:nvSpPr>
        <p:spPr>
          <a:xfrm>
            <a:off x="9784080" y="1618488"/>
            <a:ext cx="1097280" cy="274320"/>
          </a:xfrm>
          <a:prstGeom prst="rect">
            <a:avLst/>
          </a:prstGeom>
          <a:noFill/>
        </p:spPr>
        <p:txBody>
          <a:bodyPr wrap="square" lIns="0" tIns="0" rIns="0" bIns="0" rtlCol="0" anchor="t"/>
          <a:lstStyle/>
          <a:p>
            <a:pPr algn="ctr" indent="0" marL="0">
              <a:buNone/>
            </a:pPr>
            <a:r>
              <a:rPr lang="en-US" sz="1400" dirty="0">
                <a:solidFill>
                  <a:schemeClr val="tx2"/>
                </a:solidFill>
              </a:rPr>
              <a:t>3 W out</a:t>
            </a:r>
            <a:endParaRPr lang="en-US" sz="1400" dirty="0"/>
          </a:p>
        </p:txBody>
      </p:sp>
      <p:sp>
        <p:nvSpPr>
          <p:cNvPr id="12" name="t-4-9"/>
          <p:cNvSpPr txBox="1"/>
          <p:nvPr/>
        </p:nvSpPr>
        <p:spPr>
          <a:xfrm>
            <a:off x="7635240" y="2624328"/>
            <a:ext cx="2103120" cy="274320"/>
          </a:xfrm>
          <a:prstGeom prst="rect">
            <a:avLst/>
          </a:prstGeom>
          <a:noFill/>
        </p:spPr>
        <p:txBody>
          <a:bodyPr wrap="square" lIns="0" tIns="0" rIns="0" bIns="0" rtlCol="0" anchor="t"/>
          <a:lstStyle/>
          <a:p>
            <a:pPr algn="ctr" indent="0" marL="0">
              <a:buNone/>
            </a:pPr>
            <a:r>
              <a:rPr lang="en-US" sz="1400" b="1" dirty="0">
                <a:solidFill>
                  <a:schemeClr val="accent1"/>
                </a:solidFill>
              </a:rPr>
              <a:t>2 W stays</a:t>
            </a:r>
            <a:endParaRPr lang="en-US" sz="1400" dirty="0"/>
          </a:p>
        </p:txBody>
      </p:sp>
      <p:sp>
        <p:nvSpPr>
          <p:cNvPr id="13" name="t-4-10"/>
          <p:cNvSpPr txBox="1"/>
          <p:nvPr/>
        </p:nvSpPr>
        <p:spPr>
          <a:xfrm>
            <a:off x="612648" y="2926080"/>
            <a:ext cx="5120640" cy="274320"/>
          </a:xfrm>
          <a:prstGeom prst="rect">
            <a:avLst/>
          </a:prstGeom>
          <a:noFill/>
        </p:spPr>
        <p:txBody>
          <a:bodyPr wrap="square" lIns="0" tIns="0" rIns="0" bIns="0" rtlCol="0" anchor="t"/>
          <a:lstStyle/>
          <a:p>
            <a:pPr algn="l" indent="0" marL="0">
              <a:buNone/>
            </a:pPr>
            <a:r>
              <a:rPr lang="en-US" sz="1600" dirty="0">
                <a:solidFill>
                  <a:schemeClr val="tx1"/>
                </a:solidFill>
              </a:rPr>
              <a:t>Heat capacity of the piece:</a:t>
            </a:r>
            <a:endParaRPr lang="en-US" sz="1600" dirty="0"/>
          </a:p>
        </p:txBody>
      </p:sp>
      <p:pic>
        <p:nvPicPr>
          <p:cNvPr id="14" name="eq-4-11" descr="C\sigma\,\Delta x = 0.385\un{\tfrac{J}{g\,K}} \times 8.96\un{\tfrac{g}{cm}} \times 1\un{cm} = 3.45\un{J/K}"/>
          <p:cNvPicPr>
            <a:picLocks noChangeAspect="1"/>
          </p:cNvPicPr>
          <p:nvPr/>
        </p:nvPicPr>
        <p:blipFill>
          <a:blip r:embed="rId2"/>
          <a:stretch>
            <a:fillRect/>
          </a:stretch>
        </p:blipFill>
        <p:spPr>
          <a:xfrm>
            <a:off x="612648" y="3310128"/>
            <a:ext cx="4105656" cy="294894"/>
          </a:xfrm>
          <a:prstGeom prst="rect">
            <a:avLst/>
          </a:prstGeom>
        </p:spPr>
      </p:pic>
      <p:sp>
        <p:nvSpPr>
          <p:cNvPr id="15" name="t-4-12"/>
          <p:cNvSpPr txBox="1"/>
          <p:nvPr/>
        </p:nvSpPr>
        <p:spPr>
          <a:xfrm>
            <a:off x="612648" y="3950208"/>
            <a:ext cx="5577840" cy="274320"/>
          </a:xfrm>
          <a:prstGeom prst="rect">
            <a:avLst/>
          </a:prstGeom>
          <a:noFill/>
        </p:spPr>
        <p:txBody>
          <a:bodyPr wrap="square" lIns="0" tIns="0" rIns="0" bIns="0" rtlCol="0" anchor="t"/>
          <a:lstStyle/>
          <a:p>
            <a:pPr algn="l" indent="0" marL="0">
              <a:buNone/>
            </a:pPr>
            <a:r>
              <a:rPr lang="en-US" sz="1600" dirty="0">
                <a:solidFill>
                  <a:schemeClr val="tx1"/>
                </a:solidFill>
              </a:rPr>
              <a:t>Divide the 2 W that stays by this capacity:</a:t>
            </a:r>
            <a:endParaRPr lang="en-US" sz="1600" dirty="0"/>
          </a:p>
        </p:txBody>
      </p:sp>
      <p:pic>
        <p:nvPicPr>
          <p:cNvPr id="16" name="eq-4-13" descr="\frac{du}{dt} = \frac{5\un{W} - 3\un{W}}{3.45\un{J/K}} = 0.58\un{K/s}"/>
          <p:cNvPicPr>
            <a:picLocks noChangeAspect="1"/>
          </p:cNvPicPr>
          <p:nvPr/>
        </p:nvPicPr>
        <p:blipFill>
          <a:blip r:embed="rId3"/>
          <a:stretch>
            <a:fillRect/>
          </a:stretch>
        </p:blipFill>
        <p:spPr>
          <a:xfrm>
            <a:off x="612648" y="4315968"/>
            <a:ext cx="2727198" cy="532638"/>
          </a:xfrm>
          <a:prstGeom prst="rect">
            <a:avLst/>
          </a:prstGeom>
        </p:spPr>
      </p:pic>
      <p:sp>
        <p:nvSpPr>
          <p:cNvPr id="17" name="t-4-14"/>
          <p:cNvSpPr txBox="1"/>
          <p:nvPr/>
        </p:nvSpPr>
        <p:spPr>
          <a:xfrm>
            <a:off x="3705606" y="4462272"/>
            <a:ext cx="2194560" cy="274320"/>
          </a:xfrm>
          <a:prstGeom prst="rect">
            <a:avLst/>
          </a:prstGeom>
          <a:noFill/>
        </p:spPr>
        <p:txBody>
          <a:bodyPr wrap="square" lIns="0" tIns="0" rIns="0" bIns="0" rtlCol="0" anchor="t"/>
          <a:lstStyle/>
          <a:p>
            <a:pPr algn="l" indent="0" marL="0">
              <a:buNone/>
            </a:pPr>
            <a:r>
              <a:rPr lang="en-US" sz="1400" dirty="0">
                <a:solidFill>
                  <a:schemeClr val="tx2"/>
                </a:solidFill>
              </a:rPr>
              <a:t>about 35 K per minute</a:t>
            </a:r>
            <a:endParaRPr lang="en-US" sz="1400" dirty="0"/>
          </a:p>
        </p:txBody>
      </p:sp>
      <p:sp>
        <p:nvSpPr>
          <p:cNvPr id="18" name="box-4-15"/>
          <p:cNvSpPr/>
          <p:nvPr/>
        </p:nvSpPr>
        <p:spPr>
          <a:xfrm>
            <a:off x="6400800" y="3246120"/>
            <a:ext cx="5184648" cy="1783080"/>
          </a:xfrm>
          <a:prstGeom prst="roundRect">
            <a:avLst>
              <a:gd name="adj" fmla="val 3076"/>
            </a:avLst>
          </a:prstGeom>
          <a:solidFill>
            <a:schemeClr val="accent2"/>
          </a:solidFill>
        </p:spPr>
      </p:sp>
      <p:sp>
        <p:nvSpPr>
          <p:cNvPr id="19" name="t-4-16"/>
          <p:cNvSpPr txBox="1"/>
          <p:nvPr/>
        </p:nvSpPr>
        <p:spPr>
          <a:xfrm>
            <a:off x="6629400" y="3374136"/>
            <a:ext cx="4727448" cy="201168"/>
          </a:xfrm>
          <a:prstGeom prst="rect">
            <a:avLst/>
          </a:prstGeom>
          <a:noFill/>
        </p:spPr>
        <p:txBody>
          <a:bodyPr wrap="square" lIns="0" tIns="0" rIns="0" bIns="0" rtlCol="0" anchor="t"/>
          <a:lstStyle/>
          <a:p>
            <a:pPr algn="l" indent="0" marL="0">
              <a:buNone/>
            </a:pPr>
            <a:r>
              <a:rPr lang="en-US" sz="1100" b="1" dirty="0">
                <a:solidFill>
                  <a:schemeClr val="tx1"/>
                </a:solidFill>
              </a:rPr>
              <a:t>AND IF IN EQUALS OUT?</a:t>
            </a:r>
            <a:endParaRPr lang="en-US" sz="1100" dirty="0"/>
          </a:p>
        </p:txBody>
      </p:sp>
      <p:sp>
        <p:nvSpPr>
          <p:cNvPr id="20" name="t-4-17"/>
          <p:cNvSpPr txBox="1"/>
          <p:nvPr/>
        </p:nvSpPr>
        <p:spPr>
          <a:xfrm>
            <a:off x="6629400" y="3666744"/>
            <a:ext cx="4727448" cy="1271016"/>
          </a:xfrm>
          <a:prstGeom prst="rect">
            <a:avLst/>
          </a:prstGeom>
          <a:noFill/>
        </p:spPr>
        <p:txBody>
          <a:bodyPr wrap="square" lIns="0" tIns="0" rIns="0" bIns="0" rtlCol="0" anchor="t"/>
          <a:lstStyle/>
          <a:p>
            <a:pPr algn="l" indent="0" marL="0">
              <a:buNone/>
            </a:pPr>
            <a:r>
              <a:rPr lang="en-US" sz="1600" dirty="0">
                <a:solidFill>
                  <a:schemeClr val="tx1"/>
                </a:solidFill>
              </a:rPr>
              <a:t>If 5 W enters and 5 W leaves, the temperature does not change although heat is flowing. That is a steady state: the flux is the same at every point.</a:t>
            </a:r>
            <a:endParaRPr lang="en-US" sz="1600" dirty="0"/>
          </a:p>
        </p:txBody>
      </p:sp>
      <p:sp>
        <p:nvSpPr>
          <p:cNvPr id="21" name="t-4-18"/>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C is the heat capacity per mass and σ the mass per length, as in Section 1 of the notes.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7" grpId="0" animBg="1"/>
      <p:bldP spid="18" grpId="0" animBg="1"/>
      <p:bldP spid="19" grpId="0" animBg="1"/>
      <p:bldP spid="20"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The same bookkeeping in other fields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graphicFrame>
        <p:nvGraphicFramePr>
          <p:cNvPr id="4" name="table-5-1"/>
          <p:cNvGraphicFramePr>
            <a:graphicFrameLocks noGrp="1"/>
          </p:cNvGraphicFramePr>
          <p:nvPr/>
        </p:nvGraphicFramePr>
        <p:xfrm>
          <a:off x="612648" y="1325880"/>
          <a:ext cx="10972800" cy="2743200"/>
        </p:xfrm>
        <a:graphic>
          <a:graphicData uri="http://schemas.openxmlformats.org/drawingml/2006/table">
            <a:tbl>
              <a:tblPr/>
              <a:tblGrid>
                <a:gridCol w="2331720"/>
                <a:gridCol w="2514600"/>
                <a:gridCol w="2697480"/>
                <a:gridCol w="3429000"/>
              </a:tblGrid>
              <a:tr h="457200">
                <a:tc>
                  <a:txBody>
                    <a:bodyPr/>
                    <a:lstStyle/>
                    <a:p>
                      <a:pPr algn="l" indent="0" marL="0">
                        <a:buNone/>
                      </a:pPr>
                      <a:r>
                        <a:rPr lang="en-US" sz="1400" b="1" dirty="0">
                          <a:solidFill>
                            <a:schemeClr val="bg1"/>
                          </a:solidFill>
                        </a:rPr>
                        <a:t>What is conserved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400" b="1" dirty="0">
                          <a:solidFill>
                            <a:schemeClr val="bg1"/>
                          </a:solidFill>
                        </a:rPr>
                        <a:t>Density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400" b="1" dirty="0">
                          <a:solidFill>
                            <a:schemeClr val="bg1"/>
                          </a:solidFill>
                        </a:rPr>
                        <a:t>Flux</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400" b="1" dirty="0">
                          <a:solidFill>
                            <a:schemeClr val="bg1"/>
                          </a:solidFill>
                        </a:rPr>
                        <a:t>What sets the flux</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457200">
                <a:tc>
                  <a:txBody>
                    <a:bodyPr/>
                    <a:lstStyle/>
                    <a:p>
                      <a:pPr algn="l" indent="0" marL="0">
                        <a:buNone/>
                      </a:pPr>
                      <a:r>
                        <a:rPr lang="en-US" sz="1400" b="1" dirty="0">
                          <a:solidFill>
                            <a:schemeClr val="tx1"/>
                          </a:solidFill>
                        </a:rPr>
                        <a:t>Heat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energy per length, Cσu</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watts, f</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Fourier: f = −k ∂u/∂x</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b="1" dirty="0">
                          <a:solidFill>
                            <a:schemeClr val="tx1"/>
                          </a:solidFill>
                        </a:rPr>
                        <a:t>Dye in water</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concentration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molecules per second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Fick: flux = −D × gradient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b="1" dirty="0">
                          <a:solidFill>
                            <a:schemeClr val="tx1"/>
                          </a:solidFill>
                        </a:rPr>
                        <a:t>Electric charge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charge density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current density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Ohm: current follows the field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b="1" dirty="0">
                          <a:solidFill>
                            <a:schemeClr val="tx1"/>
                          </a:solidFill>
                        </a:rPr>
                        <a:t>Cars on a road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cars per kilometre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cars per hour</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drivers: speed falls as density rises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b="1" dirty="0">
                          <a:solidFill>
                            <a:schemeClr val="tx1"/>
                          </a:solidFill>
                        </a:rPr>
                        <a:t>Probability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|ψ|²</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probability current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the gradient of the phase of ψ</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box-5-2"/>
          <p:cNvSpPr/>
          <p:nvPr/>
        </p:nvSpPr>
        <p:spPr>
          <a:xfrm>
            <a:off x="612648" y="4343400"/>
            <a:ext cx="10972800" cy="1188720"/>
          </a:xfrm>
          <a:prstGeom prst="roundRect">
            <a:avLst>
              <a:gd name="adj" fmla="val 4615"/>
            </a:avLst>
          </a:prstGeom>
          <a:solidFill>
            <a:schemeClr val="accent2"/>
          </a:solidFill>
        </p:spPr>
      </p:sp>
      <p:sp>
        <p:nvSpPr>
          <p:cNvPr id="6" name="t-5-3"/>
          <p:cNvSpPr txBox="1"/>
          <p:nvPr/>
        </p:nvSpPr>
        <p:spPr>
          <a:xfrm>
            <a:off x="841248" y="4471416"/>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7" name="t-5-4"/>
          <p:cNvSpPr txBox="1"/>
          <p:nvPr/>
        </p:nvSpPr>
        <p:spPr>
          <a:xfrm>
            <a:off x="841248" y="4764024"/>
            <a:ext cx="10515600" cy="676656"/>
          </a:xfrm>
          <a:prstGeom prst="rect">
            <a:avLst/>
          </a:prstGeom>
          <a:noFill/>
        </p:spPr>
        <p:txBody>
          <a:bodyPr wrap="square" lIns="0" tIns="0" rIns="0" bIns="0" rtlCol="0" anchor="t"/>
          <a:lstStyle/>
          <a:p>
            <a:pPr algn="l" indent="0" marL="0">
              <a:buNone/>
            </a:pPr>
            <a:r>
              <a:rPr lang="en-US" sz="1600" dirty="0">
                <a:solidFill>
                  <a:schemeClr val="tx1"/>
                </a:solidFill>
              </a:rPr>
              <a:t>In every row: rate of change of the density = −∂(flux)/∂x. The conservation law is always the same. The physics of each field is in the last column.</a:t>
            </a:r>
            <a:endParaRPr lang="en-US" sz="1600" dirty="0"/>
          </a:p>
        </p:txBody>
      </p:sp>
      <p:sp>
        <p:nvSpPr>
          <p:cNvPr id="8" name="t-5-5"/>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Fick's law has the form of Fourier's law, so dye in still water obeys the heat equation.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Fourier's law: downhill, at a rate set by k</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pic>
        <p:nvPicPr>
          <p:cNvPr id="4" name="eq-6-1" descr="f = -k\,\pd{u}{x}"/>
          <p:cNvPicPr>
            <a:picLocks noChangeAspect="1"/>
          </p:cNvPicPr>
          <p:nvPr/>
        </p:nvPicPr>
        <p:blipFill>
          <a:blip r:embed="rId2"/>
          <a:stretch>
            <a:fillRect/>
          </a:stretch>
        </p:blipFill>
        <p:spPr>
          <a:xfrm>
            <a:off x="612648" y="1371600"/>
            <a:ext cx="1410462" cy="674370"/>
          </a:xfrm>
          <a:prstGeom prst="rect">
            <a:avLst/>
          </a:prstGeom>
        </p:spPr>
      </p:pic>
      <p:sp>
        <p:nvSpPr>
          <p:cNvPr id="5" name="t-6-2"/>
          <p:cNvSpPr txBox="1"/>
          <p:nvPr/>
        </p:nvSpPr>
        <p:spPr>
          <a:xfrm>
            <a:off x="612648" y="2432304"/>
            <a:ext cx="4480560" cy="1005840"/>
          </a:xfrm>
          <a:prstGeom prst="rect">
            <a:avLst/>
          </a:prstGeom>
          <a:noFill/>
        </p:spPr>
        <p:txBody>
          <a:bodyPr wrap="square" lIns="0" tIns="0" rIns="0" bIns="0" rtlCol="0" anchor="t"/>
          <a:lstStyle/>
          <a:p>
            <a:pPr algn="l" indent="0" marL="0">
              <a:lnSpc>
                <a:spcPct val="110000"/>
              </a:lnSpc>
              <a:buNone/>
            </a:pPr>
            <a:r>
              <a:rPr lang="en-US" sz="1300" dirty="0">
                <a:solidFill>
                  <a:schemeClr val="tx2"/>
                </a:solidFill>
              </a:rPr>
              <a:t>Per unit area of cross-section: f in W/m², ∂u/∂x in K/m, k in W/(m K). In the notes f is the whole flow in watts, so their k is this k times the area A.</a:t>
            </a:r>
            <a:endParaRPr lang="en-US" sz="1300" dirty="0"/>
          </a:p>
        </p:txBody>
      </p:sp>
      <p:sp>
        <p:nvSpPr>
          <p:cNvPr id="6" name="t-6-3"/>
          <p:cNvSpPr txBox="1"/>
          <p:nvPr/>
        </p:nvSpPr>
        <p:spPr>
          <a:xfrm>
            <a:off x="612648" y="3520440"/>
            <a:ext cx="4480560" cy="548640"/>
          </a:xfrm>
          <a:prstGeom prst="rect">
            <a:avLst/>
          </a:prstGeom>
          <a:noFill/>
        </p:spPr>
        <p:txBody>
          <a:bodyPr wrap="square" lIns="0" tIns="0" rIns="0" bIns="0" rtlCol="0" anchor="t"/>
          <a:lstStyle/>
          <a:p>
            <a:pPr algn="l" indent="0" marL="0">
              <a:buNone/>
            </a:pPr>
            <a:r>
              <a:rPr lang="en-US" sz="1600" b="1" dirty="0">
                <a:solidFill>
                  <a:schemeClr val="tx1"/>
                </a:solidFill>
              </a:rPr>
              <a:t>The minus sign.</a:t>
            </a:r>
            <a:r>
              <a:rPr lang="en-US" sz="1600" dirty="0">
                <a:solidFill>
                  <a:schemeClr val="tx1"/>
                </a:solidFill>
              </a:rPr>
              <a:t> Heat goes from hot to cold.</a:t>
            </a:r>
            <a:endParaRPr lang="en-US" sz="1600" dirty="0"/>
          </a:p>
        </p:txBody>
      </p:sp>
      <p:sp>
        <p:nvSpPr>
          <p:cNvPr id="7" name="t-6-4"/>
          <p:cNvSpPr txBox="1"/>
          <p:nvPr/>
        </p:nvSpPr>
        <p:spPr>
          <a:xfrm>
            <a:off x="612648" y="4114800"/>
            <a:ext cx="4480560" cy="822960"/>
          </a:xfrm>
          <a:prstGeom prst="rect">
            <a:avLst/>
          </a:prstGeom>
          <a:noFill/>
        </p:spPr>
        <p:txBody>
          <a:bodyPr wrap="square" lIns="0" tIns="0" rIns="0" bIns="0" rtlCol="0" anchor="t"/>
          <a:lstStyle/>
          <a:p>
            <a:pPr algn="l" indent="0" marL="0">
              <a:buNone/>
            </a:pPr>
            <a:r>
              <a:rPr lang="en-US" sz="1600" b="1" dirty="0">
                <a:solidFill>
                  <a:schemeClr val="tx1"/>
                </a:solidFill>
              </a:rPr>
              <a:t>The size of k.</a:t>
            </a:r>
            <a:r>
              <a:rPr lang="en-US" sz="1600" dirty="0">
                <a:solidFill>
                  <a:schemeClr val="tx1"/>
                </a:solidFill>
              </a:rPr>
              <a:t> A property of the material. It covers five orders of magnitude.</a:t>
            </a:r>
            <a:endParaRPr lang="en-US" sz="1600" dirty="0"/>
          </a:p>
        </p:txBody>
      </p:sp>
      <p:graphicFrame>
        <p:nvGraphicFramePr>
          <p:cNvPr id="8" name="chart-6-5"/>
          <p:cNvGraphicFramePr>
            <a:graphicFrameLocks noGrp="1"/>
          </p:cNvGraphicFramePr>
          <p:nvPr/>
        </p:nvGraphicFramePr>
        <p:xfrm>
          <a:off x="5440680" y="1234440"/>
          <a:ext cx="6144768" cy="3456432"/>
        </p:xfrm>
        <a:graphic>
          <a:graphicData uri="http://schemas.openxmlformats.org/drawingml/2006/chart">
            <c:chart xmlns:c="http://schemas.openxmlformats.org/drawingml/2006/chart" r:id="rId3"/>
          </a:graphicData>
        </a:graphic>
      </p:graphicFrame>
      <p:sp>
        <p:nvSpPr>
          <p:cNvPr id="9" name="box-6-6"/>
          <p:cNvSpPr/>
          <p:nvPr/>
        </p:nvSpPr>
        <p:spPr>
          <a:xfrm>
            <a:off x="612648" y="4773168"/>
            <a:ext cx="10972800" cy="896112"/>
          </a:xfrm>
          <a:prstGeom prst="roundRect">
            <a:avLst>
              <a:gd name="adj" fmla="val 6122"/>
            </a:avLst>
          </a:prstGeom>
          <a:solidFill>
            <a:schemeClr val="accent2"/>
          </a:solidFill>
        </p:spPr>
      </p:sp>
      <p:sp>
        <p:nvSpPr>
          <p:cNvPr id="10" name="t-6-7"/>
          <p:cNvSpPr txBox="1"/>
          <p:nvPr/>
        </p:nvSpPr>
        <p:spPr>
          <a:xfrm>
            <a:off x="841248" y="4901184"/>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1" name="t-6-8"/>
          <p:cNvSpPr txBox="1"/>
          <p:nvPr/>
        </p:nvSpPr>
        <p:spPr>
          <a:xfrm>
            <a:off x="841248" y="5193792"/>
            <a:ext cx="10515600" cy="384048"/>
          </a:xfrm>
          <a:prstGeom prst="rect">
            <a:avLst/>
          </a:prstGeom>
          <a:noFill/>
        </p:spPr>
        <p:txBody>
          <a:bodyPr wrap="square" lIns="0" tIns="0" rIns="0" bIns="0" rtlCol="0" anchor="t"/>
          <a:lstStyle/>
          <a:p>
            <a:pPr algn="l" indent="0" marL="0">
              <a:buNone/>
            </a:pPr>
            <a:r>
              <a:rPr lang="en-US" sz="1500" dirty="0">
                <a:solidFill>
                  <a:schemeClr val="tx1"/>
                </a:solidFill>
              </a:rPr>
              <a:t>A cooler follows from this chart: metal to carry the heat, and as little air or paste in its path as possible.</a:t>
            </a:r>
            <a:endParaRPr lang="en-US" sz="1500" dirty="0"/>
          </a:p>
        </p:txBody>
      </p:sp>
      <p:sp>
        <p:nvSpPr>
          <p:cNvPr id="12" name="t-6-9"/>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Rounded handbook values near room temperature. Thermal pastes range from about 1 to 10 W/(m K).</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Fourier's law in numbers: why paste matters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
        <p:nvSpPr>
          <p:cNvPr id="4" name="t-7-1"/>
          <p:cNvSpPr txBox="1"/>
          <p:nvPr/>
        </p:nvSpPr>
        <p:spPr>
          <a:xfrm>
            <a:off x="612648" y="1298448"/>
            <a:ext cx="10972800" cy="548640"/>
          </a:xfrm>
          <a:prstGeom prst="rect">
            <a:avLst/>
          </a:prstGeom>
          <a:noFill/>
        </p:spPr>
        <p:txBody>
          <a:bodyPr wrap="square" lIns="0" tIns="0" rIns="0" bIns="0" rtlCol="0" anchor="t"/>
          <a:lstStyle/>
          <a:p>
            <a:pPr algn="l" indent="0" marL="0">
              <a:buNone/>
            </a:pPr>
            <a:r>
              <a:rPr lang="en-US" sz="1600" b="1" dirty="0">
                <a:solidFill>
                  <a:schemeClr val="tx1"/>
                </a:solidFill>
              </a:rPr>
              <a:t>Given</a:t>
            </a:r>
            <a:r>
              <a:rPr lang="en-US" sz="1600" dirty="0">
                <a:solidFill>
                  <a:schemeClr val="tx1"/>
                </a:solidFill>
              </a:rPr>
              <a:t> 150 W crossing a gap 50 µm thick and 2.5 cm² in area, between a chip and its cooler. </a:t>
            </a:r>
            <a:r>
              <a:rPr lang="en-US" sz="1600" b="1" dirty="0">
                <a:solidFill>
                  <a:schemeClr val="tx1"/>
                </a:solidFill>
              </a:rPr>
              <a:t>Find</a:t>
            </a:r>
            <a:r>
              <a:rPr lang="en-US" sz="1600" dirty="0">
                <a:solidFill>
                  <a:schemeClr val="tx1"/>
                </a:solidFill>
              </a:rPr>
              <a:t> the temperature difference across the gap for three fillings.</a:t>
            </a:r>
            <a:endParaRPr lang="en-US" sz="1600" dirty="0"/>
          </a:p>
        </p:txBody>
      </p:sp>
      <p:pic>
        <p:nvPicPr>
          <p:cNvPr id="5" name="eq-7-2" descr="\Delta T = f\,\frac{L}{k} = \frac{P\,L}{k\,A} = \frac{150\un{W}\times 50\times10^{-6}\un{m}}{k\times 2.5\times10^{-4}\un{m^2}} = \frac{30\un{W/m}}{k}"/>
          <p:cNvPicPr>
            <a:picLocks noChangeAspect="1"/>
          </p:cNvPicPr>
          <p:nvPr/>
        </p:nvPicPr>
        <p:blipFill>
          <a:blip r:embed="rId2"/>
          <a:stretch>
            <a:fillRect/>
          </a:stretch>
        </p:blipFill>
        <p:spPr>
          <a:xfrm>
            <a:off x="612648" y="2057400"/>
            <a:ext cx="4965192" cy="621792"/>
          </a:xfrm>
          <a:prstGeom prst="rect">
            <a:avLst/>
          </a:prstGeom>
        </p:spPr>
      </p:pic>
      <p:sp>
        <p:nvSpPr>
          <p:cNvPr id="6" name="box-7-3"/>
          <p:cNvSpPr/>
          <p:nvPr/>
        </p:nvSpPr>
        <p:spPr>
          <a:xfrm>
            <a:off x="612648" y="2971800"/>
            <a:ext cx="2176272" cy="1481328"/>
          </a:xfrm>
          <a:prstGeom prst="roundRect">
            <a:avLst>
              <a:gd name="adj" fmla="val 3703"/>
            </a:avLst>
          </a:prstGeom>
          <a:solidFill>
            <a:schemeClr val="bg2"/>
          </a:solidFill>
        </p:spPr>
      </p:sp>
      <p:sp>
        <p:nvSpPr>
          <p:cNvPr id="7" name="t-7-4"/>
          <p:cNvSpPr txBox="1"/>
          <p:nvPr/>
        </p:nvSpPr>
        <p:spPr>
          <a:xfrm>
            <a:off x="612648" y="3090672"/>
            <a:ext cx="2176272" cy="274320"/>
          </a:xfrm>
          <a:prstGeom prst="rect">
            <a:avLst/>
          </a:prstGeom>
          <a:noFill/>
        </p:spPr>
        <p:txBody>
          <a:bodyPr wrap="square" lIns="0" tIns="0" rIns="0" bIns="0" rtlCol="0" anchor="t"/>
          <a:lstStyle/>
          <a:p>
            <a:pPr algn="ctr" indent="0" marL="0">
              <a:buNone/>
            </a:pPr>
            <a:r>
              <a:rPr lang="en-US" sz="1400" b="1" dirty="0">
                <a:solidFill>
                  <a:schemeClr val="tx1"/>
                </a:solidFill>
              </a:rPr>
              <a:t>air</a:t>
            </a:r>
            <a:endParaRPr lang="en-US" sz="1400" dirty="0"/>
          </a:p>
        </p:txBody>
      </p:sp>
      <p:sp>
        <p:nvSpPr>
          <p:cNvPr id="8" name="t-7-5"/>
          <p:cNvSpPr txBox="1"/>
          <p:nvPr/>
        </p:nvSpPr>
        <p:spPr>
          <a:xfrm>
            <a:off x="612648" y="3401568"/>
            <a:ext cx="2176272" cy="548640"/>
          </a:xfrm>
          <a:prstGeom prst="rect">
            <a:avLst/>
          </a:prstGeom>
          <a:noFill/>
        </p:spPr>
        <p:txBody>
          <a:bodyPr wrap="square" lIns="0" tIns="0" rIns="0" bIns="0" rtlCol="0" anchor="t"/>
          <a:lstStyle/>
          <a:p>
            <a:pPr algn="ctr" indent="0" marL="0">
              <a:buNone/>
            </a:pPr>
            <a:r>
              <a:rPr lang="en-US" sz="2800" b="1" dirty="0">
                <a:solidFill>
                  <a:schemeClr val="accent1"/>
                </a:solidFill>
              </a:rPr>
              <a:t>1150 K</a:t>
            </a:r>
            <a:endParaRPr lang="en-US" sz="2800" dirty="0"/>
          </a:p>
        </p:txBody>
      </p:sp>
      <p:sp>
        <p:nvSpPr>
          <p:cNvPr id="9" name="t-7-6"/>
          <p:cNvSpPr txBox="1"/>
          <p:nvPr/>
        </p:nvSpPr>
        <p:spPr>
          <a:xfrm>
            <a:off x="612648" y="4041648"/>
            <a:ext cx="2176272" cy="274320"/>
          </a:xfrm>
          <a:prstGeom prst="rect">
            <a:avLst/>
          </a:prstGeom>
          <a:noFill/>
        </p:spPr>
        <p:txBody>
          <a:bodyPr wrap="square" lIns="0" tIns="0" rIns="0" bIns="0" rtlCol="0" anchor="t"/>
          <a:lstStyle/>
          <a:p>
            <a:pPr algn="ctr" indent="0" marL="0">
              <a:buNone/>
            </a:pPr>
            <a:r>
              <a:rPr lang="en-US" sz="1300" dirty="0">
                <a:solidFill>
                  <a:schemeClr val="tx2"/>
                </a:solidFill>
              </a:rPr>
              <a:t>k = 0.026 W/(m K)</a:t>
            </a:r>
            <a:endParaRPr lang="en-US" sz="1300" dirty="0"/>
          </a:p>
        </p:txBody>
      </p:sp>
      <p:sp>
        <p:nvSpPr>
          <p:cNvPr id="10" name="box-7-7"/>
          <p:cNvSpPr/>
          <p:nvPr/>
        </p:nvSpPr>
        <p:spPr>
          <a:xfrm>
            <a:off x="3008376" y="2971800"/>
            <a:ext cx="2176272" cy="1481328"/>
          </a:xfrm>
          <a:prstGeom prst="roundRect">
            <a:avLst>
              <a:gd name="adj" fmla="val 3703"/>
            </a:avLst>
          </a:prstGeom>
          <a:solidFill>
            <a:schemeClr val="bg2"/>
          </a:solidFill>
        </p:spPr>
      </p:sp>
      <p:sp>
        <p:nvSpPr>
          <p:cNvPr id="11" name="t-7-8"/>
          <p:cNvSpPr txBox="1"/>
          <p:nvPr/>
        </p:nvSpPr>
        <p:spPr>
          <a:xfrm>
            <a:off x="3008376" y="3090672"/>
            <a:ext cx="2176272" cy="274320"/>
          </a:xfrm>
          <a:prstGeom prst="rect">
            <a:avLst/>
          </a:prstGeom>
          <a:noFill/>
        </p:spPr>
        <p:txBody>
          <a:bodyPr wrap="square" lIns="0" tIns="0" rIns="0" bIns="0" rtlCol="0" anchor="t"/>
          <a:lstStyle/>
          <a:p>
            <a:pPr algn="ctr" indent="0" marL="0">
              <a:buNone/>
            </a:pPr>
            <a:r>
              <a:rPr lang="en-US" sz="1400" b="1" dirty="0">
                <a:solidFill>
                  <a:schemeClr val="tx1"/>
                </a:solidFill>
              </a:rPr>
              <a:t>thermal paste</a:t>
            </a:r>
            <a:endParaRPr lang="en-US" sz="1400" dirty="0"/>
          </a:p>
        </p:txBody>
      </p:sp>
      <p:sp>
        <p:nvSpPr>
          <p:cNvPr id="12" name="t-7-9"/>
          <p:cNvSpPr txBox="1"/>
          <p:nvPr/>
        </p:nvSpPr>
        <p:spPr>
          <a:xfrm>
            <a:off x="3008376" y="3401568"/>
            <a:ext cx="2176272" cy="548640"/>
          </a:xfrm>
          <a:prstGeom prst="rect">
            <a:avLst/>
          </a:prstGeom>
          <a:noFill/>
        </p:spPr>
        <p:txBody>
          <a:bodyPr wrap="square" lIns="0" tIns="0" rIns="0" bIns="0" rtlCol="0" anchor="t"/>
          <a:lstStyle/>
          <a:p>
            <a:pPr algn="ctr" indent="0" marL="0">
              <a:buNone/>
            </a:pPr>
            <a:r>
              <a:rPr lang="en-US" sz="2800" b="1" dirty="0">
                <a:solidFill>
                  <a:schemeClr val="tx1"/>
                </a:solidFill>
              </a:rPr>
              <a:t>6 K</a:t>
            </a:r>
            <a:endParaRPr lang="en-US" sz="2800" dirty="0"/>
          </a:p>
        </p:txBody>
      </p:sp>
      <p:sp>
        <p:nvSpPr>
          <p:cNvPr id="13" name="t-7-10"/>
          <p:cNvSpPr txBox="1"/>
          <p:nvPr/>
        </p:nvSpPr>
        <p:spPr>
          <a:xfrm>
            <a:off x="3008376" y="4041648"/>
            <a:ext cx="2176272" cy="274320"/>
          </a:xfrm>
          <a:prstGeom prst="rect">
            <a:avLst/>
          </a:prstGeom>
          <a:noFill/>
        </p:spPr>
        <p:txBody>
          <a:bodyPr wrap="square" lIns="0" tIns="0" rIns="0" bIns="0" rtlCol="0" anchor="t"/>
          <a:lstStyle/>
          <a:p>
            <a:pPr algn="ctr" indent="0" marL="0">
              <a:buNone/>
            </a:pPr>
            <a:r>
              <a:rPr lang="en-US" sz="1300" dirty="0">
                <a:solidFill>
                  <a:schemeClr val="tx2"/>
                </a:solidFill>
              </a:rPr>
              <a:t>k = 5 W/(m K)</a:t>
            </a:r>
            <a:endParaRPr lang="en-US" sz="1300" dirty="0"/>
          </a:p>
        </p:txBody>
      </p:sp>
      <p:sp>
        <p:nvSpPr>
          <p:cNvPr id="14" name="box-7-11"/>
          <p:cNvSpPr/>
          <p:nvPr/>
        </p:nvSpPr>
        <p:spPr>
          <a:xfrm>
            <a:off x="5404104" y="2971800"/>
            <a:ext cx="2176272" cy="1481328"/>
          </a:xfrm>
          <a:prstGeom prst="roundRect">
            <a:avLst>
              <a:gd name="adj" fmla="val 3703"/>
            </a:avLst>
          </a:prstGeom>
          <a:solidFill>
            <a:schemeClr val="bg2"/>
          </a:solidFill>
        </p:spPr>
      </p:sp>
      <p:sp>
        <p:nvSpPr>
          <p:cNvPr id="15" name="t-7-12"/>
          <p:cNvSpPr txBox="1"/>
          <p:nvPr/>
        </p:nvSpPr>
        <p:spPr>
          <a:xfrm>
            <a:off x="5404104" y="3090672"/>
            <a:ext cx="2176272" cy="274320"/>
          </a:xfrm>
          <a:prstGeom prst="rect">
            <a:avLst/>
          </a:prstGeom>
          <a:noFill/>
        </p:spPr>
        <p:txBody>
          <a:bodyPr wrap="square" lIns="0" tIns="0" rIns="0" bIns="0" rtlCol="0" anchor="t"/>
          <a:lstStyle/>
          <a:p>
            <a:pPr algn="ctr" indent="0" marL="0">
              <a:buNone/>
            </a:pPr>
            <a:r>
              <a:rPr lang="en-US" sz="1400" b="1" dirty="0">
                <a:solidFill>
                  <a:schemeClr val="tx1"/>
                </a:solidFill>
              </a:rPr>
              <a:t>indium solder</a:t>
            </a:r>
            <a:endParaRPr lang="en-US" sz="1400" dirty="0"/>
          </a:p>
        </p:txBody>
      </p:sp>
      <p:sp>
        <p:nvSpPr>
          <p:cNvPr id="16" name="t-7-13"/>
          <p:cNvSpPr txBox="1"/>
          <p:nvPr/>
        </p:nvSpPr>
        <p:spPr>
          <a:xfrm>
            <a:off x="5404104" y="3401568"/>
            <a:ext cx="2176272" cy="548640"/>
          </a:xfrm>
          <a:prstGeom prst="rect">
            <a:avLst/>
          </a:prstGeom>
          <a:noFill/>
        </p:spPr>
        <p:txBody>
          <a:bodyPr wrap="square" lIns="0" tIns="0" rIns="0" bIns="0" rtlCol="0" anchor="t"/>
          <a:lstStyle/>
          <a:p>
            <a:pPr algn="ctr" indent="0" marL="0">
              <a:buNone/>
            </a:pPr>
            <a:r>
              <a:rPr lang="en-US" sz="2800" b="1" dirty="0">
                <a:solidFill>
                  <a:schemeClr val="tx1"/>
                </a:solidFill>
              </a:rPr>
              <a:t>0.4 K</a:t>
            </a:r>
            <a:endParaRPr lang="en-US" sz="2800" dirty="0"/>
          </a:p>
        </p:txBody>
      </p:sp>
      <p:sp>
        <p:nvSpPr>
          <p:cNvPr id="17" name="t-7-14"/>
          <p:cNvSpPr txBox="1"/>
          <p:nvPr/>
        </p:nvSpPr>
        <p:spPr>
          <a:xfrm>
            <a:off x="5404104" y="4041648"/>
            <a:ext cx="2176272" cy="274320"/>
          </a:xfrm>
          <a:prstGeom prst="rect">
            <a:avLst/>
          </a:prstGeom>
          <a:noFill/>
        </p:spPr>
        <p:txBody>
          <a:bodyPr wrap="square" lIns="0" tIns="0" rIns="0" bIns="0" rtlCol="0" anchor="t"/>
          <a:lstStyle/>
          <a:p>
            <a:pPr algn="ctr" indent="0" marL="0">
              <a:buNone/>
            </a:pPr>
            <a:r>
              <a:rPr lang="en-US" sz="1300" dirty="0">
                <a:solidFill>
                  <a:schemeClr val="tx2"/>
                </a:solidFill>
              </a:rPr>
              <a:t>k = 82 W/(m K)</a:t>
            </a:r>
            <a:endParaRPr lang="en-US" sz="1300" dirty="0"/>
          </a:p>
        </p:txBody>
      </p:sp>
      <p:sp>
        <p:nvSpPr>
          <p:cNvPr id="18" name="t-7-15"/>
          <p:cNvSpPr txBox="1"/>
          <p:nvPr/>
        </p:nvSpPr>
        <p:spPr>
          <a:xfrm>
            <a:off x="8001000" y="2971800"/>
            <a:ext cx="3566160" cy="320040"/>
          </a:xfrm>
          <a:prstGeom prst="rect">
            <a:avLst/>
          </a:prstGeom>
          <a:noFill/>
        </p:spPr>
        <p:txBody>
          <a:bodyPr wrap="square" lIns="0" tIns="0" rIns="0" bIns="0" rtlCol="0" anchor="t"/>
          <a:lstStyle/>
          <a:p>
            <a:pPr algn="l" indent="0" marL="0">
              <a:buNone/>
            </a:pPr>
            <a:r>
              <a:rPr lang="en-US" sz="1600" dirty="0">
                <a:solidFill>
                  <a:schemeClr val="tx1"/>
                </a:solidFill>
              </a:rPr>
              <a:t>Thermal resistance, in K/W:</a:t>
            </a:r>
            <a:endParaRPr lang="en-US" sz="1600" dirty="0"/>
          </a:p>
        </p:txBody>
      </p:sp>
      <p:pic>
        <p:nvPicPr>
          <p:cNvPr id="19" name="eq-7-16" descr="\Delta T = P\,R, \qquad R = \frac{L}{kA}"/>
          <p:cNvPicPr>
            <a:picLocks noChangeAspect="1"/>
          </p:cNvPicPr>
          <p:nvPr/>
        </p:nvPicPr>
        <p:blipFill>
          <a:blip r:embed="rId3"/>
          <a:stretch>
            <a:fillRect/>
          </a:stretch>
        </p:blipFill>
        <p:spPr>
          <a:xfrm>
            <a:off x="8001000" y="3383280"/>
            <a:ext cx="2087118" cy="470916"/>
          </a:xfrm>
          <a:prstGeom prst="rect">
            <a:avLst/>
          </a:prstGeom>
        </p:spPr>
      </p:pic>
      <p:sp>
        <p:nvSpPr>
          <p:cNvPr id="20" name="t-7-17"/>
          <p:cNvSpPr txBox="1"/>
          <p:nvPr/>
        </p:nvSpPr>
        <p:spPr>
          <a:xfrm>
            <a:off x="8001000" y="4041648"/>
            <a:ext cx="3566160" cy="548640"/>
          </a:xfrm>
          <a:prstGeom prst="rect">
            <a:avLst/>
          </a:prstGeom>
          <a:noFill/>
        </p:spPr>
        <p:txBody>
          <a:bodyPr wrap="square" lIns="0" tIns="0" rIns="0" bIns="0" rtlCol="0" anchor="t"/>
          <a:lstStyle/>
          <a:p>
            <a:pPr algn="l" indent="0" marL="0">
              <a:buNone/>
            </a:pPr>
            <a:r>
              <a:rPr lang="en-US" sz="1400" dirty="0">
                <a:solidFill>
                  <a:schemeClr val="tx2"/>
                </a:solidFill>
              </a:rPr>
              <a:t>Ohm's law, with temperature as voltage and heat flow as current.</a:t>
            </a:r>
            <a:endParaRPr lang="en-US" sz="1400" dirty="0"/>
          </a:p>
        </p:txBody>
      </p:sp>
      <p:sp>
        <p:nvSpPr>
          <p:cNvPr id="21" name="box-7-18"/>
          <p:cNvSpPr/>
          <p:nvPr/>
        </p:nvSpPr>
        <p:spPr>
          <a:xfrm>
            <a:off x="612648" y="4681728"/>
            <a:ext cx="10972800" cy="1024128"/>
          </a:xfrm>
          <a:prstGeom prst="roundRect">
            <a:avLst>
              <a:gd name="adj" fmla="val 5357"/>
            </a:avLst>
          </a:prstGeom>
          <a:solidFill>
            <a:schemeClr val="accent2"/>
          </a:solidFill>
        </p:spPr>
      </p:sp>
      <p:sp>
        <p:nvSpPr>
          <p:cNvPr id="22" name="t-7-19"/>
          <p:cNvSpPr txBox="1"/>
          <p:nvPr/>
        </p:nvSpPr>
        <p:spPr>
          <a:xfrm>
            <a:off x="841248" y="4809744"/>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23" name="t-7-20"/>
          <p:cNvSpPr txBox="1"/>
          <p:nvPr/>
        </p:nvSpPr>
        <p:spPr>
          <a:xfrm>
            <a:off x="841248" y="5102352"/>
            <a:ext cx="10515600" cy="512064"/>
          </a:xfrm>
          <a:prstGeom prst="rect">
            <a:avLst/>
          </a:prstGeom>
          <a:noFill/>
        </p:spPr>
        <p:txBody>
          <a:bodyPr wrap="square" lIns="0" tIns="0" rIns="0" bIns="0" rtlCol="0" anchor="t"/>
          <a:lstStyle/>
          <a:p>
            <a:pPr algn="l" indent="0" marL="0">
              <a:buNone/>
            </a:pPr>
            <a:r>
              <a:rPr lang="en-US" sz="1600" dirty="0">
                <a:solidFill>
                  <a:schemeClr val="tx1"/>
                </a:solidFill>
              </a:rPr>
              <a:t>The largest L/k in the path sets most of the temperature drop. Paste is there to displace air, and the layer is kept as thin as possible.</a:t>
            </a:r>
            <a:endParaRPr lang="en-US" sz="1600" dirty="0"/>
          </a:p>
        </p:txBody>
      </p:sp>
      <p:sp>
        <p:nvSpPr>
          <p:cNvPr id="24" name="t-7-21"/>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A real contact touches at many points, so the air figure is never reached. Many desktop processors have the die soldered to the lid with indium.</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Through the stack: the thin layer drops the most</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
        <p:nvSpPr>
          <p:cNvPr id="4" name="t-8-1"/>
          <p:cNvSpPr txBox="1"/>
          <p:nvPr/>
        </p:nvSpPr>
        <p:spPr>
          <a:xfrm>
            <a:off x="612648" y="1298448"/>
            <a:ext cx="4297680" cy="1005840"/>
          </a:xfrm>
          <a:prstGeom prst="rect">
            <a:avLst/>
          </a:prstGeom>
          <a:noFill/>
        </p:spPr>
        <p:txBody>
          <a:bodyPr wrap="square" lIns="0" tIns="0" rIns="0" bIns="0" rtlCol="0" anchor="t"/>
          <a:lstStyle/>
          <a:p>
            <a:pPr algn="l" indent="0" marL="0">
              <a:buNone/>
            </a:pPr>
            <a:r>
              <a:rPr lang="en-US" sz="1600" b="1" dirty="0">
                <a:solidFill>
                  <a:schemeClr val="tx1"/>
                </a:solidFill>
              </a:rPr>
              <a:t>Given</a:t>
            </a:r>
            <a:r>
              <a:rPr lang="en-US" sz="1600" dirty="0">
                <a:solidFill>
                  <a:schemeClr val="tx1"/>
                </a:solidFill>
              </a:rPr>
              <a:t> 60 W/cm² leaving the transistors, and three layers on the way to the cooler. </a:t>
            </a:r>
            <a:r>
              <a:rPr lang="en-US" sz="1600" b="1" dirty="0">
                <a:solidFill>
                  <a:schemeClr val="tx1"/>
                </a:solidFill>
              </a:rPr>
              <a:t>Find</a:t>
            </a:r>
            <a:r>
              <a:rPr lang="en-US" sz="1600" dirty="0">
                <a:solidFill>
                  <a:schemeClr val="tx1"/>
                </a:solidFill>
              </a:rPr>
              <a:t> the temperature drop across each layer.</a:t>
            </a:r>
            <a:endParaRPr lang="en-US" sz="1600" dirty="0"/>
          </a:p>
        </p:txBody>
      </p:sp>
      <p:graphicFrame>
        <p:nvGraphicFramePr>
          <p:cNvPr id="5" name="table-8-2"/>
          <p:cNvGraphicFramePr>
            <a:graphicFrameLocks noGrp="1"/>
          </p:cNvGraphicFramePr>
          <p:nvPr/>
        </p:nvGraphicFramePr>
        <p:xfrm>
          <a:off x="612648" y="2340864"/>
          <a:ext cx="4297680" cy="1353312"/>
        </p:xfrm>
        <a:graphic>
          <a:graphicData uri="http://schemas.openxmlformats.org/drawingml/2006/table">
            <a:tbl>
              <a:tblPr/>
              <a:tblGrid>
                <a:gridCol w="1417320"/>
                <a:gridCol w="960120"/>
                <a:gridCol w="960120"/>
                <a:gridCol w="960120"/>
              </a:tblGrid>
              <a:tr h="338328">
                <a:tc>
                  <a:txBody>
                    <a:bodyPr/>
                    <a:lstStyle/>
                    <a:p>
                      <a:pPr algn="l" indent="0" marL="0">
                        <a:buNone/>
                      </a:pPr>
                      <a:r>
                        <a:rPr lang="en-US" sz="1300" b="1" dirty="0">
                          <a:solidFill>
                            <a:schemeClr val="bg1"/>
                          </a:solidFill>
                        </a:rPr>
                        <a:t>Layer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L, mm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k</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f L / k</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338328">
                <a:tc>
                  <a:txBody>
                    <a:bodyPr/>
                    <a:lstStyle/>
                    <a:p>
                      <a:pPr algn="l" indent="0" marL="0">
                        <a:buNone/>
                      </a:pPr>
                      <a:r>
                        <a:rPr lang="en-US" sz="1300" b="1" dirty="0">
                          <a:solidFill>
                            <a:schemeClr val="tx1"/>
                          </a:solidFill>
                        </a:rPr>
                        <a:t>silicon die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0.5</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150</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2.0 K</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38328">
                <a:tc>
                  <a:txBody>
                    <a:bodyPr/>
                    <a:lstStyle/>
                    <a:p>
                      <a:pPr algn="l" indent="0" marL="0">
                        <a:buNone/>
                      </a:pPr>
                      <a:r>
                        <a:rPr lang="en-US" sz="1300" b="1" dirty="0">
                          <a:solidFill>
                            <a:schemeClr val="tx1"/>
                          </a:solidFill>
                        </a:rPr>
                        <a:t>paste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0.05</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5</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6.0 K</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38328">
                <a:tc>
                  <a:txBody>
                    <a:bodyPr/>
                    <a:lstStyle/>
                    <a:p>
                      <a:pPr algn="l" indent="0" marL="0">
                        <a:buNone/>
                      </a:pPr>
                      <a:r>
                        <a:rPr lang="en-US" sz="1300" b="1" dirty="0">
                          <a:solidFill>
                            <a:schemeClr val="tx1"/>
                          </a:solidFill>
                        </a:rPr>
                        <a:t>copper lid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3</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400</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4.5 K</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8-3"/>
          <p:cNvSpPr txBox="1"/>
          <p:nvPr/>
        </p:nvSpPr>
        <p:spPr>
          <a:xfrm>
            <a:off x="612648" y="3840480"/>
            <a:ext cx="4297680" cy="548640"/>
          </a:xfrm>
          <a:prstGeom prst="rect">
            <a:avLst/>
          </a:prstGeom>
          <a:noFill/>
        </p:spPr>
        <p:txBody>
          <a:bodyPr wrap="square" lIns="0" tIns="0" rIns="0" bIns="0" rtlCol="0" anchor="t"/>
          <a:lstStyle/>
          <a:p>
            <a:pPr algn="l" indent="0" marL="0">
              <a:buNone/>
            </a:pPr>
            <a:r>
              <a:rPr lang="en-US" sz="1600" dirty="0">
                <a:solidFill>
                  <a:schemeClr val="tx1"/>
                </a:solidFill>
              </a:rPr>
              <a:t>At an interface the flux is the same on both sides:</a:t>
            </a:r>
            <a:endParaRPr lang="en-US" sz="1600" dirty="0"/>
          </a:p>
        </p:txBody>
      </p:sp>
      <p:pic>
        <p:nvPicPr>
          <p:cNvPr id="7" name="eq-8-4" descr="k_1\,\pd{u_1}{x} = k_2\,\pd{u_2}{x}"/>
          <p:cNvPicPr>
            <a:picLocks noChangeAspect="1"/>
          </p:cNvPicPr>
          <p:nvPr/>
        </p:nvPicPr>
        <p:blipFill>
          <a:blip r:embed="rId2"/>
          <a:stretch>
            <a:fillRect/>
          </a:stretch>
        </p:blipFill>
        <p:spPr>
          <a:xfrm>
            <a:off x="612648" y="4389120"/>
            <a:ext cx="1419606" cy="400050"/>
          </a:xfrm>
          <a:prstGeom prst="rect">
            <a:avLst/>
          </a:prstGeom>
        </p:spPr>
      </p:pic>
      <p:sp>
        <p:nvSpPr>
          <p:cNvPr id="8" name="t-8-5"/>
          <p:cNvSpPr txBox="1"/>
          <p:nvPr/>
        </p:nvSpPr>
        <p:spPr>
          <a:xfrm>
            <a:off x="612648" y="4992624"/>
            <a:ext cx="4297680" cy="731520"/>
          </a:xfrm>
          <a:prstGeom prst="rect">
            <a:avLst/>
          </a:prstGeom>
          <a:noFill/>
        </p:spPr>
        <p:txBody>
          <a:bodyPr wrap="square" lIns="0" tIns="0" rIns="0" bIns="0" rtlCol="0" anchor="t"/>
          <a:lstStyle/>
          <a:p>
            <a:pPr algn="l" indent="0" marL="0">
              <a:buNone/>
            </a:pPr>
            <a:r>
              <a:rPr lang="en-US" sz="1400" dirty="0">
                <a:solidFill>
                  <a:schemeClr val="tx2"/>
                </a:solidFill>
              </a:rPr>
              <a:t>so the slope jumps by the ratio of the conductivities: 30 times steeper in the paste than in the silicon.</a:t>
            </a:r>
            <a:endParaRPr lang="en-US" sz="1400" dirty="0"/>
          </a:p>
        </p:txBody>
      </p:sp>
      <p:pic>
        <p:nvPicPr>
          <p:cNvPr id="9" name="video-8-6">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184648" y="1261872"/>
            <a:ext cx="6400800" cy="4297680"/>
          </a:xfrm>
          <a:prstGeom prst="rect">
            <a:avLst/>
          </a:prstGeom>
        </p:spPr>
      </p:pic>
      <p:sp>
        <p:nvSpPr>
          <p:cNvPr id="10" name="t-8-7"/>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Video: the first 0.3 s after power on. One-dimensional model, top of the lid held at 50 °C.</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600" fill="hold"/>
                                        <p:tgtEl>
                                          <p:spTgt spid="9"/>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repeatCount="indefinite" fill="hold" display="0">
                  <p:stCondLst>
                    <p:cond delay="indefinite"/>
                  </p:stCondLst>
                </p:cTn>
                <p:tgtEl>
                  <p:spTgt spid="9"/>
                </p:tgtEl>
              </p:cMediaNode>
            </p:video>
            <p:seq concurrent="1" nextAc="seek">
              <p:cTn id="20" restart="whenNotActive" fill="hold" evtFilter="cancelBubble" nodeType="interactiveSeq">
                <p:stCondLst>
                  <p:cond evt="onClick" delay="0">
                    <p:tgtEl>
                      <p:spTgt spid="9"/>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9"/>
                                        </p:tgtEl>
                                      </p:cBhvr>
                                    </p:cmd>
                                  </p:childTnLst>
                                </p:cTn>
                              </p:par>
                            </p:childTnLst>
                          </p:cTn>
                        </p:par>
                      </p:childTnLst>
                    </p:cTn>
                  </p:par>
                </p:childTnLst>
              </p:cTn>
              <p:nextCondLst>
                <p:cond evt="onClick" delay="0">
                  <p:tgtEl>
                    <p:spTgt spid="9"/>
                  </p:tgtEl>
                </p:cond>
              </p:nextCondLst>
            </p:seq>
          </p:childTnLst>
        </p:cTn>
      </p:par>
    </p:tnLst>
    <p:bldLst>
      <p:bldP spid="6" grpId="0" animBg="1"/>
      <p:bldP spid="8"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One equation, one number: the diffusivity α</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pic>
        <p:nvPicPr>
          <p:cNvPr id="4" name="eq-9-1" descr="\pd{u}{t} = \alpha\,\pdn{u}{x}{2}, \qquad \alpha = \frac{kA}{C\sigma} = \frac{k}{\rho\,c}"/>
          <p:cNvPicPr>
            <a:picLocks noChangeAspect="1"/>
          </p:cNvPicPr>
          <p:nvPr/>
        </p:nvPicPr>
        <p:blipFill>
          <a:blip r:embed="rId2"/>
          <a:stretch>
            <a:fillRect/>
          </a:stretch>
        </p:blipFill>
        <p:spPr>
          <a:xfrm>
            <a:off x="612648" y="1325880"/>
            <a:ext cx="2944368" cy="550926"/>
          </a:xfrm>
          <a:prstGeom prst="rect">
            <a:avLst/>
          </a:prstGeom>
        </p:spPr>
      </p:pic>
      <p:sp>
        <p:nvSpPr>
          <p:cNvPr id="5" name="t-9-2"/>
          <p:cNvSpPr txBox="1"/>
          <p:nvPr/>
        </p:nvSpPr>
        <p:spPr>
          <a:xfrm>
            <a:off x="3922776" y="1389888"/>
            <a:ext cx="7315200" cy="548640"/>
          </a:xfrm>
          <a:prstGeom prst="rect">
            <a:avLst/>
          </a:prstGeom>
          <a:noFill/>
        </p:spPr>
        <p:txBody>
          <a:bodyPr wrap="square" lIns="0" tIns="0" rIns="0" bIns="0" rtlCol="0" anchor="t"/>
          <a:lstStyle/>
          <a:p>
            <a:pPr algn="l" indent="0" marL="0">
              <a:buNone/>
            </a:pPr>
            <a:r>
              <a:rPr lang="en-US" sz="1400" dirty="0">
                <a:solidFill>
                  <a:schemeClr val="tx2"/>
                </a:solidFill>
              </a:rPr>
              <a:t>in m²/s, with σ = ρA and C = c:</a:t>
            </a:r>
            <a:endParaRPr lang="en-US" sz="1400" dirty="0"/>
          </a:p>
          <a:p>
            <a:pPr algn="l" indent="0" marL="0">
              <a:buNone/>
            </a:pPr>
            <a:r>
              <a:rPr lang="en-US" sz="1400" dirty="0">
                <a:solidFill>
                  <a:schemeClr val="tx2"/>
                </a:solidFill>
              </a:rPr>
              <a:t>conductivity over heat capacity per volume</a:t>
            </a:r>
            <a:endParaRPr lang="en-US" sz="1400" dirty="0"/>
          </a:p>
        </p:txBody>
      </p:sp>
      <p:pic>
        <p:nvPicPr>
          <p:cNvPr id="6" name="eq-9-3" descr="t \approx \frac{L^2}{\alpha}"/>
          <p:cNvPicPr>
            <a:picLocks noChangeAspect="1"/>
          </p:cNvPicPr>
          <p:nvPr/>
        </p:nvPicPr>
        <p:blipFill>
          <a:blip r:embed="rId3"/>
          <a:stretch>
            <a:fillRect/>
          </a:stretch>
        </p:blipFill>
        <p:spPr>
          <a:xfrm>
            <a:off x="612648" y="2331720"/>
            <a:ext cx="637794" cy="512064"/>
          </a:xfrm>
          <a:prstGeom prst="rect">
            <a:avLst/>
          </a:prstGeom>
        </p:spPr>
      </p:pic>
      <p:sp>
        <p:nvSpPr>
          <p:cNvPr id="7" name="t-9-4"/>
          <p:cNvSpPr txBox="1"/>
          <p:nvPr/>
        </p:nvSpPr>
        <p:spPr>
          <a:xfrm>
            <a:off x="1616202" y="2377440"/>
            <a:ext cx="2651760" cy="548640"/>
          </a:xfrm>
          <a:prstGeom prst="rect">
            <a:avLst/>
          </a:prstGeom>
          <a:noFill/>
        </p:spPr>
        <p:txBody>
          <a:bodyPr wrap="square" lIns="0" tIns="0" rIns="0" bIns="0" rtlCol="0" anchor="t"/>
          <a:lstStyle/>
          <a:p>
            <a:pPr algn="l" indent="0" marL="0">
              <a:buNone/>
            </a:pPr>
            <a:r>
              <a:rPr lang="en-US" sz="1400" dirty="0">
                <a:solidFill>
                  <a:schemeClr val="tx2"/>
                </a:solidFill>
              </a:rPr>
              <a:t>the time for heat to cross a distance L</a:t>
            </a:r>
            <a:endParaRPr lang="en-US" sz="1400" dirty="0"/>
          </a:p>
        </p:txBody>
      </p:sp>
      <p:graphicFrame>
        <p:nvGraphicFramePr>
          <p:cNvPr id="8" name="table-9-5"/>
          <p:cNvGraphicFramePr>
            <a:graphicFrameLocks noGrp="1"/>
          </p:cNvGraphicFramePr>
          <p:nvPr/>
        </p:nvGraphicFramePr>
        <p:xfrm>
          <a:off x="4892040" y="2212848"/>
          <a:ext cx="6693408" cy="2852928"/>
        </p:xfrm>
        <a:graphic>
          <a:graphicData uri="http://schemas.openxmlformats.org/drawingml/2006/table">
            <a:tbl>
              <a:tblPr/>
              <a:tblGrid>
                <a:gridCol w="2057400"/>
                <a:gridCol w="1207008"/>
                <a:gridCol w="1143000"/>
                <a:gridCol w="1143000"/>
                <a:gridCol w="1143000"/>
              </a:tblGrid>
              <a:tr h="356616">
                <a:tc>
                  <a:txBody>
                    <a:bodyPr/>
                    <a:lstStyle/>
                    <a:p>
                      <a:pPr algn="l" indent="0" marL="0">
                        <a:buNone/>
                      </a:pPr>
                      <a:r>
                        <a:rPr lang="en-US" sz="1300" b="1" dirty="0">
                          <a:solidFill>
                            <a:schemeClr val="bg1"/>
                          </a:solidFill>
                        </a:rPr>
                        <a:t>Material</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α, mm²/s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1 mm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1 cm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10 cm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356616">
                <a:tc>
                  <a:txBody>
                    <a:bodyPr/>
                    <a:lstStyle/>
                    <a:p>
                      <a:pPr algn="l" indent="0" marL="0">
                        <a:buNone/>
                      </a:pPr>
                      <a:r>
                        <a:rPr lang="en-US" sz="1300" b="1" dirty="0">
                          <a:solidFill>
                            <a:schemeClr val="tx1"/>
                          </a:solidFill>
                        </a:rPr>
                        <a:t>copper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116</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8.6 ms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0.86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86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56616">
                <a:tc>
                  <a:txBody>
                    <a:bodyPr/>
                    <a:lstStyle/>
                    <a:p>
                      <a:pPr algn="l" indent="0" marL="0">
                        <a:buNone/>
                      </a:pPr>
                      <a:r>
                        <a:rPr lang="en-US" sz="1300" b="1" dirty="0">
                          <a:solidFill>
                            <a:schemeClr val="tx1"/>
                          </a:solidFill>
                        </a:rPr>
                        <a:t>aluminium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98</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10 ms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1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1.7 min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56616">
                <a:tc>
                  <a:txBody>
                    <a:bodyPr/>
                    <a:lstStyle/>
                    <a:p>
                      <a:pPr algn="l" indent="0" marL="0">
                        <a:buNone/>
                      </a:pPr>
                      <a:r>
                        <a:rPr lang="en-US" sz="1300" b="1" dirty="0">
                          <a:solidFill>
                            <a:schemeClr val="tx1"/>
                          </a:solidFill>
                        </a:rPr>
                        <a:t>silicon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92</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11 ms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1.1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1.8 min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56616">
                <a:tc>
                  <a:txBody>
                    <a:bodyPr/>
                    <a:lstStyle/>
                    <a:p>
                      <a:pPr algn="l" indent="0" marL="0">
                        <a:buNone/>
                      </a:pPr>
                      <a:r>
                        <a:rPr lang="en-US" sz="1300" b="1" dirty="0">
                          <a:solidFill>
                            <a:schemeClr val="tx1"/>
                          </a:solidFill>
                        </a:rPr>
                        <a:t>air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22</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46 ms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4.6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7.6 min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56616">
                <a:tc>
                  <a:txBody>
                    <a:bodyPr/>
                    <a:lstStyle/>
                    <a:p>
                      <a:pPr algn="l" indent="0" marL="0">
                        <a:buNone/>
                      </a:pPr>
                      <a:r>
                        <a:rPr lang="en-US" sz="1300" b="1" dirty="0">
                          <a:solidFill>
                            <a:schemeClr val="tx1"/>
                          </a:solidFill>
                        </a:rPr>
                        <a:t>stainless steel</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3.75</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0.27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27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44 min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56616">
                <a:tc>
                  <a:txBody>
                    <a:bodyPr/>
                    <a:lstStyle/>
                    <a:p>
                      <a:pPr algn="l" indent="0" marL="0">
                        <a:buNone/>
                      </a:pPr>
                      <a:r>
                        <a:rPr lang="en-US" sz="1300" b="1" dirty="0">
                          <a:solidFill>
                            <a:schemeClr val="tx1"/>
                          </a:solidFill>
                        </a:rPr>
                        <a:t>glass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0.500</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2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3.3 min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5.6 h</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56616">
                <a:tc>
                  <a:txBody>
                    <a:bodyPr/>
                    <a:lstStyle/>
                    <a:p>
                      <a:pPr algn="l" indent="0" marL="0">
                        <a:buNone/>
                      </a:pPr>
                      <a:r>
                        <a:rPr lang="en-US" sz="1300" b="1" dirty="0">
                          <a:solidFill>
                            <a:schemeClr val="tx1"/>
                          </a:solidFill>
                        </a:rPr>
                        <a:t>water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0.144</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7 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12 min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19 h</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9" name="box-9-6"/>
          <p:cNvSpPr/>
          <p:nvPr/>
        </p:nvSpPr>
        <p:spPr>
          <a:xfrm>
            <a:off x="612648" y="3291840"/>
            <a:ext cx="4005072" cy="1554480"/>
          </a:xfrm>
          <a:prstGeom prst="roundRect">
            <a:avLst>
              <a:gd name="adj" fmla="val 3529"/>
            </a:avLst>
          </a:prstGeom>
          <a:solidFill>
            <a:schemeClr val="accent2"/>
          </a:solidFill>
        </p:spPr>
      </p:sp>
      <p:sp>
        <p:nvSpPr>
          <p:cNvPr id="10" name="t-9-7"/>
          <p:cNvSpPr txBox="1"/>
          <p:nvPr/>
        </p:nvSpPr>
        <p:spPr>
          <a:xfrm>
            <a:off x="841248" y="3419856"/>
            <a:ext cx="3547872"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1" name="t-9-8"/>
          <p:cNvSpPr txBox="1"/>
          <p:nvPr/>
        </p:nvSpPr>
        <p:spPr>
          <a:xfrm>
            <a:off x="841248" y="3712464"/>
            <a:ext cx="3547872" cy="1042416"/>
          </a:xfrm>
          <a:prstGeom prst="rect">
            <a:avLst/>
          </a:prstGeom>
          <a:noFill/>
        </p:spPr>
        <p:txBody>
          <a:bodyPr wrap="square" lIns="0" tIns="0" rIns="0" bIns="0" rtlCol="0" anchor="t"/>
          <a:lstStyle/>
          <a:p>
            <a:pPr algn="l" indent="0" marL="0">
              <a:buNone/>
            </a:pPr>
            <a:r>
              <a:rPr lang="en-US" sz="1500" dirty="0">
                <a:solidFill>
                  <a:schemeClr val="tx1"/>
                </a:solidFill>
              </a:rPr>
              <a:t>Ten times the distance takes a hundred times as long. This is the L² in every decay rate of Section 6.</a:t>
            </a:r>
            <a:endParaRPr lang="en-US" sz="1500" dirty="0"/>
          </a:p>
        </p:txBody>
      </p:sp>
      <p:sp>
        <p:nvSpPr>
          <p:cNvPr id="12" name="t-9-9"/>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Still air conducts poorly but has almost no heat capacity, so its α is larger than that of steel.</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The three rods of the notes, in motion</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pic>
        <p:nvPicPr>
          <p:cNvPr id="4" name="video-10-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12648" y="1261872"/>
            <a:ext cx="10972800" cy="4297680"/>
          </a:xfrm>
          <a:prstGeom prst="rect">
            <a:avLst/>
          </a:prstGeom>
        </p:spPr>
      </p:pic>
      <p:sp>
        <p:nvSpPr>
          <p:cNvPr id="5" name="t-10-2"/>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Examples 6.1 to 6.3 on one clock. The ends decide the modes, the decay rates and the final state.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4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A cooling fin is a rod that leaks from its sides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
        <p:nvSpPr>
          <p:cNvPr id="4" name="t-11-1"/>
          <p:cNvSpPr txBox="1"/>
          <p:nvPr/>
        </p:nvSpPr>
        <p:spPr>
          <a:xfrm>
            <a:off x="612648" y="1298448"/>
            <a:ext cx="4297680" cy="548640"/>
          </a:xfrm>
          <a:prstGeom prst="rect">
            <a:avLst/>
          </a:prstGeom>
          <a:noFill/>
        </p:spPr>
        <p:txBody>
          <a:bodyPr wrap="square" lIns="0" tIns="0" rIns="0" bIns="0" rtlCol="0" anchor="t"/>
          <a:lstStyle/>
          <a:p>
            <a:pPr algn="l" indent="0" marL="0">
              <a:buNone/>
            </a:pPr>
            <a:r>
              <a:rPr lang="en-US" sz="1600" dirty="0">
                <a:solidFill>
                  <a:schemeClr val="tx1"/>
                </a:solidFill>
              </a:rPr>
              <a:t>Conduction along the fin, and a loss to the air from its two faces:</a:t>
            </a:r>
            <a:endParaRPr lang="en-US" sz="1600" dirty="0"/>
          </a:p>
        </p:txBody>
      </p:sp>
      <p:pic>
        <p:nvPicPr>
          <p:cNvPr id="5" name="eq-11-2" descr="\rho c\,\pd{u}{t} = k\,\pdn{u}{x}{2} - \frac{2h}{\delta}\,(u - u_{\text{air}})"/>
          <p:cNvPicPr>
            <a:picLocks noChangeAspect="1"/>
          </p:cNvPicPr>
          <p:nvPr/>
        </p:nvPicPr>
        <p:blipFill>
          <a:blip r:embed="rId2"/>
          <a:stretch>
            <a:fillRect/>
          </a:stretch>
        </p:blipFill>
        <p:spPr>
          <a:xfrm>
            <a:off x="612648" y="1883664"/>
            <a:ext cx="2480310" cy="434340"/>
          </a:xfrm>
          <a:prstGeom prst="rect">
            <a:avLst/>
          </a:prstGeom>
        </p:spPr>
      </p:pic>
      <p:sp>
        <p:nvSpPr>
          <p:cNvPr id="6" name="t-11-3"/>
          <p:cNvSpPr txBox="1"/>
          <p:nvPr/>
        </p:nvSpPr>
        <p:spPr>
          <a:xfrm>
            <a:off x="612648" y="2505456"/>
            <a:ext cx="4297680" cy="274320"/>
          </a:xfrm>
          <a:prstGeom prst="rect">
            <a:avLst/>
          </a:prstGeom>
          <a:noFill/>
        </p:spPr>
        <p:txBody>
          <a:bodyPr wrap="square" lIns="0" tIns="0" rIns="0" bIns="0" rtlCol="0" anchor="t"/>
          <a:lstStyle/>
          <a:p>
            <a:pPr algn="l" indent="0" marL="0">
              <a:buNone/>
            </a:pPr>
            <a:r>
              <a:rPr lang="en-US" sz="1400" dirty="0">
                <a:solidFill>
                  <a:schemeClr val="tx2"/>
                </a:solidFill>
              </a:rPr>
              <a:t>Steady state, base held hot, tip insulated:</a:t>
            </a:r>
            <a:endParaRPr lang="en-US" sz="1400" dirty="0"/>
          </a:p>
        </p:txBody>
      </p:sp>
      <p:pic>
        <p:nvPicPr>
          <p:cNvPr id="7" name="eq-11-4" descr="\frac{u - u_{\text{air}}}{u_{\text{base}} - u_{\text{air}}} = \frac{\cosh m(L - x)}{\cosh mL},\quad m = \sqrt{\frac{2h}{k\,\delta}}"/>
          <p:cNvPicPr>
            <a:picLocks noChangeAspect="1"/>
          </p:cNvPicPr>
          <p:nvPr/>
        </p:nvPicPr>
        <p:blipFill>
          <a:blip r:embed="rId3"/>
          <a:stretch>
            <a:fillRect/>
          </a:stretch>
        </p:blipFill>
        <p:spPr>
          <a:xfrm>
            <a:off x="612648" y="2779776"/>
            <a:ext cx="3543300" cy="486918"/>
          </a:xfrm>
          <a:prstGeom prst="rect">
            <a:avLst/>
          </a:prstGeom>
        </p:spPr>
      </p:pic>
      <p:sp>
        <p:nvSpPr>
          <p:cNvPr id="8" name="t-11-5"/>
          <p:cNvSpPr txBox="1"/>
          <p:nvPr/>
        </p:nvSpPr>
        <p:spPr>
          <a:xfrm>
            <a:off x="612648" y="3529584"/>
            <a:ext cx="4297680" cy="685800"/>
          </a:xfrm>
          <a:prstGeom prst="rect">
            <a:avLst/>
          </a:prstGeom>
          <a:noFill/>
        </p:spPr>
        <p:txBody>
          <a:bodyPr wrap="square" lIns="0" tIns="0" rIns="0" bIns="0" rtlCol="0" anchor="t"/>
          <a:lstStyle/>
          <a:p>
            <a:pPr algn="l" indent="0" marL="0">
              <a:buNone/>
            </a:pPr>
            <a:r>
              <a:rPr lang="en-US" sz="1400" b="1" dirty="0">
                <a:solidFill>
                  <a:schemeClr val="tx1"/>
                </a:solidFill>
              </a:rPr>
              <a:t>Given</a:t>
            </a:r>
            <a:r>
              <a:rPr lang="en-US" sz="1400" dirty="0">
                <a:solidFill>
                  <a:schemeClr val="tx1"/>
                </a:solidFill>
              </a:rPr>
              <a:t> an aluminium alloy, k = 200 W/(m K), δ = 1 mm, h = 50 W/(m² K). </a:t>
            </a:r>
            <a:r>
              <a:rPr lang="en-US" sz="1400" b="1" dirty="0">
                <a:solidFill>
                  <a:schemeClr val="tx1"/>
                </a:solidFill>
              </a:rPr>
              <a:t>Find</a:t>
            </a:r>
            <a:r>
              <a:rPr lang="en-US" sz="1400" dirty="0">
                <a:solidFill>
                  <a:schemeClr val="tx1"/>
                </a:solidFill>
              </a:rPr>
              <a:t> the heat removed by fins of 20, 40 and 80 mm.</a:t>
            </a:r>
            <a:endParaRPr lang="en-US" sz="1400" dirty="0"/>
          </a:p>
        </p:txBody>
      </p:sp>
      <p:sp>
        <p:nvSpPr>
          <p:cNvPr id="9" name="t-11-6"/>
          <p:cNvSpPr txBox="1"/>
          <p:nvPr/>
        </p:nvSpPr>
        <p:spPr>
          <a:xfrm>
            <a:off x="612648" y="4233672"/>
            <a:ext cx="4297680" cy="457200"/>
          </a:xfrm>
          <a:prstGeom prst="rect">
            <a:avLst/>
          </a:prstGeom>
          <a:noFill/>
        </p:spPr>
        <p:txBody>
          <a:bodyPr wrap="square" lIns="0" tIns="0" rIns="0" bIns="0" rtlCol="0" anchor="t"/>
          <a:lstStyle/>
          <a:p>
            <a:pPr algn="l" indent="0" marL="0">
              <a:buNone/>
            </a:pPr>
            <a:r>
              <a:rPr lang="en-US" sz="1400" dirty="0">
                <a:solidFill>
                  <a:schemeClr val="tx1"/>
                </a:solidFill>
              </a:rPr>
              <a:t>1/m = 45 mm. </a:t>
            </a:r>
            <a:r>
              <a:rPr lang="en-US" sz="1400" b="1" dirty="0">
                <a:solidFill>
                  <a:schemeClr val="tx1"/>
                </a:solidFill>
              </a:rPr>
              <a:t>10.3 W</a:t>
            </a:r>
            <a:r>
              <a:rPr lang="en-US" sz="1400" dirty="0">
                <a:solidFill>
                  <a:schemeClr val="tx1"/>
                </a:solidFill>
              </a:rPr>
              <a:t>, </a:t>
            </a:r>
            <a:r>
              <a:rPr lang="en-US" sz="1400" b="1" dirty="0">
                <a:solidFill>
                  <a:schemeClr val="tx1"/>
                </a:solidFill>
              </a:rPr>
              <a:t>17.6 W</a:t>
            </a:r>
            <a:r>
              <a:rPr lang="en-US" sz="1400" dirty="0">
                <a:solidFill>
                  <a:schemeClr val="tx1"/>
                </a:solidFill>
              </a:rPr>
              <a:t> and </a:t>
            </a:r>
            <a:r>
              <a:rPr lang="en-US" sz="1400" b="1" dirty="0">
                <a:solidFill>
                  <a:schemeClr val="tx1"/>
                </a:solidFill>
              </a:rPr>
              <a:t>23.3 W</a:t>
            </a:r>
            <a:r>
              <a:rPr lang="en-US" sz="1400" dirty="0">
                <a:solidFill>
                  <a:schemeClr val="tx1"/>
                </a:solidFill>
              </a:rPr>
              <a:t>, and never more than 24.6 W.</a:t>
            </a:r>
            <a:endParaRPr lang="en-US" sz="1400" dirty="0"/>
          </a:p>
        </p:txBody>
      </p:sp>
      <p:sp>
        <p:nvSpPr>
          <p:cNvPr id="10" name="box-11-7"/>
          <p:cNvSpPr/>
          <p:nvPr/>
        </p:nvSpPr>
        <p:spPr>
          <a:xfrm>
            <a:off x="612648" y="4700016"/>
            <a:ext cx="4297680" cy="1042416"/>
          </a:xfrm>
          <a:prstGeom prst="roundRect">
            <a:avLst>
              <a:gd name="adj" fmla="val 5263"/>
            </a:avLst>
          </a:prstGeom>
          <a:solidFill>
            <a:schemeClr val="accent2"/>
          </a:solidFill>
        </p:spPr>
      </p:sp>
      <p:sp>
        <p:nvSpPr>
          <p:cNvPr id="11" name="t-11-8"/>
          <p:cNvSpPr txBox="1"/>
          <p:nvPr/>
        </p:nvSpPr>
        <p:spPr>
          <a:xfrm>
            <a:off x="841248" y="4828032"/>
            <a:ext cx="384048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2" name="t-11-9"/>
          <p:cNvSpPr txBox="1"/>
          <p:nvPr/>
        </p:nvSpPr>
        <p:spPr>
          <a:xfrm>
            <a:off x="841248" y="5120640"/>
            <a:ext cx="3840480" cy="530352"/>
          </a:xfrm>
          <a:prstGeom prst="rect">
            <a:avLst/>
          </a:prstGeom>
          <a:noFill/>
        </p:spPr>
        <p:txBody>
          <a:bodyPr wrap="square" lIns="0" tIns="0" rIns="0" bIns="0" rtlCol="0" anchor="t"/>
          <a:lstStyle/>
          <a:p>
            <a:pPr algn="l" indent="0" marL="0">
              <a:buNone/>
            </a:pPr>
            <a:r>
              <a:rPr lang="en-US" sz="1300" dirty="0">
                <a:solidFill>
                  <a:schemeClr val="tx1"/>
                </a:solidFill>
              </a:rPr>
              <a:t>A fin of length 1/m removes 76% of what an endless fin would. Past 2/m, more length adds almost nothing.</a:t>
            </a:r>
            <a:endParaRPr lang="en-US" sz="1300" dirty="0"/>
          </a:p>
        </p:txBody>
      </p:sp>
      <p:pic>
        <p:nvPicPr>
          <p:cNvPr id="13" name="video-11-10">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5184648" y="1261872"/>
            <a:ext cx="6400800" cy="4297680"/>
          </a:xfrm>
          <a:prstGeom prst="rect">
            <a:avLst/>
          </a:prstGeom>
        </p:spPr>
      </p:pic>
      <p:sp>
        <p:nvSpPr>
          <p:cNvPr id="14" name="t-11-11"/>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The mirror image of Example 6.3, with a loss term. δ: thickness. h: heat transfer coefficient. Fins 100 mm wide.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12000" fill="hold"/>
                                        <p:tgtEl>
                                          <p:spTgt spid="13"/>
                                        </p:tgtEl>
                                      </p:cBhvr>
                                    </p:cmd>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3" repeatCount="indefinite" fill="hold" display="0">
                  <p:stCondLst>
                    <p:cond delay="indefinite"/>
                  </p:stCondLst>
                </p:cTn>
                <p:tgtEl>
                  <p:spTgt spid="13"/>
                </p:tgtEl>
              </p:cMediaNode>
            </p:video>
            <p:seq concurrent="1" nextAc="seek">
              <p:cTn id="34" restart="whenNotActive" fill="hold" evtFilter="cancelBubble" nodeType="interactiveSeq">
                <p:stCondLst>
                  <p:cond evt="onClick" delay="0">
                    <p:tgtEl>
                      <p:spTgt spid="13"/>
                    </p:tgtEl>
                  </p:cond>
                </p:stCondLst>
                <p:endSync evt="end" delay="0">
                  <p:rtn val="all"/>
                </p:endSync>
                <p:childTnLst>
                  <p:par>
                    <p:cTn id="35" fill="hold">
                      <p:stCondLst>
                        <p:cond delay="0"/>
                      </p:stCondLst>
                      <p:childTnLst>
                        <p:par>
                          <p:cTn id="36" fill="hold">
                            <p:stCondLst>
                              <p:cond delay="0"/>
                            </p:stCondLst>
                            <p:childTnLst>
                              <p:par>
                                <p:cTn id="37" presetID="2" presetClass="mediacall" presetSubtype="0" fill="hold" nodeType="clickEffect">
                                  <p:stCondLst>
                                    <p:cond delay="0"/>
                                  </p:stCondLst>
                                  <p:childTnLst>
                                    <p:cmd type="call" cmd="togglePause">
                                      <p:cBhvr>
                                        <p:cTn id="38" dur="1" fill="hold"/>
                                        <p:tgtEl>
                                          <p:spTgt spid="13"/>
                                        </p:tgtEl>
                                      </p:cBhvr>
                                    </p:cmd>
                                  </p:childTnLst>
                                </p:cTn>
                              </p:par>
                            </p:childTnLst>
                          </p:cTn>
                        </p:par>
                      </p:childTnLst>
                    </p:cTn>
                  </p:par>
                </p:childTnLst>
              </p:cTn>
              <p:nextCondLst>
                <p:cond evt="onClick" delay="0">
                  <p:tgtEl>
                    <p:spTgt spid="13"/>
                  </p:tgtEl>
                </p:cond>
              </p:nextCondLst>
            </p:seq>
          </p:childTnLst>
        </p:cTn>
      </p:par>
    </p:tnLst>
    <p:bldLst>
      <p:bldP spid="6" grpId="0" animBg="1"/>
      <p:bldP spid="8" grpId="0" animBg="1"/>
      <p:bldP spid="9" grpId="0" animBg="1"/>
      <p:bldP spid="10" grpId="0" animBg="1"/>
      <p:bldP spid="11" grpId="0" animBg="1"/>
      <p:bldP spid="12"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Two dimensions: the same idea, four neighbours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pic>
        <p:nvPicPr>
          <p:cNvPr id="4" name="eq-12-1" descr="\pd{u}{t} = \alpha\left(\pdn{u}{x}{2} + \pdn{u}{y}{2}\right)"/>
          <p:cNvPicPr>
            <a:picLocks noChangeAspect="1"/>
          </p:cNvPicPr>
          <p:nvPr/>
        </p:nvPicPr>
        <p:blipFill>
          <a:blip r:embed="rId2"/>
          <a:stretch>
            <a:fillRect/>
          </a:stretch>
        </p:blipFill>
        <p:spPr>
          <a:xfrm>
            <a:off x="612648" y="1325880"/>
            <a:ext cx="2096262" cy="633222"/>
          </a:xfrm>
          <a:prstGeom prst="rect">
            <a:avLst/>
          </a:prstGeom>
        </p:spPr>
      </p:pic>
      <p:sp>
        <p:nvSpPr>
          <p:cNvPr id="5" name="t-12-2"/>
          <p:cNvSpPr txBox="1"/>
          <p:nvPr/>
        </p:nvSpPr>
        <p:spPr>
          <a:xfrm>
            <a:off x="612648" y="2121408"/>
            <a:ext cx="7223760" cy="274320"/>
          </a:xfrm>
          <a:prstGeom prst="rect">
            <a:avLst/>
          </a:prstGeom>
          <a:noFill/>
        </p:spPr>
        <p:txBody>
          <a:bodyPr wrap="square" lIns="0" tIns="0" rIns="0" bIns="0" rtlCol="0" anchor="t"/>
          <a:lstStyle/>
          <a:p>
            <a:pPr algn="l" indent="0" marL="0">
              <a:buNone/>
            </a:pPr>
            <a:r>
              <a:rPr lang="en-US" sz="1500" dirty="0">
                <a:solidFill>
                  <a:schemeClr val="tx1"/>
                </a:solidFill>
              </a:rPr>
              <a:t>On a grid of spacing Δx, with the 1, −2, 1 stencil in x and in y:</a:t>
            </a:r>
            <a:endParaRPr lang="en-US" sz="1500" dirty="0"/>
          </a:p>
        </p:txBody>
      </p:sp>
      <p:pic>
        <p:nvPicPr>
          <p:cNvPr id="6" name="eq-12-3" descr="\frac{du_{i,j}}{dt} = \frac{\alpha}{\Delta x^2}\left(u_{i+1,j} + u_{i-1,j} + u_{i,j+1} + u_{i,j-1} - 4\,u_{i,j}\right)"/>
          <p:cNvPicPr>
            <a:picLocks noChangeAspect="1"/>
          </p:cNvPicPr>
          <p:nvPr/>
        </p:nvPicPr>
        <p:blipFill>
          <a:blip r:embed="rId3"/>
          <a:stretch>
            <a:fillRect/>
          </a:stretch>
        </p:blipFill>
        <p:spPr>
          <a:xfrm>
            <a:off x="612648" y="2487168"/>
            <a:ext cx="4231386" cy="441198"/>
          </a:xfrm>
          <a:prstGeom prst="rect">
            <a:avLst/>
          </a:prstGeom>
        </p:spPr>
      </p:pic>
      <p:sp>
        <p:nvSpPr>
          <p:cNvPr id="7" name="t-12-4"/>
          <p:cNvSpPr txBox="1"/>
          <p:nvPr/>
        </p:nvSpPr>
        <p:spPr>
          <a:xfrm>
            <a:off x="612648" y="3218688"/>
            <a:ext cx="6492240" cy="548640"/>
          </a:xfrm>
          <a:prstGeom prst="rect">
            <a:avLst/>
          </a:prstGeom>
          <a:noFill/>
        </p:spPr>
        <p:txBody>
          <a:bodyPr wrap="square" lIns="0" tIns="0" rIns="0" bIns="0" rtlCol="0" anchor="t"/>
          <a:lstStyle/>
          <a:p>
            <a:pPr algn="l" indent="0" marL="0">
              <a:buNone/>
            </a:pPr>
            <a:r>
              <a:rPr lang="en-US" sz="1400" dirty="0">
                <a:solidFill>
                  <a:schemeClr val="tx2"/>
                </a:solidFill>
              </a:rPr>
              <a:t>that is, 4α/Δx² times (the average of the four neighbours minus the value itself).</a:t>
            </a:r>
            <a:endParaRPr lang="en-US" sz="1400" dirty="0"/>
          </a:p>
        </p:txBody>
      </p:sp>
      <p:sp>
        <p:nvSpPr>
          <p:cNvPr id="8" name="t-12-5"/>
          <p:cNvSpPr txBox="1"/>
          <p:nvPr/>
        </p:nvSpPr>
        <p:spPr>
          <a:xfrm>
            <a:off x="612648" y="3840480"/>
            <a:ext cx="6492240" cy="274320"/>
          </a:xfrm>
          <a:prstGeom prst="rect">
            <a:avLst/>
          </a:prstGeom>
          <a:noFill/>
        </p:spPr>
        <p:txBody>
          <a:bodyPr wrap="square" lIns="0" tIns="0" rIns="0" bIns="0" rtlCol="0" anchor="t"/>
          <a:lstStyle/>
          <a:p>
            <a:pPr algn="l" indent="0" marL="0">
              <a:buNone/>
            </a:pPr>
            <a:r>
              <a:rPr lang="en-US" sz="1600" dirty="0">
                <a:solidFill>
                  <a:schemeClr val="tx1"/>
                </a:solidFill>
              </a:rPr>
              <a:t>As a matrix acting on all n² unknowns:</a:t>
            </a:r>
            <a:endParaRPr lang="en-US" sz="1600" dirty="0"/>
          </a:p>
        </p:txBody>
      </p:sp>
      <p:pic>
        <p:nvPicPr>
          <p:cNvPr id="9" name="eq-12-6" descr="\frac{d\vc{u}}{dt} = -\frac{\alpha}{\Delta x^2}\,\mat{K}_{2D}\,\vc{u}, \qquad \mat{K}_{2D} = \mat{K}\otimes\mat{I} + \mat{I}\otimes\mat{K}"/>
          <p:cNvPicPr>
            <a:picLocks noChangeAspect="1"/>
          </p:cNvPicPr>
          <p:nvPr/>
        </p:nvPicPr>
        <p:blipFill>
          <a:blip r:embed="rId4"/>
          <a:stretch>
            <a:fillRect/>
          </a:stretch>
        </p:blipFill>
        <p:spPr>
          <a:xfrm>
            <a:off x="612648" y="4133088"/>
            <a:ext cx="3744468" cy="425196"/>
          </a:xfrm>
          <a:prstGeom prst="rect">
            <a:avLst/>
          </a:prstGeom>
        </p:spPr>
      </p:pic>
      <p:sp>
        <p:nvSpPr>
          <p:cNvPr id="10" name="t-12-7"/>
          <p:cNvSpPr txBox="1"/>
          <p:nvPr/>
        </p:nvSpPr>
        <p:spPr>
          <a:xfrm>
            <a:off x="4631436" y="4169664"/>
            <a:ext cx="1783080" cy="548640"/>
          </a:xfrm>
          <a:prstGeom prst="rect">
            <a:avLst/>
          </a:prstGeom>
          <a:noFill/>
        </p:spPr>
        <p:txBody>
          <a:bodyPr wrap="square" lIns="0" tIns="0" rIns="0" bIns="0" rtlCol="0" anchor="t"/>
          <a:lstStyle/>
          <a:p>
            <a:pPr algn="l" indent="0" marL="0">
              <a:buNone/>
            </a:pPr>
            <a:r>
              <a:rPr lang="en-US" sz="1300" dirty="0">
                <a:solidFill>
                  <a:schemeClr val="tx2"/>
                </a:solidFill>
              </a:rPr>
              <a:t>sparse, symmetric,</a:t>
            </a:r>
            <a:endParaRPr lang="en-US" sz="1300" dirty="0"/>
          </a:p>
          <a:p>
            <a:pPr algn="l" indent="0" marL="0">
              <a:buNone/>
            </a:pPr>
            <a:r>
              <a:rPr lang="en-US" sz="1300" dirty="0">
                <a:solidFill>
                  <a:schemeClr val="tx2"/>
                </a:solidFill>
              </a:rPr>
              <a:t>positive definite</a:t>
            </a:r>
            <a:endParaRPr lang="en-US" sz="1300" dirty="0"/>
          </a:p>
        </p:txBody>
      </p:sp>
      <p:cxnSp>
        <p:nvCxnSpPr>
          <p:cNvPr id="11" name="line-12-8"/>
          <p:cNvCxnSpPr/>
          <p:nvPr/>
        </p:nvCxnSpPr>
        <p:spPr>
          <a:xfrm flipH="1">
            <a:off x="8860536" y="2697480"/>
            <a:ext cx="475488" cy="0"/>
          </a:xfrm>
          <a:prstGeom prst="line">
            <a:avLst/>
          </a:prstGeom>
          <a:ln w="25400">
            <a:solidFill>
              <a:schemeClr val="accent4"/>
            </a:solidFill>
          </a:ln>
        </p:spPr>
      </p:cxnSp>
      <p:cxnSp>
        <p:nvCxnSpPr>
          <p:cNvPr id="12" name="line-12-9"/>
          <p:cNvCxnSpPr/>
          <p:nvPr/>
        </p:nvCxnSpPr>
        <p:spPr>
          <a:xfrm>
            <a:off x="10049256" y="2697480"/>
            <a:ext cx="475488" cy="0"/>
          </a:xfrm>
          <a:prstGeom prst="line">
            <a:avLst/>
          </a:prstGeom>
          <a:ln w="25400">
            <a:solidFill>
              <a:schemeClr val="accent4"/>
            </a:solidFill>
          </a:ln>
        </p:spPr>
      </p:cxnSp>
      <p:cxnSp>
        <p:nvCxnSpPr>
          <p:cNvPr id="13" name="line-12-10"/>
          <p:cNvCxnSpPr/>
          <p:nvPr/>
        </p:nvCxnSpPr>
        <p:spPr>
          <a:xfrm flipV="1">
            <a:off x="9692640" y="1865376"/>
            <a:ext cx="0" cy="475488"/>
          </a:xfrm>
          <a:prstGeom prst="line">
            <a:avLst/>
          </a:prstGeom>
          <a:ln w="25400">
            <a:solidFill>
              <a:schemeClr val="accent4"/>
            </a:solidFill>
          </a:ln>
        </p:spPr>
      </p:cxnSp>
      <p:cxnSp>
        <p:nvCxnSpPr>
          <p:cNvPr id="14" name="line-12-11"/>
          <p:cNvCxnSpPr/>
          <p:nvPr/>
        </p:nvCxnSpPr>
        <p:spPr>
          <a:xfrm>
            <a:off x="9692640" y="3054096"/>
            <a:ext cx="0" cy="475488"/>
          </a:xfrm>
          <a:prstGeom prst="line">
            <a:avLst/>
          </a:prstGeom>
          <a:ln w="25400">
            <a:solidFill>
              <a:schemeClr val="accent4"/>
            </a:solidFill>
          </a:ln>
        </p:spPr>
      </p:cxnSp>
      <p:sp>
        <p:nvSpPr>
          <p:cNvPr id="15" name="badge-12-12"/>
          <p:cNvSpPr/>
          <p:nvPr/>
        </p:nvSpPr>
        <p:spPr>
          <a:xfrm>
            <a:off x="8147304" y="2340864"/>
            <a:ext cx="713232" cy="713232"/>
          </a:xfrm>
          <a:prstGeom prst="ellipse">
            <a:avLst/>
          </a:prstGeom>
          <a:solidFill>
            <a:schemeClr val="accent6"/>
          </a:solidFill>
        </p:spPr>
      </p:sp>
      <p:sp>
        <p:nvSpPr>
          <p:cNvPr id="16" name="t-12-13"/>
          <p:cNvSpPr txBox="1"/>
          <p:nvPr/>
        </p:nvSpPr>
        <p:spPr>
          <a:xfrm>
            <a:off x="8147304" y="2340864"/>
            <a:ext cx="713232" cy="713232"/>
          </a:xfrm>
          <a:prstGeom prst="rect">
            <a:avLst/>
          </a:prstGeom>
          <a:noFill/>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7" name="badge-12-14"/>
          <p:cNvSpPr/>
          <p:nvPr/>
        </p:nvSpPr>
        <p:spPr>
          <a:xfrm>
            <a:off x="10524744" y="2340864"/>
            <a:ext cx="713232" cy="713232"/>
          </a:xfrm>
          <a:prstGeom prst="ellipse">
            <a:avLst/>
          </a:prstGeom>
          <a:solidFill>
            <a:schemeClr val="accent6"/>
          </a:solidFill>
        </p:spPr>
      </p:sp>
      <p:sp>
        <p:nvSpPr>
          <p:cNvPr id="18" name="t-12-15"/>
          <p:cNvSpPr txBox="1"/>
          <p:nvPr/>
        </p:nvSpPr>
        <p:spPr>
          <a:xfrm>
            <a:off x="10524744" y="2340864"/>
            <a:ext cx="713232" cy="713232"/>
          </a:xfrm>
          <a:prstGeom prst="rect">
            <a:avLst/>
          </a:prstGeom>
          <a:noFill/>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9" name="badge-12-16"/>
          <p:cNvSpPr/>
          <p:nvPr/>
        </p:nvSpPr>
        <p:spPr>
          <a:xfrm>
            <a:off x="9336024" y="1152144"/>
            <a:ext cx="713232" cy="713232"/>
          </a:xfrm>
          <a:prstGeom prst="ellipse">
            <a:avLst/>
          </a:prstGeom>
          <a:solidFill>
            <a:schemeClr val="accent6"/>
          </a:solidFill>
        </p:spPr>
      </p:sp>
      <p:sp>
        <p:nvSpPr>
          <p:cNvPr id="20" name="t-12-17"/>
          <p:cNvSpPr txBox="1"/>
          <p:nvPr/>
        </p:nvSpPr>
        <p:spPr>
          <a:xfrm>
            <a:off x="9336024" y="1152144"/>
            <a:ext cx="713232" cy="713232"/>
          </a:xfrm>
          <a:prstGeom prst="rect">
            <a:avLst/>
          </a:prstGeom>
          <a:noFill/>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1" name="badge-12-18"/>
          <p:cNvSpPr/>
          <p:nvPr/>
        </p:nvSpPr>
        <p:spPr>
          <a:xfrm>
            <a:off x="9336024" y="3529584"/>
            <a:ext cx="713232" cy="713232"/>
          </a:xfrm>
          <a:prstGeom prst="ellipse">
            <a:avLst/>
          </a:prstGeom>
          <a:solidFill>
            <a:schemeClr val="accent6"/>
          </a:solidFill>
        </p:spPr>
      </p:sp>
      <p:sp>
        <p:nvSpPr>
          <p:cNvPr id="22" name="t-12-19"/>
          <p:cNvSpPr txBox="1"/>
          <p:nvPr/>
        </p:nvSpPr>
        <p:spPr>
          <a:xfrm>
            <a:off x="9336024" y="3529584"/>
            <a:ext cx="713232" cy="713232"/>
          </a:xfrm>
          <a:prstGeom prst="rect">
            <a:avLst/>
          </a:prstGeom>
          <a:noFill/>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3" name="badge-12-20"/>
          <p:cNvSpPr/>
          <p:nvPr/>
        </p:nvSpPr>
        <p:spPr>
          <a:xfrm>
            <a:off x="9336024" y="2340864"/>
            <a:ext cx="713232" cy="713232"/>
          </a:xfrm>
          <a:prstGeom prst="ellipse">
            <a:avLst/>
          </a:prstGeom>
          <a:solidFill>
            <a:schemeClr val="tx1"/>
          </a:solidFill>
        </p:spPr>
      </p:sp>
      <p:sp>
        <p:nvSpPr>
          <p:cNvPr id="24" name="t-12-21"/>
          <p:cNvSpPr txBox="1"/>
          <p:nvPr/>
        </p:nvSpPr>
        <p:spPr>
          <a:xfrm>
            <a:off x="9336024" y="2340864"/>
            <a:ext cx="713232" cy="713232"/>
          </a:xfrm>
          <a:prstGeom prst="rect">
            <a:avLst/>
          </a:prstGeom>
          <a:noFill/>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5" name="t-12-22"/>
          <p:cNvSpPr txBox="1"/>
          <p:nvPr/>
        </p:nvSpPr>
        <p:spPr>
          <a:xfrm>
            <a:off x="7863840" y="4361688"/>
            <a:ext cx="3657600" cy="274320"/>
          </a:xfrm>
          <a:prstGeom prst="rect">
            <a:avLst/>
          </a:prstGeom>
          <a:noFill/>
        </p:spPr>
        <p:txBody>
          <a:bodyPr wrap="square" lIns="0" tIns="0" rIns="0" bIns="0" rtlCol="0" anchor="t"/>
          <a:lstStyle/>
          <a:p>
            <a:pPr algn="ctr" indent="0" marL="0">
              <a:buNone/>
            </a:pPr>
            <a:r>
              <a:rPr lang="en-US" sz="1400" dirty="0">
                <a:solidFill>
                  <a:schemeClr val="tx2"/>
                </a:solidFill>
              </a:rPr>
              <a:t>the five-point stencil</a:t>
            </a:r>
            <a:endParaRPr lang="en-US" sz="1400" dirty="0"/>
          </a:p>
        </p:txBody>
      </p:sp>
      <p:sp>
        <p:nvSpPr>
          <p:cNvPr id="26" name="box-12-23"/>
          <p:cNvSpPr/>
          <p:nvPr/>
        </p:nvSpPr>
        <p:spPr>
          <a:xfrm>
            <a:off x="612648" y="4773168"/>
            <a:ext cx="10972800" cy="896112"/>
          </a:xfrm>
          <a:prstGeom prst="roundRect">
            <a:avLst>
              <a:gd name="adj" fmla="val 6122"/>
            </a:avLst>
          </a:prstGeom>
          <a:solidFill>
            <a:schemeClr val="accent2"/>
          </a:solidFill>
        </p:spPr>
      </p:sp>
      <p:sp>
        <p:nvSpPr>
          <p:cNvPr id="27" name="t-12-24"/>
          <p:cNvSpPr txBox="1"/>
          <p:nvPr/>
        </p:nvSpPr>
        <p:spPr>
          <a:xfrm>
            <a:off x="841248" y="4901184"/>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28" name="t-12-25"/>
          <p:cNvSpPr txBox="1"/>
          <p:nvPr/>
        </p:nvSpPr>
        <p:spPr>
          <a:xfrm>
            <a:off x="841248" y="5193792"/>
            <a:ext cx="10515600" cy="384048"/>
          </a:xfrm>
          <a:prstGeom prst="rect">
            <a:avLst/>
          </a:prstGeom>
          <a:noFill/>
        </p:spPr>
        <p:txBody>
          <a:bodyPr wrap="square" lIns="0" tIns="0" rIns="0" bIns="0" rtlCol="0" anchor="t"/>
          <a:lstStyle/>
          <a:p>
            <a:pPr algn="l" indent="0" marL="0">
              <a:buNone/>
            </a:pPr>
            <a:r>
              <a:rPr lang="en-US" sz="1600" dirty="0">
                <a:solidFill>
                  <a:schemeClr val="tx1"/>
                </a:solidFill>
              </a:rPr>
              <a:t>Every point moves towards the average of its neighbours: two on a rod, four on a plate.</a:t>
            </a:r>
            <a:endParaRPr lang="en-US" sz="1600" dirty="0"/>
          </a:p>
        </p:txBody>
      </p:sp>
      <p:sp>
        <p:nvSpPr>
          <p:cNvPr id="29" name="t-12-26"/>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Lecture 17 returns to this matrix. With insulated edges K becomes B, and the matrix is only semidefinite.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26" grpId="0" animBg="1"/>
      <p:bldP spid="27" grpId="0" animBg="1"/>
      <p:bldP spid="28"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A hot spot on a plate: cold rim and insulated rim</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pic>
        <p:nvPicPr>
          <p:cNvPr id="4" name="video-13-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12648" y="1261872"/>
            <a:ext cx="10972800" cy="4297680"/>
          </a:xfrm>
          <a:prstGeom prst="rect">
            <a:avLst/>
          </a:prstGeom>
        </p:spPr>
      </p:pic>
      <p:sp>
        <p:nvSpPr>
          <p:cNvPr id="5" name="t-13-2"/>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Examples 6.1 and 6.2 in two dimensions. Through a cold rim the heat leaves; behind an insulated rim all of it stays.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The computation: factor once, step many times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
        <p:nvSpPr>
          <p:cNvPr id="4" name="t-14-1"/>
          <p:cNvSpPr txBox="1"/>
          <p:nvPr/>
        </p:nvSpPr>
        <p:spPr>
          <a:xfrm>
            <a:off x="612648" y="1298448"/>
            <a:ext cx="5394960" cy="548640"/>
          </a:xfrm>
          <a:prstGeom prst="rect">
            <a:avLst/>
          </a:prstGeom>
          <a:noFill/>
        </p:spPr>
        <p:txBody>
          <a:bodyPr wrap="square" lIns="0" tIns="0" rIns="0" bIns="0" rtlCol="0" anchor="t"/>
          <a:lstStyle/>
          <a:p>
            <a:pPr algn="l" indent="0" marL="0">
              <a:buNone/>
            </a:pPr>
            <a:r>
              <a:rPr lang="en-US" sz="1600" dirty="0">
                <a:solidFill>
                  <a:schemeClr val="tx1"/>
                </a:solidFill>
              </a:rPr>
              <a:t>Cell by cell, continuity and Fourier's law give a linear system of differential equations:</a:t>
            </a:r>
            <a:endParaRPr lang="en-US" sz="1600" dirty="0"/>
          </a:p>
        </p:txBody>
      </p:sp>
      <p:pic>
        <p:nvPicPr>
          <p:cNvPr id="5" name="eq-14-2" descr="\mat{C}\,\frac{d\vc{u}}{dt} = -\mat{A}\,\vc{u} + \vc{b}"/>
          <p:cNvPicPr>
            <a:picLocks noChangeAspect="1"/>
          </p:cNvPicPr>
          <p:nvPr/>
        </p:nvPicPr>
        <p:blipFill>
          <a:blip r:embed="rId2"/>
          <a:stretch>
            <a:fillRect/>
          </a:stretch>
        </p:blipFill>
        <p:spPr>
          <a:xfrm>
            <a:off x="612648" y="1920240"/>
            <a:ext cx="1700784" cy="480060"/>
          </a:xfrm>
          <a:prstGeom prst="rect">
            <a:avLst/>
          </a:prstGeom>
        </p:spPr>
      </p:pic>
      <p:sp>
        <p:nvSpPr>
          <p:cNvPr id="6" name="t-14-3"/>
          <p:cNvSpPr txBox="1"/>
          <p:nvPr/>
        </p:nvSpPr>
        <p:spPr>
          <a:xfrm>
            <a:off x="612648" y="2651760"/>
            <a:ext cx="5394960" cy="822960"/>
          </a:xfrm>
          <a:prstGeom prst="rect">
            <a:avLst/>
          </a:prstGeom>
          <a:noFill/>
        </p:spPr>
        <p:txBody>
          <a:bodyPr wrap="square" lIns="0" tIns="0" rIns="0" bIns="0" rtlCol="0" anchor="t"/>
          <a:lstStyle/>
          <a:p>
            <a:pPr algn="l" indent="0" marL="0">
              <a:lnSpc>
                <a:spcPct val="112000"/>
              </a:lnSpc>
              <a:buNone/>
            </a:pPr>
            <a:r>
              <a:rPr lang="en-US" sz="1300" dirty="0">
                <a:solidFill>
                  <a:schemeClr val="tx2"/>
                </a:solidFill>
              </a:rPr>
              <a:t>C: heat capacities (diagonal)</a:t>
            </a:r>
            <a:endParaRPr lang="en-US" sz="1300" dirty="0"/>
          </a:p>
          <a:p>
            <a:pPr algn="l" indent="0" marL="0">
              <a:lnSpc>
                <a:spcPct val="112000"/>
              </a:lnSpc>
              <a:buNone/>
            </a:pPr>
            <a:r>
              <a:rPr lang="en-US" sz="1300" dirty="0">
                <a:solidFill>
                  <a:schemeClr val="tx2"/>
                </a:solidFill>
              </a:rPr>
              <a:t>A: conductances (sparse, symmetric, no negative eigenvalues)</a:t>
            </a:r>
            <a:endParaRPr lang="en-US" sz="1300" dirty="0"/>
          </a:p>
          <a:p>
            <a:pPr algn="l" indent="0" marL="0">
              <a:lnSpc>
                <a:spcPct val="112000"/>
              </a:lnSpc>
              <a:buNone/>
            </a:pPr>
            <a:r>
              <a:rPr lang="en-US" sz="1300" dirty="0">
                <a:solidFill>
                  <a:schemeClr val="tx2"/>
                </a:solidFill>
              </a:rPr>
              <a:t>b: heat generated or supplied</a:t>
            </a:r>
            <a:endParaRPr lang="en-US" sz="1300" dirty="0"/>
          </a:p>
        </p:txBody>
      </p:sp>
      <p:sp>
        <p:nvSpPr>
          <p:cNvPr id="7" name="t-14-4"/>
          <p:cNvSpPr txBox="1"/>
          <p:nvPr/>
        </p:nvSpPr>
        <p:spPr>
          <a:xfrm>
            <a:off x="612648" y="3493008"/>
            <a:ext cx="5394960" cy="274320"/>
          </a:xfrm>
          <a:prstGeom prst="rect">
            <a:avLst/>
          </a:prstGeom>
          <a:noFill/>
        </p:spPr>
        <p:txBody>
          <a:bodyPr wrap="square" lIns="0" tIns="0" rIns="0" bIns="0" rtlCol="0" anchor="t"/>
          <a:lstStyle/>
          <a:p>
            <a:pPr algn="l" indent="0" marL="0">
              <a:buNone/>
            </a:pPr>
            <a:r>
              <a:rPr lang="en-US" sz="1600" dirty="0">
                <a:solidFill>
                  <a:schemeClr val="tx1"/>
                </a:solidFill>
              </a:rPr>
              <a:t>Backward Euler, one time step:</a:t>
            </a:r>
            <a:endParaRPr lang="en-US" sz="1600" dirty="0"/>
          </a:p>
        </p:txBody>
      </p:sp>
      <p:pic>
        <p:nvPicPr>
          <p:cNvPr id="8" name="eq-14-5" descr="(\mat{C} + \Delta t\,\mat{A})\,\vc{u}_{\text{new}} = \mat{C}\,\vc{u}_{\text{old}} + \Delta t\,\vc{b}"/>
          <p:cNvPicPr>
            <a:picLocks noChangeAspect="1"/>
          </p:cNvPicPr>
          <p:nvPr/>
        </p:nvPicPr>
        <p:blipFill>
          <a:blip r:embed="rId3"/>
          <a:stretch>
            <a:fillRect/>
          </a:stretch>
        </p:blipFill>
        <p:spPr>
          <a:xfrm>
            <a:off x="612648" y="3858768"/>
            <a:ext cx="2985516" cy="244602"/>
          </a:xfrm>
          <a:prstGeom prst="rect">
            <a:avLst/>
          </a:prstGeom>
        </p:spPr>
      </p:pic>
      <p:sp>
        <p:nvSpPr>
          <p:cNvPr id="9" name="box-14-6"/>
          <p:cNvSpPr/>
          <p:nvPr/>
        </p:nvSpPr>
        <p:spPr>
          <a:xfrm>
            <a:off x="6355080" y="1298448"/>
            <a:ext cx="5230368" cy="1097280"/>
          </a:xfrm>
          <a:prstGeom prst="roundRect">
            <a:avLst>
              <a:gd name="adj" fmla="val 5000"/>
            </a:avLst>
          </a:prstGeom>
          <a:solidFill>
            <a:schemeClr val="bg2"/>
          </a:solidFill>
        </p:spPr>
      </p:sp>
      <p:sp>
        <p:nvSpPr>
          <p:cNvPr id="10" name="t-14-7"/>
          <p:cNvSpPr txBox="1"/>
          <p:nvPr/>
        </p:nvSpPr>
        <p:spPr>
          <a:xfrm>
            <a:off x="6537960" y="1444752"/>
            <a:ext cx="4864608" cy="822960"/>
          </a:xfrm>
          <a:prstGeom prst="rect">
            <a:avLst/>
          </a:prstGeom>
          <a:noFill/>
        </p:spPr>
        <p:txBody>
          <a:bodyPr wrap="square" lIns="0" tIns="0" rIns="0" bIns="0" rtlCol="0" anchor="t"/>
          <a:lstStyle/>
          <a:p>
            <a:pPr algn="l" indent="0" marL="0">
              <a:lnSpc>
                <a:spcPct val="105000"/>
              </a:lnSpc>
              <a:buNone/>
            </a:pPr>
            <a:r>
              <a:rPr lang="en-US" sz="1050" dirty="0">
                <a:solidFill>
                  <a:schemeClr val="tx1"/>
                </a:solidFill>
                <a:latin typeface="DejaVu Sans Mono"/>
                <a:cs typeface="DejaVu Sans Mono"/>
              </a:rPr>
              <a:t>lu = splu(sp.diags(cap) + dt * A)   # factor once</a:t>
            </a:r>
            <a:endParaRPr lang="en-US" sz="1050" dirty="0"/>
          </a:p>
          <a:p>
            <a:pPr algn="l" indent="0" marL="0">
              <a:lnSpc>
                <a:spcPct val="105000"/>
              </a:lnSpc>
              <a:buNone/>
            </a:pPr>
            <a:r>
              <a:rPr lang="en-US" sz="1050" dirty="0">
                <a:solidFill>
                  <a:schemeClr val="tx1"/>
                </a:solidFill>
                <a:latin typeface="DejaVu Sans Mono"/>
                <a:cs typeface="DejaVu Sans Mono"/>
              </a:rPr>
              <a:t>for n in range(steps):              # then, at every step,</a:t>
            </a:r>
            <a:endParaRPr lang="en-US" sz="1050" dirty="0"/>
          </a:p>
          <a:p>
            <a:pPr algn="l" indent="0" marL="0">
              <a:lnSpc>
                <a:spcPct val="105000"/>
              </a:lnSpc>
              <a:buNone/>
            </a:pPr>
            <a:r>
              <a:rPr lang="en-US" sz="1050" dirty="0">
                <a:solidFill>
                  <a:schemeClr val="tx1"/>
                </a:solidFill>
                <a:latin typeface="DejaVu Sans Mono"/>
                <a:cs typeface="DejaVu Sans Mono"/>
              </a:rPr>
              <a:t>    u = lu.solve(cap * u + dt * b)  # two triangular solves</a:t>
            </a:r>
            <a:endParaRPr lang="en-US" sz="1050" dirty="0"/>
          </a:p>
        </p:txBody>
      </p:sp>
      <p:sp>
        <p:nvSpPr>
          <p:cNvPr id="11" name="t-14-8"/>
          <p:cNvSpPr txBox="1"/>
          <p:nvPr/>
        </p:nvSpPr>
        <p:spPr>
          <a:xfrm>
            <a:off x="6355080" y="2606040"/>
            <a:ext cx="5230368" cy="822960"/>
          </a:xfrm>
          <a:prstGeom prst="rect">
            <a:avLst/>
          </a:prstGeom>
          <a:noFill/>
        </p:spPr>
        <p:txBody>
          <a:bodyPr wrap="square" lIns="0" tIns="0" rIns="0" bIns="0" rtlCol="0" anchor="t"/>
          <a:lstStyle/>
          <a:p>
            <a:pPr algn="l" indent="0" marL="0">
              <a:buNone/>
            </a:pPr>
            <a:r>
              <a:rPr lang="en-US" sz="1400" dirty="0">
                <a:solidFill>
                  <a:schemeClr val="tx2"/>
                </a:solidFill>
              </a:rPr>
              <a:t>The matrix never changes, so it is factored once (Lecture 3). The heatsink of slide 18 has 25 600 unknowns and takes 1440 steps with two factorisations.</a:t>
            </a:r>
            <a:endParaRPr lang="en-US" sz="1400" dirty="0"/>
          </a:p>
        </p:txBody>
      </p:sp>
      <p:sp>
        <p:nvSpPr>
          <p:cNvPr id="12" name="t-14-9"/>
          <p:cNvSpPr txBox="1"/>
          <p:nvPr/>
        </p:nvSpPr>
        <p:spPr>
          <a:xfrm>
            <a:off x="6355080" y="3611880"/>
            <a:ext cx="5230368" cy="274320"/>
          </a:xfrm>
          <a:prstGeom prst="rect">
            <a:avLst/>
          </a:prstGeom>
          <a:noFill/>
        </p:spPr>
        <p:txBody>
          <a:bodyPr wrap="square" lIns="0" tIns="0" rIns="0" bIns="0" rtlCol="0" anchor="t"/>
          <a:lstStyle/>
          <a:p>
            <a:pPr algn="l" indent="0" marL="0">
              <a:buNone/>
            </a:pPr>
            <a:r>
              <a:rPr lang="en-US" sz="1600" dirty="0">
                <a:solidFill>
                  <a:schemeClr val="tx1"/>
                </a:solidFill>
              </a:rPr>
              <a:t>An explicit step would need</a:t>
            </a:r>
            <a:endParaRPr lang="en-US" sz="1600" dirty="0"/>
          </a:p>
        </p:txBody>
      </p:sp>
      <p:pic>
        <p:nvPicPr>
          <p:cNvPr id="13" name="eq-14-10" descr="\Delta t \le \frac{\Delta x^2}{4\alpha}"/>
          <p:cNvPicPr>
            <a:picLocks noChangeAspect="1"/>
          </p:cNvPicPr>
          <p:nvPr/>
        </p:nvPicPr>
        <p:blipFill>
          <a:blip r:embed="rId4"/>
          <a:stretch>
            <a:fillRect/>
          </a:stretch>
        </p:blipFill>
        <p:spPr>
          <a:xfrm>
            <a:off x="6355080" y="3913632"/>
            <a:ext cx="946404" cy="512064"/>
          </a:xfrm>
          <a:prstGeom prst="rect">
            <a:avLst/>
          </a:prstGeom>
        </p:spPr>
      </p:pic>
      <p:sp>
        <p:nvSpPr>
          <p:cNvPr id="14" name="t-14-11"/>
          <p:cNvSpPr txBox="1"/>
          <p:nvPr/>
        </p:nvSpPr>
        <p:spPr>
          <a:xfrm>
            <a:off x="7621524" y="4005072"/>
            <a:ext cx="3566160" cy="548640"/>
          </a:xfrm>
          <a:prstGeom prst="rect">
            <a:avLst/>
          </a:prstGeom>
          <a:noFill/>
        </p:spPr>
        <p:txBody>
          <a:bodyPr wrap="square" lIns="0" tIns="0" rIns="0" bIns="0" rtlCol="0" anchor="t"/>
          <a:lstStyle/>
          <a:p>
            <a:pPr algn="l" indent="0" marL="0">
              <a:buNone/>
            </a:pPr>
            <a:r>
              <a:rPr lang="en-US" sz="1400" dirty="0">
                <a:solidFill>
                  <a:schemeClr val="tx2"/>
                </a:solidFill>
              </a:rPr>
              <a:t>0.13 ms for copper on a 0.25 mm grid</a:t>
            </a:r>
            <a:endParaRPr lang="en-US" sz="1400" dirty="0"/>
          </a:p>
        </p:txBody>
      </p:sp>
      <p:sp>
        <p:nvSpPr>
          <p:cNvPr id="15" name="box-14-12"/>
          <p:cNvSpPr/>
          <p:nvPr/>
        </p:nvSpPr>
        <p:spPr>
          <a:xfrm>
            <a:off x="612648" y="4590288"/>
            <a:ext cx="10972800" cy="1115568"/>
          </a:xfrm>
          <a:prstGeom prst="roundRect">
            <a:avLst>
              <a:gd name="adj" fmla="val 4918"/>
            </a:avLst>
          </a:prstGeom>
          <a:solidFill>
            <a:schemeClr val="accent2"/>
          </a:solidFill>
        </p:spPr>
      </p:sp>
      <p:sp>
        <p:nvSpPr>
          <p:cNvPr id="16" name="t-14-13"/>
          <p:cNvSpPr txBox="1"/>
          <p:nvPr/>
        </p:nvSpPr>
        <p:spPr>
          <a:xfrm>
            <a:off x="841248" y="4718304"/>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7" name="t-14-14"/>
          <p:cNvSpPr txBox="1"/>
          <p:nvPr/>
        </p:nvSpPr>
        <p:spPr>
          <a:xfrm>
            <a:off x="841248" y="5010912"/>
            <a:ext cx="10515600" cy="603504"/>
          </a:xfrm>
          <a:prstGeom prst="rect">
            <a:avLst/>
          </a:prstGeom>
          <a:noFill/>
        </p:spPr>
        <p:txBody>
          <a:bodyPr wrap="square" lIns="0" tIns="0" rIns="0" bIns="0" rtlCol="0" anchor="t"/>
          <a:lstStyle/>
          <a:p>
            <a:pPr algn="l" indent="0" marL="0">
              <a:buNone/>
            </a:pPr>
            <a:r>
              <a:rPr lang="en-US" sz="1500" dirty="0">
                <a:solidFill>
                  <a:schemeClr val="tx1"/>
                </a:solidFill>
              </a:rPr>
              <a:t>Backward Euler is stable for every step size. No eigenvalue λ of C⁻¹A is negative, so each mode is multiplied by 1/(1 + Δt λ), which is never more than 1.</a:t>
            </a:r>
            <a:endParaRPr lang="en-US" sz="1500" dirty="0"/>
          </a:p>
        </p:txBody>
      </p:sp>
      <p:sp>
        <p:nvSpPr>
          <p:cNvPr id="18" name="t-14-15"/>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Scripts: L09_heat_1d.py and L09_heat_2d.py (numpy and scipy). The appendix shows the core of each.</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4" grpId="0" animBg="1"/>
      <p:bldP spid="15" grpId="0" animBg="1"/>
      <p:bldP spid="16" grpId="0" animBg="1"/>
      <p:bldP spid="17"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The cooling problem: 100 W per square centimetre</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
        <p:nvSpPr>
          <p:cNvPr id="4" name="t-15-1"/>
          <p:cNvSpPr txBox="1"/>
          <p:nvPr/>
        </p:nvSpPr>
        <p:spPr>
          <a:xfrm>
            <a:off x="612648" y="1298448"/>
            <a:ext cx="4480560" cy="822960"/>
          </a:xfrm>
          <a:prstGeom prst="rect">
            <a:avLst/>
          </a:prstGeom>
          <a:noFill/>
        </p:spPr>
        <p:txBody>
          <a:bodyPr wrap="square" lIns="0" tIns="0" rIns="0" bIns="0" rtlCol="0" anchor="t"/>
          <a:lstStyle/>
          <a:p>
            <a:pPr algn="l" indent="0" marL="0">
              <a:buNone/>
            </a:pPr>
            <a:r>
              <a:rPr lang="en-US" sz="1600" b="1" dirty="0">
                <a:solidFill>
                  <a:schemeClr val="tx1"/>
                </a:solidFill>
              </a:rPr>
              <a:t>Core i9-14900K.</a:t>
            </a:r>
            <a:r>
              <a:rPr lang="en-US" sz="1600" dirty="0">
                <a:solidFill>
                  <a:schemeClr val="tx1"/>
                </a:solidFill>
              </a:rPr>
              <a:t> Up to 253 W from a die of about 2.57 cm². Limit: 100 °C.</a:t>
            </a:r>
            <a:endParaRPr lang="en-US" sz="1600" dirty="0"/>
          </a:p>
        </p:txBody>
      </p:sp>
      <p:sp>
        <p:nvSpPr>
          <p:cNvPr id="5" name="t-15-2"/>
          <p:cNvSpPr txBox="1"/>
          <p:nvPr/>
        </p:nvSpPr>
        <p:spPr>
          <a:xfrm>
            <a:off x="612648" y="2286000"/>
            <a:ext cx="4480560" cy="822960"/>
          </a:xfrm>
          <a:prstGeom prst="rect">
            <a:avLst/>
          </a:prstGeom>
          <a:noFill/>
        </p:spPr>
        <p:txBody>
          <a:bodyPr wrap="square" lIns="0" tIns="0" rIns="0" bIns="0" rtlCol="0" anchor="t"/>
          <a:lstStyle/>
          <a:p>
            <a:pPr algn="l" indent="0" marL="0">
              <a:buNone/>
            </a:pPr>
            <a:r>
              <a:rPr lang="en-US" sz="1600" b="1" dirty="0">
                <a:solidFill>
                  <a:schemeClr val="tx1"/>
                </a:solidFill>
              </a:rPr>
              <a:t>GeForce RTX 5090.</a:t>
            </a:r>
            <a:r>
              <a:rPr lang="en-US" sz="1600" dirty="0">
                <a:solidFill>
                  <a:schemeClr val="tx1"/>
                </a:solidFill>
              </a:rPr>
              <a:t> A card rated at 575 W, most of it from a die of 7.5 cm².</a:t>
            </a:r>
            <a:endParaRPr lang="en-US" sz="1600" dirty="0"/>
          </a:p>
        </p:txBody>
      </p:sp>
      <p:sp>
        <p:nvSpPr>
          <p:cNvPr id="6" name="t-15-3"/>
          <p:cNvSpPr txBox="1"/>
          <p:nvPr/>
        </p:nvSpPr>
        <p:spPr>
          <a:xfrm>
            <a:off x="612648" y="3246120"/>
            <a:ext cx="4480560" cy="822960"/>
          </a:xfrm>
          <a:prstGeom prst="rect">
            <a:avLst/>
          </a:prstGeom>
          <a:noFill/>
        </p:spPr>
        <p:txBody>
          <a:bodyPr wrap="square" lIns="0" tIns="0" rIns="0" bIns="0" rtlCol="0" anchor="t"/>
          <a:lstStyle/>
          <a:p>
            <a:pPr algn="l" indent="0" marL="0">
              <a:buNone/>
            </a:pPr>
            <a:r>
              <a:rPr lang="en-US" sz="1600" dirty="0">
                <a:solidFill>
                  <a:schemeClr val="tx1"/>
                </a:solidFill>
              </a:rPr>
              <a:t>Per unit area that is about ten times a kitchen hob.</a:t>
            </a:r>
            <a:endParaRPr lang="en-US" sz="1600" dirty="0"/>
          </a:p>
        </p:txBody>
      </p:sp>
      <p:graphicFrame>
        <p:nvGraphicFramePr>
          <p:cNvPr id="7" name="chart-15-4"/>
          <p:cNvGraphicFramePr>
            <a:graphicFrameLocks noGrp="1"/>
          </p:cNvGraphicFramePr>
          <p:nvPr/>
        </p:nvGraphicFramePr>
        <p:xfrm>
          <a:off x="5440680" y="1234440"/>
          <a:ext cx="6144768" cy="3200400"/>
        </p:xfrm>
        <a:graphic>
          <a:graphicData uri="http://schemas.openxmlformats.org/drawingml/2006/chart">
            <c:chart xmlns:c="http://schemas.openxmlformats.org/drawingml/2006/chart" r:id="rId2"/>
          </a:graphicData>
        </a:graphic>
      </p:graphicFrame>
      <p:sp>
        <p:nvSpPr>
          <p:cNvPr id="8" name="box-15-5"/>
          <p:cNvSpPr/>
          <p:nvPr/>
        </p:nvSpPr>
        <p:spPr>
          <a:xfrm>
            <a:off x="612648" y="4572000"/>
            <a:ext cx="10972800" cy="1115568"/>
          </a:xfrm>
          <a:prstGeom prst="roundRect">
            <a:avLst>
              <a:gd name="adj" fmla="val 4918"/>
            </a:avLst>
          </a:prstGeom>
          <a:solidFill>
            <a:schemeClr val="accent2"/>
          </a:solidFill>
        </p:spPr>
      </p:sp>
      <p:sp>
        <p:nvSpPr>
          <p:cNvPr id="9" name="t-15-6"/>
          <p:cNvSpPr txBox="1"/>
          <p:nvPr/>
        </p:nvSpPr>
        <p:spPr>
          <a:xfrm>
            <a:off x="841248" y="4700016"/>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0" name="t-15-7"/>
          <p:cNvSpPr txBox="1"/>
          <p:nvPr/>
        </p:nvSpPr>
        <p:spPr>
          <a:xfrm>
            <a:off x="841248" y="4992624"/>
            <a:ext cx="10515600" cy="603504"/>
          </a:xfrm>
          <a:prstGeom prst="rect">
            <a:avLst/>
          </a:prstGeom>
          <a:noFill/>
        </p:spPr>
        <p:txBody>
          <a:bodyPr wrap="square" lIns="0" tIns="0" rIns="0" bIns="0" rtlCol="0" anchor="t"/>
          <a:lstStyle/>
          <a:p>
            <a:pPr algn="l" indent="0" marL="0">
              <a:buNone/>
            </a:pPr>
            <a:r>
              <a:rPr lang="en-US" sz="1600" dirty="0">
                <a:solidFill>
                  <a:schemeClr val="tx1"/>
                </a:solidFill>
              </a:rPr>
              <a:t>The chip must stay below 90 to 100 °C and the room is at 25 °C. The design problem is to pass this flux with about 70 K of temperature difference.</a:t>
            </a:r>
            <a:endParaRPr lang="en-US" sz="1600" dirty="0"/>
          </a:p>
        </p:txBody>
      </p:sp>
      <p:sp>
        <p:nvSpPr>
          <p:cNvPr id="11" name="t-15-8"/>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Power and limits: Intel and NVIDIA specifications. Die areas: published measurements. Hob: a 2 kW ring 18 cm across.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Thermal resistance: Ohm's law for heat</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
        <p:nvSpPr>
          <p:cNvPr id="4" name="box-16-1"/>
          <p:cNvSpPr/>
          <p:nvPr/>
        </p:nvSpPr>
        <p:spPr>
          <a:xfrm>
            <a:off x="612648" y="1298448"/>
            <a:ext cx="1298448" cy="566928"/>
          </a:xfrm>
          <a:prstGeom prst="roundRect">
            <a:avLst>
              <a:gd name="adj" fmla="val 8064"/>
            </a:avLst>
          </a:prstGeom>
          <a:solidFill>
            <a:schemeClr val="tx1"/>
          </a:solidFill>
        </p:spPr>
      </p:sp>
      <p:sp>
        <p:nvSpPr>
          <p:cNvPr id="5" name="t-16-2"/>
          <p:cNvSpPr txBox="1"/>
          <p:nvPr/>
        </p:nvSpPr>
        <p:spPr>
          <a:xfrm>
            <a:off x="612648" y="1298448"/>
            <a:ext cx="1298448" cy="566928"/>
          </a:xfrm>
          <a:prstGeom prst="rect">
            <a:avLst/>
          </a:prstGeom>
          <a:noFill/>
        </p:spPr>
        <p:txBody>
          <a:bodyPr wrap="square" lIns="0" tIns="0" rIns="0" bIns="0" rtlCol="0" anchor="ctr"/>
          <a:lstStyle/>
          <a:p>
            <a:pPr algn="ctr" indent="0" marL="0">
              <a:buNone/>
            </a:pPr>
            <a:r>
              <a:rPr lang="en-US" sz="1400" b="1" dirty="0">
                <a:solidFill>
                  <a:schemeClr val="bg1"/>
                </a:solidFill>
              </a:rPr>
              <a:t>transistors</a:t>
            </a:r>
            <a:endParaRPr lang="en-US" sz="1400" dirty="0"/>
          </a:p>
        </p:txBody>
      </p:sp>
      <p:cxnSp>
        <p:nvCxnSpPr>
          <p:cNvPr id="6" name="line-16-3"/>
          <p:cNvCxnSpPr/>
          <p:nvPr/>
        </p:nvCxnSpPr>
        <p:spPr>
          <a:xfrm>
            <a:off x="1947672" y="1581912"/>
            <a:ext cx="237744" cy="0"/>
          </a:xfrm>
          <a:prstGeom prst="line">
            <a:avLst/>
          </a:prstGeom>
          <a:ln w="25400">
            <a:solidFill>
              <a:schemeClr val="accent1"/>
            </a:solidFill>
            <a:tailEnd type="triangle" w="med" len="med"/>
          </a:ln>
        </p:spPr>
      </p:cxnSp>
      <p:sp>
        <p:nvSpPr>
          <p:cNvPr id="7" name="box-16-4"/>
          <p:cNvSpPr/>
          <p:nvPr/>
        </p:nvSpPr>
        <p:spPr>
          <a:xfrm>
            <a:off x="2221992" y="1298448"/>
            <a:ext cx="1298448" cy="566928"/>
          </a:xfrm>
          <a:prstGeom prst="roundRect">
            <a:avLst>
              <a:gd name="adj" fmla="val 8064"/>
            </a:avLst>
          </a:prstGeom>
          <a:solidFill>
            <a:schemeClr val="bg2"/>
          </a:solidFill>
        </p:spPr>
      </p:sp>
      <p:sp>
        <p:nvSpPr>
          <p:cNvPr id="8" name="t-16-5"/>
          <p:cNvSpPr txBox="1"/>
          <p:nvPr/>
        </p:nvSpPr>
        <p:spPr>
          <a:xfrm>
            <a:off x="2221992" y="1298448"/>
            <a:ext cx="1298448" cy="566928"/>
          </a:xfrm>
          <a:prstGeom prst="rect">
            <a:avLst/>
          </a:prstGeom>
          <a:noFill/>
        </p:spPr>
        <p:txBody>
          <a:bodyPr wrap="square" lIns="0" tIns="0" rIns="0" bIns="0" rtlCol="0" anchor="ctr"/>
          <a:lstStyle/>
          <a:p>
            <a:pPr algn="ctr" indent="0" marL="0">
              <a:buNone/>
            </a:pPr>
            <a:r>
              <a:rPr lang="en-US" sz="1400" dirty="0">
                <a:solidFill>
                  <a:schemeClr val="tx1"/>
                </a:solidFill>
              </a:rPr>
              <a:t>die</a:t>
            </a:r>
            <a:endParaRPr lang="en-US" sz="1400" dirty="0"/>
          </a:p>
        </p:txBody>
      </p:sp>
      <p:cxnSp>
        <p:nvCxnSpPr>
          <p:cNvPr id="9" name="line-16-6"/>
          <p:cNvCxnSpPr/>
          <p:nvPr/>
        </p:nvCxnSpPr>
        <p:spPr>
          <a:xfrm>
            <a:off x="3557016" y="1581912"/>
            <a:ext cx="237744" cy="0"/>
          </a:xfrm>
          <a:prstGeom prst="line">
            <a:avLst/>
          </a:prstGeom>
          <a:ln w="25400">
            <a:solidFill>
              <a:schemeClr val="accent1"/>
            </a:solidFill>
            <a:tailEnd type="triangle" w="med" len="med"/>
          </a:ln>
        </p:spPr>
      </p:cxnSp>
      <p:sp>
        <p:nvSpPr>
          <p:cNvPr id="10" name="box-16-7"/>
          <p:cNvSpPr/>
          <p:nvPr/>
        </p:nvSpPr>
        <p:spPr>
          <a:xfrm>
            <a:off x="3831336" y="1298448"/>
            <a:ext cx="1298448" cy="566928"/>
          </a:xfrm>
          <a:prstGeom prst="roundRect">
            <a:avLst>
              <a:gd name="adj" fmla="val 8064"/>
            </a:avLst>
          </a:prstGeom>
          <a:solidFill>
            <a:schemeClr val="accent3"/>
          </a:solidFill>
        </p:spPr>
      </p:sp>
      <p:sp>
        <p:nvSpPr>
          <p:cNvPr id="11" name="t-16-8"/>
          <p:cNvSpPr txBox="1"/>
          <p:nvPr/>
        </p:nvSpPr>
        <p:spPr>
          <a:xfrm>
            <a:off x="3831336" y="1298448"/>
            <a:ext cx="1298448" cy="566928"/>
          </a:xfrm>
          <a:prstGeom prst="rect">
            <a:avLst/>
          </a:prstGeom>
          <a:noFill/>
        </p:spPr>
        <p:txBody>
          <a:bodyPr wrap="square" lIns="0" tIns="0" rIns="0" bIns="0" rtlCol="0" anchor="ctr"/>
          <a:lstStyle/>
          <a:p>
            <a:pPr algn="ctr" indent="0" marL="0">
              <a:buNone/>
            </a:pPr>
            <a:r>
              <a:rPr lang="en-US" sz="1400" dirty="0">
                <a:solidFill>
                  <a:schemeClr val="tx1"/>
                </a:solidFill>
              </a:rPr>
              <a:t>paste</a:t>
            </a:r>
            <a:endParaRPr lang="en-US" sz="1400" dirty="0"/>
          </a:p>
        </p:txBody>
      </p:sp>
      <p:cxnSp>
        <p:nvCxnSpPr>
          <p:cNvPr id="12" name="line-16-9"/>
          <p:cNvCxnSpPr/>
          <p:nvPr/>
        </p:nvCxnSpPr>
        <p:spPr>
          <a:xfrm>
            <a:off x="5166360" y="1581912"/>
            <a:ext cx="237744" cy="0"/>
          </a:xfrm>
          <a:prstGeom prst="line">
            <a:avLst/>
          </a:prstGeom>
          <a:ln w="25400">
            <a:solidFill>
              <a:schemeClr val="accent1"/>
            </a:solidFill>
            <a:tailEnd type="triangle" w="med" len="med"/>
          </a:ln>
        </p:spPr>
      </p:cxnSp>
      <p:sp>
        <p:nvSpPr>
          <p:cNvPr id="13" name="box-16-10"/>
          <p:cNvSpPr/>
          <p:nvPr/>
        </p:nvSpPr>
        <p:spPr>
          <a:xfrm>
            <a:off x="5440680" y="1298448"/>
            <a:ext cx="1298448" cy="566928"/>
          </a:xfrm>
          <a:prstGeom prst="roundRect">
            <a:avLst>
              <a:gd name="adj" fmla="val 8064"/>
            </a:avLst>
          </a:prstGeom>
          <a:solidFill>
            <a:schemeClr val="bg2"/>
          </a:solidFill>
        </p:spPr>
      </p:sp>
      <p:sp>
        <p:nvSpPr>
          <p:cNvPr id="14" name="t-16-11"/>
          <p:cNvSpPr txBox="1"/>
          <p:nvPr/>
        </p:nvSpPr>
        <p:spPr>
          <a:xfrm>
            <a:off x="5440680" y="1298448"/>
            <a:ext cx="1298448" cy="566928"/>
          </a:xfrm>
          <a:prstGeom prst="rect">
            <a:avLst/>
          </a:prstGeom>
          <a:noFill/>
        </p:spPr>
        <p:txBody>
          <a:bodyPr wrap="square" lIns="0" tIns="0" rIns="0" bIns="0" rtlCol="0" anchor="ctr"/>
          <a:lstStyle/>
          <a:p>
            <a:pPr algn="ctr" indent="0" marL="0">
              <a:buNone/>
            </a:pPr>
            <a:r>
              <a:rPr lang="en-US" sz="1400" dirty="0">
                <a:solidFill>
                  <a:schemeClr val="tx1"/>
                </a:solidFill>
              </a:rPr>
              <a:t>lid</a:t>
            </a:r>
            <a:endParaRPr lang="en-US" sz="1400" dirty="0"/>
          </a:p>
        </p:txBody>
      </p:sp>
      <p:cxnSp>
        <p:nvCxnSpPr>
          <p:cNvPr id="15" name="line-16-12"/>
          <p:cNvCxnSpPr/>
          <p:nvPr/>
        </p:nvCxnSpPr>
        <p:spPr>
          <a:xfrm>
            <a:off x="6775704" y="1581912"/>
            <a:ext cx="237744" cy="0"/>
          </a:xfrm>
          <a:prstGeom prst="line">
            <a:avLst/>
          </a:prstGeom>
          <a:ln w="25400">
            <a:solidFill>
              <a:schemeClr val="accent1"/>
            </a:solidFill>
            <a:tailEnd type="triangle" w="med" len="med"/>
          </a:ln>
        </p:spPr>
      </p:cxnSp>
      <p:sp>
        <p:nvSpPr>
          <p:cNvPr id="16" name="box-16-13"/>
          <p:cNvSpPr/>
          <p:nvPr/>
        </p:nvSpPr>
        <p:spPr>
          <a:xfrm>
            <a:off x="7050024" y="1298448"/>
            <a:ext cx="1298448" cy="566928"/>
          </a:xfrm>
          <a:prstGeom prst="roundRect">
            <a:avLst>
              <a:gd name="adj" fmla="val 8064"/>
            </a:avLst>
          </a:prstGeom>
          <a:solidFill>
            <a:schemeClr val="accent3"/>
          </a:solidFill>
        </p:spPr>
      </p:sp>
      <p:sp>
        <p:nvSpPr>
          <p:cNvPr id="17" name="t-16-14"/>
          <p:cNvSpPr txBox="1"/>
          <p:nvPr/>
        </p:nvSpPr>
        <p:spPr>
          <a:xfrm>
            <a:off x="7050024" y="1298448"/>
            <a:ext cx="1298448" cy="566928"/>
          </a:xfrm>
          <a:prstGeom prst="rect">
            <a:avLst/>
          </a:prstGeom>
          <a:noFill/>
        </p:spPr>
        <p:txBody>
          <a:bodyPr wrap="square" lIns="0" tIns="0" rIns="0" bIns="0" rtlCol="0" anchor="ctr"/>
          <a:lstStyle/>
          <a:p>
            <a:pPr algn="ctr" indent="0" marL="0">
              <a:buNone/>
            </a:pPr>
            <a:r>
              <a:rPr lang="en-US" sz="1400" dirty="0">
                <a:solidFill>
                  <a:schemeClr val="tx1"/>
                </a:solidFill>
              </a:rPr>
              <a:t>paste</a:t>
            </a:r>
            <a:endParaRPr lang="en-US" sz="1400" dirty="0"/>
          </a:p>
        </p:txBody>
      </p:sp>
      <p:cxnSp>
        <p:nvCxnSpPr>
          <p:cNvPr id="18" name="line-16-15"/>
          <p:cNvCxnSpPr/>
          <p:nvPr/>
        </p:nvCxnSpPr>
        <p:spPr>
          <a:xfrm>
            <a:off x="8385048" y="1581912"/>
            <a:ext cx="237744" cy="0"/>
          </a:xfrm>
          <a:prstGeom prst="line">
            <a:avLst/>
          </a:prstGeom>
          <a:ln w="25400">
            <a:solidFill>
              <a:schemeClr val="accent1"/>
            </a:solidFill>
            <a:tailEnd type="triangle" w="med" len="med"/>
          </a:ln>
        </p:spPr>
      </p:cxnSp>
      <p:sp>
        <p:nvSpPr>
          <p:cNvPr id="19" name="box-16-16"/>
          <p:cNvSpPr/>
          <p:nvPr/>
        </p:nvSpPr>
        <p:spPr>
          <a:xfrm>
            <a:off x="8659368" y="1298448"/>
            <a:ext cx="1298448" cy="566928"/>
          </a:xfrm>
          <a:prstGeom prst="roundRect">
            <a:avLst>
              <a:gd name="adj" fmla="val 8064"/>
            </a:avLst>
          </a:prstGeom>
          <a:solidFill>
            <a:schemeClr val="bg2"/>
          </a:solidFill>
        </p:spPr>
      </p:sp>
      <p:sp>
        <p:nvSpPr>
          <p:cNvPr id="20" name="t-16-17"/>
          <p:cNvSpPr txBox="1"/>
          <p:nvPr/>
        </p:nvSpPr>
        <p:spPr>
          <a:xfrm>
            <a:off x="8659368" y="1298448"/>
            <a:ext cx="1298448" cy="566928"/>
          </a:xfrm>
          <a:prstGeom prst="rect">
            <a:avLst/>
          </a:prstGeom>
          <a:noFill/>
        </p:spPr>
        <p:txBody>
          <a:bodyPr wrap="square" lIns="0" tIns="0" rIns="0" bIns="0" rtlCol="0" anchor="ctr"/>
          <a:lstStyle/>
          <a:p>
            <a:pPr algn="ctr" indent="0" marL="0">
              <a:buNone/>
            </a:pPr>
            <a:r>
              <a:rPr lang="en-US" sz="1400" dirty="0">
                <a:solidFill>
                  <a:schemeClr val="tx1"/>
                </a:solidFill>
              </a:rPr>
              <a:t>heatsink</a:t>
            </a:r>
            <a:endParaRPr lang="en-US" sz="1400" dirty="0"/>
          </a:p>
        </p:txBody>
      </p:sp>
      <p:cxnSp>
        <p:nvCxnSpPr>
          <p:cNvPr id="21" name="line-16-18"/>
          <p:cNvCxnSpPr/>
          <p:nvPr/>
        </p:nvCxnSpPr>
        <p:spPr>
          <a:xfrm>
            <a:off x="9994392" y="1581912"/>
            <a:ext cx="237744" cy="0"/>
          </a:xfrm>
          <a:prstGeom prst="line">
            <a:avLst/>
          </a:prstGeom>
          <a:ln w="25400">
            <a:solidFill>
              <a:schemeClr val="accent1"/>
            </a:solidFill>
            <a:tailEnd type="triangle" w="med" len="med"/>
          </a:ln>
        </p:spPr>
      </p:cxnSp>
      <p:sp>
        <p:nvSpPr>
          <p:cNvPr id="22" name="box-16-19"/>
          <p:cNvSpPr/>
          <p:nvPr/>
        </p:nvSpPr>
        <p:spPr>
          <a:xfrm>
            <a:off x="10268712" y="1298448"/>
            <a:ext cx="1298448" cy="566928"/>
          </a:xfrm>
          <a:prstGeom prst="roundRect">
            <a:avLst>
              <a:gd name="adj" fmla="val 8064"/>
            </a:avLst>
          </a:prstGeom>
          <a:solidFill>
            <a:schemeClr val="accent2"/>
          </a:solidFill>
        </p:spPr>
      </p:sp>
      <p:sp>
        <p:nvSpPr>
          <p:cNvPr id="23" name="t-16-20"/>
          <p:cNvSpPr txBox="1"/>
          <p:nvPr/>
        </p:nvSpPr>
        <p:spPr>
          <a:xfrm>
            <a:off x="10268712" y="1298448"/>
            <a:ext cx="1298448" cy="566928"/>
          </a:xfrm>
          <a:prstGeom prst="rect">
            <a:avLst/>
          </a:prstGeom>
          <a:noFill/>
        </p:spPr>
        <p:txBody>
          <a:bodyPr wrap="square" lIns="0" tIns="0" rIns="0" bIns="0" rtlCol="0" anchor="ctr"/>
          <a:lstStyle/>
          <a:p>
            <a:pPr algn="ctr" indent="0" marL="0">
              <a:buNone/>
            </a:pPr>
            <a:r>
              <a:rPr lang="en-US" sz="1400" b="1" dirty="0">
                <a:solidFill>
                  <a:schemeClr val="tx1"/>
                </a:solidFill>
              </a:rPr>
              <a:t>air, 25 °C</a:t>
            </a:r>
            <a:endParaRPr lang="en-US" sz="1400" dirty="0"/>
          </a:p>
        </p:txBody>
      </p:sp>
      <p:sp>
        <p:nvSpPr>
          <p:cNvPr id="24" name="t-16-21"/>
          <p:cNvSpPr txBox="1"/>
          <p:nvPr/>
        </p:nvSpPr>
        <p:spPr>
          <a:xfrm>
            <a:off x="612648" y="1956816"/>
            <a:ext cx="10972800" cy="274320"/>
          </a:xfrm>
          <a:prstGeom prst="rect">
            <a:avLst/>
          </a:prstGeom>
          <a:noFill/>
        </p:spPr>
        <p:txBody>
          <a:bodyPr wrap="square" lIns="0" tIns="0" rIns="0" bIns="0" rtlCol="0" anchor="t"/>
          <a:lstStyle/>
          <a:p>
            <a:pPr algn="ctr" indent="0" marL="0">
              <a:buNone/>
            </a:pPr>
            <a:r>
              <a:rPr lang="en-US" sz="1400" dirty="0">
                <a:solidFill>
                  <a:schemeClr val="tx2"/>
                </a:solidFill>
              </a:rPr>
              <a:t>the heat flow P crosses every layer in turn, so the temperature drops add</a:t>
            </a:r>
            <a:endParaRPr lang="en-US" sz="1400" dirty="0"/>
          </a:p>
        </p:txBody>
      </p:sp>
      <p:pic>
        <p:nvPicPr>
          <p:cNvPr id="25" name="eq-16-22" descr="T_{\text{chip}} = T_{\text{air}} + P\,(R_1 + R_2 + \dots + R_n), \qquad R_i = \frac{L_i}{k_i A_i}"/>
          <p:cNvPicPr>
            <a:picLocks noChangeAspect="1"/>
          </p:cNvPicPr>
          <p:nvPr/>
        </p:nvPicPr>
        <p:blipFill>
          <a:blip r:embed="rId2"/>
          <a:stretch>
            <a:fillRect/>
          </a:stretch>
        </p:blipFill>
        <p:spPr>
          <a:xfrm>
            <a:off x="612648" y="2359152"/>
            <a:ext cx="4688586" cy="505206"/>
          </a:xfrm>
          <a:prstGeom prst="rect">
            <a:avLst/>
          </a:prstGeom>
        </p:spPr>
      </p:pic>
      <p:sp>
        <p:nvSpPr>
          <p:cNvPr id="26" name="t-16-23"/>
          <p:cNvSpPr txBox="1"/>
          <p:nvPr/>
        </p:nvSpPr>
        <p:spPr>
          <a:xfrm>
            <a:off x="612648" y="3090672"/>
            <a:ext cx="5486400" cy="822960"/>
          </a:xfrm>
          <a:prstGeom prst="rect">
            <a:avLst/>
          </a:prstGeom>
          <a:noFill/>
        </p:spPr>
        <p:txBody>
          <a:bodyPr wrap="square" lIns="0" tIns="0" rIns="0" bIns="0" rtlCol="0" anchor="t"/>
          <a:lstStyle/>
          <a:p>
            <a:pPr algn="l" indent="0" marL="0">
              <a:buNone/>
            </a:pPr>
            <a:r>
              <a:rPr lang="en-US" sz="1600" b="1" dirty="0">
                <a:solidFill>
                  <a:schemeClr val="tx1"/>
                </a:solidFill>
              </a:rPr>
              <a:t>Given</a:t>
            </a:r>
            <a:r>
              <a:rPr lang="en-US" sz="1600" dirty="0">
                <a:solidFill>
                  <a:schemeClr val="tx1"/>
                </a:solidFill>
              </a:rPr>
              <a:t> 253 W, air at 25 °C and a limit of 100 °C. </a:t>
            </a:r>
            <a:r>
              <a:rPr lang="en-US" sz="1600" b="1" dirty="0">
                <a:solidFill>
                  <a:schemeClr val="tx1"/>
                </a:solidFill>
              </a:rPr>
              <a:t>Find</a:t>
            </a:r>
            <a:r>
              <a:rPr lang="en-US" sz="1600" dirty="0">
                <a:solidFill>
                  <a:schemeClr val="tx1"/>
                </a:solidFill>
              </a:rPr>
              <a:t> the largest total resistance the cooling may have.</a:t>
            </a:r>
            <a:endParaRPr lang="en-US" sz="1600" dirty="0"/>
          </a:p>
        </p:txBody>
      </p:sp>
      <p:pic>
        <p:nvPicPr>
          <p:cNvPr id="27" name="eq-16-24" descr="R_{\text{total}} \le \frac{100 - 25}{253} = 0.30\un{K/W}"/>
          <p:cNvPicPr>
            <a:picLocks noChangeAspect="1"/>
          </p:cNvPicPr>
          <p:nvPr/>
        </p:nvPicPr>
        <p:blipFill>
          <a:blip r:embed="rId3"/>
          <a:stretch>
            <a:fillRect/>
          </a:stretch>
        </p:blipFill>
        <p:spPr>
          <a:xfrm>
            <a:off x="612648" y="3822192"/>
            <a:ext cx="2930652" cy="477774"/>
          </a:xfrm>
          <a:prstGeom prst="rect">
            <a:avLst/>
          </a:prstGeom>
        </p:spPr>
      </p:pic>
      <p:sp>
        <p:nvSpPr>
          <p:cNvPr id="28" name="t-16-25"/>
          <p:cNvSpPr txBox="1"/>
          <p:nvPr/>
        </p:nvSpPr>
        <p:spPr>
          <a:xfrm>
            <a:off x="6400800" y="3090672"/>
            <a:ext cx="5184648" cy="1463040"/>
          </a:xfrm>
          <a:prstGeom prst="rect">
            <a:avLst/>
          </a:prstGeom>
          <a:noFill/>
        </p:spPr>
        <p:txBody>
          <a:bodyPr wrap="square" lIns="0" tIns="0" rIns="0" bIns="0" rtlCol="0" anchor="t"/>
          <a:lstStyle/>
          <a:p>
            <a:pPr algn="l" indent="0" marL="0">
              <a:lnSpc>
                <a:spcPct val="118000"/>
              </a:lnSpc>
              <a:buNone/>
            </a:pPr>
            <a:r>
              <a:rPr lang="en-US" sz="1500" dirty="0">
                <a:solidFill>
                  <a:schemeClr val="tx1"/>
                </a:solidFill>
              </a:rPr>
              <a:t>For comparison, the model heatsink of slide 18:</a:t>
            </a:r>
            <a:endParaRPr lang="en-US" sz="1500" dirty="0"/>
          </a:p>
          <a:p>
            <a:pPr algn="l" indent="0" marL="0">
              <a:lnSpc>
                <a:spcPct val="118000"/>
              </a:lnSpc>
              <a:buNone/>
            </a:pPr>
            <a:r>
              <a:rPr lang="en-US" sz="1500" b="1" dirty="0">
                <a:solidFill>
                  <a:schemeClr val="tx1"/>
                </a:solidFill>
              </a:rPr>
              <a:t>0.20 K/W</a:t>
            </a:r>
            <a:r>
              <a:rPr lang="en-US" sz="1500" dirty="0">
                <a:solidFill>
                  <a:schemeClr val="tx1"/>
                </a:solidFill>
              </a:rPr>
              <a:t> with its fan on</a:t>
            </a:r>
            <a:endParaRPr lang="en-US" sz="1500" dirty="0"/>
          </a:p>
          <a:p>
            <a:pPr algn="l" indent="0" marL="0">
              <a:lnSpc>
                <a:spcPct val="118000"/>
              </a:lnSpc>
              <a:buNone/>
            </a:pPr>
            <a:r>
              <a:rPr lang="en-US" sz="1500" b="1" dirty="0">
                <a:solidFill>
                  <a:schemeClr val="tx1"/>
                </a:solidFill>
              </a:rPr>
              <a:t>0.84 K/W</a:t>
            </a:r>
            <a:r>
              <a:rPr lang="en-US" sz="1500" dirty="0">
                <a:solidFill>
                  <a:schemeClr val="tx1"/>
                </a:solidFill>
              </a:rPr>
              <a:t> with its fan off</a:t>
            </a:r>
            <a:endParaRPr lang="en-US" sz="1500" dirty="0"/>
          </a:p>
        </p:txBody>
      </p:sp>
      <p:sp>
        <p:nvSpPr>
          <p:cNvPr id="29" name="box-16-26"/>
          <p:cNvSpPr/>
          <p:nvPr/>
        </p:nvSpPr>
        <p:spPr>
          <a:xfrm>
            <a:off x="612648" y="4590288"/>
            <a:ext cx="10972800" cy="1115568"/>
          </a:xfrm>
          <a:prstGeom prst="roundRect">
            <a:avLst>
              <a:gd name="adj" fmla="val 4918"/>
            </a:avLst>
          </a:prstGeom>
          <a:solidFill>
            <a:schemeClr val="accent2"/>
          </a:solidFill>
        </p:spPr>
      </p:sp>
      <p:sp>
        <p:nvSpPr>
          <p:cNvPr id="30" name="t-16-27"/>
          <p:cNvSpPr txBox="1"/>
          <p:nvPr/>
        </p:nvSpPr>
        <p:spPr>
          <a:xfrm>
            <a:off x="841248" y="4718304"/>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31" name="t-16-28"/>
          <p:cNvSpPr txBox="1"/>
          <p:nvPr/>
        </p:nvSpPr>
        <p:spPr>
          <a:xfrm>
            <a:off x="841248" y="5010912"/>
            <a:ext cx="10515600" cy="603504"/>
          </a:xfrm>
          <a:prstGeom prst="rect">
            <a:avLst/>
          </a:prstGeom>
          <a:noFill/>
        </p:spPr>
        <p:txBody>
          <a:bodyPr wrap="square" lIns="0" tIns="0" rIns="0" bIns="0" rtlCol="0" anchor="t"/>
          <a:lstStyle/>
          <a:p>
            <a:pPr algn="l" indent="0" marL="0">
              <a:buNone/>
            </a:pPr>
            <a:r>
              <a:rPr lang="en-US" sz="1500" dirty="0">
                <a:solidFill>
                  <a:schemeClr val="tx1"/>
                </a:solidFill>
              </a:rPr>
              <a:t>Resistances in series add, as in a circuit. Each metal layer is a few hundredths of a K/W. The step from metal to air is the largest single part, so a cooler is mostly surface area.</a:t>
            </a:r>
            <a:endParaRPr lang="en-US" sz="1500" dirty="0"/>
          </a:p>
        </p:txBody>
      </p:sp>
      <p:sp>
        <p:nvSpPr>
          <p:cNvPr id="32" name="t-16-29"/>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For a surface in air the resistance is 1/(hA), with h the heat transfer coefficient and A the area.</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Under the lid: eight cores, eight hot spots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
        <p:nvSpPr>
          <p:cNvPr id="4" name="t-17-1"/>
          <p:cNvSpPr txBox="1"/>
          <p:nvPr/>
        </p:nvSpPr>
        <p:spPr>
          <a:xfrm>
            <a:off x="612648" y="1298448"/>
            <a:ext cx="4297680" cy="822960"/>
          </a:xfrm>
          <a:prstGeom prst="rect">
            <a:avLst/>
          </a:prstGeom>
          <a:noFill/>
        </p:spPr>
        <p:txBody>
          <a:bodyPr wrap="square" lIns="0" tIns="0" rIns="0" bIns="0" rtlCol="0" anchor="t"/>
          <a:lstStyle/>
          <a:p>
            <a:pPr algn="l" indent="0" marL="0">
              <a:buNone/>
            </a:pPr>
            <a:r>
              <a:rPr lang="en-US" sz="1600" dirty="0">
                <a:solidFill>
                  <a:schemeClr val="tx1"/>
                </a:solidFill>
              </a:rPr>
              <a:t>A model processor: eight cores under a copper lid 3 mm thick. A busy core gives 30 W, an idle one 2 W.</a:t>
            </a:r>
            <a:endParaRPr lang="en-US" sz="1600" dirty="0"/>
          </a:p>
        </p:txBody>
      </p:sp>
      <p:sp>
        <p:nvSpPr>
          <p:cNvPr id="5" name="t-17-2"/>
          <p:cNvSpPr txBox="1"/>
          <p:nvPr/>
        </p:nvSpPr>
        <p:spPr>
          <a:xfrm>
            <a:off x="612648" y="2286000"/>
            <a:ext cx="4297680" cy="1097280"/>
          </a:xfrm>
          <a:prstGeom prst="rect">
            <a:avLst/>
          </a:prstGeom>
          <a:noFill/>
        </p:spPr>
        <p:txBody>
          <a:bodyPr wrap="square" lIns="0" tIns="0" rIns="0" bIns="0" rtlCol="0" anchor="t"/>
          <a:lstStyle/>
          <a:p>
            <a:pPr algn="l" indent="0" marL="0">
              <a:buNone/>
            </a:pPr>
            <a:r>
              <a:rPr lang="en-US" sz="1600" b="1" dirty="0">
                <a:solidFill>
                  <a:schemeClr val="tx1"/>
                </a:solidFill>
              </a:rPr>
              <a:t>One busy thread.</a:t>
            </a:r>
            <a:r>
              <a:rPr lang="en-US" sz="1600" dirty="0">
                <a:solidFill>
                  <a:schemeClr val="tx1"/>
                </a:solidFill>
              </a:rPr>
              <a:t> A hot spot near 50 °C follows the thread from core to core.</a:t>
            </a:r>
            <a:endParaRPr lang="en-US" sz="1600" dirty="0"/>
          </a:p>
        </p:txBody>
      </p:sp>
      <p:sp>
        <p:nvSpPr>
          <p:cNvPr id="6" name="t-17-3"/>
          <p:cNvSpPr txBox="1"/>
          <p:nvPr/>
        </p:nvSpPr>
        <p:spPr>
          <a:xfrm>
            <a:off x="612648" y="3127248"/>
            <a:ext cx="4297680" cy="1097280"/>
          </a:xfrm>
          <a:prstGeom prst="rect">
            <a:avLst/>
          </a:prstGeom>
          <a:noFill/>
        </p:spPr>
        <p:txBody>
          <a:bodyPr wrap="square" lIns="0" tIns="0" rIns="0" bIns="0" rtlCol="0" anchor="t"/>
          <a:lstStyle/>
          <a:p>
            <a:pPr algn="l" indent="0" marL="0">
              <a:buNone/>
            </a:pPr>
            <a:r>
              <a:rPr lang="en-US" sz="1600" b="1" dirty="0">
                <a:solidFill>
                  <a:schemeClr val="tx1"/>
                </a:solidFill>
              </a:rPr>
              <a:t>All eight cores, 240 W.</a:t>
            </a:r>
            <a:r>
              <a:rPr lang="en-US" sz="1600" dirty="0">
                <a:solidFill>
                  <a:schemeClr val="tx1"/>
                </a:solidFill>
              </a:rPr>
              <a:t> The hottest point of the lid settles at 81 °C; the lid averages 69 °C.</a:t>
            </a:r>
            <a:endParaRPr lang="en-US" sz="1600" dirty="0"/>
          </a:p>
        </p:txBody>
      </p:sp>
      <p:sp>
        <p:nvSpPr>
          <p:cNvPr id="7" name="box-17-4"/>
          <p:cNvSpPr/>
          <p:nvPr/>
        </p:nvSpPr>
        <p:spPr>
          <a:xfrm>
            <a:off x="612648" y="4224528"/>
            <a:ext cx="4297680" cy="1481328"/>
          </a:xfrm>
          <a:prstGeom prst="roundRect">
            <a:avLst>
              <a:gd name="adj" fmla="val 3703"/>
            </a:avLst>
          </a:prstGeom>
          <a:solidFill>
            <a:schemeClr val="accent2"/>
          </a:solidFill>
        </p:spPr>
      </p:sp>
      <p:sp>
        <p:nvSpPr>
          <p:cNvPr id="8" name="t-17-5"/>
          <p:cNvSpPr txBox="1"/>
          <p:nvPr/>
        </p:nvSpPr>
        <p:spPr>
          <a:xfrm>
            <a:off x="841248" y="4352544"/>
            <a:ext cx="384048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9" name="t-17-6"/>
          <p:cNvSpPr txBox="1"/>
          <p:nvPr/>
        </p:nvSpPr>
        <p:spPr>
          <a:xfrm>
            <a:off x="841248" y="4645152"/>
            <a:ext cx="3840480" cy="969264"/>
          </a:xfrm>
          <a:prstGeom prst="rect">
            <a:avLst/>
          </a:prstGeom>
          <a:noFill/>
        </p:spPr>
        <p:txBody>
          <a:bodyPr wrap="square" lIns="0" tIns="0" rIns="0" bIns="0" rtlCol="0" anchor="t"/>
          <a:lstStyle/>
          <a:p>
            <a:pPr algn="l" indent="0" marL="0">
              <a:buNone/>
            </a:pPr>
            <a:r>
              <a:rPr lang="en-US" sz="1400" dirty="0">
                <a:solidFill>
                  <a:schemeClr val="tx1"/>
                </a:solidFill>
              </a:rPr>
              <a:t>Copper carries heat a few millimetres sideways in a tenth of a second. The lid turns eight hot spots into one warm plate.</a:t>
            </a:r>
            <a:endParaRPr lang="en-US" sz="1400" dirty="0"/>
          </a:p>
        </p:txBody>
      </p:sp>
      <p:pic>
        <p:nvPicPr>
          <p:cNvPr id="10" name="video-17-7">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184648" y="1261872"/>
            <a:ext cx="6400800" cy="4297680"/>
          </a:xfrm>
          <a:prstGeom prst="rect">
            <a:avLst/>
          </a:prstGeom>
        </p:spPr>
      </p:pic>
      <p:sp>
        <p:nvSpPr>
          <p:cNvPr id="11" name="t-17-8"/>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Thin-plate model, cooler at 40 °C, 0.12 K/W between lid and cooler. The core layout is illustrative.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333"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3" repeatCount="indefinite" fill="hold" display="0">
                  <p:stCondLst>
                    <p:cond delay="indefinite"/>
                  </p:stCondLst>
                </p:cTn>
                <p:tgtEl>
                  <p:spTgt spid="10"/>
                </p:tgtEl>
              </p:cMediaNode>
            </p:video>
            <p:seq concurrent="1" nextAc="seek">
              <p:cTn id="24" restart="whenNotActive" fill="hold" evtFilter="cancelBubble" nodeType="interactiveSeq">
                <p:stCondLst>
                  <p:cond evt="onClick" delay="0">
                    <p:tgtEl>
                      <p:spTgt spid="10"/>
                    </p:tgtEl>
                  </p:cond>
                </p:stCondLst>
                <p:endSync evt="end" delay="0">
                  <p:rtn val="all"/>
                </p:endSync>
                <p:childTnLst>
                  <p:par>
                    <p:cTn id="25" fill="hold">
                      <p:stCondLst>
                        <p:cond delay="0"/>
                      </p:stCondLst>
                      <p:childTnLst>
                        <p:par>
                          <p:cTn id="26" fill="hold">
                            <p:stCondLst>
                              <p:cond delay="0"/>
                            </p:stCondLst>
                            <p:childTnLst>
                              <p:par>
                                <p:cTn id="27" presetID="2" presetClass="mediacall" presetSubtype="0" fill="hold" nodeType="clickEffect">
                                  <p:stCondLst>
                                    <p:cond delay="0"/>
                                  </p:stCondLst>
                                  <p:childTnLst>
                                    <p:cmd type="call" cmd="togglePause">
                                      <p:cBhvr>
                                        <p:cTn id="28" dur="1" fill="hold"/>
                                        <p:tgtEl>
                                          <p:spTgt spid="10"/>
                                        </p:tgtEl>
                                      </p:cBhvr>
                                    </p:cmd>
                                  </p:childTnLst>
                                </p:cTn>
                              </p:par>
                            </p:childTnLst>
                          </p:cTn>
                        </p:par>
                      </p:childTnLst>
                    </p:cTn>
                  </p:par>
                </p:childTnLst>
              </p:cTn>
              <p:nextCondLst>
                <p:cond evt="onClick" delay="0">
                  <p:tgtEl>
                    <p:spTgt spid="10"/>
                  </p:tgtEl>
                </p:cond>
              </p:nextCondLst>
            </p:seq>
          </p:childTnLst>
        </p:cTn>
      </p:par>
    </p:tnLst>
    <p:bldLst>
      <p:bldP spid="5" grpId="0" animBg="1"/>
      <p:bldP spid="6" grpId="0" animBg="1"/>
      <p:bldP spid="7" grpId="0" animBg="1"/>
      <p:bldP spid="8" grpId="0" animBg="1"/>
      <p:bldP spid="9"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A finned heatsink: fan off, then fan on</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pic>
        <p:nvPicPr>
          <p:cNvPr id="4" name="video-18-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12648" y="1261872"/>
            <a:ext cx="10972800" cy="4297680"/>
          </a:xfrm>
          <a:prstGeom prst="rect">
            <a:avLst/>
          </a:prstGeom>
        </p:spPr>
      </p:pic>
      <p:sp>
        <p:nvSpPr>
          <p:cNvPr id="5" name="t-18-2"/>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125 W into a 24-fin aluminium heatsink, in cross-section. Model: one h on every face, air at 25 °C throughout.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Two clocks: milliseconds and minutes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graphicFrame>
        <p:nvGraphicFramePr>
          <p:cNvPr id="4" name="chart-19-1"/>
          <p:cNvGraphicFramePr>
            <a:graphicFrameLocks noGrp="1"/>
          </p:cNvGraphicFramePr>
          <p:nvPr/>
        </p:nvGraphicFramePr>
        <p:xfrm>
          <a:off x="612648" y="1234440"/>
          <a:ext cx="6035040" cy="3931920"/>
        </p:xfrm>
        <a:graphic>
          <a:graphicData uri="http://schemas.openxmlformats.org/drawingml/2006/chart">
            <c:chart xmlns:c="http://schemas.openxmlformats.org/drawingml/2006/chart" r:id="rId2"/>
          </a:graphicData>
        </a:graphic>
      </p:graphicFrame>
      <p:sp>
        <p:nvSpPr>
          <p:cNvPr id="5" name="t-19-2"/>
          <p:cNvSpPr txBox="1"/>
          <p:nvPr/>
        </p:nvSpPr>
        <p:spPr>
          <a:xfrm>
            <a:off x="6949440" y="1298448"/>
            <a:ext cx="4636008" cy="1371600"/>
          </a:xfrm>
          <a:prstGeom prst="rect">
            <a:avLst/>
          </a:prstGeom>
          <a:noFill/>
        </p:spPr>
        <p:txBody>
          <a:bodyPr wrap="square" lIns="0" tIns="0" rIns="0" bIns="0" rtlCol="0" anchor="t"/>
          <a:lstStyle/>
          <a:p>
            <a:pPr algn="l" indent="0" marL="0">
              <a:buNone/>
            </a:pPr>
            <a:r>
              <a:rPr lang="en-US" sz="1500" b="1" dirty="0">
                <a:solidFill>
                  <a:schemeClr val="tx1"/>
                </a:solidFill>
              </a:rPr>
              <a:t>Fast clock.</a:t>
            </a:r>
            <a:r>
              <a:rPr lang="en-US" sz="1500" dirty="0">
                <a:solidFill>
                  <a:schemeClr val="tx1"/>
                </a:solidFill>
              </a:rPr>
              <a:t> Heat crosses 0.5 mm of silicon in 3 ms and 3 mm of copper in 78 ms (L²/α). After one second the chip is about 17 K warmer than the air.</a:t>
            </a:r>
            <a:endParaRPr lang="en-US" sz="1500" dirty="0"/>
          </a:p>
        </p:txBody>
      </p:sp>
      <p:sp>
        <p:nvSpPr>
          <p:cNvPr id="6" name="t-19-3"/>
          <p:cNvSpPr txBox="1"/>
          <p:nvPr/>
        </p:nvSpPr>
        <p:spPr>
          <a:xfrm>
            <a:off x="6949440" y="2761488"/>
            <a:ext cx="4636008" cy="1097280"/>
          </a:xfrm>
          <a:prstGeom prst="rect">
            <a:avLst/>
          </a:prstGeom>
          <a:noFill/>
        </p:spPr>
        <p:txBody>
          <a:bodyPr wrap="square" lIns="0" tIns="0" rIns="0" bIns="0" rtlCol="0" anchor="t"/>
          <a:lstStyle/>
          <a:p>
            <a:pPr algn="l" indent="0" marL="0">
              <a:buNone/>
            </a:pPr>
            <a:r>
              <a:rPr lang="en-US" sz="1500" b="1" dirty="0">
                <a:solidFill>
                  <a:schemeClr val="tx1"/>
                </a:solidFill>
              </a:rPr>
              <a:t>Slow clock.</a:t>
            </a:r>
            <a:r>
              <a:rPr lang="en-US" sz="1500" dirty="0">
                <a:solidFill>
                  <a:schemeClr val="tx1"/>
                </a:solidFill>
              </a:rPr>
              <a:t> The heatsink is one heat capacity behind one resistance: τ = RC = 0.20 K/W × 311 J/K = 62 s.</a:t>
            </a:r>
            <a:endParaRPr lang="en-US" sz="1500" dirty="0"/>
          </a:p>
        </p:txBody>
      </p:sp>
      <p:sp>
        <p:nvSpPr>
          <p:cNvPr id="7" name="box-19-4"/>
          <p:cNvSpPr/>
          <p:nvPr/>
        </p:nvSpPr>
        <p:spPr>
          <a:xfrm>
            <a:off x="6949440" y="3858768"/>
            <a:ext cx="4636008" cy="1691640"/>
          </a:xfrm>
          <a:prstGeom prst="roundRect">
            <a:avLst>
              <a:gd name="adj" fmla="val 3243"/>
            </a:avLst>
          </a:prstGeom>
          <a:solidFill>
            <a:schemeClr val="accent2"/>
          </a:solidFill>
        </p:spPr>
      </p:sp>
      <p:sp>
        <p:nvSpPr>
          <p:cNvPr id="8" name="t-19-5"/>
          <p:cNvSpPr txBox="1"/>
          <p:nvPr/>
        </p:nvSpPr>
        <p:spPr>
          <a:xfrm>
            <a:off x="7178040" y="3986784"/>
            <a:ext cx="4178808"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9" name="t-19-6"/>
          <p:cNvSpPr txBox="1"/>
          <p:nvPr/>
        </p:nvSpPr>
        <p:spPr>
          <a:xfrm>
            <a:off x="7178040" y="4279392"/>
            <a:ext cx="4178808" cy="1179576"/>
          </a:xfrm>
          <a:prstGeom prst="rect">
            <a:avLst/>
          </a:prstGeom>
          <a:noFill/>
        </p:spPr>
        <p:txBody>
          <a:bodyPr wrap="square" lIns="0" tIns="0" rIns="0" bIns="0" rtlCol="0" anchor="t"/>
          <a:lstStyle/>
          <a:p>
            <a:pPr algn="l" indent="0" marL="0">
              <a:buNone/>
            </a:pPr>
            <a:r>
              <a:rPr lang="en-US" sz="1500" dirty="0">
                <a:solidFill>
                  <a:schemeClr val="tx1"/>
                </a:solidFill>
              </a:rPr>
              <a:t>A short burst is absorbed by the heat capacity of the heatsink. The drop across die, paste and lid appears within a second.</a:t>
            </a:r>
            <a:endParaRPr lang="en-US" sz="1500" dirty="0"/>
          </a:p>
        </p:txBody>
      </p:sp>
      <p:sp>
        <p:nvSpPr>
          <p:cNvPr id="10" name="t-19-7"/>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One-dimensional chip column feeding a heatsink treated as a single mass. Final temperature 66 °C.</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The graphics card: 575 W and a vapour chamber</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pic>
        <p:nvPicPr>
          <p:cNvPr id="4" name="video-20-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12648" y="1261872"/>
            <a:ext cx="10972800" cy="4297680"/>
          </a:xfrm>
          <a:prstGeom prst="rect">
            <a:avLst/>
          </a:prstGeom>
        </p:spPr>
      </p:pic>
      <p:sp>
        <p:nvSpPr>
          <p:cNvPr id="5" name="t-20-2"/>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Same fins, same air. Only the plate differs: 134 °C at the die with copper, 82 °C with a vapour chamber.</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What the equations tell the designer</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
        <p:nvSpPr>
          <p:cNvPr id="4" name="box-21-1"/>
          <p:cNvSpPr/>
          <p:nvPr/>
        </p:nvSpPr>
        <p:spPr>
          <a:xfrm>
            <a:off x="612648" y="1325880"/>
            <a:ext cx="2578608" cy="3520440"/>
          </a:xfrm>
          <a:prstGeom prst="roundRect">
            <a:avLst>
              <a:gd name="adj" fmla="val 2127"/>
            </a:avLst>
          </a:prstGeom>
          <a:solidFill>
            <a:schemeClr val="bg2"/>
          </a:solidFill>
        </p:spPr>
      </p:sp>
      <p:sp>
        <p:nvSpPr>
          <p:cNvPr id="5" name="badge-21-2"/>
          <p:cNvSpPr/>
          <p:nvPr/>
        </p:nvSpPr>
        <p:spPr>
          <a:xfrm>
            <a:off x="841248" y="1554480"/>
            <a:ext cx="457200" cy="457200"/>
          </a:xfrm>
          <a:prstGeom prst="ellipse">
            <a:avLst/>
          </a:prstGeom>
          <a:solidFill>
            <a:schemeClr val="tx1"/>
          </a:solidFill>
        </p:spPr>
      </p:sp>
      <p:sp>
        <p:nvSpPr>
          <p:cNvPr id="6" name="t-21-3"/>
          <p:cNvSpPr txBox="1"/>
          <p:nvPr/>
        </p:nvSpPr>
        <p:spPr>
          <a:xfrm>
            <a:off x="841248"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21-4"/>
          <p:cNvSpPr txBox="1"/>
          <p:nvPr/>
        </p:nvSpPr>
        <p:spPr>
          <a:xfrm>
            <a:off x="841248" y="2221992"/>
            <a:ext cx="2121408" cy="320040"/>
          </a:xfrm>
          <a:prstGeom prst="rect">
            <a:avLst/>
          </a:prstGeom>
          <a:noFill/>
        </p:spPr>
        <p:txBody>
          <a:bodyPr wrap="square" lIns="0" tIns="0" rIns="0" bIns="0" rtlCol="0" anchor="t"/>
          <a:lstStyle/>
          <a:p>
            <a:pPr algn="l" indent="0" marL="0">
              <a:buNone/>
            </a:pPr>
            <a:r>
              <a:rPr lang="en-US" sz="1600" b="1" dirty="0">
                <a:solidFill>
                  <a:schemeClr val="tx1"/>
                </a:solidFill>
              </a:rPr>
              <a:t>Short paths</a:t>
            </a:r>
            <a:endParaRPr lang="en-US" sz="1600" dirty="0"/>
          </a:p>
        </p:txBody>
      </p:sp>
      <p:pic>
        <p:nvPicPr>
          <p:cNvPr id="8" name="eq-21-5" descr="R = \frac{L}{kA}"/>
          <p:cNvPicPr>
            <a:picLocks noChangeAspect="1"/>
          </p:cNvPicPr>
          <p:nvPr/>
        </p:nvPicPr>
        <p:blipFill>
          <a:blip r:embed="rId2"/>
          <a:stretch>
            <a:fillRect/>
          </a:stretch>
        </p:blipFill>
        <p:spPr>
          <a:xfrm>
            <a:off x="841248" y="2743200"/>
            <a:ext cx="667512" cy="413766"/>
          </a:xfrm>
          <a:prstGeom prst="rect">
            <a:avLst/>
          </a:prstGeom>
        </p:spPr>
      </p:pic>
      <p:sp>
        <p:nvSpPr>
          <p:cNvPr id="9" name="t-21-6"/>
          <p:cNvSpPr txBox="1"/>
          <p:nvPr/>
        </p:nvSpPr>
        <p:spPr>
          <a:xfrm>
            <a:off x="841248" y="3566160"/>
            <a:ext cx="2121408" cy="1143000"/>
          </a:xfrm>
          <a:prstGeom prst="rect">
            <a:avLst/>
          </a:prstGeom>
          <a:noFill/>
        </p:spPr>
        <p:txBody>
          <a:bodyPr wrap="square" lIns="0" tIns="0" rIns="0" bIns="0" rtlCol="0" anchor="t"/>
          <a:lstStyle/>
          <a:p>
            <a:pPr algn="l" indent="0" marL="0">
              <a:buNone/>
            </a:pPr>
            <a:r>
              <a:rPr lang="en-US" sz="1400" dirty="0">
                <a:solidFill>
                  <a:schemeClr val="tx2"/>
                </a:solidFill>
              </a:rPr>
              <a:t>Thin die, thin paste, and the cooler pressed straight onto the lid.</a:t>
            </a:r>
            <a:endParaRPr lang="en-US" sz="1400" dirty="0"/>
          </a:p>
        </p:txBody>
      </p:sp>
      <p:sp>
        <p:nvSpPr>
          <p:cNvPr id="10" name="box-21-7"/>
          <p:cNvSpPr/>
          <p:nvPr/>
        </p:nvSpPr>
        <p:spPr>
          <a:xfrm>
            <a:off x="3410712" y="1325880"/>
            <a:ext cx="2578608" cy="3520440"/>
          </a:xfrm>
          <a:prstGeom prst="roundRect">
            <a:avLst>
              <a:gd name="adj" fmla="val 2127"/>
            </a:avLst>
          </a:prstGeom>
          <a:solidFill>
            <a:schemeClr val="bg2"/>
          </a:solidFill>
        </p:spPr>
      </p:sp>
      <p:sp>
        <p:nvSpPr>
          <p:cNvPr id="11" name="badge-21-8"/>
          <p:cNvSpPr/>
          <p:nvPr/>
        </p:nvSpPr>
        <p:spPr>
          <a:xfrm>
            <a:off x="3639312" y="1554480"/>
            <a:ext cx="457200" cy="457200"/>
          </a:xfrm>
          <a:prstGeom prst="ellipse">
            <a:avLst/>
          </a:prstGeom>
          <a:solidFill>
            <a:schemeClr val="tx1"/>
          </a:solidFill>
        </p:spPr>
      </p:sp>
      <p:sp>
        <p:nvSpPr>
          <p:cNvPr id="12" name="t-21-9"/>
          <p:cNvSpPr txBox="1"/>
          <p:nvPr/>
        </p:nvSpPr>
        <p:spPr>
          <a:xfrm>
            <a:off x="3639312"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21-10"/>
          <p:cNvSpPr txBox="1"/>
          <p:nvPr/>
        </p:nvSpPr>
        <p:spPr>
          <a:xfrm>
            <a:off x="3639312" y="2221992"/>
            <a:ext cx="2121408" cy="320040"/>
          </a:xfrm>
          <a:prstGeom prst="rect">
            <a:avLst/>
          </a:prstGeom>
          <a:noFill/>
        </p:spPr>
        <p:txBody>
          <a:bodyPr wrap="square" lIns="0" tIns="0" rIns="0" bIns="0" rtlCol="0" anchor="t"/>
          <a:lstStyle/>
          <a:p>
            <a:pPr algn="l" indent="0" marL="0">
              <a:buNone/>
            </a:pPr>
            <a:r>
              <a:rPr lang="en-US" sz="1600" b="1" dirty="0">
                <a:solidFill>
                  <a:schemeClr val="tx1"/>
                </a:solidFill>
              </a:rPr>
              <a:t>Spread first</a:t>
            </a:r>
            <a:endParaRPr lang="en-US" sz="1600" dirty="0"/>
          </a:p>
        </p:txBody>
      </p:sp>
      <p:pic>
        <p:nvPicPr>
          <p:cNvPr id="14" name="eq-21-11" descr="\ell = \sqrt{k\,\delta/h}"/>
          <p:cNvPicPr>
            <a:picLocks noChangeAspect="1"/>
          </p:cNvPicPr>
          <p:nvPr/>
        </p:nvPicPr>
        <p:blipFill>
          <a:blip r:embed="rId3"/>
          <a:stretch>
            <a:fillRect/>
          </a:stretch>
        </p:blipFill>
        <p:spPr>
          <a:xfrm>
            <a:off x="3639312" y="2743200"/>
            <a:ext cx="998982" cy="260604"/>
          </a:xfrm>
          <a:prstGeom prst="rect">
            <a:avLst/>
          </a:prstGeom>
        </p:spPr>
      </p:pic>
      <p:sp>
        <p:nvSpPr>
          <p:cNvPr id="15" name="t-21-12"/>
          <p:cNvSpPr txBox="1"/>
          <p:nvPr/>
        </p:nvSpPr>
        <p:spPr>
          <a:xfrm>
            <a:off x="3639312" y="3566160"/>
            <a:ext cx="2121408" cy="1143000"/>
          </a:xfrm>
          <a:prstGeom prst="rect">
            <a:avLst/>
          </a:prstGeom>
          <a:noFill/>
        </p:spPr>
        <p:txBody>
          <a:bodyPr wrap="square" lIns="0" tIns="0" rIns="0" bIns="0" rtlCol="0" anchor="t"/>
          <a:lstStyle/>
          <a:p>
            <a:pPr algn="l" indent="0" marL="0">
              <a:buNone/>
            </a:pPr>
            <a:r>
              <a:rPr lang="en-US" sz="1400" dirty="0">
                <a:solidFill>
                  <a:schemeClr val="tx2"/>
                </a:solidFill>
              </a:rPr>
              <a:t>Under the fins of slide 20 copper spreads heat over 26 mm, a vapour chamber over 93 mm.</a:t>
            </a:r>
            <a:endParaRPr lang="en-US" sz="1400" dirty="0"/>
          </a:p>
        </p:txBody>
      </p:sp>
      <p:sp>
        <p:nvSpPr>
          <p:cNvPr id="16" name="box-21-13"/>
          <p:cNvSpPr/>
          <p:nvPr/>
        </p:nvSpPr>
        <p:spPr>
          <a:xfrm>
            <a:off x="6208776" y="1325880"/>
            <a:ext cx="2578608" cy="3520440"/>
          </a:xfrm>
          <a:prstGeom prst="roundRect">
            <a:avLst>
              <a:gd name="adj" fmla="val 2127"/>
            </a:avLst>
          </a:prstGeom>
          <a:solidFill>
            <a:schemeClr val="bg2"/>
          </a:solidFill>
        </p:spPr>
      </p:sp>
      <p:sp>
        <p:nvSpPr>
          <p:cNvPr id="17" name="badge-21-14"/>
          <p:cNvSpPr/>
          <p:nvPr/>
        </p:nvSpPr>
        <p:spPr>
          <a:xfrm>
            <a:off x="6437376" y="1554480"/>
            <a:ext cx="457200" cy="457200"/>
          </a:xfrm>
          <a:prstGeom prst="ellipse">
            <a:avLst/>
          </a:prstGeom>
          <a:solidFill>
            <a:schemeClr val="tx1"/>
          </a:solidFill>
        </p:spPr>
      </p:sp>
      <p:sp>
        <p:nvSpPr>
          <p:cNvPr id="18" name="t-21-15"/>
          <p:cNvSpPr txBox="1"/>
          <p:nvPr/>
        </p:nvSpPr>
        <p:spPr>
          <a:xfrm>
            <a:off x="6437376"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21-16"/>
          <p:cNvSpPr txBox="1"/>
          <p:nvPr/>
        </p:nvSpPr>
        <p:spPr>
          <a:xfrm>
            <a:off x="6437376" y="2221992"/>
            <a:ext cx="2121408" cy="320040"/>
          </a:xfrm>
          <a:prstGeom prst="rect">
            <a:avLst/>
          </a:prstGeom>
          <a:noFill/>
        </p:spPr>
        <p:txBody>
          <a:bodyPr wrap="square" lIns="0" tIns="0" rIns="0" bIns="0" rtlCol="0" anchor="t"/>
          <a:lstStyle/>
          <a:p>
            <a:pPr algn="l" indent="0" marL="0">
              <a:buNone/>
            </a:pPr>
            <a:r>
              <a:rPr lang="en-US" sz="1600" b="1" dirty="0">
                <a:solidFill>
                  <a:schemeClr val="tx1"/>
                </a:solidFill>
              </a:rPr>
              <a:t>Area in the air</a:t>
            </a:r>
            <a:endParaRPr lang="en-US" sz="1600" dirty="0"/>
          </a:p>
        </p:txBody>
      </p:sp>
      <p:pic>
        <p:nvPicPr>
          <p:cNvPr id="20" name="eq-21-17" descr="R = \frac{1}{hA}"/>
          <p:cNvPicPr>
            <a:picLocks noChangeAspect="1"/>
          </p:cNvPicPr>
          <p:nvPr/>
        </p:nvPicPr>
        <p:blipFill>
          <a:blip r:embed="rId4"/>
          <a:stretch>
            <a:fillRect/>
          </a:stretch>
        </p:blipFill>
        <p:spPr>
          <a:xfrm>
            <a:off x="6437376" y="2743200"/>
            <a:ext cx="678942" cy="413766"/>
          </a:xfrm>
          <a:prstGeom prst="rect">
            <a:avLst/>
          </a:prstGeom>
        </p:spPr>
      </p:pic>
      <p:sp>
        <p:nvSpPr>
          <p:cNvPr id="21" name="t-21-18"/>
          <p:cNvSpPr txBox="1"/>
          <p:nvPr/>
        </p:nvSpPr>
        <p:spPr>
          <a:xfrm>
            <a:off x="6437376" y="3566160"/>
            <a:ext cx="2121408" cy="1143000"/>
          </a:xfrm>
          <a:prstGeom prst="rect">
            <a:avLst/>
          </a:prstGeom>
          <a:noFill/>
        </p:spPr>
        <p:txBody>
          <a:bodyPr wrap="square" lIns="0" tIns="0" rIns="0" bIns="0" rtlCol="0" anchor="t"/>
          <a:lstStyle/>
          <a:p>
            <a:pPr algn="l" indent="0" marL="0">
              <a:buNone/>
            </a:pPr>
            <a:r>
              <a:rPr lang="en-US" sz="1400" dirty="0">
                <a:solidFill>
                  <a:schemeClr val="tx2"/>
                </a:solidFill>
              </a:rPr>
              <a:t>Air is the weak link. The 24 fins of slide 18 give it 0.16 m².</a:t>
            </a:r>
            <a:endParaRPr lang="en-US" sz="1400" dirty="0"/>
          </a:p>
        </p:txBody>
      </p:sp>
      <p:sp>
        <p:nvSpPr>
          <p:cNvPr id="22" name="box-21-19"/>
          <p:cNvSpPr/>
          <p:nvPr/>
        </p:nvSpPr>
        <p:spPr>
          <a:xfrm>
            <a:off x="9006840" y="1325880"/>
            <a:ext cx="2578608" cy="3520440"/>
          </a:xfrm>
          <a:prstGeom prst="roundRect">
            <a:avLst>
              <a:gd name="adj" fmla="val 2127"/>
            </a:avLst>
          </a:prstGeom>
          <a:solidFill>
            <a:schemeClr val="bg2"/>
          </a:solidFill>
        </p:spPr>
      </p:sp>
      <p:sp>
        <p:nvSpPr>
          <p:cNvPr id="23" name="badge-21-20"/>
          <p:cNvSpPr/>
          <p:nvPr/>
        </p:nvSpPr>
        <p:spPr>
          <a:xfrm>
            <a:off x="9235440" y="1554480"/>
            <a:ext cx="457200" cy="457200"/>
          </a:xfrm>
          <a:prstGeom prst="ellipse">
            <a:avLst/>
          </a:prstGeom>
          <a:solidFill>
            <a:schemeClr val="tx1"/>
          </a:solidFill>
        </p:spPr>
      </p:sp>
      <p:sp>
        <p:nvSpPr>
          <p:cNvPr id="24" name="t-21-21"/>
          <p:cNvSpPr txBox="1"/>
          <p:nvPr/>
        </p:nvSpPr>
        <p:spPr>
          <a:xfrm>
            <a:off x="9235440"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21-22"/>
          <p:cNvSpPr txBox="1"/>
          <p:nvPr/>
        </p:nvSpPr>
        <p:spPr>
          <a:xfrm>
            <a:off x="9235440" y="2221992"/>
            <a:ext cx="2121408" cy="320040"/>
          </a:xfrm>
          <a:prstGeom prst="rect">
            <a:avLst/>
          </a:prstGeom>
          <a:noFill/>
        </p:spPr>
        <p:txBody>
          <a:bodyPr wrap="square" lIns="0" tIns="0" rIns="0" bIns="0" rtlCol="0" anchor="t"/>
          <a:lstStyle/>
          <a:p>
            <a:pPr algn="l" indent="0" marL="0">
              <a:buNone/>
            </a:pPr>
            <a:r>
              <a:rPr lang="en-US" sz="1600" b="1" dirty="0">
                <a:solidFill>
                  <a:schemeClr val="tx1"/>
                </a:solidFill>
              </a:rPr>
              <a:t>Short, thin fins</a:t>
            </a:r>
            <a:endParaRPr lang="en-US" sz="1600" dirty="0"/>
          </a:p>
        </p:txBody>
      </p:sp>
      <p:pic>
        <p:nvPicPr>
          <p:cNvPr id="26" name="eq-21-23" descr="\eta = \frac{\tanh mL}{mL}"/>
          <p:cNvPicPr>
            <a:picLocks noChangeAspect="1"/>
          </p:cNvPicPr>
          <p:nvPr/>
        </p:nvPicPr>
        <p:blipFill>
          <a:blip r:embed="rId5"/>
          <a:stretch>
            <a:fillRect/>
          </a:stretch>
        </p:blipFill>
        <p:spPr>
          <a:xfrm>
            <a:off x="9235440" y="2743200"/>
            <a:ext cx="1168146" cy="418338"/>
          </a:xfrm>
          <a:prstGeom prst="rect">
            <a:avLst/>
          </a:prstGeom>
        </p:spPr>
      </p:pic>
      <p:sp>
        <p:nvSpPr>
          <p:cNvPr id="27" name="t-21-24"/>
          <p:cNvSpPr txBox="1"/>
          <p:nvPr/>
        </p:nvSpPr>
        <p:spPr>
          <a:xfrm>
            <a:off x="9235440" y="3566160"/>
            <a:ext cx="2121408" cy="1143000"/>
          </a:xfrm>
          <a:prstGeom prst="rect">
            <a:avLst/>
          </a:prstGeom>
          <a:noFill/>
        </p:spPr>
        <p:txBody>
          <a:bodyPr wrap="square" lIns="0" tIns="0" rIns="0" bIns="0" rtlCol="0" anchor="t"/>
          <a:lstStyle/>
          <a:p>
            <a:pPr algn="l" indent="0" marL="0">
              <a:buNone/>
            </a:pPr>
            <a:r>
              <a:rPr lang="en-US" sz="1400" dirty="0">
                <a:solidFill>
                  <a:schemeClr val="tx2"/>
                </a:solidFill>
              </a:rPr>
              <a:t>η compares a fin with one that is at base temperature all along. Long fins waste metal.</a:t>
            </a:r>
            <a:endParaRPr lang="en-US" sz="1400" dirty="0"/>
          </a:p>
        </p:txBody>
      </p:sp>
      <p:sp>
        <p:nvSpPr>
          <p:cNvPr id="28" name="t-21-25"/>
          <p:cNvSpPr txBox="1"/>
          <p:nvPr/>
        </p:nvSpPr>
        <p:spPr>
          <a:xfrm>
            <a:off x="612648" y="5166360"/>
            <a:ext cx="10972800" cy="365760"/>
          </a:xfrm>
          <a:prstGeom prst="rect">
            <a:avLst/>
          </a:prstGeom>
          <a:noFill/>
        </p:spPr>
        <p:txBody>
          <a:bodyPr wrap="square" lIns="0" tIns="0" rIns="0" bIns="0" rtlCol="0" anchor="t"/>
          <a:lstStyle/>
          <a:p>
            <a:pPr algn="l" indent="0" marL="0">
              <a:buNone/>
            </a:pPr>
            <a:r>
              <a:rPr lang="en-US" sz="1600" dirty="0">
                <a:solidFill>
                  <a:schemeClr val="tx1"/>
                </a:solidFill>
              </a:rPr>
              <a:t>Each rule is the two laws applied to a geometry: </a:t>
            </a:r>
            <a:r>
              <a:rPr lang="en-US" sz="1600" b="1" dirty="0">
                <a:solidFill>
                  <a:schemeClr val="tx1"/>
                </a:solidFill>
              </a:rPr>
              <a:t>count the heat, and let it flow down the gradient.</a:t>
            </a:r>
            <a:endParaRPr lang="en-US" sz="1600" dirty="0"/>
          </a:p>
        </p:txBody>
      </p:sp>
      <p:sp>
        <p:nvSpPr>
          <p:cNvPr id="29" name="t-21-26"/>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ℓ: how far heat spreads sideways in a plate of thickness δ. h: conductance per unit area to whatever cools it.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Boiling an egg is Example 6.1 in a sphere</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22</a:t>
            </a:fld>
            <a:endParaRPr lang="en-US"/>
          </a:p>
        </p:txBody>
      </p:sp>
      <p:pic>
        <p:nvPicPr>
          <p:cNvPr id="4" name="video-22-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12648" y="1261872"/>
            <a:ext cx="10972800" cy="4297680"/>
          </a:xfrm>
          <a:prstGeom prst="rect">
            <a:avLst/>
          </a:prstGeom>
        </p:spPr>
      </p:pic>
      <p:sp>
        <p:nvSpPr>
          <p:cNvPr id="5" name="t-22-2"/>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Edge of the yolk at 63 °C: 5.0 min for a hen's egg, 51 min for an ostrich egg. One cook reports 45 to 50 min for the ostrich.</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9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The slowest mode sets the cooking time</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23</a:t>
            </a:fld>
            <a:endParaRPr lang="en-US"/>
          </a:p>
        </p:txBody>
      </p:sp>
      <p:sp>
        <p:nvSpPr>
          <p:cNvPr id="4" name="t-23-1"/>
          <p:cNvSpPr txBox="1"/>
          <p:nvPr/>
        </p:nvSpPr>
        <p:spPr>
          <a:xfrm>
            <a:off x="612648" y="1298448"/>
            <a:ext cx="5760720" cy="548640"/>
          </a:xfrm>
          <a:prstGeom prst="rect">
            <a:avLst/>
          </a:prstGeom>
          <a:noFill/>
        </p:spPr>
        <p:txBody>
          <a:bodyPr wrap="square" lIns="0" tIns="0" rIns="0" bIns="0" rtlCol="0" anchor="t"/>
          <a:lstStyle/>
          <a:p>
            <a:pPr algn="l" indent="0" marL="0">
              <a:buNone/>
            </a:pPr>
            <a:r>
              <a:rPr lang="en-US" sz="1600" b="1" dirty="0">
                <a:solidFill>
                  <a:schemeClr val="tx1"/>
                </a:solidFill>
              </a:rPr>
              <a:t>Given</a:t>
            </a:r>
            <a:r>
              <a:rPr lang="en-US" sz="1600" dirty="0">
                <a:solidFill>
                  <a:schemeClr val="tx1"/>
                </a:solidFill>
              </a:rPr>
              <a:t> eggs of 57 g and 1.9 kg, taken from 4 °C into boiling water. </a:t>
            </a:r>
            <a:r>
              <a:rPr lang="en-US" sz="1600" b="1" dirty="0">
                <a:solidFill>
                  <a:schemeClr val="tx1"/>
                </a:solidFill>
              </a:rPr>
              <a:t>Find</a:t>
            </a:r>
            <a:r>
              <a:rPr lang="en-US" sz="1600" dirty="0">
                <a:solidFill>
                  <a:schemeClr val="tx1"/>
                </a:solidFill>
              </a:rPr>
              <a:t> when the edge of the yolk reaches 63 °C.</a:t>
            </a:r>
            <a:endParaRPr lang="en-US" sz="1600" dirty="0"/>
          </a:p>
        </p:txBody>
      </p:sp>
      <p:sp>
        <p:nvSpPr>
          <p:cNvPr id="5" name="t-23-2"/>
          <p:cNvSpPr txBox="1"/>
          <p:nvPr/>
        </p:nvSpPr>
        <p:spPr>
          <a:xfrm>
            <a:off x="612648" y="2212848"/>
            <a:ext cx="5760720" cy="274320"/>
          </a:xfrm>
          <a:prstGeom prst="rect">
            <a:avLst/>
          </a:prstGeom>
          <a:noFill/>
        </p:spPr>
        <p:txBody>
          <a:bodyPr wrap="square" lIns="0" tIns="0" rIns="0" bIns="0" rtlCol="0" anchor="t"/>
          <a:lstStyle/>
          <a:p>
            <a:pPr algn="l" indent="0" marL="0">
              <a:buNone/>
            </a:pPr>
            <a:r>
              <a:rPr lang="en-US" sz="1400" dirty="0">
                <a:solidFill>
                  <a:schemeClr val="tx2"/>
                </a:solidFill>
              </a:rPr>
              <a:t>Modes of a sphere with its surface held fixed:</a:t>
            </a:r>
            <a:endParaRPr lang="en-US" sz="1400" dirty="0"/>
          </a:p>
        </p:txBody>
      </p:sp>
      <p:pic>
        <p:nvPicPr>
          <p:cNvPr id="6" name="eq-23-3" descr="y_n(r) = \frac{\sin(n\pi r/R)}{r}, \qquad \lambda_n = \alpha\,\frac{n^2\pi^2}{R^2}"/>
          <p:cNvPicPr>
            <a:picLocks noChangeAspect="1"/>
          </p:cNvPicPr>
          <p:nvPr/>
        </p:nvPicPr>
        <p:blipFill>
          <a:blip r:embed="rId2"/>
          <a:stretch>
            <a:fillRect/>
          </a:stretch>
        </p:blipFill>
        <p:spPr>
          <a:xfrm>
            <a:off x="612648" y="2505456"/>
            <a:ext cx="3175254" cy="445770"/>
          </a:xfrm>
          <a:prstGeom prst="rect">
            <a:avLst/>
          </a:prstGeom>
        </p:spPr>
      </p:pic>
      <p:sp>
        <p:nvSpPr>
          <p:cNvPr id="7" name="t-23-4"/>
          <p:cNvSpPr txBox="1"/>
          <p:nvPr/>
        </p:nvSpPr>
        <p:spPr>
          <a:xfrm>
            <a:off x="612648" y="3182112"/>
            <a:ext cx="5760720" cy="274320"/>
          </a:xfrm>
          <a:prstGeom prst="rect">
            <a:avLst/>
          </a:prstGeom>
          <a:noFill/>
        </p:spPr>
        <p:txBody>
          <a:bodyPr wrap="square" lIns="0" tIns="0" rIns="0" bIns="0" rtlCol="0" anchor="t"/>
          <a:lstStyle/>
          <a:p>
            <a:pPr algn="l" indent="0" marL="0">
              <a:buNone/>
            </a:pPr>
            <a:r>
              <a:rPr lang="en-US" sz="1600" dirty="0">
                <a:solidFill>
                  <a:schemeClr val="tx1"/>
                </a:solidFill>
              </a:rPr>
              <a:t>Keep only n = 1 and solve for the time:</a:t>
            </a:r>
            <a:endParaRPr lang="en-US" sz="1600" dirty="0"/>
          </a:p>
        </p:txBody>
      </p:sp>
      <p:pic>
        <p:nvPicPr>
          <p:cNvPr id="8" name="eq-23-5" descr="t = \frac{R^2}{\pi^2\alpha}\,\ln\!\left[0.76\,\frac{T_{\text{water}} - T_{\text{egg}}}{T_{\text{water}} - 63}\right]"/>
          <p:cNvPicPr>
            <a:picLocks noChangeAspect="1"/>
          </p:cNvPicPr>
          <p:nvPr/>
        </p:nvPicPr>
        <p:blipFill>
          <a:blip r:embed="rId3"/>
          <a:stretch>
            <a:fillRect/>
          </a:stretch>
        </p:blipFill>
        <p:spPr>
          <a:xfrm>
            <a:off x="612648" y="3511296"/>
            <a:ext cx="2706624" cy="496062"/>
          </a:xfrm>
          <a:prstGeom prst="rect">
            <a:avLst/>
          </a:prstGeom>
        </p:spPr>
      </p:pic>
      <p:sp>
        <p:nvSpPr>
          <p:cNvPr id="9" name="box-23-6"/>
          <p:cNvSpPr/>
          <p:nvPr/>
        </p:nvSpPr>
        <p:spPr>
          <a:xfrm>
            <a:off x="6903720" y="1298448"/>
            <a:ext cx="2249424" cy="2331720"/>
          </a:xfrm>
          <a:prstGeom prst="roundRect">
            <a:avLst>
              <a:gd name="adj" fmla="val 2439"/>
            </a:avLst>
          </a:prstGeom>
          <a:solidFill>
            <a:schemeClr val="bg2"/>
          </a:solidFill>
        </p:spPr>
      </p:sp>
      <p:sp>
        <p:nvSpPr>
          <p:cNvPr id="10" name="t-23-7"/>
          <p:cNvSpPr txBox="1"/>
          <p:nvPr/>
        </p:nvSpPr>
        <p:spPr>
          <a:xfrm>
            <a:off x="6903720" y="1481328"/>
            <a:ext cx="2249424" cy="274320"/>
          </a:xfrm>
          <a:prstGeom prst="rect">
            <a:avLst/>
          </a:prstGeom>
          <a:noFill/>
        </p:spPr>
        <p:txBody>
          <a:bodyPr wrap="square" lIns="0" tIns="0" rIns="0" bIns="0" rtlCol="0" anchor="t"/>
          <a:lstStyle/>
          <a:p>
            <a:pPr algn="ctr" indent="0" marL="0">
              <a:buNone/>
            </a:pPr>
            <a:r>
              <a:rPr lang="en-US" sz="1500" b="1" dirty="0">
                <a:solidFill>
                  <a:schemeClr val="tx1"/>
                </a:solidFill>
              </a:rPr>
              <a:t>hen's egg</a:t>
            </a:r>
            <a:endParaRPr lang="en-US" sz="1500" dirty="0"/>
          </a:p>
        </p:txBody>
      </p:sp>
      <p:sp>
        <p:nvSpPr>
          <p:cNvPr id="11" name="t-23-8"/>
          <p:cNvSpPr txBox="1"/>
          <p:nvPr/>
        </p:nvSpPr>
        <p:spPr>
          <a:xfrm>
            <a:off x="6903720" y="1938528"/>
            <a:ext cx="2249424" cy="685800"/>
          </a:xfrm>
          <a:prstGeom prst="rect">
            <a:avLst/>
          </a:prstGeom>
          <a:noFill/>
        </p:spPr>
        <p:txBody>
          <a:bodyPr wrap="square" lIns="0" tIns="0" rIns="0" bIns="0" rtlCol="0" anchor="t"/>
          <a:lstStyle/>
          <a:p>
            <a:pPr algn="ctr" indent="0" marL="0">
              <a:buNone/>
            </a:pPr>
            <a:r>
              <a:rPr lang="en-US" sz="3200" b="1" dirty="0">
                <a:solidFill>
                  <a:schemeClr val="tx1"/>
                </a:solidFill>
              </a:rPr>
              <a:t>4.5 min</a:t>
            </a:r>
            <a:endParaRPr lang="en-US" sz="3200" dirty="0"/>
          </a:p>
        </p:txBody>
      </p:sp>
      <p:sp>
        <p:nvSpPr>
          <p:cNvPr id="12" name="t-23-9"/>
          <p:cNvSpPr txBox="1"/>
          <p:nvPr/>
        </p:nvSpPr>
        <p:spPr>
          <a:xfrm>
            <a:off x="6903720" y="2788920"/>
            <a:ext cx="2249424" cy="640080"/>
          </a:xfrm>
          <a:prstGeom prst="rect">
            <a:avLst/>
          </a:prstGeom>
          <a:noFill/>
        </p:spPr>
        <p:txBody>
          <a:bodyPr wrap="square" lIns="0" tIns="0" rIns="0" bIns="0" rtlCol="0" anchor="t"/>
          <a:lstStyle/>
          <a:p>
            <a:pPr algn="ctr" indent="0" marL="0">
              <a:lnSpc>
                <a:spcPct val="112000"/>
              </a:lnSpc>
              <a:buNone/>
            </a:pPr>
            <a:r>
              <a:rPr lang="en-US" sz="1300" dirty="0">
                <a:solidFill>
                  <a:schemeClr val="tx2"/>
                </a:solidFill>
              </a:rPr>
              <a:t>57 g, R = 2.36 cm</a:t>
            </a:r>
            <a:endParaRPr lang="en-US" sz="1300" dirty="0"/>
          </a:p>
          <a:p>
            <a:pPr algn="ctr" indent="0" marL="0">
              <a:lnSpc>
                <a:spcPct val="112000"/>
              </a:lnSpc>
              <a:buNone/>
            </a:pPr>
            <a:r>
              <a:rPr lang="en-US" sz="1300" dirty="0">
                <a:solidFill>
                  <a:schemeClr val="tx2"/>
                </a:solidFill>
              </a:rPr>
              <a:t>all modes: 5.0 min</a:t>
            </a:r>
            <a:endParaRPr lang="en-US" sz="1300" dirty="0"/>
          </a:p>
        </p:txBody>
      </p:sp>
      <p:sp>
        <p:nvSpPr>
          <p:cNvPr id="13" name="box-23-10"/>
          <p:cNvSpPr/>
          <p:nvPr/>
        </p:nvSpPr>
        <p:spPr>
          <a:xfrm>
            <a:off x="9336024" y="1298448"/>
            <a:ext cx="2249424" cy="2331720"/>
          </a:xfrm>
          <a:prstGeom prst="roundRect">
            <a:avLst>
              <a:gd name="adj" fmla="val 2439"/>
            </a:avLst>
          </a:prstGeom>
          <a:solidFill>
            <a:schemeClr val="bg2"/>
          </a:solidFill>
        </p:spPr>
      </p:sp>
      <p:sp>
        <p:nvSpPr>
          <p:cNvPr id="14" name="t-23-11"/>
          <p:cNvSpPr txBox="1"/>
          <p:nvPr/>
        </p:nvSpPr>
        <p:spPr>
          <a:xfrm>
            <a:off x="9336024" y="1481328"/>
            <a:ext cx="2249424" cy="274320"/>
          </a:xfrm>
          <a:prstGeom prst="rect">
            <a:avLst/>
          </a:prstGeom>
          <a:noFill/>
        </p:spPr>
        <p:txBody>
          <a:bodyPr wrap="square" lIns="0" tIns="0" rIns="0" bIns="0" rtlCol="0" anchor="t"/>
          <a:lstStyle/>
          <a:p>
            <a:pPr algn="ctr" indent="0" marL="0">
              <a:buNone/>
            </a:pPr>
            <a:r>
              <a:rPr lang="en-US" sz="1500" b="1" dirty="0">
                <a:solidFill>
                  <a:schemeClr val="tx1"/>
                </a:solidFill>
              </a:rPr>
              <a:t>ostrich egg</a:t>
            </a:r>
            <a:endParaRPr lang="en-US" sz="1500" dirty="0"/>
          </a:p>
        </p:txBody>
      </p:sp>
      <p:sp>
        <p:nvSpPr>
          <p:cNvPr id="15" name="t-23-12"/>
          <p:cNvSpPr txBox="1"/>
          <p:nvPr/>
        </p:nvSpPr>
        <p:spPr>
          <a:xfrm>
            <a:off x="9336024" y="1938528"/>
            <a:ext cx="2249424" cy="685800"/>
          </a:xfrm>
          <a:prstGeom prst="rect">
            <a:avLst/>
          </a:prstGeom>
          <a:noFill/>
        </p:spPr>
        <p:txBody>
          <a:bodyPr wrap="square" lIns="0" tIns="0" rIns="0" bIns="0" rtlCol="0" anchor="t"/>
          <a:lstStyle/>
          <a:p>
            <a:pPr algn="ctr" indent="0" marL="0">
              <a:buNone/>
            </a:pPr>
            <a:r>
              <a:rPr lang="en-US" sz="3200" b="1" dirty="0">
                <a:solidFill>
                  <a:schemeClr val="accent1"/>
                </a:solidFill>
              </a:rPr>
              <a:t>47 min</a:t>
            </a:r>
            <a:endParaRPr lang="en-US" sz="3200" dirty="0"/>
          </a:p>
        </p:txBody>
      </p:sp>
      <p:sp>
        <p:nvSpPr>
          <p:cNvPr id="16" name="t-23-13"/>
          <p:cNvSpPr txBox="1"/>
          <p:nvPr/>
        </p:nvSpPr>
        <p:spPr>
          <a:xfrm>
            <a:off x="9336024" y="2788920"/>
            <a:ext cx="2249424" cy="640080"/>
          </a:xfrm>
          <a:prstGeom prst="rect">
            <a:avLst/>
          </a:prstGeom>
          <a:noFill/>
        </p:spPr>
        <p:txBody>
          <a:bodyPr wrap="square" lIns="0" tIns="0" rIns="0" bIns="0" rtlCol="0" anchor="t"/>
          <a:lstStyle/>
          <a:p>
            <a:pPr algn="ctr" indent="0" marL="0">
              <a:lnSpc>
                <a:spcPct val="112000"/>
              </a:lnSpc>
              <a:buNone/>
            </a:pPr>
            <a:r>
              <a:rPr lang="en-US" sz="1300" dirty="0">
                <a:solidFill>
                  <a:schemeClr val="tx2"/>
                </a:solidFill>
              </a:rPr>
              <a:t>1.9 kg, R = 7.59 cm</a:t>
            </a:r>
            <a:endParaRPr lang="en-US" sz="1300" dirty="0"/>
          </a:p>
          <a:p>
            <a:pPr algn="ctr" indent="0" marL="0">
              <a:lnSpc>
                <a:spcPct val="112000"/>
              </a:lnSpc>
              <a:buNone/>
            </a:pPr>
            <a:r>
              <a:rPr lang="en-US" sz="1300" dirty="0">
                <a:solidFill>
                  <a:schemeClr val="tx2"/>
                </a:solidFill>
              </a:rPr>
              <a:t>all modes: 51 min</a:t>
            </a:r>
            <a:endParaRPr lang="en-US" sz="1300" dirty="0"/>
          </a:p>
        </p:txBody>
      </p:sp>
      <p:sp>
        <p:nvSpPr>
          <p:cNvPr id="17" name="box-23-14"/>
          <p:cNvSpPr/>
          <p:nvPr/>
        </p:nvSpPr>
        <p:spPr>
          <a:xfrm>
            <a:off x="612648" y="4389120"/>
            <a:ext cx="10972800" cy="1143000"/>
          </a:xfrm>
          <a:prstGeom prst="roundRect">
            <a:avLst>
              <a:gd name="adj" fmla="val 4800"/>
            </a:avLst>
          </a:prstGeom>
          <a:solidFill>
            <a:schemeClr val="accent2"/>
          </a:solidFill>
        </p:spPr>
      </p:sp>
      <p:sp>
        <p:nvSpPr>
          <p:cNvPr id="18" name="t-23-15"/>
          <p:cNvSpPr txBox="1"/>
          <p:nvPr/>
        </p:nvSpPr>
        <p:spPr>
          <a:xfrm>
            <a:off x="841248" y="4517136"/>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9" name="t-23-16"/>
          <p:cNvSpPr txBox="1"/>
          <p:nvPr/>
        </p:nvSpPr>
        <p:spPr>
          <a:xfrm>
            <a:off x="841248" y="4809744"/>
            <a:ext cx="10515600" cy="630936"/>
          </a:xfrm>
          <a:prstGeom prst="rect">
            <a:avLst/>
          </a:prstGeom>
          <a:noFill/>
        </p:spPr>
        <p:txBody>
          <a:bodyPr wrap="square" lIns="0" tIns="0" rIns="0" bIns="0" rtlCol="0" anchor="t"/>
          <a:lstStyle/>
          <a:p>
            <a:pPr algn="l" indent="0" marL="0">
              <a:buNone/>
            </a:pPr>
            <a:r>
              <a:rPr lang="en-US" sz="1600" dirty="0">
                <a:solidFill>
                  <a:schemeClr val="tx1"/>
                </a:solidFill>
              </a:rPr>
              <a:t>The time grows as R², that is as the mass to the power 2/3. An egg 33 times heavier takes 10 times as long, not 33 times.</a:t>
            </a:r>
            <a:endParaRPr lang="en-US" sz="1600" dirty="0"/>
          </a:p>
        </p:txBody>
      </p:sp>
      <p:sp>
        <p:nvSpPr>
          <p:cNvPr id="20" name="t-23-17"/>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Formula and constants: C. D. H. Williams, University of Exeter. The video keeps all the modes.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Optics: a pumped laser rod becomes a lens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24</a:t>
            </a:fld>
            <a:endParaRPr lang="en-US"/>
          </a:p>
        </p:txBody>
      </p:sp>
      <p:sp>
        <p:nvSpPr>
          <p:cNvPr id="4" name="t-24-1"/>
          <p:cNvSpPr txBox="1"/>
          <p:nvPr/>
        </p:nvSpPr>
        <p:spPr>
          <a:xfrm>
            <a:off x="612648" y="1298448"/>
            <a:ext cx="6035040" cy="822960"/>
          </a:xfrm>
          <a:prstGeom prst="rect">
            <a:avLst/>
          </a:prstGeom>
          <a:noFill/>
        </p:spPr>
        <p:txBody>
          <a:bodyPr wrap="square" lIns="0" tIns="0" rIns="0" bIns="0" rtlCol="0" anchor="t"/>
          <a:lstStyle/>
          <a:p>
            <a:pPr algn="l" indent="0" marL="0">
              <a:buNone/>
            </a:pPr>
            <a:r>
              <a:rPr lang="en-US" sz="1600" b="1" dirty="0">
                <a:solidFill>
                  <a:schemeClr val="tx1"/>
                </a:solidFill>
              </a:rPr>
              <a:t>Given</a:t>
            </a:r>
            <a:r>
              <a:rPr lang="en-US" sz="1600" dirty="0">
                <a:solidFill>
                  <a:schemeClr val="tx1"/>
                </a:solidFill>
              </a:rPr>
              <a:t> a Nd:YAG laser rod 6 mm across and 75 mm long, with 100 W of heat generated uniformly inside it. </a:t>
            </a:r>
            <a:r>
              <a:rPr lang="en-US" sz="1600" b="1" dirty="0">
                <a:solidFill>
                  <a:schemeClr val="tx1"/>
                </a:solidFill>
              </a:rPr>
              <a:t>Find</a:t>
            </a:r>
            <a:r>
              <a:rPr lang="en-US" sz="1600" dirty="0">
                <a:solidFill>
                  <a:schemeClr val="tx1"/>
                </a:solidFill>
              </a:rPr>
              <a:t> how much warmer its axis is than its surface, and its focal length as a lens.</a:t>
            </a:r>
            <a:endParaRPr lang="en-US" sz="1600" dirty="0"/>
          </a:p>
        </p:txBody>
      </p:sp>
      <p:sp>
        <p:nvSpPr>
          <p:cNvPr id="5" name="t-24-2"/>
          <p:cNvSpPr txBox="1"/>
          <p:nvPr/>
        </p:nvSpPr>
        <p:spPr>
          <a:xfrm>
            <a:off x="612648" y="2395728"/>
            <a:ext cx="6035040" cy="274320"/>
          </a:xfrm>
          <a:prstGeom prst="rect">
            <a:avLst/>
          </a:prstGeom>
          <a:noFill/>
        </p:spPr>
        <p:txBody>
          <a:bodyPr wrap="square" lIns="0" tIns="0" rIns="0" bIns="0" rtlCol="0" anchor="t"/>
          <a:lstStyle/>
          <a:p>
            <a:pPr algn="l" indent="0" marL="0">
              <a:buNone/>
            </a:pPr>
            <a:r>
              <a:rPr lang="en-US" sz="1400" dirty="0">
                <a:solidFill>
                  <a:schemeClr val="tx2"/>
                </a:solidFill>
              </a:rPr>
              <a:t>Steady state, radial flow, source q per unit volume:</a:t>
            </a:r>
            <a:endParaRPr lang="en-US" sz="1400" dirty="0"/>
          </a:p>
        </p:txBody>
      </p:sp>
      <p:pic>
        <p:nvPicPr>
          <p:cNvPr id="6" name="eq-24-3" descr="\frac{k}{r}\frac{d}{dr}\!\left(r\,\frac{dT}{dr}\right) + q = 0 \quad\Rightarrow\quad T(r) = T(R) + \frac{q}{4k}\,(R^2 - r^2)"/>
          <p:cNvPicPr>
            <a:picLocks noChangeAspect="1"/>
          </p:cNvPicPr>
          <p:nvPr/>
        </p:nvPicPr>
        <p:blipFill>
          <a:blip r:embed="rId2"/>
          <a:stretch>
            <a:fillRect/>
          </a:stretch>
        </p:blipFill>
        <p:spPr>
          <a:xfrm>
            <a:off x="612648" y="2688336"/>
            <a:ext cx="4638294" cy="482346"/>
          </a:xfrm>
          <a:prstGeom prst="rect">
            <a:avLst/>
          </a:prstGeom>
        </p:spPr>
      </p:pic>
      <p:sp>
        <p:nvSpPr>
          <p:cNvPr id="7" name="t-24-4"/>
          <p:cNvSpPr txBox="1"/>
          <p:nvPr/>
        </p:nvSpPr>
        <p:spPr>
          <a:xfrm>
            <a:off x="612648" y="3364992"/>
            <a:ext cx="6035040" cy="548640"/>
          </a:xfrm>
          <a:prstGeom prst="rect">
            <a:avLst/>
          </a:prstGeom>
          <a:noFill/>
        </p:spPr>
        <p:txBody>
          <a:bodyPr wrap="square" lIns="0" tIns="0" rIns="0" bIns="0" rtlCol="0" anchor="t"/>
          <a:lstStyle/>
          <a:p>
            <a:pPr algn="l" indent="0" marL="0">
              <a:buNone/>
            </a:pPr>
            <a:r>
              <a:rPr lang="en-US" sz="1600" dirty="0">
                <a:solidFill>
                  <a:schemeClr val="tx1"/>
                </a:solidFill>
              </a:rPr>
              <a:t>A parabola. The refractive index rises with temperature, and a parabolic index profile is a lens:</a:t>
            </a:r>
            <a:endParaRPr lang="en-US" sz="1600" dirty="0"/>
          </a:p>
        </p:txBody>
      </p:sp>
      <p:pic>
        <p:nvPicPr>
          <p:cNvPr id="8" name="eq-24-5" descr="\frac{1}{f} = \frac{dn}{dT}\,\frac{P_{\text{heat}}}{2\,k\,A}"/>
          <p:cNvPicPr>
            <a:picLocks noChangeAspect="1"/>
          </p:cNvPicPr>
          <p:nvPr/>
        </p:nvPicPr>
        <p:blipFill>
          <a:blip r:embed="rId3"/>
          <a:stretch>
            <a:fillRect/>
          </a:stretch>
        </p:blipFill>
        <p:spPr>
          <a:xfrm>
            <a:off x="612648" y="3931920"/>
            <a:ext cx="1170432" cy="422910"/>
          </a:xfrm>
          <a:prstGeom prst="rect">
            <a:avLst/>
          </a:prstGeom>
        </p:spPr>
      </p:pic>
      <p:sp>
        <p:nvSpPr>
          <p:cNvPr id="9" name="t-24-6"/>
          <p:cNvSpPr txBox="1"/>
          <p:nvPr/>
        </p:nvSpPr>
        <p:spPr>
          <a:xfrm>
            <a:off x="2148840" y="4023360"/>
            <a:ext cx="3291840" cy="548640"/>
          </a:xfrm>
          <a:prstGeom prst="rect">
            <a:avLst/>
          </a:prstGeom>
          <a:noFill/>
        </p:spPr>
        <p:txBody>
          <a:bodyPr wrap="square" lIns="0" tIns="0" rIns="0" bIns="0" rtlCol="0" anchor="t"/>
          <a:lstStyle/>
          <a:p>
            <a:pPr algn="l" indent="0" marL="0">
              <a:buNone/>
            </a:pPr>
            <a:r>
              <a:rPr lang="en-US" sz="1400" dirty="0">
                <a:solidFill>
                  <a:schemeClr val="tx2"/>
                </a:solidFill>
              </a:rPr>
              <a:t>A: cross-section of the rod</a:t>
            </a:r>
            <a:endParaRPr lang="en-US" sz="1400" dirty="0"/>
          </a:p>
        </p:txBody>
      </p:sp>
      <p:sp>
        <p:nvSpPr>
          <p:cNvPr id="10" name="box-24-7"/>
          <p:cNvSpPr/>
          <p:nvPr/>
        </p:nvSpPr>
        <p:spPr>
          <a:xfrm>
            <a:off x="612648" y="4663440"/>
            <a:ext cx="6035040" cy="1042416"/>
          </a:xfrm>
          <a:prstGeom prst="roundRect">
            <a:avLst>
              <a:gd name="adj" fmla="val 5263"/>
            </a:avLst>
          </a:prstGeom>
          <a:solidFill>
            <a:schemeClr val="accent2"/>
          </a:solidFill>
        </p:spPr>
      </p:sp>
      <p:sp>
        <p:nvSpPr>
          <p:cNvPr id="11" name="t-24-8"/>
          <p:cNvSpPr txBox="1"/>
          <p:nvPr/>
        </p:nvSpPr>
        <p:spPr>
          <a:xfrm>
            <a:off x="841248" y="4791456"/>
            <a:ext cx="5577840" cy="201168"/>
          </a:xfrm>
          <a:prstGeom prst="rect">
            <a:avLst/>
          </a:prstGeom>
          <a:noFill/>
        </p:spPr>
        <p:txBody>
          <a:bodyPr wrap="square" lIns="0" tIns="0" rIns="0" bIns="0" rtlCol="0" anchor="t"/>
          <a:lstStyle/>
          <a:p>
            <a:pPr algn="l" indent="0" marL="0">
              <a:buNone/>
            </a:pPr>
            <a:r>
              <a:rPr lang="en-US" sz="1100" b="1" dirty="0">
                <a:solidFill>
                  <a:schemeClr val="tx1"/>
                </a:solidFill>
              </a:rPr>
              <a:t>ANSWER</a:t>
            </a:r>
            <a:endParaRPr lang="en-US" sz="1100" dirty="0"/>
          </a:p>
        </p:txBody>
      </p:sp>
      <p:sp>
        <p:nvSpPr>
          <p:cNvPr id="12" name="t-24-9"/>
          <p:cNvSpPr txBox="1"/>
          <p:nvPr/>
        </p:nvSpPr>
        <p:spPr>
          <a:xfrm>
            <a:off x="841248" y="5084064"/>
            <a:ext cx="5577840" cy="530352"/>
          </a:xfrm>
          <a:prstGeom prst="rect">
            <a:avLst/>
          </a:prstGeom>
          <a:noFill/>
        </p:spPr>
        <p:txBody>
          <a:bodyPr wrap="square" lIns="0" tIns="0" rIns="0" bIns="0" rtlCol="0" anchor="t"/>
          <a:lstStyle/>
          <a:p>
            <a:pPr algn="l" indent="0" marL="0">
              <a:buNone/>
            </a:pPr>
            <a:r>
              <a:rPr lang="en-US" sz="1500" dirty="0">
                <a:solidFill>
                  <a:schemeClr val="tx1"/>
                </a:solidFill>
              </a:rPr>
              <a:t>The axis is 8 K warmer than the surface, and the focal length is about 1 m.</a:t>
            </a:r>
            <a:endParaRPr lang="en-US" sz="1500" dirty="0"/>
          </a:p>
        </p:txBody>
      </p:sp>
      <p:pic>
        <p:nvPicPr>
          <p:cNvPr id="13" name="img-24-10" descr="Parabolic temperature profile across a laser rod and a sketch of rays focused by the rod"/>
          <p:cNvPicPr>
            <a:picLocks noChangeAspect="1"/>
          </p:cNvPicPr>
          <p:nvPr/>
        </p:nvPicPr>
        <p:blipFill>
          <a:blip r:embed="rId4"/>
          <a:stretch>
            <a:fillRect/>
          </a:stretch>
        </p:blipFill>
        <p:spPr>
          <a:xfrm>
            <a:off x="6903720" y="1234440"/>
            <a:ext cx="4681728" cy="3594898"/>
          </a:xfrm>
          <a:prstGeom prst="rect">
            <a:avLst/>
          </a:prstGeom>
        </p:spPr>
      </p:pic>
      <p:sp>
        <p:nvSpPr>
          <p:cNvPr id="14" name="t-24-11"/>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k = 13 W/(m K), dn/dT = 7.3 × 10⁻⁶ per kelvin, within the ranges quoted for Nd:YAG. Stress and end-face bulging are left out.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Circuits: a long cable obeys the heat equation</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25</a:t>
            </a:fld>
            <a:endParaRPr lang="en-US"/>
          </a:p>
        </p:txBody>
      </p:sp>
      <p:sp>
        <p:nvSpPr>
          <p:cNvPr id="4" name="t-25-1"/>
          <p:cNvSpPr txBox="1"/>
          <p:nvPr/>
        </p:nvSpPr>
        <p:spPr>
          <a:xfrm>
            <a:off x="612648" y="1298448"/>
            <a:ext cx="5120640" cy="548640"/>
          </a:xfrm>
          <a:prstGeom prst="rect">
            <a:avLst/>
          </a:prstGeom>
          <a:noFill/>
        </p:spPr>
        <p:txBody>
          <a:bodyPr wrap="square" lIns="0" tIns="0" rIns="0" bIns="0" rtlCol="0" anchor="t"/>
          <a:lstStyle/>
          <a:p>
            <a:pPr algn="l" indent="0" marL="0">
              <a:buNone/>
            </a:pPr>
            <a:r>
              <a:rPr lang="en-US" sz="1600" dirty="0">
                <a:solidFill>
                  <a:schemeClr val="tx1"/>
                </a:solidFill>
              </a:rPr>
              <a:t>A cable with resistance r and capacitance c per unit length:</a:t>
            </a:r>
            <a:endParaRPr lang="en-US" sz="1600" dirty="0"/>
          </a:p>
        </p:txBody>
      </p:sp>
      <p:pic>
        <p:nvPicPr>
          <p:cNvPr id="5" name="eq-25-2" descr="\pd{v}{t} = \frac{1}{rc}\,\pdn{v}{x}{2}"/>
          <p:cNvPicPr>
            <a:picLocks noChangeAspect="1"/>
          </p:cNvPicPr>
          <p:nvPr/>
        </p:nvPicPr>
        <p:blipFill>
          <a:blip r:embed="rId2"/>
          <a:stretch>
            <a:fillRect/>
          </a:stretch>
        </p:blipFill>
        <p:spPr>
          <a:xfrm>
            <a:off x="612648" y="1938528"/>
            <a:ext cx="1213866" cy="512064"/>
          </a:xfrm>
          <a:prstGeom prst="rect">
            <a:avLst/>
          </a:prstGeom>
        </p:spPr>
      </p:pic>
      <p:sp>
        <p:nvSpPr>
          <p:cNvPr id="6" name="t-25-3"/>
          <p:cNvSpPr txBox="1"/>
          <p:nvPr/>
        </p:nvSpPr>
        <p:spPr>
          <a:xfrm>
            <a:off x="612648" y="2724912"/>
            <a:ext cx="5120640" cy="822960"/>
          </a:xfrm>
          <a:prstGeom prst="rect">
            <a:avLst/>
          </a:prstGeom>
          <a:noFill/>
        </p:spPr>
        <p:txBody>
          <a:bodyPr wrap="square" lIns="0" tIns="0" rIns="0" bIns="0" rtlCol="0" anchor="t"/>
          <a:lstStyle/>
          <a:p>
            <a:pPr algn="l" indent="0" marL="0">
              <a:buNone/>
            </a:pPr>
            <a:r>
              <a:rPr lang="en-US" sz="1400" dirty="0">
                <a:solidFill>
                  <a:schemeClr val="tx2"/>
                </a:solidFill>
              </a:rPr>
              <a:t>The voltage diffuses. Drive one end and leave the other open: the mirror image of Example 6.3.</a:t>
            </a:r>
            <a:endParaRPr lang="en-US" sz="1400" dirty="0"/>
          </a:p>
        </p:txBody>
      </p:sp>
      <p:sp>
        <p:nvSpPr>
          <p:cNvPr id="7" name="t-25-4"/>
          <p:cNvSpPr txBox="1"/>
          <p:nvPr/>
        </p:nvSpPr>
        <p:spPr>
          <a:xfrm>
            <a:off x="612648" y="3429000"/>
            <a:ext cx="5120640" cy="274320"/>
          </a:xfrm>
          <a:prstGeom prst="rect">
            <a:avLst/>
          </a:prstGeom>
          <a:noFill/>
        </p:spPr>
        <p:txBody>
          <a:bodyPr wrap="square" lIns="0" tIns="0" rIns="0" bIns="0" rtlCol="0" anchor="t"/>
          <a:lstStyle/>
          <a:p>
            <a:pPr algn="l" indent="0" marL="0">
              <a:buNone/>
            </a:pPr>
            <a:r>
              <a:rPr lang="en-US" sz="1600" dirty="0">
                <a:solidFill>
                  <a:schemeClr val="tx1"/>
                </a:solidFill>
              </a:rPr>
              <a:t>The far end reaches half the step after</a:t>
            </a:r>
            <a:endParaRPr lang="en-US" sz="1600" dirty="0"/>
          </a:p>
        </p:txBody>
      </p:sp>
      <p:pic>
        <p:nvPicPr>
          <p:cNvPr id="8" name="eq-25-5" descr="t_{1/2} = 0.38\; r\,c\,L^2"/>
          <p:cNvPicPr>
            <a:picLocks noChangeAspect="1"/>
          </p:cNvPicPr>
          <p:nvPr/>
        </p:nvPicPr>
        <p:blipFill>
          <a:blip r:embed="rId3"/>
          <a:stretch>
            <a:fillRect/>
          </a:stretch>
        </p:blipFill>
        <p:spPr>
          <a:xfrm>
            <a:off x="612648" y="3794760"/>
            <a:ext cx="1623060" cy="290322"/>
          </a:xfrm>
          <a:prstGeom prst="rect">
            <a:avLst/>
          </a:prstGeom>
        </p:spPr>
      </p:pic>
      <p:graphicFrame>
        <p:nvGraphicFramePr>
          <p:cNvPr id="9" name="chart-25-6"/>
          <p:cNvGraphicFramePr>
            <a:graphicFrameLocks noGrp="1"/>
          </p:cNvGraphicFramePr>
          <p:nvPr/>
        </p:nvGraphicFramePr>
        <p:xfrm>
          <a:off x="5989320" y="1234440"/>
          <a:ext cx="5596128" cy="3246120"/>
        </p:xfrm>
        <a:graphic>
          <a:graphicData uri="http://schemas.openxmlformats.org/drawingml/2006/chart">
            <c:chart xmlns:c="http://schemas.openxmlformats.org/drawingml/2006/chart" r:id="rId4"/>
          </a:graphicData>
        </a:graphic>
      </p:graphicFrame>
      <p:sp>
        <p:nvSpPr>
          <p:cNvPr id="10" name="box-25-7"/>
          <p:cNvSpPr/>
          <p:nvPr/>
        </p:nvSpPr>
        <p:spPr>
          <a:xfrm>
            <a:off x="612648" y="4572000"/>
            <a:ext cx="10972800" cy="1115568"/>
          </a:xfrm>
          <a:prstGeom prst="roundRect">
            <a:avLst>
              <a:gd name="adj" fmla="val 4918"/>
            </a:avLst>
          </a:prstGeom>
          <a:solidFill>
            <a:schemeClr val="accent2"/>
          </a:solidFill>
        </p:spPr>
      </p:sp>
      <p:sp>
        <p:nvSpPr>
          <p:cNvPr id="11" name="t-25-8"/>
          <p:cNvSpPr txBox="1"/>
          <p:nvPr/>
        </p:nvSpPr>
        <p:spPr>
          <a:xfrm>
            <a:off x="841248" y="4700016"/>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2" name="t-25-9"/>
          <p:cNvSpPr txBox="1"/>
          <p:nvPr/>
        </p:nvSpPr>
        <p:spPr>
          <a:xfrm>
            <a:off x="841248" y="4992624"/>
            <a:ext cx="10515600" cy="603504"/>
          </a:xfrm>
          <a:prstGeom prst="rect">
            <a:avLst/>
          </a:prstGeom>
          <a:noFill/>
        </p:spPr>
        <p:txBody>
          <a:bodyPr wrap="square" lIns="0" tIns="0" rIns="0" bIns="0" rtlCol="0" anchor="t"/>
          <a:lstStyle/>
          <a:p>
            <a:pPr algn="l" indent="0" marL="0">
              <a:buNone/>
            </a:pPr>
            <a:r>
              <a:rPr lang="en-US" sz="1600" dirty="0">
                <a:solidFill>
                  <a:schemeClr val="tx1"/>
                </a:solidFill>
              </a:rPr>
              <a:t>Twice the length, four times the delay. Kelvin found this law of squares in 1855, for the Atlantic telegraph cable.</a:t>
            </a:r>
            <a:endParaRPr lang="en-US" sz="1600" dirty="0"/>
          </a:p>
        </p:txBody>
      </p:sp>
      <p:sp>
        <p:nvSpPr>
          <p:cNvPr id="13" name="t-25-10"/>
          <p:cNvSpPr txBox="1"/>
          <p:nvPr/>
        </p:nvSpPr>
        <p:spPr>
          <a:xfrm>
            <a:off x="612648" y="5897880"/>
            <a:ext cx="10972800" cy="384048"/>
          </a:xfrm>
          <a:prstGeom prst="rect">
            <a:avLst/>
          </a:prstGeom>
          <a:noFill/>
        </p:spPr>
        <p:txBody>
          <a:bodyPr wrap="square" lIns="0" tIns="0" rIns="0" bIns="0" rtlCol="0" anchor="t"/>
          <a:lstStyle/>
          <a:p>
            <a:pPr algn="l" indent="0" marL="0">
              <a:buNone/>
            </a:pPr>
            <a:r>
              <a:rPr lang="en-US" sz="1400" i="1" dirty="0">
                <a:solidFill>
                  <a:schemeClr val="tx2"/>
                </a:solidFill>
              </a:rPr>
              <a:t>The driven end is a fixed end and the open end is an insulated end, with α = 1/(rc).</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The same three ideas in every example</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26</a:t>
            </a:fld>
            <a:endParaRPr lang="en-US"/>
          </a:p>
        </p:txBody>
      </p:sp>
      <p:graphicFrame>
        <p:nvGraphicFramePr>
          <p:cNvPr id="4" name="table-26-1"/>
          <p:cNvGraphicFramePr>
            <a:graphicFrameLocks noGrp="1"/>
          </p:cNvGraphicFramePr>
          <p:nvPr/>
        </p:nvGraphicFramePr>
        <p:xfrm>
          <a:off x="612648" y="1298448"/>
          <a:ext cx="10972800" cy="3291840"/>
        </p:xfrm>
        <a:graphic>
          <a:graphicData uri="http://schemas.openxmlformats.org/drawingml/2006/table">
            <a:tbl>
              <a:tblPr/>
              <a:tblGrid>
                <a:gridCol w="2926080"/>
                <a:gridCol w="3566160"/>
                <a:gridCol w="4480560"/>
              </a:tblGrid>
              <a:tr h="365760">
                <a:tc>
                  <a:txBody>
                    <a:bodyPr/>
                    <a:lstStyle/>
                    <a:p>
                      <a:pPr algn="l" indent="0" marL="0">
                        <a:buNone/>
                      </a:pPr>
                      <a:r>
                        <a:rPr lang="en-US" sz="1300" b="1" dirty="0">
                          <a:solidFill>
                            <a:schemeClr val="bg1"/>
                          </a:solidFill>
                        </a:rPr>
                        <a:t>Example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300" b="1" dirty="0">
                          <a:solidFill>
                            <a:schemeClr val="bg1"/>
                          </a:solidFill>
                        </a:rPr>
                        <a:t>What is at work</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300" b="1" dirty="0">
                          <a:solidFill>
                            <a:schemeClr val="bg1"/>
                          </a:solidFill>
                        </a:rPr>
                        <a:t>The number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365760">
                <a:tc>
                  <a:txBody>
                    <a:bodyPr/>
                    <a:lstStyle/>
                    <a:p>
                      <a:pPr algn="l" indent="0" marL="0">
                        <a:buNone/>
                      </a:pPr>
                      <a:r>
                        <a:rPr lang="en-US" sz="1300" b="1" dirty="0">
                          <a:solidFill>
                            <a:schemeClr val="tx1"/>
                          </a:solidFill>
                        </a:rPr>
                        <a:t>Copper segment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continuity</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2 W stored gives 0.58 K/s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b="1" dirty="0">
                          <a:solidFill>
                            <a:schemeClr val="tx1"/>
                          </a:solidFill>
                        </a:rPr>
                        <a:t>Gap under a cooler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Fourier's law</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6 K with paste, 1150 K with air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b="1" dirty="0">
                          <a:solidFill>
                            <a:schemeClr val="tx1"/>
                          </a:solidFill>
                        </a:rPr>
                        <a:t>Three rods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heat equation, 1D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slowest rates 1, 0 and 1/4</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b="1" dirty="0">
                          <a:solidFill>
                            <a:schemeClr val="tx1"/>
                          </a:solidFill>
                        </a:rPr>
                        <a:t>Cooling fin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1D with a loss term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useful length 1/m = 45 mm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b="1" dirty="0">
                          <a:solidFill>
                            <a:schemeClr val="tx1"/>
                          </a:solidFill>
                        </a:rPr>
                        <a:t>Processor lid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2D, thin plate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81 °C at the hottest point of the lid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b="1" dirty="0">
                          <a:solidFill>
                            <a:schemeClr val="tx1"/>
                          </a:solidFill>
                        </a:rPr>
                        <a:t>Heatsink</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2D, cross-section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0.20 K/W with the fan, 0.84 without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b="1" dirty="0">
                          <a:solidFill>
                            <a:schemeClr val="tx1"/>
                          </a:solidFill>
                        </a:rPr>
                        <a:t>Graphics card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2D, thin plate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134 °C copper, 82 °C vapour chamber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b="1" dirty="0">
                          <a:solidFill>
                            <a:schemeClr val="tx1"/>
                          </a:solidFill>
                        </a:rPr>
                        <a:t>Egg</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modes of a sphere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5.0 min and 51 min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box-26-2"/>
          <p:cNvSpPr/>
          <p:nvPr/>
        </p:nvSpPr>
        <p:spPr>
          <a:xfrm>
            <a:off x="612648" y="4773168"/>
            <a:ext cx="10972800" cy="960120"/>
          </a:xfrm>
          <a:prstGeom prst="roundRect">
            <a:avLst>
              <a:gd name="adj" fmla="val 5714"/>
            </a:avLst>
          </a:prstGeom>
          <a:solidFill>
            <a:schemeClr val="accent2"/>
          </a:solidFill>
        </p:spPr>
      </p:sp>
      <p:sp>
        <p:nvSpPr>
          <p:cNvPr id="6" name="t-26-3"/>
          <p:cNvSpPr txBox="1"/>
          <p:nvPr/>
        </p:nvSpPr>
        <p:spPr>
          <a:xfrm>
            <a:off x="841248" y="4901184"/>
            <a:ext cx="10515600" cy="201168"/>
          </a:xfrm>
          <a:prstGeom prst="rect">
            <a:avLst/>
          </a:prstGeom>
          <a:noFill/>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7" name="t-26-4"/>
          <p:cNvSpPr txBox="1"/>
          <p:nvPr/>
        </p:nvSpPr>
        <p:spPr>
          <a:xfrm>
            <a:off x="841248" y="5193792"/>
            <a:ext cx="10515600" cy="448056"/>
          </a:xfrm>
          <a:prstGeom prst="rect">
            <a:avLst/>
          </a:prstGeom>
          <a:noFill/>
        </p:spPr>
        <p:txBody>
          <a:bodyPr wrap="square" lIns="0" tIns="0" rIns="0" bIns="0" rtlCol="0" anchor="t"/>
          <a:lstStyle/>
          <a:p>
            <a:pPr algn="l" indent="0" marL="0">
              <a:buNone/>
            </a:pPr>
            <a:r>
              <a:rPr lang="en-US" sz="1600" dirty="0">
                <a:solidFill>
                  <a:schemeClr val="tx1"/>
                </a:solidFill>
              </a:rPr>
              <a:t>Count the heat. Let it flow down the gradient. The geometry and the ends decide the rest.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Questions for the room</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27</a:t>
            </a:fld>
            <a:endParaRPr lang="en-US"/>
          </a:p>
        </p:txBody>
      </p:sp>
      <p:sp>
        <p:nvSpPr>
          <p:cNvPr id="4" name="box-27-1"/>
          <p:cNvSpPr/>
          <p:nvPr/>
        </p:nvSpPr>
        <p:spPr>
          <a:xfrm>
            <a:off x="612648" y="1325880"/>
            <a:ext cx="5376672" cy="2103120"/>
          </a:xfrm>
          <a:prstGeom prst="roundRect">
            <a:avLst>
              <a:gd name="adj" fmla="val 2608"/>
            </a:avLst>
          </a:prstGeom>
          <a:solidFill>
            <a:schemeClr val="bg2"/>
          </a:solidFill>
        </p:spPr>
      </p:sp>
      <p:sp>
        <p:nvSpPr>
          <p:cNvPr id="5" name="badge-27-2"/>
          <p:cNvSpPr/>
          <p:nvPr/>
        </p:nvSpPr>
        <p:spPr>
          <a:xfrm>
            <a:off x="841248" y="1554480"/>
            <a:ext cx="457200" cy="457200"/>
          </a:xfrm>
          <a:prstGeom prst="ellipse">
            <a:avLst/>
          </a:prstGeom>
          <a:solidFill>
            <a:schemeClr val="tx1"/>
          </a:solidFill>
        </p:spPr>
      </p:sp>
      <p:sp>
        <p:nvSpPr>
          <p:cNvPr id="6" name="t-27-3"/>
          <p:cNvSpPr txBox="1"/>
          <p:nvPr/>
        </p:nvSpPr>
        <p:spPr>
          <a:xfrm>
            <a:off x="841248"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27-4"/>
          <p:cNvSpPr txBox="1"/>
          <p:nvPr/>
        </p:nvSpPr>
        <p:spPr>
          <a:xfrm>
            <a:off x="1481328" y="1554480"/>
            <a:ext cx="4297680" cy="1005840"/>
          </a:xfrm>
          <a:prstGeom prst="rect">
            <a:avLst/>
          </a:prstGeom>
          <a:noFill/>
        </p:spPr>
        <p:txBody>
          <a:bodyPr wrap="square" lIns="0" tIns="0" rIns="0" bIns="0" rtlCol="0" anchor="t"/>
          <a:lstStyle/>
          <a:p>
            <a:pPr algn="l" indent="0" marL="0">
              <a:buNone/>
            </a:pPr>
            <a:r>
              <a:rPr lang="en-US" sz="1400" dirty="0">
                <a:solidFill>
                  <a:schemeClr val="tx1"/>
                </a:solidFill>
              </a:rPr>
              <a:t>A rod is twice as long as another of the same metal. How much longer does it take to warm through?</a:t>
            </a:r>
            <a:endParaRPr lang="en-US" sz="1400" dirty="0"/>
          </a:p>
        </p:txBody>
      </p:sp>
      <p:sp>
        <p:nvSpPr>
          <p:cNvPr id="8" name="t-27-5"/>
          <p:cNvSpPr txBox="1"/>
          <p:nvPr/>
        </p:nvSpPr>
        <p:spPr>
          <a:xfrm>
            <a:off x="1481328" y="2651760"/>
            <a:ext cx="4297680" cy="640080"/>
          </a:xfrm>
          <a:prstGeom prst="rect">
            <a:avLst/>
          </a:prstGeom>
          <a:noFill/>
        </p:spPr>
        <p:txBody>
          <a:bodyPr wrap="square" lIns="0" tIns="0" rIns="0" bIns="0" rtlCol="0" anchor="t"/>
          <a:lstStyle/>
          <a:p>
            <a:pPr algn="l" indent="0" marL="0">
              <a:buNone/>
            </a:pPr>
            <a:r>
              <a:rPr lang="en-US" sz="1400" b="1" dirty="0">
                <a:solidFill>
                  <a:schemeClr val="accent1"/>
                </a:solidFill>
              </a:rPr>
              <a:t>Four times. The time is L²/α.</a:t>
            </a:r>
            <a:endParaRPr lang="en-US" sz="1400" dirty="0"/>
          </a:p>
        </p:txBody>
      </p:sp>
      <p:sp>
        <p:nvSpPr>
          <p:cNvPr id="9" name="box-27-6"/>
          <p:cNvSpPr/>
          <p:nvPr/>
        </p:nvSpPr>
        <p:spPr>
          <a:xfrm>
            <a:off x="6208776" y="1325880"/>
            <a:ext cx="5376672" cy="2103120"/>
          </a:xfrm>
          <a:prstGeom prst="roundRect">
            <a:avLst>
              <a:gd name="adj" fmla="val 2608"/>
            </a:avLst>
          </a:prstGeom>
          <a:solidFill>
            <a:schemeClr val="bg2"/>
          </a:solidFill>
        </p:spPr>
      </p:sp>
      <p:sp>
        <p:nvSpPr>
          <p:cNvPr id="10" name="badge-27-7"/>
          <p:cNvSpPr/>
          <p:nvPr/>
        </p:nvSpPr>
        <p:spPr>
          <a:xfrm>
            <a:off x="6437376" y="1554480"/>
            <a:ext cx="457200" cy="457200"/>
          </a:xfrm>
          <a:prstGeom prst="ellipse">
            <a:avLst/>
          </a:prstGeom>
          <a:solidFill>
            <a:schemeClr val="tx1"/>
          </a:solidFill>
        </p:spPr>
      </p:sp>
      <p:sp>
        <p:nvSpPr>
          <p:cNvPr id="11" name="t-27-8"/>
          <p:cNvSpPr txBox="1"/>
          <p:nvPr/>
        </p:nvSpPr>
        <p:spPr>
          <a:xfrm>
            <a:off x="6437376" y="1554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27-9"/>
          <p:cNvSpPr txBox="1"/>
          <p:nvPr/>
        </p:nvSpPr>
        <p:spPr>
          <a:xfrm>
            <a:off x="7077456" y="1554480"/>
            <a:ext cx="4297680" cy="1005840"/>
          </a:xfrm>
          <a:prstGeom prst="rect">
            <a:avLst/>
          </a:prstGeom>
          <a:noFill/>
        </p:spPr>
        <p:txBody>
          <a:bodyPr wrap="square" lIns="0" tIns="0" rIns="0" bIns="0" rtlCol="0" anchor="t"/>
          <a:lstStyle/>
          <a:p>
            <a:pPr algn="l" indent="0" marL="0">
              <a:buNone/>
            </a:pPr>
            <a:r>
              <a:rPr lang="en-US" sz="1400" dirty="0">
                <a:solidFill>
                  <a:schemeClr val="tx1"/>
                </a:solidFill>
              </a:rPr>
              <a:t>Paste conducts 80 times worse than copper. Why put any in a cooler?</a:t>
            </a:r>
            <a:endParaRPr lang="en-US" sz="1400" dirty="0"/>
          </a:p>
        </p:txBody>
      </p:sp>
      <p:sp>
        <p:nvSpPr>
          <p:cNvPr id="13" name="t-27-10"/>
          <p:cNvSpPr txBox="1"/>
          <p:nvPr/>
        </p:nvSpPr>
        <p:spPr>
          <a:xfrm>
            <a:off x="7077456" y="2651760"/>
            <a:ext cx="4297680" cy="640080"/>
          </a:xfrm>
          <a:prstGeom prst="rect">
            <a:avLst/>
          </a:prstGeom>
          <a:noFill/>
        </p:spPr>
        <p:txBody>
          <a:bodyPr wrap="square" lIns="0" tIns="0" rIns="0" bIns="0" rtlCol="0" anchor="t"/>
          <a:lstStyle/>
          <a:p>
            <a:pPr algn="l" indent="0" marL="0">
              <a:buNone/>
            </a:pPr>
            <a:r>
              <a:rPr lang="en-US" sz="1400" b="1" dirty="0">
                <a:solidFill>
                  <a:schemeClr val="accent1"/>
                </a:solidFill>
              </a:rPr>
              <a:t>It replaces air, which is 200 times worse still.</a:t>
            </a:r>
            <a:endParaRPr lang="en-US" sz="1400" dirty="0"/>
          </a:p>
        </p:txBody>
      </p:sp>
      <p:sp>
        <p:nvSpPr>
          <p:cNvPr id="14" name="box-27-11"/>
          <p:cNvSpPr/>
          <p:nvPr/>
        </p:nvSpPr>
        <p:spPr>
          <a:xfrm>
            <a:off x="612648" y="3611880"/>
            <a:ext cx="5376672" cy="2103120"/>
          </a:xfrm>
          <a:prstGeom prst="roundRect">
            <a:avLst>
              <a:gd name="adj" fmla="val 2608"/>
            </a:avLst>
          </a:prstGeom>
          <a:solidFill>
            <a:schemeClr val="bg2"/>
          </a:solidFill>
        </p:spPr>
      </p:sp>
      <p:sp>
        <p:nvSpPr>
          <p:cNvPr id="15" name="badge-27-12"/>
          <p:cNvSpPr/>
          <p:nvPr/>
        </p:nvSpPr>
        <p:spPr>
          <a:xfrm>
            <a:off x="841248" y="3840480"/>
            <a:ext cx="457200" cy="457200"/>
          </a:xfrm>
          <a:prstGeom prst="ellipse">
            <a:avLst/>
          </a:prstGeom>
          <a:solidFill>
            <a:schemeClr val="tx1"/>
          </a:solidFill>
        </p:spPr>
      </p:sp>
      <p:sp>
        <p:nvSpPr>
          <p:cNvPr id="16" name="t-27-13"/>
          <p:cNvSpPr txBox="1"/>
          <p:nvPr/>
        </p:nvSpPr>
        <p:spPr>
          <a:xfrm>
            <a:off x="841248" y="3840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27-14"/>
          <p:cNvSpPr txBox="1"/>
          <p:nvPr/>
        </p:nvSpPr>
        <p:spPr>
          <a:xfrm>
            <a:off x="1481328" y="3840480"/>
            <a:ext cx="4297680" cy="1005840"/>
          </a:xfrm>
          <a:prstGeom prst="rect">
            <a:avLst/>
          </a:prstGeom>
          <a:noFill/>
        </p:spPr>
        <p:txBody>
          <a:bodyPr wrap="square" lIns="0" tIns="0" rIns="0" bIns="0" rtlCol="0" anchor="t"/>
          <a:lstStyle/>
          <a:p>
            <a:pPr algn="l" indent="0" marL="0">
              <a:buNone/>
            </a:pPr>
            <a:r>
              <a:rPr lang="en-US" sz="1400" dirty="0">
                <a:solidFill>
                  <a:schemeClr val="tx1"/>
                </a:solidFill>
              </a:rPr>
              <a:t>A fin is made twice as long, from 40 to 80 mm. Does it remove twice the heat?</a:t>
            </a:r>
            <a:endParaRPr lang="en-US" sz="1400" dirty="0"/>
          </a:p>
        </p:txBody>
      </p:sp>
      <p:sp>
        <p:nvSpPr>
          <p:cNvPr id="18" name="t-27-15"/>
          <p:cNvSpPr txBox="1"/>
          <p:nvPr/>
        </p:nvSpPr>
        <p:spPr>
          <a:xfrm>
            <a:off x="1481328" y="4937760"/>
            <a:ext cx="4297680" cy="640080"/>
          </a:xfrm>
          <a:prstGeom prst="rect">
            <a:avLst/>
          </a:prstGeom>
          <a:noFill/>
        </p:spPr>
        <p:txBody>
          <a:bodyPr wrap="square" lIns="0" tIns="0" rIns="0" bIns="0" rtlCol="0" anchor="t"/>
          <a:lstStyle/>
          <a:p>
            <a:pPr algn="l" indent="0" marL="0">
              <a:buNone/>
            </a:pPr>
            <a:r>
              <a:rPr lang="en-US" sz="1400" b="1" dirty="0">
                <a:solidFill>
                  <a:schemeClr val="accent1"/>
                </a:solidFill>
              </a:rPr>
              <a:t>No: 17.6 W becomes 23.3 W. The heat removed follows tanh(mL), which levels off.</a:t>
            </a:r>
            <a:endParaRPr lang="en-US" sz="1400" dirty="0"/>
          </a:p>
        </p:txBody>
      </p:sp>
      <p:sp>
        <p:nvSpPr>
          <p:cNvPr id="19" name="box-27-16"/>
          <p:cNvSpPr/>
          <p:nvPr/>
        </p:nvSpPr>
        <p:spPr>
          <a:xfrm>
            <a:off x="6208776" y="3611880"/>
            <a:ext cx="5376672" cy="2103120"/>
          </a:xfrm>
          <a:prstGeom prst="roundRect">
            <a:avLst>
              <a:gd name="adj" fmla="val 2608"/>
            </a:avLst>
          </a:prstGeom>
          <a:solidFill>
            <a:schemeClr val="bg2"/>
          </a:solidFill>
        </p:spPr>
      </p:sp>
      <p:sp>
        <p:nvSpPr>
          <p:cNvPr id="20" name="badge-27-17"/>
          <p:cNvSpPr/>
          <p:nvPr/>
        </p:nvSpPr>
        <p:spPr>
          <a:xfrm>
            <a:off x="6437376" y="3840480"/>
            <a:ext cx="457200" cy="457200"/>
          </a:xfrm>
          <a:prstGeom prst="ellipse">
            <a:avLst/>
          </a:prstGeom>
          <a:solidFill>
            <a:schemeClr val="tx1"/>
          </a:solidFill>
        </p:spPr>
      </p:sp>
      <p:sp>
        <p:nvSpPr>
          <p:cNvPr id="21" name="t-27-18"/>
          <p:cNvSpPr txBox="1"/>
          <p:nvPr/>
        </p:nvSpPr>
        <p:spPr>
          <a:xfrm>
            <a:off x="6437376" y="3840480"/>
            <a:ext cx="457200" cy="457200"/>
          </a:xfrm>
          <a:prstGeom prst="rect">
            <a:avLst/>
          </a:prstGeom>
          <a:noFill/>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27-19"/>
          <p:cNvSpPr txBox="1"/>
          <p:nvPr/>
        </p:nvSpPr>
        <p:spPr>
          <a:xfrm>
            <a:off x="7077456" y="3840480"/>
            <a:ext cx="4297680" cy="1005840"/>
          </a:xfrm>
          <a:prstGeom prst="rect">
            <a:avLst/>
          </a:prstGeom>
          <a:noFill/>
        </p:spPr>
        <p:txBody>
          <a:bodyPr wrap="square" lIns="0" tIns="0" rIns="0" bIns="0" rtlCol="0" anchor="t"/>
          <a:lstStyle/>
          <a:p>
            <a:pPr algn="l" indent="0" marL="0">
              <a:buNone/>
            </a:pPr>
            <a:r>
              <a:rPr lang="en-US" sz="1400" dirty="0">
                <a:solidFill>
                  <a:schemeClr val="tx1"/>
                </a:solidFill>
              </a:rPr>
              <a:t>Both ends of a rod are insulated. What is its temperature after a long time?</a:t>
            </a:r>
            <a:endParaRPr lang="en-US" sz="1400" dirty="0"/>
          </a:p>
        </p:txBody>
      </p:sp>
      <p:sp>
        <p:nvSpPr>
          <p:cNvPr id="23" name="t-27-20"/>
          <p:cNvSpPr txBox="1"/>
          <p:nvPr/>
        </p:nvSpPr>
        <p:spPr>
          <a:xfrm>
            <a:off x="7077456" y="4937760"/>
            <a:ext cx="4297680" cy="640080"/>
          </a:xfrm>
          <a:prstGeom prst="rect">
            <a:avLst/>
          </a:prstGeom>
          <a:noFill/>
        </p:spPr>
        <p:txBody>
          <a:bodyPr wrap="square" lIns="0" tIns="0" rIns="0" bIns="0" rtlCol="0" anchor="t"/>
          <a:lstStyle/>
          <a:p>
            <a:pPr algn="l" indent="0" marL="0">
              <a:buNone/>
            </a:pPr>
            <a:r>
              <a:rPr lang="en-US" sz="1400" b="1" dirty="0">
                <a:solidFill>
                  <a:schemeClr val="accent1"/>
                </a:solidFill>
              </a:rPr>
              <a:t>The average of the initial temperature. No heat has left.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Appendix A: L09_heat_1d.py, the solver for a line</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28</a:t>
            </a:fld>
            <a:endParaRPr lang="en-US"/>
          </a:p>
        </p:txBody>
      </p:sp>
      <p:sp>
        <p:nvSpPr>
          <p:cNvPr id="4" name="box-28-1"/>
          <p:cNvSpPr/>
          <p:nvPr/>
        </p:nvSpPr>
        <p:spPr>
          <a:xfrm>
            <a:off x="612648" y="1234440"/>
            <a:ext cx="6492240" cy="5074920"/>
          </a:xfrm>
          <a:prstGeom prst="roundRect">
            <a:avLst>
              <a:gd name="adj" fmla="val 1081"/>
            </a:avLst>
          </a:prstGeom>
          <a:solidFill>
            <a:schemeClr val="bg2"/>
          </a:solidFill>
        </p:spPr>
      </p:sp>
      <p:sp>
        <p:nvSpPr>
          <p:cNvPr id="5" name="t-28-2"/>
          <p:cNvSpPr txBox="1"/>
          <p:nvPr/>
        </p:nvSpPr>
        <p:spPr>
          <a:xfrm>
            <a:off x="795528" y="1380744"/>
            <a:ext cx="6126480" cy="4800600"/>
          </a:xfrm>
          <a:prstGeom prst="rect">
            <a:avLst/>
          </a:prstGeom>
          <a:noFill/>
        </p:spPr>
        <p:txBody>
          <a:bodyPr wrap="square" lIns="0" tIns="0" rIns="0" bIns="0" rtlCol="0" anchor="t"/>
          <a:lstStyle/>
          <a:p>
            <a:pPr algn="l" indent="0" marL="0">
              <a:lnSpc>
                <a:spcPct val="105000"/>
              </a:lnSpc>
              <a:buNone/>
            </a:pPr>
            <a:r>
              <a:rPr lang="en-US" sz="780" dirty="0">
                <a:solidFill>
                  <a:schemeClr val="tx1"/>
                </a:solidFill>
                <a:latin typeface="DejaVu Sans Mono"/>
                <a:cs typeface="DejaVu Sans Mono"/>
              </a:rPr>
              <a:t>class Line:</a:t>
            </a:r>
            <a:endParaRPr lang="en-US" sz="780" dirty="0"/>
          </a:p>
          <a:p>
            <a:pPr algn="l" indent="0" marL="0">
              <a:lnSpc>
                <a:spcPct val="105000"/>
              </a:lnSpc>
              <a:buNone/>
            </a:pPr>
            <a:r>
              <a:rPr lang="en-US" sz="780" dirty="0">
                <a:solidFill>
                  <a:schemeClr val="tx1"/>
                </a:solidFill>
                <a:latin typeface="DejaVu Sans Mono"/>
                <a:cs typeface="DejaVu Sans Mono"/>
              </a:rPr>
              <a:t>    """Cells of width dx, conductivity k, heat capacity per volume rc."""</a:t>
            </a:r>
            <a:endParaRPr lang="en-US" sz="780" dirty="0"/>
          </a:p>
          <a:p>
            <a:pPr algn="l" indent="0" marL="0">
              <a:lnSpc>
                <a:spcPct val="105000"/>
              </a:lnSpc>
              <a:buNone/>
            </a:pPr>
            <a:endParaRPr lang="en-US" sz="780" dirty="0"/>
          </a:p>
          <a:p>
            <a:pPr algn="l" indent="0" marL="0">
              <a:lnSpc>
                <a:spcPct val="105000"/>
              </a:lnSpc>
              <a:buNone/>
            </a:pPr>
            <a:r>
              <a:rPr lang="en-US" sz="780" dirty="0">
                <a:solidFill>
                  <a:schemeClr val="tx1"/>
                </a:solidFill>
                <a:latin typeface="DejaVu Sans Mono"/>
                <a:cs typeface="DejaVu Sans Mono"/>
              </a:rPr>
              <a:t>    def __init__(self, dx, k, rc, loss=0.0, t_ref=0.0, left=("insulated",), right=("insulated",)):</a:t>
            </a:r>
            <a:endParaRPr lang="en-US" sz="780" dirty="0"/>
          </a:p>
          <a:p>
            <a:pPr algn="l" indent="0" marL="0">
              <a:lnSpc>
                <a:spcPct val="105000"/>
              </a:lnSpc>
              <a:buNone/>
            </a:pPr>
            <a:r>
              <a:rPr lang="en-US" sz="780" dirty="0">
                <a:solidFill>
                  <a:schemeClr val="tx1"/>
                </a:solidFill>
                <a:latin typeface="DejaVu Sans Mono"/>
                <a:cs typeface="DejaVu Sans Mono"/>
              </a:rPr>
              <a:t>        self.dx = np.asarray(dx, float)                    # cell widths</a:t>
            </a:r>
            <a:endParaRPr lang="en-US" sz="780" dirty="0"/>
          </a:p>
          <a:p>
            <a:pPr algn="l" indent="0" marL="0">
              <a:lnSpc>
                <a:spcPct val="105000"/>
              </a:lnSpc>
              <a:buNone/>
            </a:pPr>
            <a:r>
              <a:rPr lang="en-US" sz="780" dirty="0">
                <a:solidFill>
                  <a:schemeClr val="tx1"/>
                </a:solidFill>
                <a:latin typeface="DejaVu Sans Mono"/>
                <a:cs typeface="DejaVu Sans Mono"/>
              </a:rPr>
              <a:t>        n = self.dx.size                                   # number of cells</a:t>
            </a:r>
            <a:endParaRPr lang="en-US" sz="780" dirty="0"/>
          </a:p>
          <a:p>
            <a:pPr algn="l" indent="0" marL="0">
              <a:lnSpc>
                <a:spcPct val="105000"/>
              </a:lnSpc>
              <a:buNone/>
            </a:pPr>
            <a:r>
              <a:rPr lang="en-US" sz="780" dirty="0">
                <a:solidFill>
                  <a:schemeClr val="tx1"/>
                </a:solidFill>
                <a:latin typeface="DejaVu Sans Mono"/>
                <a:cs typeface="DejaVu Sans Mono"/>
              </a:rPr>
              <a:t>        self.k = np.broadcast_to(np.asarray(k, float), (n,)).copy()</a:t>
            </a:r>
            <a:endParaRPr lang="en-US" sz="780" dirty="0"/>
          </a:p>
          <a:p>
            <a:pPr algn="l" indent="0" marL="0">
              <a:lnSpc>
                <a:spcPct val="105000"/>
              </a:lnSpc>
              <a:buNone/>
            </a:pPr>
            <a:r>
              <a:rPr lang="en-US" sz="780" dirty="0">
                <a:solidFill>
                  <a:schemeClr val="tx1"/>
                </a:solidFill>
                <a:latin typeface="DejaVu Sans Mono"/>
                <a:cs typeface="DejaVu Sans Mono"/>
              </a:rPr>
              <a:t>        self.rc = np.broadcast_to(np.asarray(rc, float), (n,)).copy()</a:t>
            </a:r>
            <a:endParaRPr lang="en-US" sz="780" dirty="0"/>
          </a:p>
          <a:p>
            <a:pPr algn="l" indent="0" marL="0">
              <a:lnSpc>
                <a:spcPct val="105000"/>
              </a:lnSpc>
              <a:buNone/>
            </a:pPr>
            <a:r>
              <a:rPr lang="en-US" sz="780" dirty="0">
                <a:solidFill>
                  <a:schemeClr val="tx1"/>
                </a:solidFill>
                <a:latin typeface="DejaVu Sans Mono"/>
                <a:cs typeface="DejaVu Sans Mono"/>
              </a:rPr>
              <a:t>        self.x = np.cumsum(self.dx) - self.dx / 2          # cell centres</a:t>
            </a:r>
            <a:endParaRPr lang="en-US" sz="780" dirty="0"/>
          </a:p>
          <a:p>
            <a:pPr algn="l" indent="0" marL="0">
              <a:lnSpc>
                <a:spcPct val="105000"/>
              </a:lnSpc>
              <a:buNone/>
            </a:pPr>
            <a:r>
              <a:rPr lang="en-US" sz="780" dirty="0">
                <a:solidFill>
                  <a:schemeClr val="tx1"/>
                </a:solidFill>
                <a:latin typeface="DejaVu Sans Mono"/>
                <a:cs typeface="DejaVu Sans Mono"/>
              </a:rPr>
              <a:t>        self.cap = self.rc * self.dx                       # heat capacity of each cell</a:t>
            </a:r>
            <a:endParaRPr lang="en-US" sz="780" dirty="0"/>
          </a:p>
          <a:p>
            <a:pPr algn="l" indent="0" marL="0">
              <a:lnSpc>
                <a:spcPct val="105000"/>
              </a:lnSpc>
              <a:buNone/>
            </a:pPr>
            <a:r>
              <a:rPr lang="en-US" sz="780" dirty="0">
                <a:solidFill>
                  <a:schemeClr val="tx1"/>
                </a:solidFill>
                <a:latin typeface="DejaVu Sans Mono"/>
                <a:cs typeface="DejaVu Sans Mono"/>
              </a:rPr>
              <a:t>        # Fourier's law between neighbours: two half-cells in series</a:t>
            </a:r>
            <a:endParaRPr lang="en-US" sz="780" dirty="0"/>
          </a:p>
          <a:p>
            <a:pPr algn="l" indent="0" marL="0">
              <a:lnSpc>
                <a:spcPct val="105000"/>
              </a:lnSpc>
              <a:buNone/>
            </a:pPr>
            <a:r>
              <a:rPr lang="en-US" sz="780" dirty="0">
                <a:solidFill>
                  <a:schemeClr val="tx1"/>
                </a:solidFill>
                <a:latin typeface="DejaVu Sans Mono"/>
                <a:cs typeface="DejaVu Sans Mono"/>
              </a:rPr>
              <a:t>        g = 1.0 / (self.dx[:-1] / (2 * self.k[:-1]) + self.dx[1:] / (2 * self.k[1:]))</a:t>
            </a:r>
            <a:endParaRPr lang="en-US" sz="780" dirty="0"/>
          </a:p>
          <a:p>
            <a:pPr algn="l" indent="0" marL="0">
              <a:lnSpc>
                <a:spcPct val="105000"/>
              </a:lnSpc>
              <a:buNone/>
            </a:pPr>
            <a:r>
              <a:rPr lang="en-US" sz="780" dirty="0">
                <a:solidFill>
                  <a:schemeClr val="tx1"/>
                </a:solidFill>
                <a:latin typeface="DejaVu Sans Mono"/>
                <a:cs typeface="DejaVu Sans Mono"/>
              </a:rPr>
              <a:t>        self.g = g                                         # interface conductances</a:t>
            </a:r>
            <a:endParaRPr lang="en-US" sz="780" dirty="0"/>
          </a:p>
          <a:p>
            <a:pPr algn="l" indent="0" marL="0">
              <a:lnSpc>
                <a:spcPct val="105000"/>
              </a:lnSpc>
              <a:buNone/>
            </a:pPr>
            <a:r>
              <a:rPr lang="en-US" sz="780" dirty="0">
                <a:solidFill>
                  <a:schemeClr val="tx1"/>
                </a:solidFill>
                <a:latin typeface="DejaVu Sans Mono"/>
                <a:cs typeface="DejaVu Sans Mono"/>
              </a:rPr>
              <a:t>        diag = np.zeros(n)</a:t>
            </a:r>
            <a:endParaRPr lang="en-US" sz="780" dirty="0"/>
          </a:p>
          <a:p>
            <a:pPr algn="l" indent="0" marL="0">
              <a:lnSpc>
                <a:spcPct val="105000"/>
              </a:lnSpc>
              <a:buNone/>
            </a:pPr>
            <a:r>
              <a:rPr lang="en-US" sz="780" dirty="0">
                <a:solidFill>
                  <a:schemeClr val="tx1"/>
                </a:solidFill>
                <a:latin typeface="DejaVu Sans Mono"/>
                <a:cs typeface="DejaVu Sans Mono"/>
              </a:rPr>
              <a:t>        diag[:-1] += g                                     # each interface pulls on</a:t>
            </a:r>
            <a:endParaRPr lang="en-US" sz="780" dirty="0"/>
          </a:p>
          <a:p>
            <a:pPr algn="l" indent="0" marL="0">
              <a:lnSpc>
                <a:spcPct val="105000"/>
              </a:lnSpc>
              <a:buNone/>
            </a:pPr>
            <a:r>
              <a:rPr lang="en-US" sz="780" dirty="0">
                <a:solidFill>
                  <a:schemeClr val="tx1"/>
                </a:solidFill>
                <a:latin typeface="DejaVu Sans Mono"/>
                <a:cs typeface="DejaVu Sans Mono"/>
              </a:rPr>
              <a:t>        diag[1:] += g                                      # the two cells it joins</a:t>
            </a:r>
            <a:endParaRPr lang="en-US" sz="780" dirty="0"/>
          </a:p>
          <a:p>
            <a:pPr algn="l" indent="0" marL="0">
              <a:lnSpc>
                <a:spcPct val="105000"/>
              </a:lnSpc>
              <a:buNone/>
            </a:pPr>
            <a:r>
              <a:rPr lang="en-US" sz="780" dirty="0">
                <a:solidFill>
                  <a:schemeClr val="tx1"/>
                </a:solidFill>
                <a:latin typeface="DejaVu Sans Mono"/>
                <a:cs typeface="DejaVu Sans Mono"/>
              </a:rPr>
              <a:t>        b = np.zeros(n)                                    # right-hand side (sources)</a:t>
            </a:r>
            <a:endParaRPr lang="en-US" sz="780" dirty="0"/>
          </a:p>
          <a:p>
            <a:pPr algn="l" indent="0" marL="0">
              <a:lnSpc>
                <a:spcPct val="105000"/>
              </a:lnSpc>
              <a:buNone/>
            </a:pPr>
            <a:r>
              <a:rPr lang="en-US" sz="780" dirty="0">
                <a:solidFill>
                  <a:schemeClr val="tx1"/>
                </a:solidFill>
                <a:latin typeface="DejaVu Sans Mono"/>
                <a:cs typeface="DejaVu Sans Mono"/>
              </a:rPr>
              <a:t>        lossv = np.broadcast_to(np.asarray(loss, float), (n,)) * self.dx</a:t>
            </a:r>
            <a:endParaRPr lang="en-US" sz="780" dirty="0"/>
          </a:p>
          <a:p>
            <a:pPr algn="l" indent="0" marL="0">
              <a:lnSpc>
                <a:spcPct val="105000"/>
              </a:lnSpc>
              <a:buNone/>
            </a:pPr>
            <a:r>
              <a:rPr lang="en-US" sz="780" dirty="0">
                <a:solidFill>
                  <a:schemeClr val="tx1"/>
                </a:solidFill>
                <a:latin typeface="DejaVu Sans Mono"/>
                <a:cs typeface="DejaVu Sans Mono"/>
              </a:rPr>
              <a:t>        diag += lossv                                      # side losses, like a fin</a:t>
            </a:r>
            <a:endParaRPr lang="en-US" sz="780" dirty="0"/>
          </a:p>
          <a:p>
            <a:pPr algn="l" indent="0" marL="0">
              <a:lnSpc>
                <a:spcPct val="105000"/>
              </a:lnSpc>
              <a:buNone/>
            </a:pPr>
            <a:r>
              <a:rPr lang="en-US" sz="780" dirty="0">
                <a:solidFill>
                  <a:schemeClr val="tx1"/>
                </a:solidFill>
                <a:latin typeface="DejaVu Sans Mono"/>
                <a:cs typeface="DejaVu Sans Mono"/>
              </a:rPr>
              <a:t>        b += lossv * t_ref                                 # ... towards the air at t_ref</a:t>
            </a:r>
            <a:endParaRPr lang="en-US" sz="780" dirty="0"/>
          </a:p>
          <a:p>
            <a:pPr algn="l" indent="0" marL="0">
              <a:lnSpc>
                <a:spcPct val="105000"/>
              </a:lnSpc>
              <a:buNone/>
            </a:pPr>
            <a:r>
              <a:rPr lang="en-US" sz="780" dirty="0">
                <a:solidFill>
                  <a:schemeClr val="tx1"/>
                </a:solidFill>
                <a:latin typeface="DejaVu Sans Mono"/>
                <a:cs typeface="DejaVu Sans Mono"/>
              </a:rPr>
              <a:t>        for side, bc in ((0, left), (n - 1, right)):</a:t>
            </a:r>
            <a:endParaRPr lang="en-US" sz="780" dirty="0"/>
          </a:p>
          <a:p>
            <a:pPr algn="l" indent="0" marL="0">
              <a:lnSpc>
                <a:spcPct val="105000"/>
              </a:lnSpc>
              <a:buNone/>
            </a:pPr>
            <a:r>
              <a:rPr lang="en-US" sz="780" dirty="0">
                <a:solidFill>
                  <a:schemeClr val="tx1"/>
                </a:solidFill>
                <a:latin typeface="DejaVu Sans Mono"/>
                <a:cs typeface="DejaVu Sans Mono"/>
              </a:rPr>
              <a:t>            if bc[0] == "flux":                            # prescribed heat flux in</a:t>
            </a:r>
            <a:endParaRPr lang="en-US" sz="780" dirty="0"/>
          </a:p>
          <a:p>
            <a:pPr algn="l" indent="0" marL="0">
              <a:lnSpc>
                <a:spcPct val="105000"/>
              </a:lnSpc>
              <a:buNone/>
            </a:pPr>
            <a:r>
              <a:rPr lang="en-US" sz="780" dirty="0">
                <a:solidFill>
                  <a:schemeClr val="tx1"/>
                </a:solidFill>
                <a:latin typeface="DejaVu Sans Mono"/>
                <a:cs typeface="DejaVu Sans Mono"/>
              </a:rPr>
              <a:t>                b[side] += bc[1]</a:t>
            </a:r>
            <a:endParaRPr lang="en-US" sz="780" dirty="0"/>
          </a:p>
          <a:p>
            <a:pPr algn="l" indent="0" marL="0">
              <a:lnSpc>
                <a:spcPct val="105000"/>
              </a:lnSpc>
              <a:buNone/>
            </a:pPr>
            <a:r>
              <a:rPr lang="en-US" sz="780" dirty="0">
                <a:solidFill>
                  <a:schemeClr val="tx1"/>
                </a:solidFill>
                <a:latin typeface="DejaVu Sans Mono"/>
                <a:cs typeface="DejaVu Sans Mono"/>
              </a:rPr>
              <a:t>            elif bc[0] == "temp":                          # face held at a temperature</a:t>
            </a:r>
            <a:endParaRPr lang="en-US" sz="780" dirty="0"/>
          </a:p>
          <a:p>
            <a:pPr algn="l" indent="0" marL="0">
              <a:lnSpc>
                <a:spcPct val="105000"/>
              </a:lnSpc>
              <a:buNone/>
            </a:pPr>
            <a:r>
              <a:rPr lang="en-US" sz="780" dirty="0">
                <a:solidFill>
                  <a:schemeClr val="tx1"/>
                </a:solidFill>
                <a:latin typeface="DejaVu Sans Mono"/>
                <a:cs typeface="DejaVu Sans Mono"/>
              </a:rPr>
              <a:t>                gb = 2 * self.k[side] / self.dx[side]      # half a cell to the face</a:t>
            </a:r>
            <a:endParaRPr lang="en-US" sz="780" dirty="0"/>
          </a:p>
          <a:p>
            <a:pPr algn="l" indent="0" marL="0">
              <a:lnSpc>
                <a:spcPct val="105000"/>
              </a:lnSpc>
              <a:buNone/>
            </a:pPr>
            <a:r>
              <a:rPr lang="en-US" sz="780" dirty="0">
                <a:solidFill>
                  <a:schemeClr val="tx1"/>
                </a:solidFill>
                <a:latin typeface="DejaVu Sans Mono"/>
                <a:cs typeface="DejaVu Sans Mono"/>
              </a:rPr>
              <a:t>                diag[side] += gb</a:t>
            </a:r>
            <a:endParaRPr lang="en-US" sz="780" dirty="0"/>
          </a:p>
          <a:p>
            <a:pPr algn="l" indent="0" marL="0">
              <a:lnSpc>
                <a:spcPct val="105000"/>
              </a:lnSpc>
              <a:buNone/>
            </a:pPr>
            <a:r>
              <a:rPr lang="en-US" sz="780" dirty="0">
                <a:solidFill>
                  <a:schemeClr val="tx1"/>
                </a:solidFill>
                <a:latin typeface="DejaVu Sans Mono"/>
                <a:cs typeface="DejaVu Sans Mono"/>
              </a:rPr>
              <a:t>                b[side] += gb * bc[1]</a:t>
            </a:r>
            <a:endParaRPr lang="en-US" sz="780" dirty="0"/>
          </a:p>
          <a:p>
            <a:pPr algn="l" indent="0" marL="0">
              <a:lnSpc>
                <a:spcPct val="105000"/>
              </a:lnSpc>
              <a:buNone/>
            </a:pPr>
            <a:r>
              <a:rPr lang="en-US" sz="780" dirty="0">
                <a:solidFill>
                  <a:schemeClr val="tx1"/>
                </a:solidFill>
                <a:latin typeface="DejaVu Sans Mono"/>
                <a:cs typeface="DejaVu Sans Mono"/>
              </a:rPr>
              <a:t>        self.A = sp.diags([-g, diag, -g], [-1, 0, 1], format="csc")</a:t>
            </a:r>
            <a:endParaRPr lang="en-US" sz="780" dirty="0"/>
          </a:p>
          <a:p>
            <a:pPr algn="l" indent="0" marL="0">
              <a:lnSpc>
                <a:spcPct val="105000"/>
              </a:lnSpc>
              <a:buNone/>
            </a:pPr>
            <a:r>
              <a:rPr lang="en-US" sz="780" dirty="0">
                <a:solidFill>
                  <a:schemeClr val="tx1"/>
                </a:solidFill>
                <a:latin typeface="DejaVu Sans Mono"/>
                <a:cs typeface="DejaVu Sans Mono"/>
              </a:rPr>
              <a:t>        self.b = b</a:t>
            </a:r>
            <a:endParaRPr lang="en-US" sz="780" dirty="0"/>
          </a:p>
        </p:txBody>
      </p:sp>
      <p:sp>
        <p:nvSpPr>
          <p:cNvPr id="6" name="box-28-3"/>
          <p:cNvSpPr/>
          <p:nvPr/>
        </p:nvSpPr>
        <p:spPr>
          <a:xfrm>
            <a:off x="7242048" y="1234440"/>
            <a:ext cx="4343400" cy="5074920"/>
          </a:xfrm>
          <a:prstGeom prst="roundRect">
            <a:avLst>
              <a:gd name="adj" fmla="val 1263"/>
            </a:avLst>
          </a:prstGeom>
          <a:solidFill>
            <a:schemeClr val="bg2"/>
          </a:solidFill>
        </p:spPr>
      </p:sp>
      <p:sp>
        <p:nvSpPr>
          <p:cNvPr id="7" name="t-28-4"/>
          <p:cNvSpPr txBox="1"/>
          <p:nvPr/>
        </p:nvSpPr>
        <p:spPr>
          <a:xfrm>
            <a:off x="7424928" y="1380744"/>
            <a:ext cx="3977640" cy="4800600"/>
          </a:xfrm>
          <a:prstGeom prst="rect">
            <a:avLst/>
          </a:prstGeom>
          <a:noFill/>
        </p:spPr>
        <p:txBody>
          <a:bodyPr wrap="square" lIns="0" tIns="0" rIns="0" bIns="0" rtlCol="0" anchor="t"/>
          <a:lstStyle/>
          <a:p>
            <a:pPr algn="l" indent="0" marL="0">
              <a:lnSpc>
                <a:spcPct val="105000"/>
              </a:lnSpc>
              <a:buNone/>
            </a:pPr>
            <a:r>
              <a:rPr lang="en-US" sz="760" dirty="0">
                <a:solidFill>
                  <a:schemeClr val="tx1"/>
                </a:solidFill>
                <a:latin typeface="DejaVu Sans Mono"/>
                <a:cs typeface="DejaVu Sans Mono"/>
              </a:rPr>
              <a:t>    def steady(self):</a:t>
            </a:r>
            <a:endParaRPr lang="en-US" sz="760" dirty="0"/>
          </a:p>
          <a:p>
            <a:pPr algn="l" indent="0" marL="0">
              <a:lnSpc>
                <a:spcPct val="105000"/>
              </a:lnSpc>
              <a:buNone/>
            </a:pPr>
            <a:r>
              <a:rPr lang="en-US" sz="760" dirty="0">
                <a:solidFill>
                  <a:schemeClr val="tx1"/>
                </a:solidFill>
                <a:latin typeface="DejaVu Sans Mono"/>
                <a:cs typeface="DejaVu Sans Mono"/>
              </a:rPr>
              <a:t>        """Solve A u = b: the steady temperature."""</a:t>
            </a:r>
            <a:endParaRPr lang="en-US" sz="760" dirty="0"/>
          </a:p>
          <a:p>
            <a:pPr algn="l" indent="0" marL="0">
              <a:lnSpc>
                <a:spcPct val="105000"/>
              </a:lnSpc>
              <a:buNone/>
            </a:pPr>
            <a:r>
              <a:rPr lang="en-US" sz="760" dirty="0">
                <a:solidFill>
                  <a:schemeClr val="tx1"/>
                </a:solidFill>
                <a:latin typeface="DejaVu Sans Mono"/>
                <a:cs typeface="DejaVu Sans Mono"/>
              </a:rPr>
              <a:t>        return spla.spsolve(self.A, self.b)</a:t>
            </a:r>
            <a:endParaRPr lang="en-US" sz="760" dirty="0"/>
          </a:p>
          <a:p>
            <a:pPr algn="l" indent="0" marL="0">
              <a:lnSpc>
                <a:spcPct val="105000"/>
              </a:lnSpc>
              <a:buNone/>
            </a:pPr>
            <a:endParaRPr lang="en-US" sz="760" dirty="0"/>
          </a:p>
          <a:p>
            <a:pPr algn="l" indent="0" marL="0">
              <a:lnSpc>
                <a:spcPct val="105000"/>
              </a:lnSpc>
              <a:buNone/>
            </a:pPr>
            <a:r>
              <a:rPr lang="en-US" sz="760" dirty="0">
                <a:solidFill>
                  <a:schemeClr val="tx1"/>
                </a:solidFill>
                <a:latin typeface="DejaVu Sans Mono"/>
                <a:cs typeface="DejaVu Sans Mono"/>
              </a:rPr>
              <a:t>    def march(self, u0, dt, nsteps, every=1):</a:t>
            </a:r>
            <a:endParaRPr lang="en-US" sz="760" dirty="0"/>
          </a:p>
          <a:p>
            <a:pPr algn="l" indent="0" marL="0">
              <a:lnSpc>
                <a:spcPct val="105000"/>
              </a:lnSpc>
              <a:buNone/>
            </a:pPr>
            <a:r>
              <a:rPr lang="en-US" sz="760" dirty="0">
                <a:solidFill>
                  <a:schemeClr val="tx1"/>
                </a:solidFill>
                <a:latin typeface="DejaVu Sans Mono"/>
                <a:cs typeface="DejaVu Sans Mono"/>
              </a:rPr>
              <a:t>        """Backward Euler: (C + dt A) u_new = C u_old + dt b."""</a:t>
            </a:r>
            <a:endParaRPr lang="en-US" sz="760" dirty="0"/>
          </a:p>
          <a:p>
            <a:pPr algn="l" indent="0" marL="0">
              <a:lnSpc>
                <a:spcPct val="105000"/>
              </a:lnSpc>
              <a:buNone/>
            </a:pPr>
            <a:r>
              <a:rPr lang="en-US" sz="760" dirty="0">
                <a:solidFill>
                  <a:schemeClr val="tx1"/>
                </a:solidFill>
                <a:latin typeface="DejaVu Sans Mono"/>
                <a:cs typeface="DejaVu Sans Mono"/>
              </a:rPr>
              <a:t>        lu = spla.splu((sp.diags(self.cap) + dt * self.A).tocsc())</a:t>
            </a:r>
            <a:endParaRPr lang="en-US" sz="760" dirty="0"/>
          </a:p>
          <a:p>
            <a:pPr algn="l" indent="0" marL="0">
              <a:lnSpc>
                <a:spcPct val="105000"/>
              </a:lnSpc>
              <a:buNone/>
            </a:pPr>
            <a:r>
              <a:rPr lang="en-US" sz="760" dirty="0">
                <a:solidFill>
                  <a:schemeClr val="tx1"/>
                </a:solidFill>
                <a:latin typeface="DejaVu Sans Mono"/>
                <a:cs typeface="DejaVu Sans Mono"/>
              </a:rPr>
              <a:t>        u = np.array(u0, float)</a:t>
            </a:r>
            <a:endParaRPr lang="en-US" sz="760" dirty="0"/>
          </a:p>
          <a:p>
            <a:pPr algn="l" indent="0" marL="0">
              <a:lnSpc>
                <a:spcPct val="105000"/>
              </a:lnSpc>
              <a:buNone/>
            </a:pPr>
            <a:r>
              <a:rPr lang="en-US" sz="760" dirty="0">
                <a:solidFill>
                  <a:schemeClr val="tx1"/>
                </a:solidFill>
                <a:latin typeface="DejaVu Sans Mono"/>
                <a:cs typeface="DejaVu Sans Mono"/>
              </a:rPr>
              <a:t>        out = [u.copy()]</a:t>
            </a:r>
            <a:endParaRPr lang="en-US" sz="760" dirty="0"/>
          </a:p>
          <a:p>
            <a:pPr algn="l" indent="0" marL="0">
              <a:lnSpc>
                <a:spcPct val="105000"/>
              </a:lnSpc>
              <a:buNone/>
            </a:pPr>
            <a:r>
              <a:rPr lang="en-US" sz="760" dirty="0">
                <a:solidFill>
                  <a:schemeClr val="tx1"/>
                </a:solidFill>
                <a:latin typeface="DejaVu Sans Mono"/>
                <a:cs typeface="DejaVu Sans Mono"/>
              </a:rPr>
              <a:t>        for n in range(1, nsteps + 1):</a:t>
            </a:r>
            <a:endParaRPr lang="en-US" sz="760" dirty="0"/>
          </a:p>
          <a:p>
            <a:pPr algn="l" indent="0" marL="0">
              <a:lnSpc>
                <a:spcPct val="105000"/>
              </a:lnSpc>
              <a:buNone/>
            </a:pPr>
            <a:r>
              <a:rPr lang="en-US" sz="760" dirty="0">
                <a:solidFill>
                  <a:schemeClr val="tx1"/>
                </a:solidFill>
                <a:latin typeface="DejaVu Sans Mono"/>
                <a:cs typeface="DejaVu Sans Mono"/>
              </a:rPr>
              <a:t>            u = lu.solve(self.cap * u + dt * self.b)</a:t>
            </a:r>
            <a:endParaRPr lang="en-US" sz="760" dirty="0"/>
          </a:p>
          <a:p>
            <a:pPr algn="l" indent="0" marL="0">
              <a:lnSpc>
                <a:spcPct val="105000"/>
              </a:lnSpc>
              <a:buNone/>
            </a:pPr>
            <a:r>
              <a:rPr lang="en-US" sz="760" dirty="0">
                <a:solidFill>
                  <a:schemeClr val="tx1"/>
                </a:solidFill>
                <a:latin typeface="DejaVu Sans Mono"/>
                <a:cs typeface="DejaVu Sans Mono"/>
              </a:rPr>
              <a:t>            if n % every == 0:</a:t>
            </a:r>
            <a:endParaRPr lang="en-US" sz="760" dirty="0"/>
          </a:p>
          <a:p>
            <a:pPr algn="l" indent="0" marL="0">
              <a:lnSpc>
                <a:spcPct val="105000"/>
              </a:lnSpc>
              <a:buNone/>
            </a:pPr>
            <a:r>
              <a:rPr lang="en-US" sz="760" dirty="0">
                <a:solidFill>
                  <a:schemeClr val="tx1"/>
                </a:solidFill>
                <a:latin typeface="DejaVu Sans Mono"/>
                <a:cs typeface="DejaVu Sans Mono"/>
              </a:rPr>
              <a:t>                out.append(u.copy())</a:t>
            </a:r>
            <a:endParaRPr lang="en-US" sz="760" dirty="0"/>
          </a:p>
          <a:p>
            <a:pPr algn="l" indent="0" marL="0">
              <a:lnSpc>
                <a:spcPct val="105000"/>
              </a:lnSpc>
              <a:buNone/>
            </a:pPr>
            <a:r>
              <a:rPr lang="en-US" sz="760" dirty="0">
                <a:solidFill>
                  <a:schemeClr val="tx1"/>
                </a:solidFill>
                <a:latin typeface="DejaVu Sans Mono"/>
                <a:cs typeface="DejaVu Sans Mono"/>
              </a:rPr>
              <a:t>        return np.array(out)</a:t>
            </a:r>
            <a:endParaRPr lang="en-US" sz="76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Appendix B: L09_heat_2d.py, cells and neighbours</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29</a:t>
            </a:fld>
            <a:endParaRPr lang="en-US"/>
          </a:p>
        </p:txBody>
      </p:sp>
      <p:sp>
        <p:nvSpPr>
          <p:cNvPr id="4" name="box-29-1"/>
          <p:cNvSpPr/>
          <p:nvPr/>
        </p:nvSpPr>
        <p:spPr>
          <a:xfrm>
            <a:off x="612648" y="1234440"/>
            <a:ext cx="5806440" cy="5074920"/>
          </a:xfrm>
          <a:prstGeom prst="roundRect">
            <a:avLst>
              <a:gd name="adj" fmla="val 1081"/>
            </a:avLst>
          </a:prstGeom>
          <a:solidFill>
            <a:schemeClr val="bg2"/>
          </a:solidFill>
        </p:spPr>
      </p:sp>
      <p:sp>
        <p:nvSpPr>
          <p:cNvPr id="5" name="t-29-2"/>
          <p:cNvSpPr txBox="1"/>
          <p:nvPr/>
        </p:nvSpPr>
        <p:spPr>
          <a:xfrm>
            <a:off x="795528" y="1380744"/>
            <a:ext cx="5440680" cy="4800600"/>
          </a:xfrm>
          <a:prstGeom prst="rect">
            <a:avLst/>
          </a:prstGeom>
          <a:noFill/>
        </p:spPr>
        <p:txBody>
          <a:bodyPr wrap="square" lIns="0" tIns="0" rIns="0" bIns="0" rtlCol="0" anchor="t"/>
          <a:lstStyle/>
          <a:p>
            <a:pPr algn="l" indent="0" marL="0">
              <a:lnSpc>
                <a:spcPct val="105000"/>
              </a:lnSpc>
              <a:buNone/>
            </a:pPr>
            <a:r>
              <a:rPr lang="en-US" sz="800" dirty="0">
                <a:solidFill>
                  <a:schemeClr val="tx1"/>
                </a:solidFill>
                <a:latin typeface="DejaVu Sans Mono"/>
                <a:cs typeface="DejaVu Sans Mono"/>
              </a:rPr>
              <a:t>def laplacian(mask):</a:t>
            </a:r>
            <a:endParaRPr lang="en-US" sz="800" dirty="0"/>
          </a:p>
          <a:p>
            <a:pPr algn="l" indent="0" marL="0">
              <a:lnSpc>
                <a:spcPct val="105000"/>
              </a:lnSpc>
              <a:buNone/>
            </a:pPr>
            <a:r>
              <a:rPr lang="en-US" sz="800" dirty="0">
                <a:solidFill>
                  <a:schemeClr val="tx1"/>
                </a:solidFill>
                <a:latin typeface="DejaVu Sans Mono"/>
                <a:cs typeface="DejaVu Sans Mono"/>
              </a:rPr>
              <a:t>    """Graph Laplacian of the solid cells: (L u)_p = sum over q of (u_p - u_q).</a:t>
            </a: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    For a full rectangle this is the five-point matrix with insulated edges,</a:t>
            </a:r>
            <a:endParaRPr lang="en-US" sz="800" dirty="0"/>
          </a:p>
          <a:p>
            <a:pPr algn="l" indent="0" marL="0">
              <a:lnSpc>
                <a:spcPct val="105000"/>
              </a:lnSpc>
              <a:buNone/>
            </a:pPr>
            <a:r>
              <a:rPr lang="en-US" sz="800" dirty="0">
                <a:solidFill>
                  <a:schemeClr val="tx1"/>
                </a:solidFill>
                <a:latin typeface="DejaVu Sans Mono"/>
                <a:cs typeface="DejaVu Sans Mono"/>
              </a:rPr>
              <a:t>    kron(B, I) + kron(I, B), with B the free-free matrix of Lecture 2.</a:t>
            </a:r>
            <a:endParaRPr lang="en-US" sz="800" dirty="0"/>
          </a:p>
          <a:p>
            <a:pPr algn="l" indent="0" marL="0">
              <a:lnSpc>
                <a:spcPct val="105000"/>
              </a:lnSpc>
              <a:buNone/>
            </a:pPr>
            <a:r>
              <a:rPr lang="en-US" sz="800" dirty="0">
                <a:solidFill>
                  <a:schemeClr val="tx1"/>
                </a:solidFill>
                <a:latin typeface="DejaVu Sans Mono"/>
                <a:cs typeface="DejaVu Sans Mono"/>
              </a:rPr>
              <a:t>    """</a:t>
            </a:r>
            <a:endParaRPr lang="en-US" sz="800" dirty="0"/>
          </a:p>
          <a:p>
            <a:pPr algn="l" indent="0" marL="0">
              <a:lnSpc>
                <a:spcPct val="105000"/>
              </a:lnSpc>
              <a:buNone/>
            </a:pPr>
            <a:r>
              <a:rPr lang="en-US" sz="800" dirty="0">
                <a:solidFill>
                  <a:schemeClr val="tx1"/>
                </a:solidFill>
                <a:latin typeface="DejaVu Sans Mono"/>
                <a:cs typeface="DejaVu Sans Mono"/>
              </a:rPr>
              <a:t>    idx = -np.ones(mask.shape, int)</a:t>
            </a:r>
            <a:endParaRPr lang="en-US" sz="800" dirty="0"/>
          </a:p>
          <a:p>
            <a:pPr algn="l" indent="0" marL="0">
              <a:lnSpc>
                <a:spcPct val="105000"/>
              </a:lnSpc>
              <a:buNone/>
            </a:pPr>
            <a:r>
              <a:rPr lang="en-US" sz="800" dirty="0">
                <a:solidFill>
                  <a:schemeClr val="tx1"/>
                </a:solidFill>
                <a:latin typeface="DejaVu Sans Mono"/>
                <a:cs typeface="DejaVu Sans Mono"/>
              </a:rPr>
              <a:t>    idx[mask] = np.arange(mask.sum())                 # number the solid cells</a:t>
            </a:r>
            <a:endParaRPr lang="en-US" sz="800" dirty="0"/>
          </a:p>
          <a:p>
            <a:pPr algn="l" indent="0" marL="0">
              <a:lnSpc>
                <a:spcPct val="105000"/>
              </a:lnSpc>
              <a:buNone/>
            </a:pPr>
            <a:r>
              <a:rPr lang="en-US" sz="800" dirty="0">
                <a:solidFill>
                  <a:schemeClr val="tx1"/>
                </a:solidFill>
                <a:latin typeface="DejaVu Sans Mono"/>
                <a:cs typeface="DejaVu Sans Mono"/>
              </a:rPr>
              <a:t>    east = mask[:, :-1] &amp; mask[:, 1:]                 # solid pairs side by side</a:t>
            </a:r>
            <a:endParaRPr lang="en-US" sz="800" dirty="0"/>
          </a:p>
          <a:p>
            <a:pPr algn="l" indent="0" marL="0">
              <a:lnSpc>
                <a:spcPct val="105000"/>
              </a:lnSpc>
              <a:buNone/>
            </a:pPr>
            <a:r>
              <a:rPr lang="en-US" sz="800" dirty="0">
                <a:solidFill>
                  <a:schemeClr val="tx1"/>
                </a:solidFill>
                <a:latin typeface="DejaVu Sans Mono"/>
                <a:cs typeface="DejaVu Sans Mono"/>
              </a:rPr>
              <a:t>    north = mask[:-1, :] &amp; mask[1:, :]                # solid pairs one above the other</a:t>
            </a:r>
            <a:endParaRPr lang="en-US" sz="800" dirty="0"/>
          </a:p>
          <a:p>
            <a:pPr algn="l" indent="0" marL="0">
              <a:lnSpc>
                <a:spcPct val="105000"/>
              </a:lnSpc>
              <a:buNone/>
            </a:pPr>
            <a:r>
              <a:rPr lang="en-US" sz="800" dirty="0">
                <a:solidFill>
                  <a:schemeClr val="tx1"/>
                </a:solidFill>
                <a:latin typeface="DejaVu Sans Mono"/>
                <a:cs typeface="DejaVu Sans Mono"/>
              </a:rPr>
              <a:t>    p = np.concatenate([idx[:, :-1][east], idx[:-1, :][north]])</a:t>
            </a:r>
            <a:endParaRPr lang="en-US" sz="800" dirty="0"/>
          </a:p>
          <a:p>
            <a:pPr algn="l" indent="0" marL="0">
              <a:lnSpc>
                <a:spcPct val="105000"/>
              </a:lnSpc>
              <a:buNone/>
            </a:pPr>
            <a:r>
              <a:rPr lang="en-US" sz="800" dirty="0">
                <a:solidFill>
                  <a:schemeClr val="tx1"/>
                </a:solidFill>
                <a:latin typeface="DejaVu Sans Mono"/>
                <a:cs typeface="DejaVu Sans Mono"/>
              </a:rPr>
              <a:t>    q = np.concatenate([idx[:, 1:][east], idx[1:, :][north]])</a:t>
            </a:r>
            <a:endParaRPr lang="en-US" sz="800" dirty="0"/>
          </a:p>
          <a:p>
            <a:pPr algn="l" indent="0" marL="0">
              <a:lnSpc>
                <a:spcPct val="105000"/>
              </a:lnSpc>
              <a:buNone/>
            </a:pPr>
            <a:r>
              <a:rPr lang="en-US" sz="800" dirty="0">
                <a:solidFill>
                  <a:schemeClr val="tx1"/>
                </a:solidFill>
                <a:latin typeface="DejaVu Sans Mono"/>
                <a:cs typeface="DejaVu Sans Mono"/>
              </a:rPr>
              <a:t>    rows, cols = np.concatenate([p, q]), np.concatenate([q, p])</a:t>
            </a:r>
            <a:endParaRPr lang="en-US" sz="800" dirty="0"/>
          </a:p>
          <a:p>
            <a:pPr algn="l" indent="0" marL="0">
              <a:lnSpc>
                <a:spcPct val="105000"/>
              </a:lnSpc>
              <a:buNone/>
            </a:pPr>
            <a:r>
              <a:rPr lang="en-US" sz="800" dirty="0">
                <a:solidFill>
                  <a:schemeClr val="tx1"/>
                </a:solidFill>
                <a:latin typeface="DejaVu Sans Mono"/>
                <a:cs typeface="DejaVu Sans Mono"/>
              </a:rPr>
              <a:t>    n = int(mask.sum())</a:t>
            </a:r>
            <a:endParaRPr lang="en-US" sz="800" dirty="0"/>
          </a:p>
          <a:p>
            <a:pPr algn="l" indent="0" marL="0">
              <a:lnSpc>
                <a:spcPct val="105000"/>
              </a:lnSpc>
              <a:buNone/>
            </a:pPr>
            <a:r>
              <a:rPr lang="en-US" sz="800" dirty="0">
                <a:solidFill>
                  <a:schemeClr val="tx1"/>
                </a:solidFill>
                <a:latin typeface="DejaVu Sans Mono"/>
                <a:cs typeface="DejaVu Sans Mono"/>
              </a:rPr>
              <a:t>    w = sp.coo_matrix((np.ones(rows.size), (rows, cols)), shape=(n, n))</a:t>
            </a:r>
            <a:endParaRPr lang="en-US" sz="800" dirty="0"/>
          </a:p>
          <a:p>
            <a:pPr algn="l" indent="0" marL="0">
              <a:lnSpc>
                <a:spcPct val="105000"/>
              </a:lnSpc>
              <a:buNone/>
            </a:pPr>
            <a:r>
              <a:rPr lang="en-US" sz="800" dirty="0">
                <a:solidFill>
                  <a:schemeClr val="tx1"/>
                </a:solidFill>
                <a:latin typeface="DejaVu Sans Mono"/>
                <a:cs typeface="DejaVu Sans Mono"/>
              </a:rPr>
              <a:t>    deg = np.asarray(w.sum(axis=1)).ravel()           # number of solid neighbours</a:t>
            </a:r>
            <a:endParaRPr lang="en-US" sz="800" dirty="0"/>
          </a:p>
          <a:p>
            <a:pPr algn="l" indent="0" marL="0">
              <a:lnSpc>
                <a:spcPct val="105000"/>
              </a:lnSpc>
              <a:buNone/>
            </a:pPr>
            <a:r>
              <a:rPr lang="en-US" sz="800" dirty="0">
                <a:solidFill>
                  <a:schemeClr val="tx1"/>
                </a:solidFill>
                <a:latin typeface="DejaVu Sans Mono"/>
                <a:cs typeface="DejaVu Sans Mono"/>
              </a:rPr>
              <a:t>    return (sp.diags(deg) - w).tocsc()</a:t>
            </a:r>
            <a:endParaRPr lang="en-US" sz="800" dirty="0"/>
          </a:p>
          <a:p>
            <a:pPr algn="l" indent="0" marL="0">
              <a:lnSpc>
                <a:spcPct val="105000"/>
              </a:lnSpc>
              <a:buNone/>
            </a:pP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class Stepper:</a:t>
            </a:r>
            <a:endParaRPr lang="en-US" sz="800" dirty="0"/>
          </a:p>
          <a:p>
            <a:pPr algn="l" indent="0" marL="0">
              <a:lnSpc>
                <a:spcPct val="105000"/>
              </a:lnSpc>
              <a:buNone/>
            </a:pPr>
            <a:r>
              <a:rPr lang="en-US" sz="800" dirty="0">
                <a:solidFill>
                  <a:schemeClr val="tx1"/>
                </a:solidFill>
                <a:latin typeface="DejaVu Sans Mono"/>
                <a:cs typeface="DejaVu Sans Mono"/>
              </a:rPr>
              <a:t>    """Backward Euler for C dT/dt = -A T + b: factor once, solve many times."""</a:t>
            </a: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    def __init__(self, cap, A, dt):</a:t>
            </a:r>
            <a:endParaRPr lang="en-US" sz="800" dirty="0"/>
          </a:p>
          <a:p>
            <a:pPr algn="l" indent="0" marL="0">
              <a:lnSpc>
                <a:spcPct val="105000"/>
              </a:lnSpc>
              <a:buNone/>
            </a:pPr>
            <a:r>
              <a:rPr lang="en-US" sz="800" dirty="0">
                <a:solidFill>
                  <a:schemeClr val="tx1"/>
                </a:solidFill>
                <a:latin typeface="DejaVu Sans Mono"/>
                <a:cs typeface="DejaVu Sans Mono"/>
              </a:rPr>
              <a:t>        self.cap, self.dt = cap, dt</a:t>
            </a:r>
            <a:endParaRPr lang="en-US" sz="800" dirty="0"/>
          </a:p>
          <a:p>
            <a:pPr algn="l" indent="0" marL="0">
              <a:lnSpc>
                <a:spcPct val="105000"/>
              </a:lnSpc>
              <a:buNone/>
            </a:pPr>
            <a:r>
              <a:rPr lang="en-US" sz="800" dirty="0">
                <a:solidFill>
                  <a:schemeClr val="tx1"/>
                </a:solidFill>
                <a:latin typeface="DejaVu Sans Mono"/>
                <a:cs typeface="DejaVu Sans Mono"/>
              </a:rPr>
              <a:t>        t0 = time.perf_counter()</a:t>
            </a:r>
            <a:endParaRPr lang="en-US" sz="800" dirty="0"/>
          </a:p>
          <a:p>
            <a:pPr algn="l" indent="0" marL="0">
              <a:lnSpc>
                <a:spcPct val="105000"/>
              </a:lnSpc>
              <a:buNone/>
            </a:pPr>
            <a:r>
              <a:rPr lang="en-US" sz="800" dirty="0">
                <a:solidFill>
                  <a:schemeClr val="tx1"/>
                </a:solidFill>
                <a:latin typeface="DejaVu Sans Mono"/>
                <a:cs typeface="DejaVu Sans Mono"/>
              </a:rPr>
              <a:t>        self.lu = spla.splu((sp.diags(cap) + dt * A).tocsc())</a:t>
            </a:r>
            <a:endParaRPr lang="en-US" sz="800" dirty="0"/>
          </a:p>
          <a:p>
            <a:pPr algn="l" indent="0" marL="0">
              <a:lnSpc>
                <a:spcPct val="105000"/>
              </a:lnSpc>
              <a:buNone/>
            </a:pPr>
            <a:r>
              <a:rPr lang="en-US" sz="800" dirty="0">
                <a:solidFill>
                  <a:schemeClr val="tx1"/>
                </a:solidFill>
                <a:latin typeface="DejaVu Sans Mono"/>
                <a:cs typeface="DejaVu Sans Mono"/>
              </a:rPr>
              <a:t>        self.factor_seconds = time.perf_counter() - t0</a:t>
            </a: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    def step(self, temp, b):</a:t>
            </a:r>
            <a:endParaRPr lang="en-US" sz="800" dirty="0"/>
          </a:p>
          <a:p>
            <a:pPr algn="l" indent="0" marL="0">
              <a:lnSpc>
                <a:spcPct val="105000"/>
              </a:lnSpc>
              <a:buNone/>
            </a:pPr>
            <a:r>
              <a:rPr lang="en-US" sz="800" dirty="0">
                <a:solidFill>
                  <a:schemeClr val="tx1"/>
                </a:solidFill>
                <a:latin typeface="DejaVu Sans Mono"/>
                <a:cs typeface="DejaVu Sans Mono"/>
              </a:rPr>
              <a:t>        return self.lu.solve(self.cap * temp + self.dt * b)</a:t>
            </a:r>
            <a:endParaRPr lang="en-US" sz="800" dirty="0"/>
          </a:p>
        </p:txBody>
      </p:sp>
      <p:sp>
        <p:nvSpPr>
          <p:cNvPr id="6" name="box-29-3"/>
          <p:cNvSpPr/>
          <p:nvPr/>
        </p:nvSpPr>
        <p:spPr>
          <a:xfrm>
            <a:off x="6556248" y="1234440"/>
            <a:ext cx="5029200" cy="5074920"/>
          </a:xfrm>
          <a:prstGeom prst="roundRect">
            <a:avLst>
              <a:gd name="adj" fmla="val 1090"/>
            </a:avLst>
          </a:prstGeom>
          <a:solidFill>
            <a:schemeClr val="bg2"/>
          </a:solidFill>
        </p:spPr>
      </p:sp>
      <p:sp>
        <p:nvSpPr>
          <p:cNvPr id="7" name="t-29-4"/>
          <p:cNvSpPr txBox="1"/>
          <p:nvPr/>
        </p:nvSpPr>
        <p:spPr>
          <a:xfrm>
            <a:off x="6739128" y="1380744"/>
            <a:ext cx="4663440" cy="4800600"/>
          </a:xfrm>
          <a:prstGeom prst="rect">
            <a:avLst/>
          </a:prstGeom>
          <a:noFill/>
        </p:spPr>
        <p:txBody>
          <a:bodyPr wrap="square" lIns="0" tIns="0" rIns="0" bIns="0" rtlCol="0" anchor="t"/>
          <a:lstStyle/>
          <a:p>
            <a:pPr algn="l" indent="0" marL="0">
              <a:lnSpc>
                <a:spcPct val="105000"/>
              </a:lnSpc>
              <a:buNone/>
            </a:pPr>
            <a:r>
              <a:rPr lang="en-US" sz="800" dirty="0">
                <a:solidFill>
                  <a:schemeClr val="tx1"/>
                </a:solidFill>
                <a:latin typeface="DejaVu Sans Mono"/>
                <a:cs typeface="DejaVu Sans Mono"/>
              </a:rPr>
              <a:t>def plate_demo(edges, n=120, dt=1e-3, t_end=2.0):</a:t>
            </a:r>
            <a:endParaRPr lang="en-US" sz="800" dirty="0"/>
          </a:p>
          <a:p>
            <a:pPr algn="l" indent="0" marL="0">
              <a:lnSpc>
                <a:spcPct val="105000"/>
              </a:lnSpc>
              <a:buNone/>
            </a:pPr>
            <a:r>
              <a:rPr lang="en-US" sz="800" dirty="0">
                <a:solidFill>
                  <a:schemeClr val="tx1"/>
                </a:solidFill>
                <a:latin typeface="DejaVu Sans Mono"/>
                <a:cs typeface="DejaVu Sans Mono"/>
              </a:rPr>
              <a:t>    """edges = "cold" (u = 0 on the rim) or "insulated"."""</a:t>
            </a:r>
            <a:endParaRPr lang="en-US" sz="800" dirty="0"/>
          </a:p>
          <a:p>
            <a:pPr algn="l" indent="0" marL="0">
              <a:lnSpc>
                <a:spcPct val="105000"/>
              </a:lnSpc>
              <a:buNone/>
            </a:pPr>
            <a:r>
              <a:rPr lang="en-US" sz="800" dirty="0">
                <a:solidFill>
                  <a:schemeClr val="tx1"/>
                </a:solidFill>
                <a:latin typeface="DejaVu Sans Mono"/>
                <a:cs typeface="DejaVu Sans Mono"/>
              </a:rPr>
              <a:t>    h = np.pi / n</a:t>
            </a:r>
            <a:endParaRPr lang="en-US" sz="800" dirty="0"/>
          </a:p>
          <a:p>
            <a:pPr algn="l" indent="0" marL="0">
              <a:lnSpc>
                <a:spcPct val="105000"/>
              </a:lnSpc>
              <a:buNone/>
            </a:pPr>
            <a:r>
              <a:rPr lang="en-US" sz="800" dirty="0">
                <a:solidFill>
                  <a:schemeClr val="tx1"/>
                </a:solidFill>
                <a:latin typeface="DejaVu Sans Mono"/>
                <a:cs typeface="DejaVu Sans Mono"/>
              </a:rPr>
              <a:t>    x = (np.arange(n) + 0.5) * h                    # cell centres</a:t>
            </a:r>
            <a:endParaRPr lang="en-US" sz="800" dirty="0"/>
          </a:p>
          <a:p>
            <a:pPr algn="l" indent="0" marL="0">
              <a:lnSpc>
                <a:spcPct val="105000"/>
              </a:lnSpc>
              <a:buNone/>
            </a:pPr>
            <a:r>
              <a:rPr lang="en-US" sz="800" dirty="0">
                <a:solidFill>
                  <a:schemeClr val="tx1"/>
                </a:solidFill>
                <a:latin typeface="DejaVu Sans Mono"/>
                <a:cs typeface="DejaVu Sans Mono"/>
              </a:rPr>
              <a:t>    X, Y = np.meshgrid(x, x)</a:t>
            </a:r>
            <a:endParaRPr lang="en-US" sz="800" dirty="0"/>
          </a:p>
          <a:p>
            <a:pPr algn="l" indent="0" marL="0">
              <a:lnSpc>
                <a:spcPct val="105000"/>
              </a:lnSpc>
              <a:buNone/>
            </a:pPr>
            <a:r>
              <a:rPr lang="en-US" sz="800" dirty="0">
                <a:solidFill>
                  <a:schemeClr val="tx1"/>
                </a:solidFill>
                <a:latin typeface="DejaVu Sans Mono"/>
                <a:cs typeface="DejaVu Sans Mono"/>
              </a:rPr>
              <a:t>    u = np.exp(-((X - 1.1) ** 2 + (Y - 1.9) ** 2) / (2 * 0.3 ** 2)).ravel()</a:t>
            </a:r>
            <a:endParaRPr lang="en-US" sz="800" dirty="0"/>
          </a:p>
          <a:p>
            <a:pPr algn="l" indent="0" marL="0">
              <a:lnSpc>
                <a:spcPct val="105000"/>
              </a:lnSpc>
              <a:buNone/>
            </a:pPr>
            <a:r>
              <a:rPr lang="en-US" sz="800" dirty="0">
                <a:solidFill>
                  <a:schemeClr val="tx1"/>
                </a:solidFill>
                <a:latin typeface="DejaVu Sans Mono"/>
                <a:cs typeface="DejaVu Sans Mono"/>
              </a:rPr>
              <a:t>    A = laplacian(np.ones((n, n), bool)) / h ** 2   # insulated rim</a:t>
            </a:r>
            <a:endParaRPr lang="en-US" sz="800" dirty="0"/>
          </a:p>
          <a:p>
            <a:pPr algn="l" indent="0" marL="0">
              <a:lnSpc>
                <a:spcPct val="105000"/>
              </a:lnSpc>
              <a:buNone/>
            </a:pPr>
            <a:r>
              <a:rPr lang="en-US" sz="800" dirty="0">
                <a:solidFill>
                  <a:schemeClr val="tx1"/>
                </a:solidFill>
                <a:latin typeface="DejaVu Sans Mono"/>
                <a:cs typeface="DejaVu Sans Mono"/>
              </a:rPr>
              <a:t>    if edges == "cold":</a:t>
            </a:r>
            <a:endParaRPr lang="en-US" sz="800" dirty="0"/>
          </a:p>
          <a:p>
            <a:pPr algn="l" indent="0" marL="0">
              <a:lnSpc>
                <a:spcPct val="105000"/>
              </a:lnSpc>
              <a:buNone/>
            </a:pPr>
            <a:r>
              <a:rPr lang="en-US" sz="800" dirty="0">
                <a:solidFill>
                  <a:schemeClr val="tx1"/>
                </a:solidFill>
                <a:latin typeface="DejaVu Sans Mono"/>
                <a:cs typeface="DejaVu Sans Mono"/>
              </a:rPr>
              <a:t>        # the rim is half a cell away from the outer cells</a:t>
            </a:r>
            <a:endParaRPr lang="en-US" sz="800" dirty="0"/>
          </a:p>
          <a:p>
            <a:pPr algn="l" indent="0" marL="0">
              <a:lnSpc>
                <a:spcPct val="105000"/>
              </a:lnSpc>
              <a:buNone/>
            </a:pPr>
            <a:r>
              <a:rPr lang="en-US" sz="800" dirty="0">
                <a:solidFill>
                  <a:schemeClr val="tx1"/>
                </a:solidFill>
                <a:latin typeface="DejaVu Sans Mono"/>
                <a:cs typeface="DejaVu Sans Mono"/>
              </a:rPr>
              <a:t>        A = A + sp.diags(2.0 * edge_faces((n, n)) / h ** 2)</a:t>
            </a:r>
            <a:endParaRPr lang="en-US" sz="800" dirty="0"/>
          </a:p>
          <a:p>
            <a:pPr algn="l" indent="0" marL="0">
              <a:lnSpc>
                <a:spcPct val="105000"/>
              </a:lnSpc>
              <a:buNone/>
            </a:pPr>
            <a:r>
              <a:rPr lang="en-US" sz="800" dirty="0">
                <a:solidFill>
                  <a:schemeClr val="tx1"/>
                </a:solidFill>
                <a:latin typeface="DejaVu Sans Mono"/>
                <a:cs typeface="DejaVu Sans Mono"/>
              </a:rPr>
              <a:t>    stepper = Stepper(np.ones(n * n), A, dt)</a:t>
            </a:r>
            <a:endParaRPr lang="en-US" sz="800" dirty="0"/>
          </a:p>
          <a:p>
            <a:pPr algn="l" indent="0" marL="0">
              <a:lnSpc>
                <a:spcPct val="105000"/>
              </a:lnSpc>
              <a:buNone/>
            </a:pPr>
            <a:r>
              <a:rPr lang="en-US" sz="800" dirty="0">
                <a:solidFill>
                  <a:schemeClr val="tx1"/>
                </a:solidFill>
                <a:latin typeface="DejaVu Sans Mono"/>
                <a:cs typeface="DejaVu Sans Mono"/>
              </a:rPr>
              <a:t>    frames, times = [u.reshape(n, n).copy()], [0.0]</a:t>
            </a:r>
            <a:endParaRPr lang="en-US" sz="800" dirty="0"/>
          </a:p>
          <a:p>
            <a:pPr algn="l" indent="0" marL="0">
              <a:lnSpc>
                <a:spcPct val="105000"/>
              </a:lnSpc>
              <a:buNone/>
            </a:pPr>
            <a:r>
              <a:rPr lang="en-US" sz="800" dirty="0">
                <a:solidFill>
                  <a:schemeClr val="tx1"/>
                </a:solidFill>
                <a:latin typeface="DejaVu Sans Mono"/>
                <a:cs typeface="DejaVu Sans Mono"/>
              </a:rPr>
              <a:t>    heat = [u.sum() * h * h]</a:t>
            </a:r>
            <a:endParaRPr lang="en-US" sz="800" dirty="0"/>
          </a:p>
          <a:p>
            <a:pPr algn="l" indent="0" marL="0">
              <a:lnSpc>
                <a:spcPct val="105000"/>
              </a:lnSpc>
              <a:buNone/>
            </a:pPr>
            <a:r>
              <a:rPr lang="en-US" sz="800" dirty="0">
                <a:solidFill>
                  <a:schemeClr val="tx1"/>
                </a:solidFill>
                <a:latin typeface="DejaVu Sans Mono"/>
                <a:cs typeface="DejaVu Sans Mono"/>
              </a:rPr>
              <a:t>    for k in range(1, int(round(t_end / dt)) + 1):</a:t>
            </a:r>
            <a:endParaRPr lang="en-US" sz="800" dirty="0"/>
          </a:p>
          <a:p>
            <a:pPr algn="l" indent="0" marL="0">
              <a:lnSpc>
                <a:spcPct val="105000"/>
              </a:lnSpc>
              <a:buNone/>
            </a:pPr>
            <a:r>
              <a:rPr lang="en-US" sz="800" dirty="0">
                <a:solidFill>
                  <a:schemeClr val="tx1"/>
                </a:solidFill>
                <a:latin typeface="DejaVu Sans Mono"/>
                <a:cs typeface="DejaVu Sans Mono"/>
              </a:rPr>
              <a:t>        u = stepper.step(u, 0.0)</a:t>
            </a:r>
            <a:endParaRPr lang="en-US" sz="800" dirty="0"/>
          </a:p>
          <a:p>
            <a:pPr algn="l" indent="0" marL="0">
              <a:lnSpc>
                <a:spcPct val="105000"/>
              </a:lnSpc>
              <a:buNone/>
            </a:pPr>
            <a:r>
              <a:rPr lang="en-US" sz="800" dirty="0">
                <a:solidFill>
                  <a:schemeClr val="tx1"/>
                </a:solidFill>
                <a:latin typeface="DejaVu Sans Mono"/>
                <a:cs typeface="DejaVu Sans Mono"/>
              </a:rPr>
              <a:t>        frames.append(u.reshape(n, n).copy())</a:t>
            </a:r>
            <a:endParaRPr lang="en-US" sz="800" dirty="0"/>
          </a:p>
          <a:p>
            <a:pPr algn="l" indent="0" marL="0">
              <a:lnSpc>
                <a:spcPct val="105000"/>
              </a:lnSpc>
              <a:buNone/>
            </a:pPr>
            <a:r>
              <a:rPr lang="en-US" sz="800" dirty="0">
                <a:solidFill>
                  <a:schemeClr val="tx1"/>
                </a:solidFill>
                <a:latin typeface="DejaVu Sans Mono"/>
                <a:cs typeface="DejaVu Sans Mono"/>
              </a:rPr>
              <a:t>        heat.append(u.sum() * h * h)</a:t>
            </a:r>
            <a:endParaRPr lang="en-US" sz="800" dirty="0"/>
          </a:p>
          <a:p>
            <a:pPr algn="l" indent="0" marL="0">
              <a:lnSpc>
                <a:spcPct val="105000"/>
              </a:lnSpc>
              <a:buNone/>
            </a:pPr>
            <a:r>
              <a:rPr lang="en-US" sz="800" dirty="0">
                <a:solidFill>
                  <a:schemeClr val="tx1"/>
                </a:solidFill>
                <a:latin typeface="DejaVu Sans Mono"/>
                <a:cs typeface="DejaVu Sans Mono"/>
              </a:rPr>
              <a:t>        times.append(k * dt)</a:t>
            </a:r>
            <a:endParaRPr lang="en-US" sz="800" dirty="0"/>
          </a:p>
          <a:p>
            <a:pPr algn="l" indent="0" marL="0">
              <a:lnSpc>
                <a:spcPct val="105000"/>
              </a:lnSpc>
              <a:buNone/>
            </a:pPr>
            <a:r>
              <a:rPr lang="en-US" sz="800" dirty="0">
                <a:solidFill>
                  <a:schemeClr val="tx1"/>
                </a:solidFill>
                <a:latin typeface="DejaVu Sans Mono"/>
                <a:cs typeface="DejaVu Sans Mono"/>
              </a:rPr>
              <a:t>    return x, np.array(times), np.array(frames), np.array(heat)</a:t>
            </a:r>
            <a:endParaRPr lang="en-US" sz="8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wrap="square" lIns="0" tIns="0" rIns="0" bIns="0" rtlCol="0" anchor="ctr"/>
          <a:lstStyle/>
          <a:p>
            <a:pPr algn="l" indent="0" marL="0">
              <a:buNone/>
            </a:pPr>
            <a:r>
              <a:rPr lang="en-US" sz="2800" b="1" dirty="0">
                <a:solidFill>
                  <a:schemeClr val="tx1"/>
                </a:solidFill>
              </a:rPr>
              <a:t>Appendix C: what the two scripts print</a:t>
            </a:r>
            <a:endParaRPr lang="en-US" sz="2800" dirty="0"/>
          </a:p>
        </p:txBody>
      </p:sp>
      <p:sp>
        <p:nvSpPr>
          <p:cNvPr id="3" name="Slide Number Placeholder 0"/>
          <p:cNvSpPr>
            <a:spLocks noGrp="1"/>
          </p:cNvSpPr>
          <p:nvPr>
            <p:ph type="sldNum" sz="quarter" idx="4294967295"/>
          </p:nvPr>
        </p:nvSpPr>
        <p:spPr>
          <a:xfrm>
            <a:off x="10853928" y="6464808"/>
            <a:ext cx="731520" cy="274320"/>
          </a:xfrm>
          <a:prstGeom prst="rect">
            <a:avLst/>
          </a:prstGeom>
        </p:spPr>
        <p:txBody>
          <a:bodyPr lIns="0" tIns="0" rIns="0" bIns="0"/>
          <a:lstStyle>
            <a:lvl1pPr>
              <a:defRPr sz="1000">
                <a:solidFill>
                  <a:schemeClr val="tx2"/>
                </a:solidFill>
              </a:defRPr>
            </a:lvl1pPr>
          </a:lstStyle>
          <a:p>
            <a:pPr algn="r"/>
            <a:fld id="{F7021451-1387-4CA6-816F-3879F97B5CBC}" type="slidenum">
              <a:rPr b="0" lang="en-US"/>
              <a:t>30</a:t>
            </a:fld>
            <a:endParaRPr lang="en-US"/>
          </a:p>
        </p:txBody>
      </p:sp>
      <p:sp>
        <p:nvSpPr>
          <p:cNvPr id="4" name="box-30-1"/>
          <p:cNvSpPr/>
          <p:nvPr/>
        </p:nvSpPr>
        <p:spPr>
          <a:xfrm>
            <a:off x="612648" y="1234440"/>
            <a:ext cx="5074920" cy="5074920"/>
          </a:xfrm>
          <a:prstGeom prst="roundRect">
            <a:avLst>
              <a:gd name="adj" fmla="val 1081"/>
            </a:avLst>
          </a:prstGeom>
          <a:solidFill>
            <a:schemeClr val="bg2"/>
          </a:solidFill>
        </p:spPr>
      </p:sp>
      <p:sp>
        <p:nvSpPr>
          <p:cNvPr id="5" name="t-30-2"/>
          <p:cNvSpPr txBox="1"/>
          <p:nvPr/>
        </p:nvSpPr>
        <p:spPr>
          <a:xfrm>
            <a:off x="795528" y="1380744"/>
            <a:ext cx="4709160" cy="4800600"/>
          </a:xfrm>
          <a:prstGeom prst="rect">
            <a:avLst/>
          </a:prstGeom>
          <a:noFill/>
        </p:spPr>
        <p:txBody>
          <a:bodyPr wrap="square" lIns="0" tIns="0" rIns="0" bIns="0" rtlCol="0" anchor="t"/>
          <a:lstStyle/>
          <a:p>
            <a:pPr algn="l" indent="0" marL="0">
              <a:lnSpc>
                <a:spcPct val="105000"/>
              </a:lnSpc>
              <a:buNone/>
            </a:pPr>
            <a:r>
              <a:rPr lang="en-US" sz="800" dirty="0">
                <a:solidFill>
                  <a:schemeClr val="tx1"/>
                </a:solidFill>
                <a:latin typeface="DejaVu Sans Mono"/>
                <a:cs typeface="DejaVu Sans Mono"/>
              </a:rPr>
              <a:t>$ python L09_heat_1d.py   (excerpt)</a:t>
            </a: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The stack at 60 W/cm^2 (steady drops f L / k):</a:t>
            </a:r>
            <a:endParaRPr lang="en-US" sz="800" dirty="0"/>
          </a:p>
          <a:p>
            <a:pPr algn="l" indent="0" marL="0">
              <a:lnSpc>
                <a:spcPct val="105000"/>
              </a:lnSpc>
              <a:buNone/>
            </a:pPr>
            <a:r>
              <a:rPr lang="en-US" sz="800" dirty="0">
                <a:solidFill>
                  <a:schemeClr val="tx1"/>
                </a:solidFill>
                <a:latin typeface="DejaVu Sans Mono"/>
                <a:cs typeface="DejaVu Sans Mono"/>
              </a:rPr>
              <a:t>  silicon die     2.0 K</a:t>
            </a:r>
            <a:endParaRPr lang="en-US" sz="800" dirty="0"/>
          </a:p>
          <a:p>
            <a:pPr algn="l" indent="0" marL="0">
              <a:lnSpc>
                <a:spcPct val="105000"/>
              </a:lnSpc>
              <a:buNone/>
            </a:pPr>
            <a:r>
              <a:rPr lang="en-US" sz="800" dirty="0">
                <a:solidFill>
                  <a:schemeClr val="tx1"/>
                </a:solidFill>
                <a:latin typeface="DejaVu Sans Mono"/>
                <a:cs typeface="DejaVu Sans Mono"/>
              </a:rPr>
              <a:t>  thermal paste   6.0 K</a:t>
            </a:r>
            <a:endParaRPr lang="en-US" sz="800" dirty="0"/>
          </a:p>
          <a:p>
            <a:pPr algn="l" indent="0" marL="0">
              <a:lnSpc>
                <a:spcPct val="105000"/>
              </a:lnSpc>
              <a:buNone/>
            </a:pPr>
            <a:r>
              <a:rPr lang="en-US" sz="800" dirty="0">
                <a:solidFill>
                  <a:schemeClr val="tx1"/>
                </a:solidFill>
                <a:latin typeface="DejaVu Sans Mono"/>
                <a:cs typeface="DejaVu Sans Mono"/>
              </a:rPr>
              <a:t>  copper lid      4.5 K</a:t>
            </a:r>
            <a:endParaRPr lang="en-US" sz="800" dirty="0"/>
          </a:p>
          <a:p>
            <a:pPr algn="l" indent="0" marL="0">
              <a:lnSpc>
                <a:spcPct val="105000"/>
              </a:lnSpc>
              <a:buNone/>
            </a:pPr>
            <a:r>
              <a:rPr lang="en-US" sz="800" dirty="0">
                <a:solidFill>
                  <a:schemeClr val="tx1"/>
                </a:solidFill>
                <a:latin typeface="DejaVu Sans Mono"/>
                <a:cs typeface="DejaVu Sans Mono"/>
              </a:rPr>
              <a:t>  solver: transistors at 62.50 C in steady state (exact 62.50 C)</a:t>
            </a:r>
            <a:endParaRPr lang="en-US" sz="800" dirty="0"/>
          </a:p>
          <a:p>
            <a:pPr algn="l" indent="0" marL="0">
              <a:lnSpc>
                <a:spcPct val="105000"/>
              </a:lnSpc>
              <a:buNone/>
            </a:pPr>
            <a:r>
              <a:rPr lang="en-US" sz="800" dirty="0">
                <a:solidFill>
                  <a:schemeClr val="tx1"/>
                </a:solidFill>
                <a:latin typeface="DejaVu Sans Mono"/>
                <a:cs typeface="DejaVu Sans Mono"/>
              </a:rPr>
              <a:t>  t =   10 ms   die at 55.62 C</a:t>
            </a:r>
            <a:endParaRPr lang="en-US" sz="800" dirty="0"/>
          </a:p>
          <a:p>
            <a:pPr algn="l" indent="0" marL="0">
              <a:lnSpc>
                <a:spcPct val="105000"/>
              </a:lnSpc>
              <a:buNone/>
            </a:pPr>
            <a:r>
              <a:rPr lang="en-US" sz="800" dirty="0">
                <a:solidFill>
                  <a:schemeClr val="tx1"/>
                </a:solidFill>
                <a:latin typeface="DejaVu Sans Mono"/>
                <a:cs typeface="DejaVu Sans Mono"/>
              </a:rPr>
              <a:t>  t =   50 ms   die at 60.58 C</a:t>
            </a:r>
            <a:endParaRPr lang="en-US" sz="800" dirty="0"/>
          </a:p>
          <a:p>
            <a:pPr algn="l" indent="0" marL="0">
              <a:lnSpc>
                <a:spcPct val="105000"/>
              </a:lnSpc>
              <a:buNone/>
            </a:pPr>
            <a:r>
              <a:rPr lang="en-US" sz="800" dirty="0">
                <a:solidFill>
                  <a:schemeClr val="tx1"/>
                </a:solidFill>
                <a:latin typeface="DejaVu Sans Mono"/>
                <a:cs typeface="DejaVu Sans Mono"/>
              </a:rPr>
              <a:t>  t =  100 ms   die at 61.95 C</a:t>
            </a:r>
            <a:endParaRPr lang="en-US" sz="800" dirty="0"/>
          </a:p>
          <a:p>
            <a:pPr algn="l" indent="0" marL="0">
              <a:lnSpc>
                <a:spcPct val="105000"/>
              </a:lnSpc>
              <a:buNone/>
            </a:pPr>
            <a:r>
              <a:rPr lang="en-US" sz="800" dirty="0">
                <a:solidFill>
                  <a:schemeClr val="tx1"/>
                </a:solidFill>
                <a:latin typeface="DejaVu Sans Mono"/>
                <a:cs typeface="DejaVu Sans Mono"/>
              </a:rPr>
              <a:t>  t =  300 ms   die at 62.48 C</a:t>
            </a: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Fin: aluminium 6063, 1 mm thick, h = 50 W/(m^2 K), m = 22.36 per metre</a:t>
            </a:r>
            <a:endParaRPr lang="en-US" sz="800" dirty="0"/>
          </a:p>
          <a:p>
            <a:pPr algn="l" indent="0" marL="0">
              <a:lnSpc>
                <a:spcPct val="105000"/>
              </a:lnSpc>
              <a:buNone/>
            </a:pPr>
            <a:r>
              <a:rPr lang="en-US" sz="800" dirty="0">
                <a:solidFill>
                  <a:schemeClr val="tx1"/>
                </a:solidFill>
                <a:latin typeface="DejaVu Sans Mono"/>
                <a:cs typeface="DejaVu Sans Mono"/>
              </a:rPr>
              <a:t>  L = 20 mm  mL = 0.447  efficiency 0.938  tip 74.9 C  heat 10.3 W</a:t>
            </a:r>
            <a:endParaRPr lang="en-US" sz="800" dirty="0"/>
          </a:p>
          <a:p>
            <a:pPr algn="l" indent="0" marL="0">
              <a:lnSpc>
                <a:spcPct val="105000"/>
              </a:lnSpc>
              <a:buNone/>
            </a:pPr>
            <a:r>
              <a:rPr lang="en-US" sz="800" dirty="0">
                <a:solidFill>
                  <a:schemeClr val="tx1"/>
                </a:solidFill>
                <a:latin typeface="DejaVu Sans Mono"/>
                <a:cs typeface="DejaVu Sans Mono"/>
              </a:rPr>
              <a:t>  L = 40 mm  mL = 0.894  efficiency 0.798  tip 63.5 C  heat 17.6 W</a:t>
            </a:r>
            <a:endParaRPr lang="en-US" sz="800" dirty="0"/>
          </a:p>
          <a:p>
            <a:pPr algn="l" indent="0" marL="0">
              <a:lnSpc>
                <a:spcPct val="105000"/>
              </a:lnSpc>
              <a:buNone/>
            </a:pPr>
            <a:r>
              <a:rPr lang="en-US" sz="800" dirty="0">
                <a:solidFill>
                  <a:schemeClr val="tx1"/>
                </a:solidFill>
                <a:latin typeface="DejaVu Sans Mono"/>
                <a:cs typeface="DejaVu Sans Mono"/>
              </a:rPr>
              <a:t>  L = 80 mm  mL = 1.789  efficiency 0.529  tip 42.9 C  heat 23.3 W</a:t>
            </a:r>
            <a:endParaRPr lang="en-US" sz="800" dirty="0"/>
          </a:p>
          <a:p>
            <a:pPr algn="l" indent="0" marL="0">
              <a:lnSpc>
                <a:spcPct val="105000"/>
              </a:lnSpc>
              <a:buNone/>
            </a:pPr>
            <a:r>
              <a:rPr lang="en-US" sz="800" dirty="0">
                <a:solidFill>
                  <a:schemeClr val="tx1"/>
                </a:solidFill>
                <a:latin typeface="DejaVu Sans Mono"/>
                <a:cs typeface="DejaVu Sans Mono"/>
              </a:rPr>
              <a:t>  an infinitely long fin removes 24.6 W</a:t>
            </a:r>
            <a:endParaRPr lang="en-US" sz="800" dirty="0"/>
          </a:p>
        </p:txBody>
      </p:sp>
      <p:sp>
        <p:nvSpPr>
          <p:cNvPr id="6" name="box-30-3"/>
          <p:cNvSpPr/>
          <p:nvPr/>
        </p:nvSpPr>
        <p:spPr>
          <a:xfrm>
            <a:off x="5824728" y="1234440"/>
            <a:ext cx="5760720" cy="5074920"/>
          </a:xfrm>
          <a:prstGeom prst="roundRect">
            <a:avLst>
              <a:gd name="adj" fmla="val 1081"/>
            </a:avLst>
          </a:prstGeom>
          <a:solidFill>
            <a:schemeClr val="bg2"/>
          </a:solidFill>
        </p:spPr>
      </p:sp>
      <p:sp>
        <p:nvSpPr>
          <p:cNvPr id="7" name="t-30-4"/>
          <p:cNvSpPr txBox="1"/>
          <p:nvPr/>
        </p:nvSpPr>
        <p:spPr>
          <a:xfrm>
            <a:off x="6007608" y="1380744"/>
            <a:ext cx="5394960" cy="4800600"/>
          </a:xfrm>
          <a:prstGeom prst="rect">
            <a:avLst/>
          </a:prstGeom>
          <a:noFill/>
        </p:spPr>
        <p:txBody>
          <a:bodyPr wrap="square" lIns="0" tIns="0" rIns="0" bIns="0" rtlCol="0" anchor="t"/>
          <a:lstStyle/>
          <a:p>
            <a:pPr algn="l" indent="0" marL="0">
              <a:lnSpc>
                <a:spcPct val="105000"/>
              </a:lnSpc>
              <a:buNone/>
            </a:pPr>
            <a:r>
              <a:rPr lang="en-US" sz="800" dirty="0">
                <a:solidFill>
                  <a:schemeClr val="tx1"/>
                </a:solidFill>
                <a:latin typeface="DejaVu Sans Mono"/>
                <a:cs typeface="DejaVu Sans Mono"/>
              </a:rPr>
              <a:t>$ python L09_heat_2d.py   (excerpt)</a:t>
            </a: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CPU lid: 17280 unknowns, h_eff = 7716 W/(m^2 K)</a:t>
            </a:r>
            <a:endParaRPr lang="en-US" sz="800" dirty="0"/>
          </a:p>
          <a:p>
            <a:pPr algn="l" indent="0" marL="0">
              <a:lnSpc>
                <a:spcPct val="105000"/>
              </a:lnSpc>
              <a:buNone/>
            </a:pPr>
            <a:r>
              <a:rPr lang="en-US" sz="800" dirty="0">
                <a:solidFill>
                  <a:schemeClr val="tx1"/>
                </a:solidFill>
                <a:latin typeface="DejaVu Sans Mono"/>
                <a:cs typeface="DejaVu Sans Mono"/>
              </a:rPr>
              <a:t>  t = 0.4 s  power   44 W  hottest  47.4 C  mean  41.4 C</a:t>
            </a:r>
            <a:endParaRPr lang="en-US" sz="800" dirty="0"/>
          </a:p>
          <a:p>
            <a:pPr algn="l" indent="0" marL="0">
              <a:lnSpc>
                <a:spcPct val="105000"/>
              </a:lnSpc>
              <a:buNone/>
            </a:pPr>
            <a:r>
              <a:rPr lang="en-US" sz="800" dirty="0">
                <a:solidFill>
                  <a:schemeClr val="tx1"/>
                </a:solidFill>
                <a:latin typeface="DejaVu Sans Mono"/>
                <a:cs typeface="DejaVu Sans Mono"/>
              </a:rPr>
              <a:t>  t = 1.6 s  power   44 W  hottest  49.8 C  mean  43.7 C</a:t>
            </a:r>
            <a:endParaRPr lang="en-US" sz="800" dirty="0"/>
          </a:p>
          <a:p>
            <a:pPr algn="l" indent="0" marL="0">
              <a:lnSpc>
                <a:spcPct val="105000"/>
              </a:lnSpc>
              <a:buNone/>
            </a:pPr>
            <a:r>
              <a:rPr lang="en-US" sz="800" dirty="0">
                <a:solidFill>
                  <a:schemeClr val="tx1"/>
                </a:solidFill>
                <a:latin typeface="DejaVu Sans Mono"/>
                <a:cs typeface="DejaVu Sans Mono"/>
              </a:rPr>
              <a:t>  t = 2.6 s  power  240 W  hottest  69.3 C  mean  56.9 C</a:t>
            </a:r>
            <a:endParaRPr lang="en-US" sz="800" dirty="0"/>
          </a:p>
          <a:p>
            <a:pPr algn="l" indent="0" marL="0">
              <a:lnSpc>
                <a:spcPct val="105000"/>
              </a:lnSpc>
              <a:buNone/>
            </a:pPr>
            <a:r>
              <a:rPr lang="en-US" sz="800" dirty="0">
                <a:solidFill>
                  <a:schemeClr val="tx1"/>
                </a:solidFill>
                <a:latin typeface="DejaVu Sans Mono"/>
                <a:cs typeface="DejaVu Sans Mono"/>
              </a:rPr>
              <a:t>  t = 5.6 s  power  240 W  hottest  79.9 C  mean  67.5 C</a:t>
            </a:r>
            <a:endParaRPr lang="en-US" sz="800" dirty="0"/>
          </a:p>
          <a:p>
            <a:pPr algn="l" indent="0" marL="0">
              <a:lnSpc>
                <a:spcPct val="105000"/>
              </a:lnSpc>
              <a:buNone/>
            </a:pPr>
            <a:r>
              <a:rPr lang="en-US" sz="800" dirty="0">
                <a:solidFill>
                  <a:schemeClr val="tx1"/>
                </a:solidFill>
                <a:latin typeface="DejaVu Sans Mono"/>
                <a:cs typeface="DejaVu Sans Mono"/>
              </a:rPr>
              <a:t>  all eight cores, steady state: hottest 81.2 C, mean 68.8 C (= 40 + 240 W x 0.12 K/W)</a:t>
            </a: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Heatsink: 25600 unknowns, area in air 0.161 m^2, heat capacity 311 J/K</a:t>
            </a:r>
            <a:endParaRPr lang="en-US" sz="800" dirty="0"/>
          </a:p>
          <a:p>
            <a:pPr algn="l" indent="0" marL="0">
              <a:lnSpc>
                <a:spcPct val="105000"/>
              </a:lnSpc>
              <a:buNone/>
            </a:pPr>
            <a:r>
              <a:rPr lang="en-US" sz="800" dirty="0">
                <a:solidFill>
                  <a:schemeClr val="tx1"/>
                </a:solidFill>
                <a:latin typeface="DejaVu Sans Mono"/>
                <a:cs typeface="DejaVu Sans Mono"/>
              </a:rPr>
              <a:t>  the LU factors hold 671058 non-zeros</a:t>
            </a:r>
            <a:endParaRPr lang="en-US" sz="800" dirty="0"/>
          </a:p>
          <a:p>
            <a:pPr algn="l" indent="0" marL="0">
              <a:lnSpc>
                <a:spcPct val="105000"/>
              </a:lnSpc>
              <a:buNone/>
            </a:pPr>
            <a:r>
              <a:rPr lang="en-US" sz="800" dirty="0">
                <a:solidFill>
                  <a:schemeClr val="tx1"/>
                </a:solidFill>
                <a:latin typeface="DejaVu Sans Mono"/>
                <a:cs typeface="DejaVu Sans Mono"/>
              </a:rPr>
              <a:t>  t =  60 s   base  52.4 C   fin tip  41.5 C</a:t>
            </a:r>
            <a:endParaRPr lang="en-US" sz="800" dirty="0"/>
          </a:p>
          <a:p>
            <a:pPr algn="l" indent="0" marL="0">
              <a:lnSpc>
                <a:spcPct val="105000"/>
              </a:lnSpc>
              <a:buNone/>
            </a:pPr>
            <a:r>
              <a:rPr lang="en-US" sz="800" dirty="0">
                <a:solidFill>
                  <a:schemeClr val="tx1"/>
                </a:solidFill>
                <a:latin typeface="DejaVu Sans Mono"/>
                <a:cs typeface="DejaVu Sans Mono"/>
              </a:rPr>
              <a:t>  t = 120 s   base  69.5 C   fin tip  58.0 C</a:t>
            </a:r>
            <a:endParaRPr lang="en-US" sz="800" dirty="0"/>
          </a:p>
          <a:p>
            <a:pPr algn="l" indent="0" marL="0">
              <a:lnSpc>
                <a:spcPct val="105000"/>
              </a:lnSpc>
              <a:buNone/>
            </a:pPr>
            <a:r>
              <a:rPr lang="en-US" sz="800" dirty="0">
                <a:solidFill>
                  <a:schemeClr val="tx1"/>
                </a:solidFill>
                <a:latin typeface="DejaVu Sans Mono"/>
                <a:cs typeface="DejaVu Sans Mono"/>
              </a:rPr>
              <a:t>  t = 180 s   base  82.8 C   fin tip  71.0 C</a:t>
            </a:r>
            <a:endParaRPr lang="en-US" sz="800" dirty="0"/>
          </a:p>
          <a:p>
            <a:pPr algn="l" indent="0" marL="0">
              <a:lnSpc>
                <a:spcPct val="105000"/>
              </a:lnSpc>
              <a:buNone/>
            </a:pPr>
            <a:r>
              <a:rPr lang="en-US" sz="800" dirty="0">
                <a:solidFill>
                  <a:schemeClr val="tx1"/>
                </a:solidFill>
                <a:latin typeface="DejaVu Sans Mono"/>
                <a:cs typeface="DejaVu Sans Mono"/>
              </a:rPr>
              <a:t>  t = 240 s   base  59.4 C   fin tip  46.2 C</a:t>
            </a:r>
            <a:endParaRPr lang="en-US" sz="800" dirty="0"/>
          </a:p>
          <a:p>
            <a:pPr algn="l" indent="0" marL="0">
              <a:lnSpc>
                <a:spcPct val="105000"/>
              </a:lnSpc>
              <a:buNone/>
            </a:pPr>
            <a:r>
              <a:rPr lang="en-US" sz="800" dirty="0">
                <a:solidFill>
                  <a:schemeClr val="tx1"/>
                </a:solidFill>
                <a:latin typeface="DejaVu Sans Mono"/>
                <a:cs typeface="DejaVu Sans Mono"/>
              </a:rPr>
              <a:t>  t = 300 s   base  52.7 C   fin tip  40.5 C</a:t>
            </a:r>
            <a:endParaRPr lang="en-US" sz="800" dirty="0"/>
          </a:p>
          <a:p>
            <a:pPr algn="l" indent="0" marL="0">
              <a:lnSpc>
                <a:spcPct val="105000"/>
              </a:lnSpc>
              <a:buNone/>
            </a:pPr>
            <a:r>
              <a:rPr lang="en-US" sz="800" dirty="0">
                <a:solidFill>
                  <a:schemeClr val="tx1"/>
                </a:solidFill>
                <a:latin typeface="DejaVu Sans Mono"/>
                <a:cs typeface="DejaVu Sans Mono"/>
              </a:rPr>
              <a:t>  t = 360 s   base  51.0 C   fin tip  39.0 C</a:t>
            </a:r>
            <a:endParaRPr lang="en-US" sz="800" dirty="0"/>
          </a:p>
          <a:p>
            <a:pPr algn="l" indent="0" marL="0">
              <a:lnSpc>
                <a:spcPct val="105000"/>
              </a:lnSpc>
              <a:buNone/>
            </a:pPr>
            <a:r>
              <a:rPr lang="en-US" sz="800" dirty="0">
                <a:solidFill>
                  <a:schemeClr val="tx1"/>
                </a:solidFill>
                <a:latin typeface="DejaVu Sans Mono"/>
                <a:cs typeface="DejaVu Sans Mono"/>
              </a:rPr>
              <a:t>  energy check: in 45000 J, lost + stored 45000 J</a:t>
            </a:r>
            <a:endParaRPr lang="en-US" sz="800" dirty="0"/>
          </a:p>
          <a:p>
            <a:pPr algn="l" indent="0" marL="0">
              <a:lnSpc>
                <a:spcPct val="105000"/>
              </a:lnSpc>
              <a:buNone/>
            </a:pPr>
            <a:r>
              <a:rPr lang="en-US" sz="800" dirty="0">
                <a:solidFill>
                  <a:schemeClr val="tx1"/>
                </a:solidFill>
                <a:latin typeface="DejaVu Sans Mono"/>
                <a:cs typeface="DejaVu Sans Mono"/>
              </a:rPr>
              <a:t>  steady, fan off: base  130.3 C  (R = 0.843 K/W), coolest metal 117.3 C</a:t>
            </a:r>
            <a:endParaRPr lang="en-US" sz="800" dirty="0"/>
          </a:p>
          <a:p>
            <a:pPr algn="l" indent="0" marL="0">
              <a:lnSpc>
                <a:spcPct val="105000"/>
              </a:lnSpc>
              <a:buNone/>
            </a:pPr>
            <a:r>
              <a:rPr lang="en-US" sz="800" dirty="0">
                <a:solidFill>
                  <a:schemeClr val="tx1"/>
                </a:solidFill>
                <a:latin typeface="DejaVu Sans Mono"/>
                <a:cs typeface="DejaVu Sans Mono"/>
              </a:rPr>
              <a:t>  steady, fan on : base   50.3 C  (R = 0.203 K/W), coolest metal  38.5 C</a:t>
            </a:r>
            <a:endParaRPr lang="en-US" sz="800" dirty="0"/>
          </a:p>
          <a:p>
            <a:pPr algn="l" indent="0" marL="0">
              <a:lnSpc>
                <a:spcPct val="105000"/>
              </a:lnSpc>
              <a:buNone/>
            </a:pPr>
            <a:endParaRPr lang="en-US" sz="800" dirty="0"/>
          </a:p>
          <a:p>
            <a:pPr algn="l" indent="0" marL="0">
              <a:lnSpc>
                <a:spcPct val="105000"/>
              </a:lnSpc>
              <a:buNone/>
            </a:pPr>
            <a:r>
              <a:rPr lang="en-US" sz="800" dirty="0">
                <a:solidFill>
                  <a:schemeClr val="tx1"/>
                </a:solidFill>
                <a:latin typeface="DejaVu Sans Mono"/>
                <a:cs typeface="DejaVu Sans Mono"/>
              </a:rPr>
              <a:t>Graphics card plate, 575 W, steady state</a:t>
            </a:r>
            <a:endParaRPr lang="en-US" sz="800" dirty="0"/>
          </a:p>
          <a:p>
            <a:pPr algn="l" indent="0" marL="0">
              <a:lnSpc>
                <a:spcPct val="105000"/>
              </a:lnSpc>
              <a:buNone/>
            </a:pPr>
            <a:r>
              <a:rPr lang="en-US" sz="800" dirty="0">
                <a:solidFill>
                  <a:schemeClr val="tx1"/>
                </a:solidFill>
                <a:latin typeface="DejaVu Sans Mono"/>
                <a:cs typeface="DejaVu Sans Mono"/>
              </a:rPr>
              <a:t>  copper         k =   400  hottest 134.1 C  coolest 55.7 C  spreads over 26.3 mm</a:t>
            </a:r>
            <a:endParaRPr lang="en-US" sz="800" dirty="0"/>
          </a:p>
          <a:p>
            <a:pPr algn="l" indent="0" marL="0">
              <a:lnSpc>
                <a:spcPct val="105000"/>
              </a:lnSpc>
              <a:buNone/>
            </a:pPr>
            <a:r>
              <a:rPr lang="en-US" sz="800" dirty="0">
                <a:solidFill>
                  <a:schemeClr val="tx1"/>
                </a:solidFill>
                <a:latin typeface="DejaVu Sans Mono"/>
                <a:cs typeface="DejaVu Sans Mono"/>
              </a:rPr>
              <a:t>  vapour chamber k =  5000  hottest  82.2 C  coolest 74.4 C  spreads over 93.0 mm</a:t>
            </a:r>
            <a:endParaRPr lang="en-US" sz="800" dirty="0"/>
          </a:p>
          <a:p>
            <a:pPr algn="l" indent="0" marL="0">
              <a:lnSpc>
                <a:spcPct val="105000"/>
              </a:lnSpc>
              <a:buNone/>
            </a:pPr>
            <a:r>
              <a:rPr lang="en-US" sz="800" dirty="0">
                <a:solidFill>
                  <a:schemeClr val="tx1"/>
                </a:solidFill>
                <a:latin typeface="DejaVu Sans Mono"/>
                <a:cs typeface="DejaVu Sans Mono"/>
              </a:rPr>
              <a:t>  perfect spreading: 25 + 575 W x 0.09 K/W = 76.8 C</a:t>
            </a:r>
            <a:endParaRPr lang="en-US" sz="800" dirty="0"/>
          </a:p>
        </p:txBody>
      </p:sp>
    </p:spTree>
  </p:cSld>
  <p:clrMapOvr>
    <a:masterClrMapping/>
  </p:clrMapOvr>
</p:sld>
</file>

<file path=ppt/theme/theme1.xml><?xml version="1.0" encoding="utf-8"?>
<a:theme xmlns:a="http://schemas.openxmlformats.org/drawingml/2006/main" name="18.085 Fall 2026">
  <a:themeElements>
    <a:clrScheme name="18.085 Fall 2026">
      <a:dk1>
        <a:srgbClr val="152D42"/>
      </a:dk1>
      <a:lt1>
        <a:srgbClr val="FFFFFF"/>
      </a:lt1>
      <a:dk2>
        <a:srgbClr val="506476"/>
      </a:dk2>
      <a:lt2>
        <a:srgbClr val="F5F7F9"/>
      </a:lt2>
      <a:accent1>
        <a:srgbClr val="A31F34"/>
      </a:accent1>
      <a:accent2>
        <a:srgbClr val="EAF0F5"/>
      </a:accent2>
      <a:accent3>
        <a:srgbClr val="F8ECEE"/>
      </a:accent3>
      <a:accent4>
        <a:srgbClr val="B8C4D0"/>
      </a:accent4>
      <a:accent5>
        <a:srgbClr val="2F6690"/>
      </a:accent5>
      <a:accent6>
        <a:srgbClr val="8A99A8"/>
      </a:accent6>
      <a:hlink>
        <a:srgbClr val="A31F34"/>
      </a:hlink>
      <a:folHlink>
        <a:srgbClr val="506476"/>
      </a:folHlink>
    </a:clrScheme>
    <a:fontScheme name="18.085 Fall 2026">
      <a:majorFont>
        <a:latin typeface="DejaVu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ejaVu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18.085 Lecture 8: Positive definite matrices and the Hessian</dc:title>
  <dc:subject>Computational Science and Engineering I, Fall 2026</dc:subject>
  <dc:creator>18.085 staff</dc:creator>
  <cp:lastModifiedBy>18.085 staff</cp:lastModifiedBy>
  <cp:revision>1</cp:revision>
  <dcterms:created xsi:type="dcterms:W3CDTF">2026-10-05T03:44:15Z</dcterms:created>
  <dcterms:modified xsi:type="dcterms:W3CDTF">2026-10-05T03:44:15Z</dcterms:modified>
</cp:coreProperties>
</file>